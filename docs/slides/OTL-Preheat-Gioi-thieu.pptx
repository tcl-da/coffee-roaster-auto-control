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đầu: tính năng Preheat — máy tự làm nóng tới đúng nhiệt trước khi vào mẻ.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nỗi khổ khi làm nóng máy bằng tay.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Tuyên ngôn: bấm một nút, máy tự lo phần còn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con số tóm gọn tính năng.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Chuỗi 6 trạng thái chính; 2 trạng thái phụ xử lý máy đang nóng.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Nhanh trước, chuẩn sau — chia 60/40.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Vì sao khó: giữa vặn gas và thấy trống nóng có tới ~30 giây trễ.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Càng chạy càng chuẩn: bảng feedforward 12 vùng + 3 tham số thích nghi.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Năm cờ lỗi tự giám sát + hai chốt cứng đóng 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Đối chiếu thợ làm tay và mục tiêu của Preheat.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Chốt lại và trạng thái phát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6766560" y="-1463040"/>
            <a:ext cx="8595360" cy="8595360"/>
          </a:xfrm>
          <a:prstGeom prst="ellipse">
            <a:avLst/>
          </a:prstGeom>
          <a:gradFill rotWithShape="1">
            <a:gsLst>
              <a:gs pos="0">
                <a:srgbClr val="E8342A">
                  <a:alpha val="50000"/>
                </a:srgbClr>
              </a:gs>
              <a:gs pos="55000">
                <a:srgbClr val="E8342A">
                  <a:alpha val="17500"/>
                </a:srgbClr>
              </a:gs>
              <a:gs pos="100000">
                <a:srgbClr val="E8342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MBER2"/>
          <p:cNvSpPr/>
          <p:nvPr/>
        </p:nvSpPr>
        <p:spPr>
          <a:xfrm>
            <a:off x="-201168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F6A00">
                  <a:alpha val="26000"/>
                </a:srgbClr>
              </a:gs>
              <a:gs pos="55000">
                <a:srgbClr val="FF6A00">
                  <a:alpha val="9100"/>
                </a:srgbClr>
              </a:gs>
              <a:gs pos="100000">
                <a:srgbClr val="FF6A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ULE"/>
          <p:cNvSpPr/>
          <p:nvPr/>
        </p:nvSpPr>
        <p:spPr>
          <a:xfrm>
            <a:off x="777240" y="1883664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KICKER"/>
          <p:cNvSpPr txBox="1"/>
          <p:nvPr/>
        </p:nvSpPr>
        <p:spPr>
          <a:xfrm>
            <a:off x="777240" y="1371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TÍNH NĂNG MỚI  ·  FIRMWARE OTL-06ALS</a:t>
            </a:r>
          </a:p>
        </p:txBody>
      </p:sp>
      <p:sp>
        <p:nvSpPr>
          <p:cNvPr id="7" name="HEADING"/>
          <p:cNvSpPr txBox="1"/>
          <p:nvPr/>
        </p:nvSpPr>
        <p:spPr>
          <a:xfrm>
            <a:off x="777240" y="2286000"/>
            <a:ext cx="8778240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86000"/>
              </a:lnSpc>
            </a:pPr>
            <a:r>
              <a:rPr sz="13800" spc="-300">
                <a:solidFill>
                  <a:srgbClr val="FFFFFF"/>
                </a:solidFill>
                <a:latin typeface="Segoe UI Black"/>
              </a:rPr>
              <a:t>PREHEAT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60520"/>
            <a:ext cx="87782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>
                <a:solidFill>
                  <a:srgbClr val="A0A0A9"/>
                </a:solidFill>
                <a:latin typeface="Segoe UI Light"/>
              </a:rPr>
              <a:t>Máy rang tự làm nóng — một nút, không cần canh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74920"/>
            <a:ext cx="10607040" cy="12700"/>
          </a:xfrm>
          <a:prstGeom prst="rect">
            <a:avLst/>
          </a:prstGeom>
          <a:solidFill>
            <a:srgbClr val="2C2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spc="100">
                <a:solidFill>
                  <a:srgbClr val="6C6C77"/>
                </a:solidFill>
                <a:latin typeface="Segoe UI"/>
              </a:rPr>
              <a:t>O TESLA  ·  Điều khiển &amp; Tự động hoá máy rang cà phê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9052560" y="-2194560"/>
            <a:ext cx="6400800" cy="6400800"/>
          </a:xfrm>
          <a:prstGeom prst="ellipse">
            <a:avLst/>
          </a:prstGeom>
          <a:gradFill rotWithShape="1">
            <a:gsLst>
              <a:gs pos="0">
                <a:srgbClr val="E8342A">
                  <a:alpha val="34000"/>
                </a:srgbClr>
              </a:gs>
              <a:gs pos="55000">
                <a:srgbClr val="E8342A">
                  <a:alpha val="11900"/>
                </a:srgbClr>
              </a:gs>
              <a:gs pos="100000">
                <a:srgbClr val="E8342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MBER2"/>
          <p:cNvSpPr/>
          <p:nvPr/>
        </p:nvSpPr>
        <p:spPr>
          <a:xfrm>
            <a:off x="-2743200" y="493776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FF6A00">
                  <a:alpha val="18000"/>
                </a:srgbClr>
              </a:gs>
              <a:gs pos="55000">
                <a:srgbClr val="FF6A00">
                  <a:alpha val="6300"/>
                </a:srgbClr>
              </a:gs>
              <a:gs pos="100000">
                <a:srgbClr val="FF6A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ICKER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VẤN ĐỀ</a:t>
            </a:r>
          </a:p>
        </p:txBody>
      </p:sp>
      <p:sp>
        <p:nvSpPr>
          <p:cNvPr id="6" name="RULE"/>
          <p:cNvSpPr/>
          <p:nvPr/>
        </p:nvSpPr>
        <p:spPr>
          <a:xfrm>
            <a:off x="777240" y="950976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ADING"/>
          <p:cNvSpPr txBox="1"/>
          <p:nvPr/>
        </p:nvSpPr>
        <p:spPr>
          <a:xfrm>
            <a:off x="777240" y="1024128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4000"/>
              </a:lnSpc>
            </a:pPr>
            <a:r>
              <a:rPr sz="4000">
                <a:solidFill>
                  <a:srgbClr val="FFFFFF"/>
                </a:solidFill>
                <a:latin typeface="Segoe UI Black"/>
              </a:rPr>
              <a:t>Làm nóng bằng tay — nửa tiếng đứng canh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3393338" cy="288036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80360"/>
            <a:ext cx="502920" cy="508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00400"/>
            <a:ext cx="266181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4600" spc="-100">
                <a:solidFill>
                  <a:srgbClr val="FF453A"/>
                </a:solidFill>
                <a:latin typeface="Segoe UI Black"/>
              </a:rPr>
              <a:t>20–30′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913632"/>
            <a:ext cx="266181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spc="160">
                <a:solidFill>
                  <a:srgbClr val="F5B841"/>
                </a:solidFill>
                <a:latin typeface="Segoe UI Semibold"/>
              </a:rPr>
              <a:t>ĐỨNG CANH MỖI 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15968"/>
            <a:ext cx="266181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A0A0A9"/>
                </a:solidFill>
                <a:latin typeface="Segoe UI"/>
              </a:rPr>
              <a:t>Thợ phải ngồi cạnh bảng điều khiển, chỉnh gas và gió liên tục cho tới khi trống đủ nóng.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9178" y="2514600"/>
            <a:ext cx="3393338" cy="288036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64938" y="2880360"/>
            <a:ext cx="502920" cy="508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4938" y="3200400"/>
            <a:ext cx="266181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4600" spc="-100">
                <a:solidFill>
                  <a:srgbClr val="FF453A"/>
                </a:solidFill>
                <a:latin typeface="Segoe UI Black"/>
              </a:rPr>
              <a:t>7 kiểu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938" y="3913632"/>
            <a:ext cx="266181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spc="160">
                <a:solidFill>
                  <a:srgbClr val="F5B841"/>
                </a:solidFill>
                <a:latin typeface="Segoe UI Semibold"/>
              </a:rPr>
              <a:t>BẢY NGƯỜI BẢY PHÁCH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4315968"/>
            <a:ext cx="266181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A0A0A9"/>
                </a:solidFill>
                <a:latin typeface="Segoe UI"/>
              </a:rPr>
              <a:t>Mỗi thợ một tay nghề. Cùng một máy, cùng một mức nhiệt, ra bảy đường nhiệt khác nhau.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1116" y="2514600"/>
            <a:ext cx="3393338" cy="288036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86876" y="2880360"/>
            <a:ext cx="502920" cy="508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6876" y="3200400"/>
            <a:ext cx="266181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4600" spc="-100">
                <a:solidFill>
                  <a:srgbClr val="FF453A"/>
                </a:solidFill>
                <a:latin typeface="Segoe UI Black"/>
              </a:rPr>
              <a:t>+15°C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6876" y="3913632"/>
            <a:ext cx="266181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spc="160">
                <a:solidFill>
                  <a:srgbClr val="F5B841"/>
                </a:solidFill>
                <a:latin typeface="Segoe UI Semibold"/>
              </a:rPr>
              <a:t>VỌT NHIỆT, HỎNG MẺ ĐẦU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6876" y="4315968"/>
            <a:ext cx="266181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A0A0A9"/>
                </a:solidFill>
                <a:latin typeface="Segoe UI"/>
              </a:rPr>
              <a:t>Ghi nhận thực tế: hạ từ 215°C xuống 150°C bị vọt tới +15°C — mẻ đầu tiên trong ngày luôn phải bỏ.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spc="120">
                <a:solidFill>
                  <a:srgbClr val="6C6C77"/>
                </a:solidFill>
                <a:latin typeface="Segoe UI"/>
              </a:rPr>
              <a:t>O TESLA  ·  OTL-06ALS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spc="120">
                <a:solidFill>
                  <a:srgbClr val="6C6C77"/>
                </a:solidFill>
                <a:latin typeface="Bahnschrift SemiBold Condensed"/>
              </a:rPr>
              <a:t>02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3108960" y="822960"/>
            <a:ext cx="6766560" cy="6766560"/>
          </a:xfrm>
          <a:prstGeom prst="ellipse">
            <a:avLst/>
          </a:prstGeom>
          <a:gradFill rotWithShape="1">
            <a:gsLst>
              <a:gs pos="0">
                <a:srgbClr val="E8342A">
                  <a:alpha val="46000"/>
                </a:srgbClr>
              </a:gs>
              <a:gs pos="55000">
                <a:srgbClr val="E8342A">
                  <a:alpha val="16099"/>
                </a:srgbClr>
              </a:gs>
              <a:gs pos="100000">
                <a:srgbClr val="E8342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777240" y="8229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GIẢI PHÁP</a:t>
            </a:r>
          </a:p>
        </p:txBody>
      </p:sp>
      <p:sp>
        <p:nvSpPr>
          <p:cNvPr id="5" name="RULE"/>
          <p:cNvSpPr/>
          <p:nvPr/>
        </p:nvSpPr>
        <p:spPr>
          <a:xfrm>
            <a:off x="777240" y="1115568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DING"/>
          <p:cNvSpPr txBox="1"/>
          <p:nvPr/>
        </p:nvSpPr>
        <p:spPr>
          <a:xfrm>
            <a:off x="777240" y="210312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6000" spc="-200">
                <a:solidFill>
                  <a:srgbClr val="FFFFFF"/>
                </a:solidFill>
                <a:latin typeface="Segoe UI Black"/>
              </a:rPr>
              <a:t>Bấm một nút.</a:t>
            </a:r>
          </a:p>
          <a:p>
            <a:pPr algn="l">
              <a:lnSpc>
                <a:spcPct val="110000"/>
              </a:lnSpc>
            </a:pPr>
            <a:r>
              <a:rPr sz="6000" spc="-200">
                <a:solidFill>
                  <a:srgbClr val="FF453A"/>
                </a:solidFill>
                <a:latin typeface="Segoe UI Black"/>
              </a:rPr>
              <a:t>Máy tự lo phần còn lại.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95097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700">
                <a:solidFill>
                  <a:srgbClr val="A0A0A9"/>
                </a:solidFill>
                <a:latin typeface="Segoe UI"/>
              </a:rPr>
              <a:t>Preheat là bộ điều khiển chạy trong firmware — đọc BT, ET và tốc độ tăng nhiệt mỗi giây, tự bậc gas và gió theo 8 trạng thái, rồi giữ đúng nhiệt chờ nạp hạt.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spc="120">
                <a:solidFill>
                  <a:srgbClr val="6C6C77"/>
                </a:solidFill>
                <a:latin typeface="Segoe UI"/>
              </a:rPr>
              <a:t>O TESLA  ·  OTL-06ALS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spc="120">
                <a:solidFill>
                  <a:srgbClr val="6C6C77"/>
                </a:solidFill>
                <a:latin typeface="Bahnschrift SemiBold Condensed"/>
              </a:rPr>
              <a:t>03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9326880" y="4206240"/>
            <a:ext cx="5669280" cy="5669280"/>
          </a:xfrm>
          <a:prstGeom prst="ellipse">
            <a:avLst/>
          </a:prstGeom>
          <a:gradFill rotWithShape="1">
            <a:gsLst>
              <a:gs pos="0">
                <a:srgbClr val="FF6A00">
                  <a:alpha val="24000"/>
                </a:srgbClr>
              </a:gs>
              <a:gs pos="55000">
                <a:srgbClr val="FF6A00">
                  <a:alpha val="8400"/>
                </a:srgbClr>
              </a:gs>
              <a:gs pos="100000">
                <a:srgbClr val="FF6A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TÓM TẮT</a:t>
            </a:r>
          </a:p>
        </p:txBody>
      </p:sp>
      <p:sp>
        <p:nvSpPr>
          <p:cNvPr id="5" name="RULE"/>
          <p:cNvSpPr/>
          <p:nvPr/>
        </p:nvSpPr>
        <p:spPr>
          <a:xfrm>
            <a:off x="777240" y="950976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DING"/>
          <p:cNvSpPr txBox="1"/>
          <p:nvPr/>
        </p:nvSpPr>
        <p:spPr>
          <a:xfrm>
            <a:off x="777240" y="1024128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4000"/>
              </a:lnSpc>
            </a:pPr>
            <a:r>
              <a:rPr sz="4000">
                <a:solidFill>
                  <a:srgbClr val="FFFFFF"/>
                </a:solidFill>
                <a:latin typeface="Segoe UI Black"/>
              </a:rPr>
              <a:t>Bốn con số cần nhớ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68880"/>
            <a:ext cx="2522143" cy="2926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882063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6200" spc="-200">
                <a:solidFill>
                  <a:srgbClr val="FFFFFF"/>
                </a:solidFill>
                <a:latin typeface="Segoe UI Black"/>
              </a:rPr>
              <a:t>≤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1882063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180">
                <a:solidFill>
                  <a:srgbClr val="FF453A"/>
                </a:solidFill>
                <a:latin typeface="Segoe UI Semibold"/>
              </a:rPr>
              <a:t>°C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224528"/>
            <a:ext cx="457200" cy="25400"/>
          </a:xfrm>
          <a:prstGeom prst="rect">
            <a:avLst/>
          </a:prstGeom>
          <a:solidFill>
            <a:srgbClr val="2C2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18820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Segoe UI Semibold"/>
              </a:rPr>
              <a:t>Vọt nhiệt tối đa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754880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6C6C77"/>
                </a:solidFill>
                <a:latin typeface="Segoe UI"/>
              </a:rPr>
              <a:t>Mục tiêu bám sát tay nghề thợ giỏi nhất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2263" y="2468880"/>
            <a:ext cx="2522143" cy="2926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2303" y="2788920"/>
            <a:ext cx="1882063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6200" spc="-200">
                <a:solidFill>
                  <a:srgbClr val="FFFFFF"/>
                </a:solidFill>
                <a:latin typeface="Segoe UI Blac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2303" y="3749039"/>
            <a:ext cx="1882063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180">
                <a:solidFill>
                  <a:srgbClr val="FF453A"/>
                </a:solidFill>
                <a:latin typeface="Segoe UI Semibold"/>
              </a:rPr>
              <a:t>TRẠNG THÁI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02303" y="4224528"/>
            <a:ext cx="457200" cy="25400"/>
          </a:xfrm>
          <a:prstGeom prst="rect">
            <a:avLst/>
          </a:prstGeom>
          <a:solidFill>
            <a:srgbClr val="2C2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02303" y="4434840"/>
            <a:ext cx="18820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Segoe UI Semibold"/>
              </a:rPr>
              <a:t>Máy trạng thái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2303" y="4754880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6C6C77"/>
                </a:solidFill>
                <a:latin typeface="Segoe UI"/>
              </a:rPr>
              <a:t>Từ nguội, mồi lửa, lên nhiệt tới giữ nhiệt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2468880"/>
            <a:ext cx="2522143" cy="2926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2788920"/>
            <a:ext cx="1882063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6200" spc="-200">
                <a:solidFill>
                  <a:srgbClr val="FFFFFF"/>
                </a:solidFill>
                <a:latin typeface="Segoe UI Black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3749039"/>
            <a:ext cx="1882063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180">
                <a:solidFill>
                  <a:srgbClr val="FF453A"/>
                </a:solidFill>
                <a:latin typeface="Segoe UI Semibold"/>
              </a:rPr>
              <a:t>VÙNG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7327" y="4224528"/>
            <a:ext cx="457200" cy="25400"/>
          </a:xfrm>
          <a:prstGeom prst="rect">
            <a:avLst/>
          </a:prstGeom>
          <a:solidFill>
            <a:srgbClr val="2C2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434840"/>
            <a:ext cx="18820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Segoe UI Semibold"/>
              </a:rPr>
              <a:t>Bảng tự học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4754880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6C6C77"/>
                </a:solidFill>
                <a:latin typeface="Segoe UI"/>
              </a:rPr>
              <a:t>Mỗi vùng 25°C, lưu lại trong thẻ nhớ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2311" y="2468880"/>
            <a:ext cx="2522143" cy="2926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2351" y="2788920"/>
            <a:ext cx="1882063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sz="6200" spc="-200">
                <a:solidFill>
                  <a:srgbClr val="FFFFFF"/>
                </a:solidFill>
                <a:latin typeface="Segoe UI Black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2351" y="3749039"/>
            <a:ext cx="1882063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180">
                <a:solidFill>
                  <a:srgbClr val="FF453A"/>
                </a:solidFill>
                <a:latin typeface="Segoe UI Semibold"/>
              </a:rPr>
              <a:t>GIÂY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2351" y="4224528"/>
            <a:ext cx="457200" cy="25400"/>
          </a:xfrm>
          <a:prstGeom prst="rect">
            <a:avLst/>
          </a:prstGeom>
          <a:solidFill>
            <a:srgbClr val="2C2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2351" y="4434840"/>
            <a:ext cx="18820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Segoe UI Semibold"/>
              </a:rPr>
              <a:t>Nhịp ghi 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2351" y="4754880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6C6C77"/>
                </a:solidFill>
                <a:latin typeface="Segoe UI"/>
              </a:rPr>
              <a:t>60 dòng CSV mỗi lần preheat để soi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spc="120">
                <a:solidFill>
                  <a:srgbClr val="6C6C77"/>
                </a:solidFill>
                <a:latin typeface="Segoe UI"/>
              </a:rPr>
              <a:t>O TESLA  ·  OTL-06ALS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spc="120">
                <a:solidFill>
                  <a:srgbClr val="6C6C77"/>
                </a:solidFill>
                <a:latin typeface="Bahnschrift SemiBold Condensed"/>
              </a:rPr>
              <a:t>04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-2194560" y="-128016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E8342A">
                  <a:alpha val="30000"/>
                </a:srgbClr>
              </a:gs>
              <a:gs pos="55000">
                <a:srgbClr val="E8342A">
                  <a:alpha val="10500"/>
                </a:srgbClr>
              </a:gs>
              <a:gs pos="100000">
                <a:srgbClr val="E8342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CÁCH MÁY CHẠY</a:t>
            </a:r>
          </a:p>
        </p:txBody>
      </p:sp>
      <p:sp>
        <p:nvSpPr>
          <p:cNvPr id="5" name="RULE"/>
          <p:cNvSpPr/>
          <p:nvPr/>
        </p:nvSpPr>
        <p:spPr>
          <a:xfrm>
            <a:off x="777240" y="950976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DING"/>
          <p:cNvSpPr txBox="1"/>
          <p:nvPr/>
        </p:nvSpPr>
        <p:spPr>
          <a:xfrm>
            <a:off x="777240" y="1024128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4000"/>
              </a:lnSpc>
            </a:pPr>
            <a:r>
              <a:rPr sz="4000">
                <a:solidFill>
                  <a:srgbClr val="FFFFFF"/>
                </a:solidFill>
                <a:latin typeface="Segoe UI Black"/>
              </a:rPr>
              <a:t>Sáu bước, máy tự đi hết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87168"/>
            <a:ext cx="1658569" cy="228600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87168"/>
            <a:ext cx="1658569" cy="38100"/>
          </a:xfrm>
          <a:prstGeom prst="rect">
            <a:avLst/>
          </a:prstGeom>
          <a:solidFill>
            <a:srgbClr val="3A3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761488"/>
            <a:ext cx="121965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spc="120">
                <a:solidFill>
                  <a:srgbClr val="6C6C77"/>
                </a:solidFill>
                <a:latin typeface="Bahnschrift SemiBold Condense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3090672"/>
            <a:ext cx="121965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spc="-30">
                <a:solidFill>
                  <a:srgbClr val="FFFFFF"/>
                </a:solidFill>
                <a:latin typeface="Segoe UI Black"/>
              </a:rPr>
              <a:t>IDLE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584448"/>
            <a:ext cx="121965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FF453A"/>
                </a:solidFill>
                <a:latin typeface="Segoe UI Semibold"/>
              </a:rPr>
              <a:t>Phân loại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950208"/>
            <a:ext cx="121965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Nguội / Nóng / Cần hạ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5809" y="3310128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>
                <a:solidFill>
                  <a:srgbClr val="6C6C77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72969" y="2487168"/>
            <a:ext cx="1658569" cy="228600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72969" y="2487168"/>
            <a:ext cx="1658569" cy="38100"/>
          </a:xfrm>
          <a:prstGeom prst="rect">
            <a:avLst/>
          </a:prstGeom>
          <a:solidFill>
            <a:srgbClr val="3A3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92425" y="2761488"/>
            <a:ext cx="121965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spc="120">
                <a:solidFill>
                  <a:srgbClr val="6C6C77"/>
                </a:solidFill>
                <a:latin typeface="Bahnschrift SemiBold Condense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2425" y="3090672"/>
            <a:ext cx="121965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spc="-30">
                <a:solidFill>
                  <a:srgbClr val="FFFFFF"/>
                </a:solidFill>
                <a:latin typeface="Segoe UI Black"/>
              </a:rPr>
              <a:t>PRE-IGNITE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2425" y="3584448"/>
            <a:ext cx="121965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FF453A"/>
                </a:solidFill>
                <a:latin typeface="Segoe UI Semibold"/>
              </a:rPr>
              <a:t>Thổi sạch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2425" y="3950208"/>
            <a:ext cx="121965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Xả hết khí tồn trong buồng đốt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1538" y="3310128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>
                <a:solidFill>
                  <a:srgbClr val="6C6C77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698" y="2487168"/>
            <a:ext cx="1658569" cy="228600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8698" y="2487168"/>
            <a:ext cx="1658569" cy="381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8154" y="2761488"/>
            <a:ext cx="121965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spc="120">
                <a:solidFill>
                  <a:srgbClr val="6C6C77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8154" y="3090672"/>
            <a:ext cx="121965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spc="-30">
                <a:solidFill>
                  <a:srgbClr val="FFFFFF"/>
                </a:solidFill>
                <a:latin typeface="Segoe UI Black"/>
              </a:rPr>
              <a:t>IGNITE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8154" y="3584448"/>
            <a:ext cx="121965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FF453A"/>
                </a:solidFill>
                <a:latin typeface="Segoe UI Semibold"/>
              </a:rPr>
              <a:t>Mồi lửa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8154" y="3950208"/>
            <a:ext cx="121965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Có xác nhận lửa, quá giờ là đóng 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7267" y="3310128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>
                <a:solidFill>
                  <a:srgbClr val="6C6C77"/>
                </a:solidFill>
                <a:latin typeface="Segoe UI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4427" y="2487168"/>
            <a:ext cx="1658569" cy="228600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4427" y="2487168"/>
            <a:ext cx="1658569" cy="38100"/>
          </a:xfrm>
          <a:prstGeom prst="rect">
            <a:avLst/>
          </a:prstGeom>
          <a:solidFill>
            <a:srgbClr val="3A3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3883" y="2761488"/>
            <a:ext cx="121965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spc="120">
                <a:solidFill>
                  <a:srgbClr val="6C6C77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3883" y="3090672"/>
            <a:ext cx="121965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spc="-30">
                <a:solidFill>
                  <a:srgbClr val="FFFFFF"/>
                </a:solidFill>
                <a:latin typeface="Segoe UI Black"/>
              </a:rPr>
              <a:t>HEATING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3883" y="3584448"/>
            <a:ext cx="121965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FF453A"/>
                </a:solidFill>
                <a:latin typeface="Segoe UI Semibold"/>
              </a:rPr>
              <a:t>Lên nhiệt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3883" y="3950208"/>
            <a:ext cx="121965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Bậc gas theo tốc độ tăng nhiệt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2996" y="3310128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>
                <a:solidFill>
                  <a:srgbClr val="6C6C77"/>
                </a:solidFill>
                <a:latin typeface="Segoe UI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60156" y="2487168"/>
            <a:ext cx="1658569" cy="228600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60156" y="2487168"/>
            <a:ext cx="1658569" cy="38100"/>
          </a:xfrm>
          <a:prstGeom prst="rect">
            <a:avLst/>
          </a:prstGeom>
          <a:solidFill>
            <a:srgbClr val="3A3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9612" y="2761488"/>
            <a:ext cx="121965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spc="120">
                <a:solidFill>
                  <a:srgbClr val="6C6C77"/>
                </a:solidFill>
                <a:latin typeface="Bahnschrift SemiBold Condensed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9612" y="3090672"/>
            <a:ext cx="121965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spc="-30">
                <a:solidFill>
                  <a:srgbClr val="FFFFFF"/>
                </a:solidFill>
                <a:latin typeface="Segoe UI Black"/>
              </a:rPr>
              <a:t>HOLDING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9612" y="3584448"/>
            <a:ext cx="121965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FF453A"/>
                </a:solidFill>
                <a:latin typeface="Segoe UI Semibold"/>
              </a:rPr>
              <a:t>Giữ nhiệt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79612" y="3950208"/>
            <a:ext cx="121965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Ghìm quanh mức đặt, chờ nạp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18725" y="3310128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>
                <a:solidFill>
                  <a:srgbClr val="6C6C77"/>
                </a:solidFill>
                <a:latin typeface="Segoe UI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55885" y="2487168"/>
            <a:ext cx="1658569" cy="228600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55885" y="2487168"/>
            <a:ext cx="1658569" cy="381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75341" y="2761488"/>
            <a:ext cx="121965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spc="120">
                <a:solidFill>
                  <a:srgbClr val="6C6C77"/>
                </a:solidFill>
                <a:latin typeface="Bahnschrift SemiBold Condensed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75341" y="3090672"/>
            <a:ext cx="121965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spc="-30">
                <a:solidFill>
                  <a:srgbClr val="FFFFFF"/>
                </a:solidFill>
                <a:latin typeface="Segoe UI Black"/>
              </a:rPr>
              <a:t>PRECISION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75341" y="3584448"/>
            <a:ext cx="121965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FF453A"/>
                </a:solidFill>
                <a:latin typeface="Segoe UI Semibold"/>
              </a:rPr>
              <a:t>Tinh chỉnh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75341" y="3950208"/>
            <a:ext cx="121965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PI nhẹ, khử lệch còn ±2°C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0749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A0A0A9"/>
                </a:solidFill>
                <a:latin typeface="Segoe UI"/>
              </a:rPr>
              <a:t>Hai trạng thái phụ:  COOLING và COAST  —  khi máy đang nóng hơn mức cần, firmware tắt gas, mở gió và để nhiệt trôi xuống đúng chỗ thay vì mồi lửa thêm.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spc="120">
                <a:solidFill>
                  <a:srgbClr val="6C6C77"/>
                </a:solidFill>
                <a:latin typeface="Segoe UI"/>
              </a:rPr>
              <a:t>O TESLA  ·  OTL-06ALS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spc="120">
                <a:solidFill>
                  <a:srgbClr val="6C6C77"/>
                </a:solidFill>
                <a:latin typeface="Bahnschrift SemiBold Condensed"/>
              </a:rPr>
              <a:t>05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5120640" y="-2011680"/>
            <a:ext cx="6035040" cy="6035040"/>
          </a:xfrm>
          <a:prstGeom prst="ellipse">
            <a:avLst/>
          </a:prstGeom>
          <a:gradFill rotWithShape="1">
            <a:gsLst>
              <a:gs pos="0">
                <a:srgbClr val="E8342A">
                  <a:alpha val="32000"/>
                </a:srgbClr>
              </a:gs>
              <a:gs pos="55000">
                <a:srgbClr val="E8342A">
                  <a:alpha val="11200"/>
                </a:srgbClr>
              </a:gs>
              <a:gs pos="100000">
                <a:srgbClr val="E8342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TRIẾT LÝ ĐIỀU KHIỂN</a:t>
            </a:r>
          </a:p>
        </p:txBody>
      </p:sp>
      <p:sp>
        <p:nvSpPr>
          <p:cNvPr id="5" name="RULE"/>
          <p:cNvSpPr/>
          <p:nvPr/>
        </p:nvSpPr>
        <p:spPr>
          <a:xfrm>
            <a:off x="777240" y="950976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DING"/>
          <p:cNvSpPr txBox="1"/>
          <p:nvPr/>
        </p:nvSpPr>
        <p:spPr>
          <a:xfrm>
            <a:off x="777240" y="1024128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4000"/>
              </a:lnSpc>
            </a:pPr>
            <a:r>
              <a:rPr sz="4000">
                <a:solidFill>
                  <a:srgbClr val="FFFFFF"/>
                </a:solidFill>
                <a:latin typeface="Segoe UI Black"/>
              </a:rPr>
              <a:t>Nhanh trước, chuẩn sau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68880"/>
            <a:ext cx="5181447" cy="310896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4358487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spc="-150">
                <a:solidFill>
                  <a:srgbClr val="FF6A00"/>
                </a:solidFill>
                <a:latin typeface="Segoe UI Black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20440"/>
            <a:ext cx="435848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spc="140">
                <a:solidFill>
                  <a:srgbClr val="FFFFFF"/>
                </a:solidFill>
                <a:latin typeface="Segoe UI Semibold"/>
              </a:rPr>
              <a:t>RAMP  ·  3 PHÚT ĐẦU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913632"/>
            <a:ext cx="457200" cy="3810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114800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>
                <a:solidFill>
                  <a:srgbClr val="FF6A00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114800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>
                <a:solidFill>
                  <a:srgbClr val="A0A0A9"/>
                </a:solidFill>
                <a:latin typeface="Segoe UI"/>
              </a:rPr>
              <a:t>Ưu tiên lên nhiệt nhanh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25696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>
                <a:solidFill>
                  <a:srgbClr val="FF6A00"/>
                </a:solidFill>
                <a:latin typeface="Segoe U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425696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>
                <a:solidFill>
                  <a:srgbClr val="A0A0A9"/>
                </a:solidFill>
                <a:latin typeface="Segoe UI"/>
              </a:rPr>
              <a:t>Gas bậc theo khoảng cách còn lại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736592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>
                <a:solidFill>
                  <a:srgbClr val="FF6A00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736592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>
                <a:solidFill>
                  <a:srgbClr val="A0A0A9"/>
                </a:solidFill>
                <a:latin typeface="Segoe UI"/>
              </a:rPr>
              <a:t>Gió ghìm thấp khi còn xa mức đặt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047488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>
                <a:solidFill>
                  <a:srgbClr val="FF6A00"/>
                </a:solidFill>
                <a:latin typeface="Segoe UI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047488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>
                <a:solidFill>
                  <a:srgbClr val="A0A0A9"/>
                </a:solidFill>
                <a:latin typeface="Segoe UI"/>
              </a:rPr>
              <a:t>Chấp nhận sai lệch ≤ 5°C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2468880"/>
            <a:ext cx="5181447" cy="310896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4487" y="2743200"/>
            <a:ext cx="4358487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spc="-150">
                <a:solidFill>
                  <a:srgbClr val="FF453A"/>
                </a:solidFill>
                <a:latin typeface="Segoe UI Black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520440"/>
            <a:ext cx="435848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spc="140">
                <a:solidFill>
                  <a:srgbClr val="FFFFFF"/>
                </a:solidFill>
                <a:latin typeface="Segoe UI Semibold"/>
              </a:rPr>
              <a:t>PRECISION  ·  2 PHÚT CUỐI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4487" y="3913632"/>
            <a:ext cx="457200" cy="38100"/>
          </a:xfrm>
          <a:prstGeom prst="rect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487" y="4114800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>
                <a:solidFill>
                  <a:srgbClr val="FF453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8807" y="4114800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>
                <a:solidFill>
                  <a:srgbClr val="A0A0A9"/>
                </a:solidFill>
                <a:latin typeface="Segoe UI"/>
              </a:rPr>
              <a:t>Yêu cầu dao động trong ±2°C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487" y="4425696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>
                <a:solidFill>
                  <a:srgbClr val="FF453A"/>
                </a:solidFill>
                <a:latin typeface="Segoe U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18807" y="4425696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>
                <a:solidFill>
                  <a:srgbClr val="A0A0A9"/>
                </a:solidFill>
                <a:latin typeface="Segoe UI"/>
              </a:rPr>
              <a:t>PI nhẹ khử lệch tĩnh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736592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>
                <a:solidFill>
                  <a:srgbClr val="FF453A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18807" y="4736592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>
                <a:solidFill>
                  <a:srgbClr val="A0A0A9"/>
                </a:solidFill>
                <a:latin typeface="Segoe UI"/>
              </a:rPr>
              <a:t>Phanh sớm theo đà trôi nhiệt dự báo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4487" y="5047488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>
                <a:solidFill>
                  <a:srgbClr val="FF453A"/>
                </a:solidFill>
                <a:latin typeface="Segoe U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18807" y="5047488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>
                <a:solidFill>
                  <a:srgbClr val="A0A0A9"/>
                </a:solidFill>
                <a:latin typeface="Segoe UI"/>
              </a:rPr>
              <a:t>Kết thúc đúng mức đặt ±1°C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spc="120">
                <a:solidFill>
                  <a:srgbClr val="6C6C77"/>
                </a:solidFill>
                <a:latin typeface="Segoe UI"/>
              </a:rPr>
              <a:t>O TESLA  ·  OTL-06ALS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spc="120">
                <a:solidFill>
                  <a:srgbClr val="6C6C77"/>
                </a:solidFill>
                <a:latin typeface="Bahnschrift SemiBold Condensed"/>
              </a:rPr>
              <a:t>06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8778240" y="4023360"/>
            <a:ext cx="6035040" cy="6035040"/>
          </a:xfrm>
          <a:prstGeom prst="ellipse">
            <a:avLst/>
          </a:prstGeom>
          <a:gradFill rotWithShape="1">
            <a:gsLst>
              <a:gs pos="0">
                <a:srgbClr val="FF6A00">
                  <a:alpha val="26000"/>
                </a:srgbClr>
              </a:gs>
              <a:gs pos="55000">
                <a:srgbClr val="FF6A00">
                  <a:alpha val="9100"/>
                </a:srgbClr>
              </a:gs>
              <a:gs pos="100000">
                <a:srgbClr val="FF6A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VÌ SAO KHÓ</a:t>
            </a:r>
          </a:p>
        </p:txBody>
      </p:sp>
      <p:sp>
        <p:nvSpPr>
          <p:cNvPr id="5" name="RULE"/>
          <p:cNvSpPr/>
          <p:nvPr/>
        </p:nvSpPr>
        <p:spPr>
          <a:xfrm>
            <a:off x="777240" y="950976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DING"/>
          <p:cNvSpPr txBox="1"/>
          <p:nvPr/>
        </p:nvSpPr>
        <p:spPr>
          <a:xfrm>
            <a:off x="777240" y="1024128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4000"/>
              </a:lnSpc>
            </a:pPr>
            <a:r>
              <a:rPr sz="4000">
                <a:solidFill>
                  <a:srgbClr val="FFFFFF"/>
                </a:solidFill>
                <a:latin typeface="Segoe UI Black"/>
              </a:rPr>
              <a:t>Vặn gas bây giờ — 30 giây nữa trống mới nóng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2282113" cy="1783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606040"/>
            <a:ext cx="2282113" cy="38100"/>
          </a:xfrm>
          <a:prstGeom prst="rect">
            <a:avLst/>
          </a:prstGeom>
          <a:solidFill>
            <a:srgbClr val="6C6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26080"/>
            <a:ext cx="173347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spc="-30">
                <a:solidFill>
                  <a:srgbClr val="FFFFFF"/>
                </a:solidFill>
                <a:latin typeface="Segoe UI Black"/>
              </a:rPr>
              <a:t>GAS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64992"/>
            <a:ext cx="1733473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A0A0A9"/>
                </a:solidFill>
                <a:latin typeface="Segoe UI"/>
              </a:rPr>
              <a:t>lệnh vào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0208"/>
            <a:ext cx="1733473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spc="120">
                <a:solidFill>
                  <a:srgbClr val="6C6C77"/>
                </a:solidFill>
                <a:latin typeface="Segoe UI Semibold"/>
              </a:rPr>
              <a:t>TỨC THÌ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9353" y="324612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>
                <a:solidFill>
                  <a:srgbClr val="6C6C77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2273" y="2606040"/>
            <a:ext cx="2282113" cy="1783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2273" y="2606040"/>
            <a:ext cx="2282113" cy="38100"/>
          </a:xfrm>
          <a:prstGeom prst="rect">
            <a:avLst/>
          </a:prstGeom>
          <a:solidFill>
            <a:srgbClr val="F5B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6593" y="2926080"/>
            <a:ext cx="173347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spc="-30">
                <a:solidFill>
                  <a:srgbClr val="FFFFFF"/>
                </a:solidFill>
                <a:latin typeface="Segoe UI Black"/>
              </a:rPr>
              <a:t>ĐẦU ĐỐT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6593" y="3364992"/>
            <a:ext cx="1733473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A0A0A9"/>
                </a:solidFill>
                <a:latin typeface="Segoe UI"/>
              </a:rPr>
              <a:t>ngọn lửa ổn định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6593" y="3950208"/>
            <a:ext cx="1733473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spc="120">
                <a:solidFill>
                  <a:srgbClr val="F5B841"/>
                </a:solidFill>
                <a:latin typeface="Segoe UI Semibold"/>
              </a:rPr>
              <a:t>2–3 GIÂY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4387" y="324612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>
                <a:solidFill>
                  <a:srgbClr val="6C6C77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7307" y="2606040"/>
            <a:ext cx="2282113" cy="1783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47307" y="2606040"/>
            <a:ext cx="2282113" cy="3810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1627" y="2926080"/>
            <a:ext cx="173347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spc="-30">
                <a:solidFill>
                  <a:srgbClr val="FFFFFF"/>
                </a:solidFill>
                <a:latin typeface="Segoe UI Black"/>
              </a:rPr>
              <a:t>BUỒNG ĐỐT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1627" y="3364992"/>
            <a:ext cx="1733473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A0A0A9"/>
                </a:solidFill>
                <a:latin typeface="Segoe UI"/>
              </a:rPr>
              <a:t>khí nóng · cảm biến 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1627" y="3950208"/>
            <a:ext cx="1733473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spc="120">
                <a:solidFill>
                  <a:srgbClr val="FF6A00"/>
                </a:solidFill>
                <a:latin typeface="Segoe UI Semibold"/>
              </a:rPr>
              <a:t>5–10 GIÂY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29421" y="324612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>
                <a:solidFill>
                  <a:srgbClr val="6C6C77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2341" y="2606040"/>
            <a:ext cx="2282113" cy="1783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32341" y="2606040"/>
            <a:ext cx="2282113" cy="38100"/>
          </a:xfrm>
          <a:prstGeom prst="rect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6661" y="2926080"/>
            <a:ext cx="173347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spc="-30">
                <a:solidFill>
                  <a:srgbClr val="FFFFFF"/>
                </a:solidFill>
                <a:latin typeface="Segoe UI Black"/>
              </a:rPr>
              <a:t>TRỐNG RANG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6661" y="3364992"/>
            <a:ext cx="1733473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A0A0A9"/>
                </a:solidFill>
                <a:latin typeface="Segoe UI"/>
              </a:rPr>
              <a:t>kim loại · cảm biến BT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6661" y="3950208"/>
            <a:ext cx="1733473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spc="120">
                <a:solidFill>
                  <a:srgbClr val="FF453A"/>
                </a:solidFill>
                <a:latin typeface="Segoe UI Semibold"/>
              </a:rPr>
              <a:t>15–20 GIÂY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80060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500">
                <a:solidFill>
                  <a:srgbClr val="A0A0A9"/>
                </a:solidFill>
                <a:latin typeface="Segoe UI"/>
              </a:rPr>
              <a:t>Ba tầng trễ nối tiếp nhau là lý do người mới luôn vặn gas quá tay. Preheat xử lý bằng thời gian chết 15 giây sau mỗi nấc gas — bậc xong thì chờ nghe máy trả lời rồi mới bậc tiếp, đúng cách thợ giỏi vẫn làm.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spc="120">
                <a:solidFill>
                  <a:srgbClr val="6C6C77"/>
                </a:solidFill>
                <a:latin typeface="Segoe UI"/>
              </a:rPr>
              <a:t>O TESLA  ·  OTL-06ALS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spc="120">
                <a:solidFill>
                  <a:srgbClr val="6C6C77"/>
                </a:solidFill>
                <a:latin typeface="Bahnschrift SemiBold Condensed"/>
              </a:rPr>
              <a:t>07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-2377440" y="310896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E8342A">
                  <a:alpha val="30000"/>
                </a:srgbClr>
              </a:gs>
              <a:gs pos="55000">
                <a:srgbClr val="E8342A">
                  <a:alpha val="10500"/>
                </a:srgbClr>
              </a:gs>
              <a:gs pos="100000">
                <a:srgbClr val="E8342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TỰ HỌC</a:t>
            </a:r>
          </a:p>
        </p:txBody>
      </p:sp>
      <p:sp>
        <p:nvSpPr>
          <p:cNvPr id="5" name="RULE"/>
          <p:cNvSpPr/>
          <p:nvPr/>
        </p:nvSpPr>
        <p:spPr>
          <a:xfrm>
            <a:off x="777240" y="950976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DING"/>
          <p:cNvSpPr txBox="1"/>
          <p:nvPr/>
        </p:nvSpPr>
        <p:spPr>
          <a:xfrm>
            <a:off x="777240" y="1024128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4000"/>
              </a:lnSpc>
            </a:pPr>
            <a:r>
              <a:rPr sz="4000">
                <a:solidFill>
                  <a:srgbClr val="FFFFFF"/>
                </a:solidFill>
                <a:latin typeface="Segoe UI Black"/>
              </a:rPr>
              <a:t>Chạy càng nhiều, máy càng chuẩn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>
                <a:solidFill>
                  <a:srgbClr val="A0A0A9"/>
                </a:solidFill>
                <a:latin typeface="Segoe UI"/>
              </a:rPr>
              <a:t>Sau mỗi lần preheat, firmware ghi lại mức gas thực tế đã giữ được nhiệt ở từng vùng và dùng cho lần sau.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63240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1C1C23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191256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A0A0A9"/>
                </a:solidFill>
                <a:latin typeface="Bahnschrift SemiBold Condensed"/>
              </a:rPr>
              <a:t>0–25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47288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1764" y="3063240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1C1C23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1764" y="3191256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A0A0A9"/>
                </a:solidFill>
                <a:latin typeface="Bahnschrift SemiBold Condensed"/>
              </a:rPr>
              <a:t>25–50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1764" y="3447288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6288" y="3063240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3A1F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6288" y="3191256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A0A0A9"/>
                </a:solidFill>
                <a:latin typeface="Bahnschrift SemiBold Condensed"/>
              </a:rPr>
              <a:t>50–75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6288" y="3447288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0812" y="3063240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3A1F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0812" y="3191256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A0A0A9"/>
                </a:solidFill>
                <a:latin typeface="Bahnschrift SemiBold Condensed"/>
              </a:rPr>
              <a:t>75–100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0812" y="3447288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5336" y="3063240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5E2620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5336" y="3191256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A0A0A9"/>
                </a:solidFill>
                <a:latin typeface="Bahnschrift SemiBold Condensed"/>
              </a:rPr>
              <a:t>100–125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336" y="3447288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9860" y="3063240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5E2620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9860" y="3191256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A0A0A9"/>
                </a:solidFill>
                <a:latin typeface="Bahnschrift SemiBold Condensed"/>
              </a:rPr>
              <a:t>125–150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9860" y="3447288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904488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9B2E24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032504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FFFFFF"/>
                </a:solidFill>
                <a:latin typeface="Bahnschrift SemiBold Condensed"/>
              </a:rPr>
              <a:t>150–175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88536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21764" y="3904488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9B2E24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21764" y="4032504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FFFFFF"/>
                </a:solidFill>
                <a:latin typeface="Bahnschrift SemiBold Condensed"/>
              </a:rPr>
              <a:t>175–200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1764" y="4288536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6288" y="3904488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E8342A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6288" y="4032504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FFFFFF"/>
                </a:solidFill>
                <a:latin typeface="Bahnschrift SemiBold Condensed"/>
              </a:rPr>
              <a:t>200–225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6288" y="4288536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10812" y="3904488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E8342A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10812" y="4032504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FFFFFF"/>
                </a:solidFill>
                <a:latin typeface="Bahnschrift SemiBold Condensed"/>
              </a:rPr>
              <a:t>225–250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0812" y="4288536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55336" y="3904488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9B2E24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55336" y="4032504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FFFFFF"/>
                </a:solidFill>
                <a:latin typeface="Bahnschrift SemiBold Condensed"/>
              </a:rPr>
              <a:t>250–275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55336" y="4288536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9860" y="3904488"/>
            <a:ext cx="1043940" cy="713232"/>
          </a:xfrm>
          <a:prstGeom prst="roundRect">
            <a:avLst>
              <a:gd name="adj" fmla="val 6000"/>
            </a:avLst>
          </a:prstGeom>
          <a:solidFill>
            <a:srgbClr val="5E2620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9860" y="4032504"/>
            <a:ext cx="10439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>
                <a:solidFill>
                  <a:srgbClr val="A0A0A9"/>
                </a:solidFill>
                <a:latin typeface="Bahnschrift SemiBold Condensed"/>
              </a:rPr>
              <a:t>275–300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9860" y="4288536"/>
            <a:ext cx="10439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spc="100">
                <a:solidFill>
                  <a:srgbClr val="6C6C77"/>
                </a:solidFill>
                <a:latin typeface="Segoe UI"/>
              </a:rPr>
              <a:t>°C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4828032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spc="160">
                <a:solidFill>
                  <a:srgbClr val="6C6C77"/>
                </a:solidFill>
                <a:latin typeface="Segoe UI Semibold"/>
              </a:rPr>
              <a:t>12 VÙNG × 25°C  ·  LƯU TRONG /ph_ff.txt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80" y="2468880"/>
            <a:ext cx="3459175" cy="310896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66760" y="274320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spc="160">
                <a:solidFill>
                  <a:srgbClr val="FF453A"/>
                </a:solidFill>
                <a:latin typeface="Segoe UI Semibold"/>
              </a:rPr>
              <a:t>BA THAM SỐ MÁY TỰ ĐO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21040" y="3182112"/>
            <a:ext cx="256032" cy="381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3310128"/>
            <a:ext cx="281909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>
                <a:solidFill>
                  <a:srgbClr val="FFFFFF"/>
                </a:solidFill>
                <a:latin typeface="Segoe UI Semibold"/>
              </a:rPr>
              <a:t>Đà trôi nhiệt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584448"/>
            <a:ext cx="281909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>
                <a:solidFill>
                  <a:srgbClr val="A0A0A9"/>
                </a:solidFill>
                <a:latin typeface="Segoe UI"/>
              </a:rPr>
              <a:t>Tắt gas rồi nhiệt còn trôi bao nhiêu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1040" y="3959352"/>
            <a:ext cx="256032" cy="381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4087368"/>
            <a:ext cx="281909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>
                <a:solidFill>
                  <a:srgbClr val="FFFFFF"/>
                </a:solidFill>
                <a:latin typeface="Segoe UI Semibold"/>
              </a:rPr>
              <a:t>Nhiệt tổn thất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361688"/>
            <a:ext cx="281909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>
                <a:solidFill>
                  <a:srgbClr val="A0A0A9"/>
                </a:solidFill>
                <a:latin typeface="Segoe UI"/>
              </a:rPr>
              <a:t>Máy nguội bao nhanh khi gas về nền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4736592"/>
            <a:ext cx="256032" cy="381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8"/>
            <a:ext cx="281909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>
                <a:solidFill>
                  <a:srgbClr val="FFFFFF"/>
                </a:solidFill>
                <a:latin typeface="Segoe UI Semibold"/>
              </a:rPr>
              <a:t>Độ nhạy gas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138928"/>
            <a:ext cx="281909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>
                <a:solidFill>
                  <a:srgbClr val="A0A0A9"/>
                </a:solidFill>
                <a:latin typeface="Segoe UI"/>
              </a:rPr>
              <a:t>Thêm 1% gas thì nhiệt lên bao nhiêu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spc="120">
                <a:solidFill>
                  <a:srgbClr val="6C6C77"/>
                </a:solidFill>
                <a:latin typeface="Segoe UI"/>
              </a:rPr>
              <a:t>O TESLA  ·  OTL-06ALS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spc="120">
                <a:solidFill>
                  <a:srgbClr val="6C6C77"/>
                </a:solidFill>
                <a:latin typeface="Bahnschrift SemiBold Condensed"/>
              </a:rPr>
              <a:t>08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8595360" y="-18288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E8342A">
                  <a:alpha val="34000"/>
                </a:srgbClr>
              </a:gs>
              <a:gs pos="55000">
                <a:srgbClr val="E8342A">
                  <a:alpha val="11900"/>
                </a:srgbClr>
              </a:gs>
              <a:gs pos="100000">
                <a:srgbClr val="E8342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AN TOÀN</a:t>
            </a:r>
          </a:p>
        </p:txBody>
      </p:sp>
      <p:sp>
        <p:nvSpPr>
          <p:cNvPr id="5" name="RULE"/>
          <p:cNvSpPr/>
          <p:nvPr/>
        </p:nvSpPr>
        <p:spPr>
          <a:xfrm>
            <a:off x="777240" y="950976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DING"/>
          <p:cNvSpPr txBox="1"/>
          <p:nvPr/>
        </p:nvSpPr>
        <p:spPr>
          <a:xfrm>
            <a:off x="777240" y="1024128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4000"/>
              </a:lnSpc>
            </a:pPr>
            <a:r>
              <a:rPr sz="4000">
                <a:solidFill>
                  <a:srgbClr val="FFFFFF"/>
                </a:solidFill>
                <a:latin typeface="Segoe UI Black"/>
              </a:rPr>
              <a:t>Máy tự canh chính nó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87168"/>
            <a:ext cx="2054291" cy="1783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87168"/>
            <a:ext cx="2054291" cy="38100"/>
          </a:xfrm>
          <a:prstGeom prst="rect">
            <a:avLst/>
          </a:prstGeom>
          <a:solidFill>
            <a:srgbClr val="F5B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761488"/>
            <a:ext cx="1578803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>
                <a:solidFill>
                  <a:srgbClr val="FFFFFF"/>
                </a:solidFill>
                <a:latin typeface="Segoe UI Semibold"/>
              </a:rPr>
              <a:t>Mất tín hiệu cảm biến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3401568"/>
            <a:ext cx="1578803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BT hoặc ET rơi đột ngột — nghi dây đo lỏng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2971" y="2487168"/>
            <a:ext cx="2054291" cy="1783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2971" y="2487168"/>
            <a:ext cx="2054291" cy="38100"/>
          </a:xfrm>
          <a:prstGeom prst="rect">
            <a:avLst/>
          </a:prstGeom>
          <a:solidFill>
            <a:srgbClr val="F5B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60715" y="2761488"/>
            <a:ext cx="1578803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>
                <a:solidFill>
                  <a:srgbClr val="FFFFFF"/>
                </a:solidFill>
                <a:latin typeface="Segoe UI Semibold"/>
              </a:rPr>
              <a:t>Tốc độ nhiệt bất thường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0715" y="3401568"/>
            <a:ext cx="1578803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RoR vọt ngoài dải hợp lý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8702" y="2487168"/>
            <a:ext cx="2054291" cy="1783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8702" y="2487168"/>
            <a:ext cx="2054291" cy="38100"/>
          </a:xfrm>
          <a:prstGeom prst="rect">
            <a:avLst/>
          </a:prstGeom>
          <a:solidFill>
            <a:srgbClr val="F5B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6446" y="2761488"/>
            <a:ext cx="1578803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>
                <a:solidFill>
                  <a:srgbClr val="FFFFFF"/>
                </a:solidFill>
                <a:latin typeface="Segoe UI Semibold"/>
              </a:rPr>
              <a:t>Mất lửa giữa chừng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6446" y="3401568"/>
            <a:ext cx="1578803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Đang đốt mà nhiệt không lên — nghi tắt lửa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14433" y="2487168"/>
            <a:ext cx="2054291" cy="1783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14433" y="2487168"/>
            <a:ext cx="2054291" cy="38100"/>
          </a:xfrm>
          <a:prstGeom prst="rect">
            <a:avLst/>
          </a:prstGeom>
          <a:solidFill>
            <a:srgbClr val="F5B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177" y="2761488"/>
            <a:ext cx="1578803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>
                <a:solidFill>
                  <a:srgbClr val="FFFFFF"/>
                </a:solidFill>
                <a:latin typeface="Segoe UI Semibold"/>
              </a:rPr>
              <a:t>Mất liên lạc màn hình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177" y="3401568"/>
            <a:ext cx="1578803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HMI không trả lời trong thời gian cho phép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60164" y="2487168"/>
            <a:ext cx="2054291" cy="17830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60164" y="2487168"/>
            <a:ext cx="2054291" cy="38100"/>
          </a:xfrm>
          <a:prstGeom prst="rect">
            <a:avLst/>
          </a:prstGeom>
          <a:solidFill>
            <a:srgbClr val="F5B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97908" y="2761488"/>
            <a:ext cx="1578803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>
                <a:solidFill>
                  <a:srgbClr val="FFFFFF"/>
                </a:solidFill>
                <a:latin typeface="Segoe UI Semibold"/>
              </a:rPr>
              <a:t>Lỗi thẻ nhớ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97908" y="3401568"/>
            <a:ext cx="1578803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150">
                <a:solidFill>
                  <a:srgbClr val="A0A0A9"/>
                </a:solidFill>
                <a:latin typeface="Segoe UI"/>
              </a:rPr>
              <a:t>Không ghi được log — vẫn chạy, chỉ mất dữ liệu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26280"/>
            <a:ext cx="5181447" cy="1097280"/>
          </a:xfrm>
          <a:prstGeom prst="roundRect">
            <a:avLst>
              <a:gd name="adj" fmla="val 6000"/>
            </a:avLst>
          </a:prstGeom>
          <a:solidFill>
            <a:srgbClr val="2A100E"/>
          </a:solidFill>
          <a:ln w="12700">
            <a:solidFill>
              <a:srgbClr val="E83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4736592"/>
            <a:ext cx="444992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120">
                <a:solidFill>
                  <a:srgbClr val="FF453A"/>
                </a:solidFill>
                <a:latin typeface="Segoe UI Semibold"/>
              </a:rPr>
              <a:t>CHỐT CỨNG  ·  CHÊNH ET − BT VƯỢT 160°C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074920"/>
            <a:ext cx="444992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>
                <a:solidFill>
                  <a:srgbClr val="A0A0A9"/>
                </a:solidFill>
                <a:latin typeface="Segoe UI"/>
              </a:rPr>
              <a:t>Huỷ preheat, đóng gas ngay và báo lỗi lên màn hình.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4526280"/>
            <a:ext cx="5181447" cy="1097280"/>
          </a:xfrm>
          <a:prstGeom prst="roundRect">
            <a:avLst>
              <a:gd name="adj" fmla="val 6000"/>
            </a:avLst>
          </a:prstGeom>
          <a:solidFill>
            <a:srgbClr val="2A100E"/>
          </a:solidFill>
          <a:ln w="12700">
            <a:solidFill>
              <a:srgbClr val="E83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98767" y="4736592"/>
            <a:ext cx="444992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120">
                <a:solidFill>
                  <a:srgbClr val="FF453A"/>
                </a:solidFill>
                <a:latin typeface="Segoe UI Semibold"/>
              </a:rPr>
              <a:t>CHỐT CỨNG  ·  MỒI LỬA QUÁ GIỜ CHO PHÉP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8767" y="5074920"/>
            <a:ext cx="444992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>
                <a:solidFill>
                  <a:srgbClr val="A0A0A9"/>
                </a:solidFill>
                <a:latin typeface="Segoe UI"/>
              </a:rPr>
              <a:t>Không xác nhận được lửa thì đóng gas, không thử vô hạn.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spc="120">
                <a:solidFill>
                  <a:srgbClr val="6C6C77"/>
                </a:solidFill>
                <a:latin typeface="Segoe UI"/>
              </a:rPr>
              <a:t>O TESLA  ·  OTL-06ALS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spc="120">
                <a:solidFill>
                  <a:srgbClr val="6C6C77"/>
                </a:solidFill>
                <a:latin typeface="Bahnschrift SemiBold Condensed"/>
              </a:rPr>
              <a:t>09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9509760" y="384048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6A00">
                  <a:alpha val="22000"/>
                </a:srgbClr>
              </a:gs>
              <a:gs pos="55000">
                <a:srgbClr val="FF6A00">
                  <a:alpha val="7699"/>
                </a:srgbClr>
              </a:gs>
              <a:gs pos="100000">
                <a:srgbClr val="FF6A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ĐỐI CHIẾU</a:t>
            </a:r>
          </a:p>
        </p:txBody>
      </p:sp>
      <p:sp>
        <p:nvSpPr>
          <p:cNvPr id="5" name="RULE"/>
          <p:cNvSpPr/>
          <p:nvPr/>
        </p:nvSpPr>
        <p:spPr>
          <a:xfrm>
            <a:off x="777240" y="950976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DING"/>
          <p:cNvSpPr txBox="1"/>
          <p:nvPr/>
        </p:nvSpPr>
        <p:spPr>
          <a:xfrm>
            <a:off x="777240" y="1024128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4000"/>
              </a:lnSpc>
            </a:pPr>
            <a:r>
              <a:rPr sz="4000">
                <a:solidFill>
                  <a:srgbClr val="FFFFFF"/>
                </a:solidFill>
                <a:latin typeface="Segoe UI Black"/>
              </a:rPr>
              <a:t>Thợ làm tay và máy tự làm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694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160">
                <a:solidFill>
                  <a:srgbClr val="FF453A"/>
                </a:solidFill>
                <a:latin typeface="Segoe UI Semibold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395728"/>
            <a:ext cx="3520440" cy="525780"/>
          </a:xfrm>
          <a:prstGeom prst="roundRect">
            <a:avLst>
              <a:gd name="adj" fmla="val 6000"/>
            </a:avLst>
          </a:prstGeom>
          <a:solidFill>
            <a:srgbClr val="17171D"/>
          </a:solidFill>
          <a:ln w="12700">
            <a:solidFill>
              <a:srgbClr val="2C2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569464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160">
                <a:solidFill>
                  <a:srgbClr val="A0A0A9"/>
                </a:solidFill>
                <a:latin typeface="Segoe UI Semibold"/>
              </a:rPr>
              <a:t>THỢ LÀM TAY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395728"/>
            <a:ext cx="3456432" cy="525780"/>
          </a:xfrm>
          <a:prstGeom prst="roundRect">
            <a:avLst>
              <a:gd name="adj" fmla="val 6000"/>
            </a:avLst>
          </a:prstGeom>
          <a:solidFill>
            <a:srgbClr val="2A100E"/>
          </a:solidFill>
          <a:ln w="12700">
            <a:solidFill>
              <a:srgbClr val="E83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56946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160">
                <a:solidFill>
                  <a:srgbClr val="FF453A"/>
                </a:solidFill>
                <a:latin typeface="Segoe UI Semibold"/>
              </a:rPr>
              <a:t>PREHEAT TỰ ĐỘNG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9524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6C6C77"/>
                </a:solidFill>
                <a:latin typeface="Segoe UI"/>
              </a:rPr>
              <a:t>Người đứng canh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38144"/>
            <a:ext cx="365760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3076956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A0A0A9"/>
                </a:solidFill>
                <a:latin typeface="Segoe UI"/>
              </a:rPr>
              <a:t>Suốt 20–30 phút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438144"/>
            <a:ext cx="352044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3076956"/>
            <a:ext cx="2907792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FFFFFF"/>
                </a:solidFill>
                <a:latin typeface="Segoe UI Semibold"/>
              </a:rPr>
              <a:t>Không cần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3438144"/>
            <a:ext cx="3456432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2102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6C6C77"/>
                </a:solidFill>
                <a:latin typeface="Segoe UI"/>
              </a:rPr>
              <a:t>Vọt nhiệt điển hình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63924"/>
            <a:ext cx="365760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3602736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A0A0A9"/>
                </a:solidFill>
                <a:latin typeface="Segoe UI"/>
              </a:rPr>
              <a:t>+1 … +3°C  (thợ giỏi)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3963924"/>
            <a:ext cx="352044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3602736"/>
            <a:ext cx="2907792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FFFFFF"/>
                </a:solidFill>
                <a:latin typeface="Segoe UI Semibold"/>
              </a:rPr>
              <a:t>≤ 3°C  (mục tiêu)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963924"/>
            <a:ext cx="3456432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468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6C6C77"/>
                </a:solidFill>
                <a:latin typeface="Segoe UI"/>
              </a:rPr>
              <a:t>Trường hợp xấu nhất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489704"/>
            <a:ext cx="365760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4128516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A0A0A9"/>
                </a:solidFill>
                <a:latin typeface="Segoe UI"/>
              </a:rPr>
              <a:t>+15°C khi phải hạ nhiệt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4489704"/>
            <a:ext cx="352044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4128516"/>
            <a:ext cx="2907792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FFFFFF"/>
                </a:solidFill>
                <a:latin typeface="Segoe UI Semibold"/>
              </a:rPr>
              <a:t>Có nhánh hạ nhiệt riêng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4489704"/>
            <a:ext cx="3456432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7258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6C6C77"/>
                </a:solidFill>
                <a:latin typeface="Segoe UI"/>
              </a:rPr>
              <a:t>Độ lặp lại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15484"/>
            <a:ext cx="365760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0" y="4654296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A0A0A9"/>
                </a:solidFill>
                <a:latin typeface="Segoe UI"/>
              </a:rPr>
              <a:t>Mỗi người một kiểu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5015484"/>
            <a:ext cx="352044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4654296"/>
            <a:ext cx="2907792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FFFFFF"/>
                </a:solidFill>
                <a:latin typeface="Segoe UI Semibold"/>
              </a:rPr>
              <a:t>Cùng một luật, mọi ca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5015484"/>
            <a:ext cx="3456432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19836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>
                <a:solidFill>
                  <a:srgbClr val="6C6C77"/>
                </a:solidFill>
                <a:latin typeface="Segoe UI"/>
              </a:rPr>
              <a:t>Dữ liệu để soi lại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541264"/>
            <a:ext cx="365760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5180076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A0A0A9"/>
                </a:solidFill>
                <a:latin typeface="Segoe UI"/>
              </a:rPr>
              <a:t>Không có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5541264"/>
            <a:ext cx="3520440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0" y="5180076"/>
            <a:ext cx="2907792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50">
                <a:solidFill>
                  <a:srgbClr val="FFFFFF"/>
                </a:solidFill>
                <a:latin typeface="Segoe UI Semibold"/>
              </a:rPr>
              <a:t>CSV 5 giây/dòng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5541264"/>
            <a:ext cx="3456432" cy="12700"/>
          </a:xfrm>
          <a:prstGeom prst="rect">
            <a:avLst/>
          </a:prstGeom>
          <a:solidFill>
            <a:srgbClr val="232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6C6C77"/>
                </a:solidFill>
                <a:latin typeface="Segoe UI"/>
              </a:rPr>
              <a:t>Số liệu tay lấy từ 7 lần preheat có ghi chép của người vận hành. Cột tự động là mục tiêu thiết kế — đang ở giai đoạn chạy thử có giám sát.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spc="120">
                <a:solidFill>
                  <a:srgbClr val="6C6C77"/>
                </a:solidFill>
                <a:latin typeface="Segoe UI"/>
              </a:rPr>
              <a:t>O TESLA  ·  OTL-06ALS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199632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spc="120">
                <a:solidFill>
                  <a:srgbClr val="6C6C77"/>
                </a:solidFill>
                <a:latin typeface="Bahnschrift SemiBold Condensed"/>
              </a:rPr>
              <a:t>10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1218"/>
              </a:gs>
              <a:gs pos="100000">
                <a:srgbClr val="0D0D10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MBER"/>
          <p:cNvSpPr/>
          <p:nvPr/>
        </p:nvSpPr>
        <p:spPr>
          <a:xfrm>
            <a:off x="2651760" y="365760"/>
            <a:ext cx="7680960" cy="7680960"/>
          </a:xfrm>
          <a:prstGeom prst="ellipse">
            <a:avLst/>
          </a:prstGeom>
          <a:gradFill rotWithShape="1">
            <a:gsLst>
              <a:gs pos="0">
                <a:srgbClr val="E8342A">
                  <a:alpha val="52000"/>
                </a:srgbClr>
              </a:gs>
              <a:gs pos="55000">
                <a:srgbClr val="E8342A">
                  <a:alpha val="18200"/>
                </a:srgbClr>
              </a:gs>
              <a:gs pos="100000">
                <a:srgbClr val="E8342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MBER2"/>
          <p:cNvSpPr/>
          <p:nvPr/>
        </p:nvSpPr>
        <p:spPr>
          <a:xfrm>
            <a:off x="969264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FF6A00">
                  <a:alpha val="22000"/>
                </a:srgbClr>
              </a:gs>
              <a:gs pos="55000">
                <a:srgbClr val="FF6A00">
                  <a:alpha val="7699"/>
                </a:srgbClr>
              </a:gs>
              <a:gs pos="100000">
                <a:srgbClr val="FF6A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ULE"/>
          <p:cNvSpPr/>
          <p:nvPr/>
        </p:nvSpPr>
        <p:spPr>
          <a:xfrm>
            <a:off x="777240" y="1883664"/>
            <a:ext cx="1371600" cy="63500"/>
          </a:xfrm>
          <a:prstGeom prst="rect">
            <a:avLst/>
          </a:prstGeom>
          <a:solidFill>
            <a:srgbClr val="E83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KICKER"/>
          <p:cNvSpPr txBox="1"/>
          <p:nvPr/>
        </p:nvSpPr>
        <p:spPr>
          <a:xfrm>
            <a:off x="777240" y="1371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spc="240">
                <a:solidFill>
                  <a:srgbClr val="E8342A"/>
                </a:solidFill>
                <a:latin typeface="Segoe UI Semibold"/>
              </a:rPr>
              <a:t>PREHEAT  ·  OTL-06ALS</a:t>
            </a:r>
          </a:p>
        </p:txBody>
      </p:sp>
      <p:sp>
        <p:nvSpPr>
          <p:cNvPr id="7" name="HEADING"/>
          <p:cNvSpPr txBox="1"/>
          <p:nvPr/>
        </p:nvSpPr>
        <p:spPr>
          <a:xfrm>
            <a:off x="777240" y="2286000"/>
            <a:ext cx="10058400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5600" spc="-200">
                <a:solidFill>
                  <a:srgbClr val="FFFFFF"/>
                </a:solidFill>
                <a:latin typeface="Segoe UI Black"/>
              </a:rPr>
              <a:t>Bật máy. Đi pha cà phê.</a:t>
            </a:r>
          </a:p>
          <a:p>
            <a:pPr algn="l">
              <a:lnSpc>
                <a:spcPct val="110000"/>
              </a:lnSpc>
            </a:pPr>
            <a:r>
              <a:rPr sz="5600" spc="-200">
                <a:solidFill>
                  <a:srgbClr val="FF453A"/>
                </a:solidFill>
                <a:latin typeface="Segoe UI Black"/>
              </a:rPr>
              <a:t>Quay lại là máy đã nóng.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6320"/>
            <a:ext cx="10607040" cy="12700"/>
          </a:xfrm>
          <a:prstGeom prst="rect">
            <a:avLst/>
          </a:prstGeom>
          <a:solidFill>
            <a:srgbClr val="2C2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206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spc="160">
                <a:solidFill>
                  <a:srgbClr val="6C6C77"/>
                </a:solidFill>
                <a:latin typeface="Segoe UI Semibold"/>
              </a:rPr>
              <a:t>TRẠNG THÁI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Segoe UI Semibold"/>
              </a:rPr>
              <a:t>Chạy thử có giám sát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1206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spc="160">
                <a:solidFill>
                  <a:srgbClr val="6C6C77"/>
                </a:solidFill>
                <a:latin typeface="Segoe UI Semibold"/>
              </a:rPr>
              <a:t>ÁP DỤNG CHO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Segoe UI Semibold"/>
              </a:rPr>
              <a:t>Đầu đốt thường và premix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51206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spc="160">
                <a:solidFill>
                  <a:srgbClr val="6C6C77"/>
                </a:solidFill>
                <a:latin typeface="Segoe UI Semibold"/>
              </a:rPr>
              <a:t>LIÊN HỆ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440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Segoe UI Semibold"/>
              </a:rPr>
              <a:t>O Tesla  ·  otlpro.com@gmail.com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