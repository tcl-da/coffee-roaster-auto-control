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Between-batch preheat — máy tự chốt nhiệt nạp trước mỗi mẻ.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 hạn chế khi sấy máy và phục hồi nhiệt giữa mẻ bằng tay.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Between-batch preheat chuẩn hoá bước gia nhiệt giữa hai mẻ.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Bốn chỉ tiêu kỹ thuật của bộ điều khiển gia nhiệt.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Sáu trạng thái chính; COOLING và COAST xử lý trống còn dư nhiệt.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Chia 60/40: pha ramp ưu tiên tốc độ, pha precision ưu tiên độ chính xác.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Chuỗi trễ nhiệt: từ lệnh gas tới khi đầu dò BT thấy nhiệt mất ~30 giây.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Bảng bù trước 12 vùng và 3 tham số máy tự nhận dạng.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Năm cờ lỗi tự giám sát và hai khoá cứng đóng gas.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Đối chiếu vận hành thủ công và between-batch preheat tự động.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Chốt lại và trạng thái phát hành.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01_Rectangle_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C2636"/>
              </a:gs>
              <a:gs pos="100000">
                <a:srgbClr val="141C28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01_EMBER"/>
          <p:cNvSpPr/>
          <p:nvPr/>
        </p:nvSpPr>
        <p:spPr>
          <a:xfrm>
            <a:off x="6766560" y="-1463040"/>
            <a:ext cx="8595360" cy="8595360"/>
          </a:xfrm>
          <a:prstGeom prst="ellipse">
            <a:avLst/>
          </a:prstGeom>
          <a:gradFill rotWithShape="1">
            <a:gsLst>
              <a:gs pos="0">
                <a:srgbClr val="E23A2E">
                  <a:alpha val="19000"/>
                </a:srgbClr>
              </a:gs>
              <a:gs pos="55000">
                <a:srgbClr val="E23A2E">
                  <a:alpha val="6650"/>
                </a:srgbClr>
              </a:gs>
              <a:gs pos="100000">
                <a:srgbClr val="E23A2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01_EMBER2"/>
          <p:cNvSpPr/>
          <p:nvPr/>
        </p:nvSpPr>
        <p:spPr>
          <a:xfrm>
            <a:off x="-2011680" y="3840480"/>
            <a:ext cx="5852160" cy="5852160"/>
          </a:xfrm>
          <a:prstGeom prst="ellipse">
            <a:avLst/>
          </a:prstGeom>
          <a:gradFill rotWithShape="1">
            <a:gsLst>
              <a:gs pos="0">
                <a:srgbClr val="3E8FF0">
                  <a:alpha val="11400"/>
                </a:srgbClr>
              </a:gs>
              <a:gs pos="55000">
                <a:srgbClr val="3E8FF0">
                  <a:alpha val="3989"/>
                </a:srgbClr>
              </a:gs>
              <a:gs pos="100000">
                <a:srgbClr val="3E8FF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01_Rectangle_4"/>
          <p:cNvSpPr/>
          <p:nvPr/>
        </p:nvSpPr>
        <p:spPr>
          <a:xfrm>
            <a:off x="457200" y="457200"/>
            <a:ext cx="274320" cy="15875"/>
          </a:xfrm>
          <a:prstGeom prst="rect">
            <a:avLst/>
          </a:prstGeom>
          <a:solidFill>
            <a:srgbClr val="3C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01_Rectangle_5"/>
          <p:cNvSpPr/>
          <p:nvPr/>
        </p:nvSpPr>
        <p:spPr>
          <a:xfrm>
            <a:off x="457200" y="457200"/>
            <a:ext cx="15875" cy="274320"/>
          </a:xfrm>
          <a:prstGeom prst="rect">
            <a:avLst/>
          </a:prstGeom>
          <a:solidFill>
            <a:srgbClr val="3C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01_Rectangle_6"/>
          <p:cNvSpPr/>
          <p:nvPr/>
        </p:nvSpPr>
        <p:spPr>
          <a:xfrm>
            <a:off x="457200" y="6384925"/>
            <a:ext cx="274320" cy="15875"/>
          </a:xfrm>
          <a:prstGeom prst="rect">
            <a:avLst/>
          </a:prstGeom>
          <a:solidFill>
            <a:srgbClr val="3C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01_Rectangle_7"/>
          <p:cNvSpPr/>
          <p:nvPr/>
        </p:nvSpPr>
        <p:spPr>
          <a:xfrm>
            <a:off x="457200" y="6126480"/>
            <a:ext cx="15875" cy="274320"/>
          </a:xfrm>
          <a:prstGeom prst="rect">
            <a:avLst/>
          </a:prstGeom>
          <a:solidFill>
            <a:srgbClr val="3C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01_Rectangle_8"/>
          <p:cNvSpPr/>
          <p:nvPr/>
        </p:nvSpPr>
        <p:spPr>
          <a:xfrm>
            <a:off x="11460175" y="457200"/>
            <a:ext cx="274320" cy="15875"/>
          </a:xfrm>
          <a:prstGeom prst="rect">
            <a:avLst/>
          </a:prstGeom>
          <a:solidFill>
            <a:srgbClr val="3C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01_Rectangle_9"/>
          <p:cNvSpPr/>
          <p:nvPr/>
        </p:nvSpPr>
        <p:spPr>
          <a:xfrm>
            <a:off x="11718620" y="457200"/>
            <a:ext cx="15875" cy="274320"/>
          </a:xfrm>
          <a:prstGeom prst="rect">
            <a:avLst/>
          </a:prstGeom>
          <a:solidFill>
            <a:srgbClr val="3C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01_Rectangle_10"/>
          <p:cNvSpPr/>
          <p:nvPr/>
        </p:nvSpPr>
        <p:spPr>
          <a:xfrm>
            <a:off x="11460175" y="6384925"/>
            <a:ext cx="274320" cy="15875"/>
          </a:xfrm>
          <a:prstGeom prst="rect">
            <a:avLst/>
          </a:prstGeom>
          <a:solidFill>
            <a:srgbClr val="3C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01_Rectangle_11"/>
          <p:cNvSpPr/>
          <p:nvPr/>
        </p:nvSpPr>
        <p:spPr>
          <a:xfrm>
            <a:off x="11718620" y="6126480"/>
            <a:ext cx="15875" cy="274320"/>
          </a:xfrm>
          <a:prstGeom prst="rect">
            <a:avLst/>
          </a:prstGeom>
          <a:solidFill>
            <a:srgbClr val="3C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01_RULE"/>
          <p:cNvSpPr/>
          <p:nvPr/>
        </p:nvSpPr>
        <p:spPr>
          <a:xfrm>
            <a:off x="777240" y="1883664"/>
            <a:ext cx="1371600" cy="63500"/>
          </a:xfrm>
          <a:prstGeom prst="rect">
            <a:avLst/>
          </a:prstGeom>
          <a:solidFill>
            <a:srgbClr val="E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01_KICKER"/>
          <p:cNvSpPr txBox="1"/>
          <p:nvPr/>
        </p:nvSpPr>
        <p:spPr>
          <a:xfrm>
            <a:off x="777240" y="137160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spc="240">
                <a:solidFill>
                  <a:srgbClr val="E23A2E"/>
                </a:solidFill>
                <a:latin typeface="Segoe UI Semibold"/>
              </a:rPr>
              <a:t>TÍNH NĂNG MỚI  ·  FIRMWARE OTL-06ALS</a:t>
            </a:r>
          </a:p>
        </p:txBody>
      </p:sp>
      <p:sp>
        <p:nvSpPr>
          <p:cNvPr id="15" name="S01_HEADING"/>
          <p:cNvSpPr txBox="1"/>
          <p:nvPr/>
        </p:nvSpPr>
        <p:spPr>
          <a:xfrm>
            <a:off x="777240" y="2286000"/>
            <a:ext cx="877824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6000"/>
              </a:lnSpc>
            </a:pPr>
            <a:r>
              <a:rPr sz="13800" spc="-300">
                <a:solidFill>
                  <a:srgbClr val="FFFFFF"/>
                </a:solidFill>
                <a:latin typeface="Segoe UI Black"/>
              </a:rPr>
              <a:t>PREHEAT</a:t>
            </a:r>
          </a:p>
        </p:txBody>
      </p:sp>
      <p:sp>
        <p:nvSpPr>
          <p:cNvPr id="16" name="S01_TextBox_15"/>
          <p:cNvSpPr txBox="1"/>
          <p:nvPr/>
        </p:nvSpPr>
        <p:spPr>
          <a:xfrm>
            <a:off x="777240" y="420624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200">
                <a:solidFill>
                  <a:srgbClr val="EAF1FA"/>
                </a:solidFill>
                <a:latin typeface="Segoe UI"/>
              </a:rPr>
              <a:t>Between-batch preheat — tự chốt nhiệt nạp trước mỗi mẻ</a:t>
            </a:r>
          </a:p>
        </p:txBody>
      </p:sp>
      <p:sp>
        <p:nvSpPr>
          <p:cNvPr id="17" name="S01_Rectangle_16"/>
          <p:cNvSpPr/>
          <p:nvPr/>
        </p:nvSpPr>
        <p:spPr>
          <a:xfrm>
            <a:off x="777240" y="5074920"/>
            <a:ext cx="10607040" cy="12700"/>
          </a:xfrm>
          <a:prstGeom prst="rect">
            <a:avLst/>
          </a:prstGeom>
          <a:solidFill>
            <a:srgbClr val="3C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01_TextBox_17"/>
          <p:cNvSpPr txBox="1"/>
          <p:nvPr/>
        </p:nvSpPr>
        <p:spPr>
          <a:xfrm>
            <a:off x="777240" y="53492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spc="100">
                <a:solidFill>
                  <a:srgbClr val="8CC2FF"/>
                </a:solidFill>
                <a:latin typeface="Segoe UI"/>
              </a:rPr>
              <a:t>O TESLA  ·  Điều khiển &amp; Tự động hoá máy rang cà phê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6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6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6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6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6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6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6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6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6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6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46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46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6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46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46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6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46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02_Rectangle_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C2636"/>
              </a:gs>
              <a:gs pos="100000">
                <a:srgbClr val="141C28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02_EMBER"/>
          <p:cNvSpPr/>
          <p:nvPr/>
        </p:nvSpPr>
        <p:spPr>
          <a:xfrm>
            <a:off x="9052560" y="-219456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E23A2E">
                  <a:alpha val="12920"/>
                </a:srgbClr>
              </a:gs>
              <a:gs pos="55000">
                <a:srgbClr val="E23A2E">
                  <a:alpha val="4522"/>
                </a:srgbClr>
              </a:gs>
              <a:gs pos="100000">
                <a:srgbClr val="E23A2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02_KICKER"/>
          <p:cNvSpPr txBox="1"/>
          <p:nvPr/>
        </p:nvSpPr>
        <p:spPr>
          <a:xfrm>
            <a:off x="777240" y="65836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spc="240">
                <a:solidFill>
                  <a:srgbClr val="E23A2E"/>
                </a:solidFill>
                <a:latin typeface="Segoe UI Semibold"/>
              </a:rPr>
              <a:t>HIỆN TRẠNG</a:t>
            </a:r>
          </a:p>
        </p:txBody>
      </p:sp>
      <p:sp>
        <p:nvSpPr>
          <p:cNvPr id="5" name="S02_RULE"/>
          <p:cNvSpPr/>
          <p:nvPr/>
        </p:nvSpPr>
        <p:spPr>
          <a:xfrm>
            <a:off x="777240" y="950976"/>
            <a:ext cx="1371600" cy="63500"/>
          </a:xfrm>
          <a:prstGeom prst="rect">
            <a:avLst/>
          </a:prstGeom>
          <a:solidFill>
            <a:srgbClr val="E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02_HEADING"/>
          <p:cNvSpPr txBox="1"/>
          <p:nvPr/>
        </p:nvSpPr>
        <p:spPr>
          <a:xfrm>
            <a:off x="777240" y="969264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4000"/>
              </a:lnSpc>
            </a:pPr>
            <a:r>
              <a:rPr sz="4600">
                <a:solidFill>
                  <a:srgbClr val="FFFFFF"/>
                </a:solidFill>
                <a:latin typeface="Segoe UI Black"/>
              </a:rPr>
              <a:t>Sấy máy và hồi nhiệt bằng tay</a:t>
            </a:r>
          </a:p>
        </p:txBody>
      </p:sp>
      <p:sp>
        <p:nvSpPr>
          <p:cNvPr id="7" name="S02_Rectangle_6"/>
          <p:cNvSpPr/>
          <p:nvPr/>
        </p:nvSpPr>
        <p:spPr>
          <a:xfrm>
            <a:off x="777240" y="2487168"/>
            <a:ext cx="3393338" cy="3108960"/>
          </a:xfrm>
          <a:prstGeom prst="rect">
            <a:avLst/>
          </a:prstGeom>
          <a:solidFill>
            <a:srgbClr val="1F2A3A"/>
          </a:solidFill>
          <a:ln w="15875">
            <a:solidFill>
              <a:srgbClr val="3C5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02_Rectangle_7"/>
          <p:cNvSpPr/>
          <p:nvPr/>
        </p:nvSpPr>
        <p:spPr>
          <a:xfrm>
            <a:off x="1143000" y="2852928"/>
            <a:ext cx="548640" cy="63500"/>
          </a:xfrm>
          <a:prstGeom prst="rect">
            <a:avLst/>
          </a:prstGeom>
          <a:solidFill>
            <a:srgbClr val="E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02_TextBox_8"/>
          <p:cNvSpPr txBox="1"/>
          <p:nvPr/>
        </p:nvSpPr>
        <p:spPr>
          <a:xfrm>
            <a:off x="1143000" y="3127248"/>
            <a:ext cx="2661818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5800" spc="-100">
                <a:solidFill>
                  <a:srgbClr val="FF4A3D"/>
                </a:solidFill>
                <a:latin typeface="Segoe UI Black"/>
              </a:rPr>
              <a:t>20–30′</a:t>
            </a:r>
          </a:p>
        </p:txBody>
      </p:sp>
      <p:sp>
        <p:nvSpPr>
          <p:cNvPr id="10" name="S02_TextBox_9"/>
          <p:cNvSpPr txBox="1"/>
          <p:nvPr/>
        </p:nvSpPr>
        <p:spPr>
          <a:xfrm>
            <a:off x="1143000" y="4023360"/>
            <a:ext cx="266181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spc="160">
                <a:solidFill>
                  <a:srgbClr val="3E8FF0"/>
                </a:solidFill>
                <a:latin typeface="Segoe UI Semibold"/>
              </a:rPr>
              <a:t>SẤY MÁY ĐẦU CA</a:t>
            </a:r>
          </a:p>
        </p:txBody>
      </p:sp>
      <p:sp>
        <p:nvSpPr>
          <p:cNvPr id="11" name="S02_TextBox_10"/>
          <p:cNvSpPr txBox="1"/>
          <p:nvPr/>
        </p:nvSpPr>
        <p:spPr>
          <a:xfrm>
            <a:off x="1143000" y="4526280"/>
            <a:ext cx="2661818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900">
                <a:solidFill>
                  <a:srgbClr val="EAF1FA"/>
                </a:solidFill>
                <a:latin typeface="Segoe UI"/>
              </a:rPr>
              <a:t>Thợ trực bảng điều khiển tới khi trống đạt nhiệt nạp.</a:t>
            </a:r>
          </a:p>
        </p:txBody>
      </p:sp>
      <p:sp>
        <p:nvSpPr>
          <p:cNvPr id="12" name="S02_Rectangle_11"/>
          <p:cNvSpPr/>
          <p:nvPr/>
        </p:nvSpPr>
        <p:spPr>
          <a:xfrm>
            <a:off x="4399178" y="2487168"/>
            <a:ext cx="3393338" cy="3108960"/>
          </a:xfrm>
          <a:prstGeom prst="rect">
            <a:avLst/>
          </a:prstGeom>
          <a:solidFill>
            <a:srgbClr val="1F2A3A"/>
          </a:solidFill>
          <a:ln w="15875">
            <a:solidFill>
              <a:srgbClr val="3C5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02_Rectangle_12"/>
          <p:cNvSpPr/>
          <p:nvPr/>
        </p:nvSpPr>
        <p:spPr>
          <a:xfrm>
            <a:off x="4764938" y="2852928"/>
            <a:ext cx="548640" cy="63500"/>
          </a:xfrm>
          <a:prstGeom prst="rect">
            <a:avLst/>
          </a:prstGeom>
          <a:solidFill>
            <a:srgbClr val="E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02_TextBox_13"/>
          <p:cNvSpPr txBox="1"/>
          <p:nvPr/>
        </p:nvSpPr>
        <p:spPr>
          <a:xfrm>
            <a:off x="4764938" y="3127248"/>
            <a:ext cx="2661818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5800" spc="-100">
                <a:solidFill>
                  <a:srgbClr val="FF4A3D"/>
                </a:solidFill>
                <a:latin typeface="Segoe UI Black"/>
              </a:rPr>
              <a:t>7 kiểu</a:t>
            </a:r>
          </a:p>
        </p:txBody>
      </p:sp>
      <p:sp>
        <p:nvSpPr>
          <p:cNvPr id="15" name="S02_TextBox_14"/>
          <p:cNvSpPr txBox="1"/>
          <p:nvPr/>
        </p:nvSpPr>
        <p:spPr>
          <a:xfrm>
            <a:off x="4764938" y="4023360"/>
            <a:ext cx="266181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spc="160">
                <a:solidFill>
                  <a:srgbClr val="3E8FF0"/>
                </a:solidFill>
                <a:latin typeface="Segoe UI Semibold"/>
              </a:rPr>
              <a:t>ĐỒNG NHẤT GIỮA MẺ</a:t>
            </a:r>
          </a:p>
        </p:txBody>
      </p:sp>
      <p:sp>
        <p:nvSpPr>
          <p:cNvPr id="16" name="S02_TextBox_15"/>
          <p:cNvSpPr txBox="1"/>
          <p:nvPr/>
        </p:nvSpPr>
        <p:spPr>
          <a:xfrm>
            <a:off x="4764938" y="4526280"/>
            <a:ext cx="2661818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900">
                <a:solidFill>
                  <a:srgbClr val="EAF1FA"/>
                </a:solidFill>
                <a:latin typeface="Segoe UI"/>
              </a:rPr>
              <a:t>Bảy thợ cho ra bảy đường sấy khác nhau.</a:t>
            </a:r>
          </a:p>
        </p:txBody>
      </p:sp>
      <p:sp>
        <p:nvSpPr>
          <p:cNvPr id="17" name="S02_Rectangle_16"/>
          <p:cNvSpPr/>
          <p:nvPr/>
        </p:nvSpPr>
        <p:spPr>
          <a:xfrm>
            <a:off x="8021116" y="2487168"/>
            <a:ext cx="3393338" cy="3108960"/>
          </a:xfrm>
          <a:prstGeom prst="rect">
            <a:avLst/>
          </a:prstGeom>
          <a:solidFill>
            <a:srgbClr val="1F2A3A"/>
          </a:solidFill>
          <a:ln w="15875">
            <a:solidFill>
              <a:srgbClr val="3C5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02_Rectangle_17"/>
          <p:cNvSpPr/>
          <p:nvPr/>
        </p:nvSpPr>
        <p:spPr>
          <a:xfrm>
            <a:off x="8386876" y="2852928"/>
            <a:ext cx="548640" cy="63500"/>
          </a:xfrm>
          <a:prstGeom prst="rect">
            <a:avLst/>
          </a:prstGeom>
          <a:solidFill>
            <a:srgbClr val="E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02_TextBox_18"/>
          <p:cNvSpPr txBox="1"/>
          <p:nvPr/>
        </p:nvSpPr>
        <p:spPr>
          <a:xfrm>
            <a:off x="8386876" y="3127248"/>
            <a:ext cx="2661818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5800" spc="-100">
                <a:solidFill>
                  <a:srgbClr val="FF4A3D"/>
                </a:solidFill>
                <a:latin typeface="Segoe UI Black"/>
              </a:rPr>
              <a:t>+15°C</a:t>
            </a:r>
          </a:p>
        </p:txBody>
      </p:sp>
      <p:sp>
        <p:nvSpPr>
          <p:cNvPr id="20" name="S02_TextBox_19"/>
          <p:cNvSpPr txBox="1"/>
          <p:nvPr/>
        </p:nvSpPr>
        <p:spPr>
          <a:xfrm>
            <a:off x="8386876" y="4023360"/>
            <a:ext cx="266181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spc="160">
                <a:solidFill>
                  <a:srgbClr val="3E8FF0"/>
                </a:solidFill>
                <a:latin typeface="Segoe UI Semibold"/>
              </a:rPr>
              <a:t>VỌT LỐ GHI NHẬN</a:t>
            </a:r>
          </a:p>
        </p:txBody>
      </p:sp>
      <p:sp>
        <p:nvSpPr>
          <p:cNvPr id="21" name="S02_TextBox_20"/>
          <p:cNvSpPr txBox="1"/>
          <p:nvPr/>
        </p:nvSpPr>
        <p:spPr>
          <a:xfrm>
            <a:off x="8386876" y="4526280"/>
            <a:ext cx="2661818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900">
                <a:solidFill>
                  <a:srgbClr val="EAF1FA"/>
                </a:solidFill>
                <a:latin typeface="Segoe UI"/>
              </a:rPr>
              <a:t>Hạ 215 → 150°C: mẻ đầu lệch điểm TP.</a:t>
            </a:r>
          </a:p>
        </p:txBody>
      </p:sp>
      <p:sp>
        <p:nvSpPr>
          <p:cNvPr id="22" name="S02_TextBox_21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spc="120">
                <a:solidFill>
                  <a:srgbClr val="8CC2FF"/>
                </a:solidFill>
                <a:latin typeface="Segoe UI"/>
              </a:rPr>
              <a:t>O TESLA  ·  OTL-06ALS</a:t>
            </a:r>
          </a:p>
        </p:txBody>
      </p:sp>
      <p:sp>
        <p:nvSpPr>
          <p:cNvPr id="23" name="S02_TextBox_22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300" spc="120">
                <a:solidFill>
                  <a:srgbClr val="8CC2FF"/>
                </a:solidFill>
                <a:latin typeface="Bahnschrift SemiBold Condensed"/>
              </a:rPr>
              <a:t>02 / 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6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6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6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6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6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6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6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6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6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6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6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46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46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03_Rectangle_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C2636"/>
              </a:gs>
              <a:gs pos="100000">
                <a:srgbClr val="141C28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03_EMBER"/>
          <p:cNvSpPr/>
          <p:nvPr/>
        </p:nvSpPr>
        <p:spPr>
          <a:xfrm>
            <a:off x="3108960" y="822960"/>
            <a:ext cx="6766560" cy="6766560"/>
          </a:xfrm>
          <a:prstGeom prst="ellipse">
            <a:avLst/>
          </a:prstGeom>
          <a:gradFill rotWithShape="1">
            <a:gsLst>
              <a:gs pos="0">
                <a:srgbClr val="E23A2E">
                  <a:alpha val="16720"/>
                </a:srgbClr>
              </a:gs>
              <a:gs pos="55000">
                <a:srgbClr val="E23A2E">
                  <a:alpha val="5852"/>
                </a:srgbClr>
              </a:gs>
              <a:gs pos="100000">
                <a:srgbClr val="E23A2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03_KICKER"/>
          <p:cNvSpPr txBox="1"/>
          <p:nvPr/>
        </p:nvSpPr>
        <p:spPr>
          <a:xfrm>
            <a:off x="777240" y="82296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spc="240">
                <a:solidFill>
                  <a:srgbClr val="E23A2E"/>
                </a:solidFill>
                <a:latin typeface="Segoe UI Semibold"/>
              </a:rPr>
              <a:t>BETWEEN-BATCH PREHEAT</a:t>
            </a:r>
          </a:p>
        </p:txBody>
      </p:sp>
      <p:sp>
        <p:nvSpPr>
          <p:cNvPr id="5" name="S03_RULE"/>
          <p:cNvSpPr/>
          <p:nvPr/>
        </p:nvSpPr>
        <p:spPr>
          <a:xfrm>
            <a:off x="777240" y="1115568"/>
            <a:ext cx="1371600" cy="63500"/>
          </a:xfrm>
          <a:prstGeom prst="rect">
            <a:avLst/>
          </a:prstGeom>
          <a:solidFill>
            <a:srgbClr val="E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03_HEADING"/>
          <p:cNvSpPr txBox="1"/>
          <p:nvPr/>
        </p:nvSpPr>
        <p:spPr>
          <a:xfrm>
            <a:off x="777240" y="2103120"/>
            <a:ext cx="10607040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5800" spc="-200">
                <a:solidFill>
                  <a:srgbClr val="FFFFFF"/>
                </a:solidFill>
                <a:latin typeface="Segoe UI Black"/>
              </a:rPr>
              <a:t>Một lệnh khởi động.</a:t>
            </a:r>
          </a:p>
          <a:p>
            <a:pPr algn="l">
              <a:lnSpc>
                <a:spcPct val="110000"/>
              </a:lnSpc>
            </a:pPr>
            <a:r>
              <a:rPr sz="5800" spc="-200">
                <a:solidFill>
                  <a:srgbClr val="FF4A3D"/>
                </a:solidFill>
                <a:latin typeface="Segoe UI Black"/>
              </a:rPr>
              <a:t>Toàn bộ chu trình tự động.</a:t>
            </a:r>
          </a:p>
        </p:txBody>
      </p:sp>
      <p:sp>
        <p:nvSpPr>
          <p:cNvPr id="7" name="S03_TextBox_6"/>
          <p:cNvSpPr txBox="1"/>
          <p:nvPr/>
        </p:nvSpPr>
        <p:spPr>
          <a:xfrm>
            <a:off x="777240" y="4434840"/>
            <a:ext cx="102412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400">
                <a:solidFill>
                  <a:srgbClr val="EAF1FA"/>
                </a:solidFill>
                <a:latin typeface="Segoe UI"/>
              </a:rPr>
              <a:t>Bộ điều khiển đọc BT, ET và RoR mỗi giây, điều tiết gas và damper qua 8 trạng thái, giữ trống tại nhiệt nạp chờ charge.</a:t>
            </a:r>
          </a:p>
        </p:txBody>
      </p:sp>
      <p:sp>
        <p:nvSpPr>
          <p:cNvPr id="8" name="S03_TextBox_7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spc="120">
                <a:solidFill>
                  <a:srgbClr val="8CC2FF"/>
                </a:solidFill>
                <a:latin typeface="Segoe UI"/>
              </a:rPr>
              <a:t>O TESLA  ·  OTL-06ALS</a:t>
            </a:r>
          </a:p>
        </p:txBody>
      </p:sp>
      <p:sp>
        <p:nvSpPr>
          <p:cNvPr id="9" name="S03_TextBox_8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300" spc="120">
                <a:solidFill>
                  <a:srgbClr val="8CC2FF"/>
                </a:solidFill>
                <a:latin typeface="Bahnschrift SemiBold Condensed"/>
              </a:rPr>
              <a:t>03 / 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6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6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6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6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6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6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6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6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6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6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6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04_Rectangle_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C2636"/>
              </a:gs>
              <a:gs pos="100000">
                <a:srgbClr val="141C28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04_EMBER"/>
          <p:cNvSpPr/>
          <p:nvPr/>
        </p:nvSpPr>
        <p:spPr>
          <a:xfrm>
            <a:off x="9326880" y="4206240"/>
            <a:ext cx="5669280" cy="5669280"/>
          </a:xfrm>
          <a:prstGeom prst="ellipse">
            <a:avLst/>
          </a:prstGeom>
          <a:gradFill rotWithShape="1">
            <a:gsLst>
              <a:gs pos="0">
                <a:srgbClr val="3E8FF0">
                  <a:alpha val="9880"/>
                </a:srgbClr>
              </a:gs>
              <a:gs pos="55000">
                <a:srgbClr val="3E8FF0">
                  <a:alpha val="3458"/>
                </a:srgbClr>
              </a:gs>
              <a:gs pos="100000">
                <a:srgbClr val="3E8FF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04_KICKER"/>
          <p:cNvSpPr txBox="1"/>
          <p:nvPr/>
        </p:nvSpPr>
        <p:spPr>
          <a:xfrm>
            <a:off x="777240" y="65836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spc="240">
                <a:solidFill>
                  <a:srgbClr val="E23A2E"/>
                </a:solidFill>
                <a:latin typeface="Segoe UI Semibold"/>
              </a:rPr>
              <a:t>CHỈ TIÊU KỸ THUẬT</a:t>
            </a:r>
          </a:p>
        </p:txBody>
      </p:sp>
      <p:sp>
        <p:nvSpPr>
          <p:cNvPr id="5" name="S04_RULE"/>
          <p:cNvSpPr/>
          <p:nvPr/>
        </p:nvSpPr>
        <p:spPr>
          <a:xfrm>
            <a:off x="777240" y="950976"/>
            <a:ext cx="1371600" cy="63500"/>
          </a:xfrm>
          <a:prstGeom prst="rect">
            <a:avLst/>
          </a:prstGeom>
          <a:solidFill>
            <a:srgbClr val="E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04_HEADING"/>
          <p:cNvSpPr txBox="1"/>
          <p:nvPr/>
        </p:nvSpPr>
        <p:spPr>
          <a:xfrm>
            <a:off x="777240" y="969264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4000"/>
              </a:lnSpc>
            </a:pPr>
            <a:r>
              <a:rPr sz="4600">
                <a:solidFill>
                  <a:srgbClr val="FFFFFF"/>
                </a:solidFill>
                <a:latin typeface="Segoe UI Black"/>
              </a:rPr>
              <a:t>Bốn chỉ tiêu chính</a:t>
            </a:r>
          </a:p>
        </p:txBody>
      </p:sp>
      <p:sp>
        <p:nvSpPr>
          <p:cNvPr id="7" name="S04_Rectangle_6"/>
          <p:cNvSpPr/>
          <p:nvPr/>
        </p:nvSpPr>
        <p:spPr>
          <a:xfrm>
            <a:off x="777240" y="2450592"/>
            <a:ext cx="2522143" cy="2926080"/>
          </a:xfrm>
          <a:prstGeom prst="rect">
            <a:avLst/>
          </a:prstGeom>
          <a:solidFill>
            <a:srgbClr val="1F2A3A"/>
          </a:solidFill>
          <a:ln w="15875">
            <a:solidFill>
              <a:srgbClr val="3C5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04_TextBox_7"/>
          <p:cNvSpPr txBox="1"/>
          <p:nvPr/>
        </p:nvSpPr>
        <p:spPr>
          <a:xfrm>
            <a:off x="1097280" y="2724912"/>
            <a:ext cx="1882063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7800" spc="-200">
                <a:solidFill>
                  <a:srgbClr val="FFFFFF"/>
                </a:solidFill>
                <a:latin typeface="Segoe UI Black"/>
              </a:rPr>
              <a:t>≤ 3</a:t>
            </a:r>
          </a:p>
        </p:txBody>
      </p:sp>
      <p:sp>
        <p:nvSpPr>
          <p:cNvPr id="9" name="S04_TextBox_8"/>
          <p:cNvSpPr txBox="1"/>
          <p:nvPr/>
        </p:nvSpPr>
        <p:spPr>
          <a:xfrm>
            <a:off x="1097280" y="3931920"/>
            <a:ext cx="1882063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spc="180">
                <a:solidFill>
                  <a:srgbClr val="FF4A3D"/>
                </a:solidFill>
                <a:latin typeface="Segoe UI Semibold"/>
              </a:rPr>
              <a:t>°C</a:t>
            </a:r>
          </a:p>
        </p:txBody>
      </p:sp>
      <p:sp>
        <p:nvSpPr>
          <p:cNvPr id="10" name="S04_Rectangle_9"/>
          <p:cNvSpPr/>
          <p:nvPr/>
        </p:nvSpPr>
        <p:spPr>
          <a:xfrm>
            <a:off x="1097280" y="4462272"/>
            <a:ext cx="548640" cy="38100"/>
          </a:xfrm>
          <a:prstGeom prst="rect">
            <a:avLst/>
          </a:prstGeom>
          <a:solidFill>
            <a:srgbClr val="3E8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04_TextBox_10"/>
          <p:cNvSpPr txBox="1"/>
          <p:nvPr/>
        </p:nvSpPr>
        <p:spPr>
          <a:xfrm>
            <a:off x="1097280" y="4681728"/>
            <a:ext cx="1882063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100">
                <a:solidFill>
                  <a:srgbClr val="FFFFFF"/>
                </a:solidFill>
                <a:latin typeface="Segoe UI Semibold"/>
              </a:rPr>
              <a:t>Vọt lố nhiệt nạp</a:t>
            </a:r>
          </a:p>
        </p:txBody>
      </p:sp>
      <p:sp>
        <p:nvSpPr>
          <p:cNvPr id="12" name="S04_Rectangle_11"/>
          <p:cNvSpPr/>
          <p:nvPr/>
        </p:nvSpPr>
        <p:spPr>
          <a:xfrm>
            <a:off x="3482263" y="2450592"/>
            <a:ext cx="2522143" cy="2926080"/>
          </a:xfrm>
          <a:prstGeom prst="rect">
            <a:avLst/>
          </a:prstGeom>
          <a:solidFill>
            <a:srgbClr val="1F2A3A"/>
          </a:solidFill>
          <a:ln w="15875">
            <a:solidFill>
              <a:srgbClr val="3C5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04_TextBox_12"/>
          <p:cNvSpPr txBox="1"/>
          <p:nvPr/>
        </p:nvSpPr>
        <p:spPr>
          <a:xfrm>
            <a:off x="3802303" y="2724912"/>
            <a:ext cx="1882063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7800" spc="-200">
                <a:solidFill>
                  <a:srgbClr val="FFFFFF"/>
                </a:solidFill>
                <a:latin typeface="Segoe UI Black"/>
              </a:rPr>
              <a:t>8</a:t>
            </a:r>
          </a:p>
        </p:txBody>
      </p:sp>
      <p:sp>
        <p:nvSpPr>
          <p:cNvPr id="14" name="S04_TextBox_13"/>
          <p:cNvSpPr txBox="1"/>
          <p:nvPr/>
        </p:nvSpPr>
        <p:spPr>
          <a:xfrm>
            <a:off x="3802303" y="3931920"/>
            <a:ext cx="1882063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spc="180">
                <a:solidFill>
                  <a:srgbClr val="FF4A3D"/>
                </a:solidFill>
                <a:latin typeface="Segoe UI Semibold"/>
              </a:rPr>
              <a:t>TRẠNG THÁI</a:t>
            </a:r>
          </a:p>
        </p:txBody>
      </p:sp>
      <p:sp>
        <p:nvSpPr>
          <p:cNvPr id="15" name="S04_Rectangle_14"/>
          <p:cNvSpPr/>
          <p:nvPr/>
        </p:nvSpPr>
        <p:spPr>
          <a:xfrm>
            <a:off x="3802303" y="4462272"/>
            <a:ext cx="548640" cy="38100"/>
          </a:xfrm>
          <a:prstGeom prst="rect">
            <a:avLst/>
          </a:prstGeom>
          <a:solidFill>
            <a:srgbClr val="3E8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04_TextBox_15"/>
          <p:cNvSpPr txBox="1"/>
          <p:nvPr/>
        </p:nvSpPr>
        <p:spPr>
          <a:xfrm>
            <a:off x="3802303" y="4681728"/>
            <a:ext cx="1882063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100">
                <a:solidFill>
                  <a:srgbClr val="FFFFFF"/>
                </a:solidFill>
                <a:latin typeface="Segoe UI Semibold"/>
              </a:rPr>
              <a:t>Nguội → giữ nhiệt</a:t>
            </a:r>
          </a:p>
        </p:txBody>
      </p:sp>
      <p:sp>
        <p:nvSpPr>
          <p:cNvPr id="17" name="S04_Rectangle_16"/>
          <p:cNvSpPr/>
          <p:nvPr/>
        </p:nvSpPr>
        <p:spPr>
          <a:xfrm>
            <a:off x="6187287" y="2450592"/>
            <a:ext cx="2522143" cy="2926080"/>
          </a:xfrm>
          <a:prstGeom prst="rect">
            <a:avLst/>
          </a:prstGeom>
          <a:solidFill>
            <a:srgbClr val="1F2A3A"/>
          </a:solidFill>
          <a:ln w="15875">
            <a:solidFill>
              <a:srgbClr val="3C5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04_TextBox_17"/>
          <p:cNvSpPr txBox="1"/>
          <p:nvPr/>
        </p:nvSpPr>
        <p:spPr>
          <a:xfrm>
            <a:off x="6507327" y="2724912"/>
            <a:ext cx="1882063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7800" spc="-200">
                <a:solidFill>
                  <a:srgbClr val="FFFFFF"/>
                </a:solidFill>
                <a:latin typeface="Segoe UI Black"/>
              </a:rPr>
              <a:t>12</a:t>
            </a:r>
          </a:p>
        </p:txBody>
      </p:sp>
      <p:sp>
        <p:nvSpPr>
          <p:cNvPr id="19" name="S04_TextBox_18"/>
          <p:cNvSpPr txBox="1"/>
          <p:nvPr/>
        </p:nvSpPr>
        <p:spPr>
          <a:xfrm>
            <a:off x="6507327" y="3931920"/>
            <a:ext cx="1882063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spc="180">
                <a:solidFill>
                  <a:srgbClr val="FF4A3D"/>
                </a:solidFill>
                <a:latin typeface="Segoe UI Semibold"/>
              </a:rPr>
              <a:t>VÙNG</a:t>
            </a:r>
          </a:p>
        </p:txBody>
      </p:sp>
      <p:sp>
        <p:nvSpPr>
          <p:cNvPr id="20" name="S04_Rectangle_19"/>
          <p:cNvSpPr/>
          <p:nvPr/>
        </p:nvSpPr>
        <p:spPr>
          <a:xfrm>
            <a:off x="6507327" y="4462272"/>
            <a:ext cx="548640" cy="38100"/>
          </a:xfrm>
          <a:prstGeom prst="rect">
            <a:avLst/>
          </a:prstGeom>
          <a:solidFill>
            <a:srgbClr val="3E8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04_TextBox_20"/>
          <p:cNvSpPr txBox="1"/>
          <p:nvPr/>
        </p:nvSpPr>
        <p:spPr>
          <a:xfrm>
            <a:off x="6507327" y="4681728"/>
            <a:ext cx="1882063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100">
                <a:solidFill>
                  <a:srgbClr val="FFFFFF"/>
                </a:solidFill>
                <a:latin typeface="Segoe UI Semibold"/>
              </a:rPr>
              <a:t>Bảng bù trước 25°C</a:t>
            </a:r>
          </a:p>
        </p:txBody>
      </p:sp>
      <p:sp>
        <p:nvSpPr>
          <p:cNvPr id="22" name="S04_Rectangle_21"/>
          <p:cNvSpPr/>
          <p:nvPr/>
        </p:nvSpPr>
        <p:spPr>
          <a:xfrm>
            <a:off x="8892311" y="2450592"/>
            <a:ext cx="2522143" cy="2926080"/>
          </a:xfrm>
          <a:prstGeom prst="rect">
            <a:avLst/>
          </a:prstGeom>
          <a:solidFill>
            <a:srgbClr val="1F2A3A"/>
          </a:solidFill>
          <a:ln w="15875">
            <a:solidFill>
              <a:srgbClr val="3C5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04_TextBox_22"/>
          <p:cNvSpPr txBox="1"/>
          <p:nvPr/>
        </p:nvSpPr>
        <p:spPr>
          <a:xfrm>
            <a:off x="9212351" y="2724912"/>
            <a:ext cx="1882063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7800" spc="-200">
                <a:solidFill>
                  <a:srgbClr val="FFFFFF"/>
                </a:solidFill>
                <a:latin typeface="Segoe UI Black"/>
              </a:rPr>
              <a:t>5</a:t>
            </a:r>
          </a:p>
        </p:txBody>
      </p:sp>
      <p:sp>
        <p:nvSpPr>
          <p:cNvPr id="24" name="S04_TextBox_23"/>
          <p:cNvSpPr txBox="1"/>
          <p:nvPr/>
        </p:nvSpPr>
        <p:spPr>
          <a:xfrm>
            <a:off x="9212351" y="3931920"/>
            <a:ext cx="1882063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spc="180">
                <a:solidFill>
                  <a:srgbClr val="FF4A3D"/>
                </a:solidFill>
                <a:latin typeface="Segoe UI Semibold"/>
              </a:rPr>
              <a:t>GIÂY</a:t>
            </a:r>
          </a:p>
        </p:txBody>
      </p:sp>
      <p:sp>
        <p:nvSpPr>
          <p:cNvPr id="25" name="S04_Rectangle_24"/>
          <p:cNvSpPr/>
          <p:nvPr/>
        </p:nvSpPr>
        <p:spPr>
          <a:xfrm>
            <a:off x="9212351" y="4462272"/>
            <a:ext cx="548640" cy="38100"/>
          </a:xfrm>
          <a:prstGeom prst="rect">
            <a:avLst/>
          </a:prstGeom>
          <a:solidFill>
            <a:srgbClr val="3E8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04_TextBox_25"/>
          <p:cNvSpPr txBox="1"/>
          <p:nvPr/>
        </p:nvSpPr>
        <p:spPr>
          <a:xfrm>
            <a:off x="9212351" y="4681728"/>
            <a:ext cx="1882063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100">
                <a:solidFill>
                  <a:srgbClr val="FFFFFF"/>
                </a:solidFill>
                <a:latin typeface="Segoe UI Semibold"/>
              </a:rPr>
              <a:t>Chu kỳ ghi log CSV</a:t>
            </a:r>
          </a:p>
        </p:txBody>
      </p:sp>
      <p:sp>
        <p:nvSpPr>
          <p:cNvPr id="27" name="S04_TextBox_26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spc="120">
                <a:solidFill>
                  <a:srgbClr val="8CC2FF"/>
                </a:solidFill>
                <a:latin typeface="Segoe UI"/>
              </a:rPr>
              <a:t>O TESLA  ·  OTL-06ALS</a:t>
            </a:r>
          </a:p>
        </p:txBody>
      </p:sp>
      <p:sp>
        <p:nvSpPr>
          <p:cNvPr id="28" name="S04_TextBox_27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300" spc="120">
                <a:solidFill>
                  <a:srgbClr val="8CC2FF"/>
                </a:solidFill>
                <a:latin typeface="Bahnschrift SemiBold Condensed"/>
              </a:rPr>
              <a:t>04 / 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6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6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6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6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6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6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6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6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6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6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6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6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6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46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46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6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46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109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137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151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6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46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6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46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05_Rectangle_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C2636"/>
              </a:gs>
              <a:gs pos="100000">
                <a:srgbClr val="141C28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05_EMBER"/>
          <p:cNvSpPr/>
          <p:nvPr/>
        </p:nvSpPr>
        <p:spPr>
          <a:xfrm>
            <a:off x="-2194560" y="-1280160"/>
            <a:ext cx="5852160" cy="5852160"/>
          </a:xfrm>
          <a:prstGeom prst="ellipse">
            <a:avLst/>
          </a:prstGeom>
          <a:gradFill rotWithShape="1">
            <a:gsLst>
              <a:gs pos="0">
                <a:srgbClr val="3E8FF0">
                  <a:alpha val="9880"/>
                </a:srgbClr>
              </a:gs>
              <a:gs pos="55000">
                <a:srgbClr val="3E8FF0">
                  <a:alpha val="3458"/>
                </a:srgbClr>
              </a:gs>
              <a:gs pos="100000">
                <a:srgbClr val="3E8FF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05_KICKER"/>
          <p:cNvSpPr txBox="1"/>
          <p:nvPr/>
        </p:nvSpPr>
        <p:spPr>
          <a:xfrm>
            <a:off x="777240" y="65836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spc="240">
                <a:solidFill>
                  <a:srgbClr val="E23A2E"/>
                </a:solidFill>
                <a:latin typeface="Segoe UI Semibold"/>
              </a:rPr>
              <a:t>NGUYÊN LÝ VẬN HÀNH</a:t>
            </a:r>
          </a:p>
        </p:txBody>
      </p:sp>
      <p:sp>
        <p:nvSpPr>
          <p:cNvPr id="5" name="S05_RULE"/>
          <p:cNvSpPr/>
          <p:nvPr/>
        </p:nvSpPr>
        <p:spPr>
          <a:xfrm>
            <a:off x="777240" y="950976"/>
            <a:ext cx="1371600" cy="63500"/>
          </a:xfrm>
          <a:prstGeom prst="rect">
            <a:avLst/>
          </a:prstGeom>
          <a:solidFill>
            <a:srgbClr val="E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05_HEADING"/>
          <p:cNvSpPr txBox="1"/>
          <p:nvPr/>
        </p:nvSpPr>
        <p:spPr>
          <a:xfrm>
            <a:off x="777240" y="969264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4000"/>
              </a:lnSpc>
            </a:pPr>
            <a:r>
              <a:rPr sz="4600">
                <a:solidFill>
                  <a:srgbClr val="FFFFFF"/>
                </a:solidFill>
                <a:latin typeface="Segoe UI Black"/>
              </a:rPr>
              <a:t>Trình tự sáu bước tự động</a:t>
            </a:r>
          </a:p>
        </p:txBody>
      </p:sp>
      <p:sp>
        <p:nvSpPr>
          <p:cNvPr id="7" name="S05_Rectangle_6"/>
          <p:cNvSpPr/>
          <p:nvPr/>
        </p:nvSpPr>
        <p:spPr>
          <a:xfrm>
            <a:off x="777240" y="2450592"/>
            <a:ext cx="1658569" cy="2606040"/>
          </a:xfrm>
          <a:prstGeom prst="rect">
            <a:avLst/>
          </a:prstGeom>
          <a:solidFill>
            <a:srgbClr val="1F2A3A"/>
          </a:solidFill>
          <a:ln w="15875">
            <a:solidFill>
              <a:srgbClr val="3C5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05_Rectangle_7"/>
          <p:cNvSpPr/>
          <p:nvPr/>
        </p:nvSpPr>
        <p:spPr>
          <a:xfrm>
            <a:off x="777240" y="2450592"/>
            <a:ext cx="1658569" cy="50800"/>
          </a:xfrm>
          <a:prstGeom prst="rect">
            <a:avLst/>
          </a:prstGeom>
          <a:solidFill>
            <a:srgbClr val="3E8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05_TextBox_8"/>
          <p:cNvSpPr txBox="1"/>
          <p:nvPr/>
        </p:nvSpPr>
        <p:spPr>
          <a:xfrm>
            <a:off x="978408" y="2688336"/>
            <a:ext cx="1256233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spc="120">
                <a:solidFill>
                  <a:srgbClr val="8CC2FF"/>
                </a:solidFill>
                <a:latin typeface="Bahnschrift SemiBold Condensed"/>
              </a:rPr>
              <a:t>01</a:t>
            </a:r>
          </a:p>
        </p:txBody>
      </p:sp>
      <p:sp>
        <p:nvSpPr>
          <p:cNvPr id="10" name="S05_TextBox_9"/>
          <p:cNvSpPr txBox="1"/>
          <p:nvPr/>
        </p:nvSpPr>
        <p:spPr>
          <a:xfrm>
            <a:off x="978408" y="3072384"/>
            <a:ext cx="1256233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spc="-30">
                <a:solidFill>
                  <a:srgbClr val="FFFFFF"/>
                </a:solidFill>
                <a:latin typeface="Segoe UI Black"/>
              </a:rPr>
              <a:t>IDLE</a:t>
            </a:r>
          </a:p>
        </p:txBody>
      </p:sp>
      <p:sp>
        <p:nvSpPr>
          <p:cNvPr id="11" name="S05_TextBox_10"/>
          <p:cNvSpPr txBox="1"/>
          <p:nvPr/>
        </p:nvSpPr>
        <p:spPr>
          <a:xfrm>
            <a:off x="978408" y="3566160"/>
            <a:ext cx="1256233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>
                <a:solidFill>
                  <a:srgbClr val="FF4A3D"/>
                </a:solidFill>
                <a:latin typeface="Segoe UI Semibold"/>
              </a:rPr>
              <a:t>Phân loại</a:t>
            </a:r>
          </a:p>
        </p:txBody>
      </p:sp>
      <p:sp>
        <p:nvSpPr>
          <p:cNvPr id="12" name="S05_TextBox_11"/>
          <p:cNvSpPr txBox="1"/>
          <p:nvPr/>
        </p:nvSpPr>
        <p:spPr>
          <a:xfrm>
            <a:off x="978408" y="4023360"/>
            <a:ext cx="1256233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1500">
                <a:solidFill>
                  <a:srgbClr val="EAF1FA"/>
                </a:solidFill>
                <a:latin typeface="Segoe UI"/>
              </a:rPr>
              <a:t>Nguội · nóng · cần hạ</a:t>
            </a:r>
          </a:p>
        </p:txBody>
      </p:sp>
      <p:sp>
        <p:nvSpPr>
          <p:cNvPr id="13" name="S05_TextBox_12"/>
          <p:cNvSpPr txBox="1"/>
          <p:nvPr/>
        </p:nvSpPr>
        <p:spPr>
          <a:xfrm>
            <a:off x="2435809" y="3200400"/>
            <a:ext cx="1371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600">
                <a:solidFill>
                  <a:srgbClr val="8CC2FF"/>
                </a:solidFill>
                <a:latin typeface="Segoe UI"/>
              </a:rPr>
              <a:t>›</a:t>
            </a:r>
          </a:p>
        </p:txBody>
      </p:sp>
      <p:sp>
        <p:nvSpPr>
          <p:cNvPr id="14" name="S05_Rectangle_13"/>
          <p:cNvSpPr/>
          <p:nvPr/>
        </p:nvSpPr>
        <p:spPr>
          <a:xfrm>
            <a:off x="2572969" y="2450592"/>
            <a:ext cx="1658569" cy="2606040"/>
          </a:xfrm>
          <a:prstGeom prst="rect">
            <a:avLst/>
          </a:prstGeom>
          <a:solidFill>
            <a:srgbClr val="1F2A3A"/>
          </a:solidFill>
          <a:ln w="15875">
            <a:solidFill>
              <a:srgbClr val="3C5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05_Rectangle_14"/>
          <p:cNvSpPr/>
          <p:nvPr/>
        </p:nvSpPr>
        <p:spPr>
          <a:xfrm>
            <a:off x="2572969" y="2450592"/>
            <a:ext cx="1658569" cy="50800"/>
          </a:xfrm>
          <a:prstGeom prst="rect">
            <a:avLst/>
          </a:prstGeom>
          <a:solidFill>
            <a:srgbClr val="3E8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05_TextBox_15"/>
          <p:cNvSpPr txBox="1"/>
          <p:nvPr/>
        </p:nvSpPr>
        <p:spPr>
          <a:xfrm>
            <a:off x="2774137" y="2688336"/>
            <a:ext cx="1256233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spc="120">
                <a:solidFill>
                  <a:srgbClr val="8CC2FF"/>
                </a:solidFill>
                <a:latin typeface="Bahnschrift SemiBold Condensed"/>
              </a:rPr>
              <a:t>02</a:t>
            </a:r>
          </a:p>
        </p:txBody>
      </p:sp>
      <p:sp>
        <p:nvSpPr>
          <p:cNvPr id="17" name="S05_TextBox_16"/>
          <p:cNvSpPr txBox="1"/>
          <p:nvPr/>
        </p:nvSpPr>
        <p:spPr>
          <a:xfrm>
            <a:off x="2774137" y="3072384"/>
            <a:ext cx="1256233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spc="-30">
                <a:solidFill>
                  <a:srgbClr val="FFFFFF"/>
                </a:solidFill>
                <a:latin typeface="Segoe UI Black"/>
              </a:rPr>
              <a:t>PURGE</a:t>
            </a:r>
          </a:p>
        </p:txBody>
      </p:sp>
      <p:sp>
        <p:nvSpPr>
          <p:cNvPr id="18" name="S05_TextBox_17"/>
          <p:cNvSpPr txBox="1"/>
          <p:nvPr/>
        </p:nvSpPr>
        <p:spPr>
          <a:xfrm>
            <a:off x="2774137" y="3566160"/>
            <a:ext cx="1256233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>
                <a:solidFill>
                  <a:srgbClr val="FF4A3D"/>
                </a:solidFill>
                <a:latin typeface="Segoe UI Semibold"/>
              </a:rPr>
              <a:t>Thông gió</a:t>
            </a:r>
          </a:p>
        </p:txBody>
      </p:sp>
      <p:sp>
        <p:nvSpPr>
          <p:cNvPr id="19" name="S05_TextBox_18"/>
          <p:cNvSpPr txBox="1"/>
          <p:nvPr/>
        </p:nvSpPr>
        <p:spPr>
          <a:xfrm>
            <a:off x="2774137" y="4023360"/>
            <a:ext cx="1256233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1500">
                <a:solidFill>
                  <a:srgbClr val="EAF1FA"/>
                </a:solidFill>
                <a:latin typeface="Segoe UI"/>
              </a:rPr>
              <a:t>Xả khí buồng đốt</a:t>
            </a:r>
          </a:p>
        </p:txBody>
      </p:sp>
      <p:sp>
        <p:nvSpPr>
          <p:cNvPr id="20" name="S05_TextBox_19"/>
          <p:cNvSpPr txBox="1"/>
          <p:nvPr/>
        </p:nvSpPr>
        <p:spPr>
          <a:xfrm>
            <a:off x="4231538" y="3200400"/>
            <a:ext cx="1371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600">
                <a:solidFill>
                  <a:srgbClr val="8CC2FF"/>
                </a:solidFill>
                <a:latin typeface="Segoe UI"/>
              </a:rPr>
              <a:t>›</a:t>
            </a:r>
          </a:p>
        </p:txBody>
      </p:sp>
      <p:sp>
        <p:nvSpPr>
          <p:cNvPr id="21" name="S05_Rectangle_20"/>
          <p:cNvSpPr/>
          <p:nvPr/>
        </p:nvSpPr>
        <p:spPr>
          <a:xfrm>
            <a:off x="4368698" y="2450592"/>
            <a:ext cx="1658569" cy="2606040"/>
          </a:xfrm>
          <a:prstGeom prst="rect">
            <a:avLst/>
          </a:prstGeom>
          <a:solidFill>
            <a:srgbClr val="1F2A3A"/>
          </a:solidFill>
          <a:ln w="15875">
            <a:solidFill>
              <a:srgbClr val="FF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05_Rectangle_21"/>
          <p:cNvSpPr/>
          <p:nvPr/>
        </p:nvSpPr>
        <p:spPr>
          <a:xfrm>
            <a:off x="4368698" y="2450592"/>
            <a:ext cx="1658569" cy="50800"/>
          </a:xfrm>
          <a:prstGeom prst="rect">
            <a:avLst/>
          </a:prstGeom>
          <a:solidFill>
            <a:srgbClr val="E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05_TextBox_22"/>
          <p:cNvSpPr txBox="1"/>
          <p:nvPr/>
        </p:nvSpPr>
        <p:spPr>
          <a:xfrm>
            <a:off x="4569866" y="2688336"/>
            <a:ext cx="1256233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spc="120">
                <a:solidFill>
                  <a:srgbClr val="8CC2FF"/>
                </a:solidFill>
                <a:latin typeface="Bahnschrift SemiBold Condensed"/>
              </a:rPr>
              <a:t>03</a:t>
            </a:r>
          </a:p>
        </p:txBody>
      </p:sp>
      <p:sp>
        <p:nvSpPr>
          <p:cNvPr id="24" name="S05_TextBox_23"/>
          <p:cNvSpPr txBox="1"/>
          <p:nvPr/>
        </p:nvSpPr>
        <p:spPr>
          <a:xfrm>
            <a:off x="4569866" y="3072384"/>
            <a:ext cx="1256233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spc="-30">
                <a:solidFill>
                  <a:srgbClr val="FFFFFF"/>
                </a:solidFill>
                <a:latin typeface="Segoe UI Black"/>
              </a:rPr>
              <a:t>IGNITE</a:t>
            </a:r>
          </a:p>
        </p:txBody>
      </p:sp>
      <p:sp>
        <p:nvSpPr>
          <p:cNvPr id="25" name="S05_TextBox_24"/>
          <p:cNvSpPr txBox="1"/>
          <p:nvPr/>
        </p:nvSpPr>
        <p:spPr>
          <a:xfrm>
            <a:off x="4569866" y="3566160"/>
            <a:ext cx="1256233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>
                <a:solidFill>
                  <a:srgbClr val="FF4A3D"/>
                </a:solidFill>
                <a:latin typeface="Segoe UI Semibold"/>
              </a:rPr>
              <a:t>Đánh lửa</a:t>
            </a:r>
          </a:p>
        </p:txBody>
      </p:sp>
      <p:sp>
        <p:nvSpPr>
          <p:cNvPr id="26" name="S05_TextBox_25"/>
          <p:cNvSpPr txBox="1"/>
          <p:nvPr/>
        </p:nvSpPr>
        <p:spPr>
          <a:xfrm>
            <a:off x="4569866" y="4023360"/>
            <a:ext cx="1256233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1500">
                <a:solidFill>
                  <a:srgbClr val="EAF1FA"/>
                </a:solidFill>
                <a:latin typeface="Segoe UI"/>
              </a:rPr>
              <a:t>Xác nhận có lửa</a:t>
            </a:r>
          </a:p>
        </p:txBody>
      </p:sp>
      <p:sp>
        <p:nvSpPr>
          <p:cNvPr id="27" name="S05_TextBox_26"/>
          <p:cNvSpPr txBox="1"/>
          <p:nvPr/>
        </p:nvSpPr>
        <p:spPr>
          <a:xfrm>
            <a:off x="6027267" y="3200400"/>
            <a:ext cx="1371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600">
                <a:solidFill>
                  <a:srgbClr val="8CC2FF"/>
                </a:solidFill>
                <a:latin typeface="Segoe UI"/>
              </a:rPr>
              <a:t>›</a:t>
            </a:r>
          </a:p>
        </p:txBody>
      </p:sp>
      <p:sp>
        <p:nvSpPr>
          <p:cNvPr id="28" name="S05_Rectangle_27"/>
          <p:cNvSpPr/>
          <p:nvPr/>
        </p:nvSpPr>
        <p:spPr>
          <a:xfrm>
            <a:off x="6164427" y="2450592"/>
            <a:ext cx="1658569" cy="2606040"/>
          </a:xfrm>
          <a:prstGeom prst="rect">
            <a:avLst/>
          </a:prstGeom>
          <a:solidFill>
            <a:srgbClr val="1F2A3A"/>
          </a:solidFill>
          <a:ln w="15875">
            <a:solidFill>
              <a:srgbClr val="3C5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05_Rectangle_28"/>
          <p:cNvSpPr/>
          <p:nvPr/>
        </p:nvSpPr>
        <p:spPr>
          <a:xfrm>
            <a:off x="6164427" y="2450592"/>
            <a:ext cx="1658569" cy="50800"/>
          </a:xfrm>
          <a:prstGeom prst="rect">
            <a:avLst/>
          </a:prstGeom>
          <a:solidFill>
            <a:srgbClr val="3E8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05_TextBox_29"/>
          <p:cNvSpPr txBox="1"/>
          <p:nvPr/>
        </p:nvSpPr>
        <p:spPr>
          <a:xfrm>
            <a:off x="6365595" y="2688336"/>
            <a:ext cx="1256233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spc="120">
                <a:solidFill>
                  <a:srgbClr val="8CC2FF"/>
                </a:solidFill>
                <a:latin typeface="Bahnschrift SemiBold Condensed"/>
              </a:rPr>
              <a:t>04</a:t>
            </a:r>
          </a:p>
        </p:txBody>
      </p:sp>
      <p:sp>
        <p:nvSpPr>
          <p:cNvPr id="31" name="S05_TextBox_30"/>
          <p:cNvSpPr txBox="1"/>
          <p:nvPr/>
        </p:nvSpPr>
        <p:spPr>
          <a:xfrm>
            <a:off x="6365595" y="3072384"/>
            <a:ext cx="1256233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spc="-30">
                <a:solidFill>
                  <a:srgbClr val="FFFFFF"/>
                </a:solidFill>
                <a:latin typeface="Segoe UI Black"/>
              </a:rPr>
              <a:t>HEATING</a:t>
            </a:r>
          </a:p>
        </p:txBody>
      </p:sp>
      <p:sp>
        <p:nvSpPr>
          <p:cNvPr id="32" name="S05_TextBox_31"/>
          <p:cNvSpPr txBox="1"/>
          <p:nvPr/>
        </p:nvSpPr>
        <p:spPr>
          <a:xfrm>
            <a:off x="6365595" y="3566160"/>
            <a:ext cx="1256233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>
                <a:solidFill>
                  <a:srgbClr val="FF4A3D"/>
                </a:solidFill>
                <a:latin typeface="Segoe UI Semibold"/>
              </a:rPr>
              <a:t>Gia nhiệt</a:t>
            </a:r>
          </a:p>
        </p:txBody>
      </p:sp>
      <p:sp>
        <p:nvSpPr>
          <p:cNvPr id="33" name="S05_TextBox_32"/>
          <p:cNvSpPr txBox="1"/>
          <p:nvPr/>
        </p:nvSpPr>
        <p:spPr>
          <a:xfrm>
            <a:off x="6365595" y="4023360"/>
            <a:ext cx="1256233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1500">
                <a:solidFill>
                  <a:srgbClr val="EAF1FA"/>
                </a:solidFill>
                <a:latin typeface="Segoe UI"/>
              </a:rPr>
              <a:t>Gas theo sai lệch và RoR</a:t>
            </a:r>
          </a:p>
        </p:txBody>
      </p:sp>
      <p:sp>
        <p:nvSpPr>
          <p:cNvPr id="34" name="S05_TextBox_33"/>
          <p:cNvSpPr txBox="1"/>
          <p:nvPr/>
        </p:nvSpPr>
        <p:spPr>
          <a:xfrm>
            <a:off x="7822996" y="3200400"/>
            <a:ext cx="1371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600">
                <a:solidFill>
                  <a:srgbClr val="8CC2FF"/>
                </a:solidFill>
                <a:latin typeface="Segoe UI"/>
              </a:rPr>
              <a:t>›</a:t>
            </a:r>
          </a:p>
        </p:txBody>
      </p:sp>
      <p:sp>
        <p:nvSpPr>
          <p:cNvPr id="35" name="S05_Rectangle_34"/>
          <p:cNvSpPr/>
          <p:nvPr/>
        </p:nvSpPr>
        <p:spPr>
          <a:xfrm>
            <a:off x="7960156" y="2450592"/>
            <a:ext cx="1658569" cy="2606040"/>
          </a:xfrm>
          <a:prstGeom prst="rect">
            <a:avLst/>
          </a:prstGeom>
          <a:solidFill>
            <a:srgbClr val="1F2A3A"/>
          </a:solidFill>
          <a:ln w="15875">
            <a:solidFill>
              <a:srgbClr val="3C5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05_Rectangle_35"/>
          <p:cNvSpPr/>
          <p:nvPr/>
        </p:nvSpPr>
        <p:spPr>
          <a:xfrm>
            <a:off x="7960156" y="2450592"/>
            <a:ext cx="1658569" cy="50800"/>
          </a:xfrm>
          <a:prstGeom prst="rect">
            <a:avLst/>
          </a:prstGeom>
          <a:solidFill>
            <a:srgbClr val="3E8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05_TextBox_36"/>
          <p:cNvSpPr txBox="1"/>
          <p:nvPr/>
        </p:nvSpPr>
        <p:spPr>
          <a:xfrm>
            <a:off x="8161324" y="2688336"/>
            <a:ext cx="1256233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spc="120">
                <a:solidFill>
                  <a:srgbClr val="8CC2FF"/>
                </a:solidFill>
                <a:latin typeface="Bahnschrift SemiBold Condensed"/>
              </a:rPr>
              <a:t>05</a:t>
            </a:r>
          </a:p>
        </p:txBody>
      </p:sp>
      <p:sp>
        <p:nvSpPr>
          <p:cNvPr id="38" name="S05_TextBox_37"/>
          <p:cNvSpPr txBox="1"/>
          <p:nvPr/>
        </p:nvSpPr>
        <p:spPr>
          <a:xfrm>
            <a:off x="8161324" y="3072384"/>
            <a:ext cx="1256233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spc="-30">
                <a:solidFill>
                  <a:srgbClr val="FFFFFF"/>
                </a:solidFill>
                <a:latin typeface="Segoe UI Black"/>
              </a:rPr>
              <a:t>HOLDING</a:t>
            </a:r>
          </a:p>
        </p:txBody>
      </p:sp>
      <p:sp>
        <p:nvSpPr>
          <p:cNvPr id="39" name="S05_TextBox_38"/>
          <p:cNvSpPr txBox="1"/>
          <p:nvPr/>
        </p:nvSpPr>
        <p:spPr>
          <a:xfrm>
            <a:off x="8161324" y="3566160"/>
            <a:ext cx="1256233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>
                <a:solidFill>
                  <a:srgbClr val="FF4A3D"/>
                </a:solidFill>
                <a:latin typeface="Segoe UI Semibold"/>
              </a:rPr>
              <a:t>Giữ nhiệt</a:t>
            </a:r>
          </a:p>
        </p:txBody>
      </p:sp>
      <p:sp>
        <p:nvSpPr>
          <p:cNvPr id="40" name="S05_TextBox_39"/>
          <p:cNvSpPr txBox="1"/>
          <p:nvPr/>
        </p:nvSpPr>
        <p:spPr>
          <a:xfrm>
            <a:off x="8161324" y="4023360"/>
            <a:ext cx="1256233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1500">
                <a:solidFill>
                  <a:srgbClr val="EAF1FA"/>
                </a:solidFill>
                <a:latin typeface="Segoe UI"/>
              </a:rPr>
              <a:t>Ghìm tại nhiệt nạp</a:t>
            </a:r>
          </a:p>
        </p:txBody>
      </p:sp>
      <p:sp>
        <p:nvSpPr>
          <p:cNvPr id="41" name="S05_TextBox_40"/>
          <p:cNvSpPr txBox="1"/>
          <p:nvPr/>
        </p:nvSpPr>
        <p:spPr>
          <a:xfrm>
            <a:off x="9618725" y="3200400"/>
            <a:ext cx="1371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600">
                <a:solidFill>
                  <a:srgbClr val="8CC2FF"/>
                </a:solidFill>
                <a:latin typeface="Segoe UI"/>
              </a:rPr>
              <a:t>›</a:t>
            </a:r>
          </a:p>
        </p:txBody>
      </p:sp>
      <p:sp>
        <p:nvSpPr>
          <p:cNvPr id="42" name="S05_Rectangle_41"/>
          <p:cNvSpPr/>
          <p:nvPr/>
        </p:nvSpPr>
        <p:spPr>
          <a:xfrm>
            <a:off x="9755885" y="2450592"/>
            <a:ext cx="1658569" cy="2606040"/>
          </a:xfrm>
          <a:prstGeom prst="rect">
            <a:avLst/>
          </a:prstGeom>
          <a:solidFill>
            <a:srgbClr val="1F2A3A"/>
          </a:solidFill>
          <a:ln w="15875">
            <a:solidFill>
              <a:srgbClr val="FF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05_Rectangle_42"/>
          <p:cNvSpPr/>
          <p:nvPr/>
        </p:nvSpPr>
        <p:spPr>
          <a:xfrm>
            <a:off x="9755885" y="2450592"/>
            <a:ext cx="1658569" cy="50800"/>
          </a:xfrm>
          <a:prstGeom prst="rect">
            <a:avLst/>
          </a:prstGeom>
          <a:solidFill>
            <a:srgbClr val="E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S05_TextBox_43"/>
          <p:cNvSpPr txBox="1"/>
          <p:nvPr/>
        </p:nvSpPr>
        <p:spPr>
          <a:xfrm>
            <a:off x="9957053" y="2688336"/>
            <a:ext cx="1256233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spc="120">
                <a:solidFill>
                  <a:srgbClr val="8CC2FF"/>
                </a:solidFill>
                <a:latin typeface="Bahnschrift SemiBold Condensed"/>
              </a:rPr>
              <a:t>06</a:t>
            </a:r>
          </a:p>
        </p:txBody>
      </p:sp>
      <p:sp>
        <p:nvSpPr>
          <p:cNvPr id="45" name="S05_TextBox_44"/>
          <p:cNvSpPr txBox="1"/>
          <p:nvPr/>
        </p:nvSpPr>
        <p:spPr>
          <a:xfrm>
            <a:off x="9957053" y="3072384"/>
            <a:ext cx="1256233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spc="-30">
                <a:solidFill>
                  <a:srgbClr val="FFFFFF"/>
                </a:solidFill>
                <a:latin typeface="Segoe UI Black"/>
              </a:rPr>
              <a:t>PRECISION</a:t>
            </a:r>
          </a:p>
        </p:txBody>
      </p:sp>
      <p:sp>
        <p:nvSpPr>
          <p:cNvPr id="46" name="S05_TextBox_45"/>
          <p:cNvSpPr txBox="1"/>
          <p:nvPr/>
        </p:nvSpPr>
        <p:spPr>
          <a:xfrm>
            <a:off x="9957053" y="3566160"/>
            <a:ext cx="1256233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>
                <a:solidFill>
                  <a:srgbClr val="FF4A3D"/>
                </a:solidFill>
                <a:latin typeface="Segoe UI Semibold"/>
              </a:rPr>
              <a:t>Tinh chỉnh</a:t>
            </a:r>
          </a:p>
        </p:txBody>
      </p:sp>
      <p:sp>
        <p:nvSpPr>
          <p:cNvPr id="47" name="S05_TextBox_46"/>
          <p:cNvSpPr txBox="1"/>
          <p:nvPr/>
        </p:nvSpPr>
        <p:spPr>
          <a:xfrm>
            <a:off x="9957053" y="4023360"/>
            <a:ext cx="1256233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1500">
                <a:solidFill>
                  <a:srgbClr val="EAF1FA"/>
                </a:solidFill>
                <a:latin typeface="Segoe UI"/>
              </a:rPr>
              <a:t>Điều khiển PI, ±2°C</a:t>
            </a:r>
          </a:p>
        </p:txBody>
      </p:sp>
      <p:sp>
        <p:nvSpPr>
          <p:cNvPr id="48" name="S05_TextBox_47"/>
          <p:cNvSpPr txBox="1"/>
          <p:nvPr/>
        </p:nvSpPr>
        <p:spPr>
          <a:xfrm>
            <a:off x="777240" y="5349240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900">
                <a:solidFill>
                  <a:srgbClr val="EAF1FA"/>
                </a:solidFill>
                <a:latin typeface="Segoe UI"/>
              </a:rPr>
              <a:t>COOLING và COAST xử lý trống còn dư nhiệt khi đổi từ mẻ rang đậm sang mẻ nhạt.</a:t>
            </a:r>
          </a:p>
        </p:txBody>
      </p:sp>
      <p:sp>
        <p:nvSpPr>
          <p:cNvPr id="49" name="S05_TextBox_48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spc="120">
                <a:solidFill>
                  <a:srgbClr val="8CC2FF"/>
                </a:solidFill>
                <a:latin typeface="Segoe UI"/>
              </a:rPr>
              <a:t>O TESLA  ·  OTL-06ALS</a:t>
            </a:r>
          </a:p>
        </p:txBody>
      </p:sp>
      <p:sp>
        <p:nvSpPr>
          <p:cNvPr id="50" name="S05_TextBox_49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300" spc="120">
                <a:solidFill>
                  <a:srgbClr val="8CC2FF"/>
                </a:solidFill>
                <a:latin typeface="Bahnschrift SemiBold Condensed"/>
              </a:rPr>
              <a:t>05 / 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6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6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6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6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6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6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6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6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6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6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46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6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46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6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46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6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46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46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46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6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46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177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6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4" dur="46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191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6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1" dur="46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228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249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256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272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6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6" dur="46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279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4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0" dur="46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46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4" dur="46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293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6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8" dur="46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46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2" dur="46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307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46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6" dur="46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46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2" dur="46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46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6" dur="46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46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0" dur="46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06_Rectangle_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C2636"/>
              </a:gs>
              <a:gs pos="100000">
                <a:srgbClr val="141C28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06_EMBER"/>
          <p:cNvSpPr/>
          <p:nvPr/>
        </p:nvSpPr>
        <p:spPr>
          <a:xfrm>
            <a:off x="5120640" y="-2011680"/>
            <a:ext cx="6035040" cy="6035040"/>
          </a:xfrm>
          <a:prstGeom prst="ellipse">
            <a:avLst/>
          </a:prstGeom>
          <a:gradFill rotWithShape="1">
            <a:gsLst>
              <a:gs pos="0">
                <a:srgbClr val="E23A2E">
                  <a:alpha val="11400"/>
                </a:srgbClr>
              </a:gs>
              <a:gs pos="55000">
                <a:srgbClr val="E23A2E">
                  <a:alpha val="3989"/>
                </a:srgbClr>
              </a:gs>
              <a:gs pos="100000">
                <a:srgbClr val="E23A2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06_KICKER"/>
          <p:cNvSpPr txBox="1"/>
          <p:nvPr/>
        </p:nvSpPr>
        <p:spPr>
          <a:xfrm>
            <a:off x="777240" y="65836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spc="240">
                <a:solidFill>
                  <a:srgbClr val="E23A2E"/>
                </a:solidFill>
                <a:latin typeface="Segoe UI Semibold"/>
              </a:rPr>
              <a:t>CHIẾN LƯỢC ĐIỀU KHIỂN</a:t>
            </a:r>
          </a:p>
        </p:txBody>
      </p:sp>
      <p:sp>
        <p:nvSpPr>
          <p:cNvPr id="5" name="S06_RULE"/>
          <p:cNvSpPr/>
          <p:nvPr/>
        </p:nvSpPr>
        <p:spPr>
          <a:xfrm>
            <a:off x="777240" y="950976"/>
            <a:ext cx="1371600" cy="63500"/>
          </a:xfrm>
          <a:prstGeom prst="rect">
            <a:avLst/>
          </a:prstGeom>
          <a:solidFill>
            <a:srgbClr val="E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06_HEADING"/>
          <p:cNvSpPr txBox="1"/>
          <p:nvPr/>
        </p:nvSpPr>
        <p:spPr>
          <a:xfrm>
            <a:off x="777240" y="969264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4000"/>
              </a:lnSpc>
            </a:pPr>
            <a:r>
              <a:rPr sz="4600">
                <a:solidFill>
                  <a:srgbClr val="FFFFFF"/>
                </a:solidFill>
                <a:latin typeface="Segoe UI Black"/>
              </a:rPr>
              <a:t>Hai pha điều khiển</a:t>
            </a:r>
          </a:p>
        </p:txBody>
      </p:sp>
      <p:sp>
        <p:nvSpPr>
          <p:cNvPr id="7" name="S06_Rectangle_6"/>
          <p:cNvSpPr/>
          <p:nvPr/>
        </p:nvSpPr>
        <p:spPr>
          <a:xfrm>
            <a:off x="777240" y="2395728"/>
            <a:ext cx="5181447" cy="3291840"/>
          </a:xfrm>
          <a:prstGeom prst="rect">
            <a:avLst/>
          </a:prstGeom>
          <a:solidFill>
            <a:srgbClr val="1F2A3A"/>
          </a:solidFill>
          <a:ln w="15875">
            <a:solidFill>
              <a:srgbClr val="3C5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06_TextBox_7"/>
          <p:cNvSpPr txBox="1"/>
          <p:nvPr/>
        </p:nvSpPr>
        <p:spPr>
          <a:xfrm>
            <a:off x="1234440" y="2615184"/>
            <a:ext cx="4267047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6400" spc="-150">
                <a:solidFill>
                  <a:srgbClr val="3E8FF0"/>
                </a:solidFill>
                <a:latin typeface="Segoe UI Black"/>
              </a:rPr>
              <a:t>60%</a:t>
            </a:r>
          </a:p>
        </p:txBody>
      </p:sp>
      <p:sp>
        <p:nvSpPr>
          <p:cNvPr id="9" name="S06_TextBox_8"/>
          <p:cNvSpPr txBox="1"/>
          <p:nvPr/>
        </p:nvSpPr>
        <p:spPr>
          <a:xfrm>
            <a:off x="1234440" y="3547872"/>
            <a:ext cx="4267047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spc="140">
                <a:solidFill>
                  <a:srgbClr val="FFFFFF"/>
                </a:solidFill>
                <a:latin typeface="Segoe UI Semibold"/>
              </a:rPr>
              <a:t>RAMP  ·  3 PHÚT ĐẦU</a:t>
            </a:r>
          </a:p>
        </p:txBody>
      </p:sp>
      <p:sp>
        <p:nvSpPr>
          <p:cNvPr id="10" name="S06_Rectangle_9"/>
          <p:cNvSpPr/>
          <p:nvPr/>
        </p:nvSpPr>
        <p:spPr>
          <a:xfrm>
            <a:off x="1234440" y="4041648"/>
            <a:ext cx="548640" cy="50800"/>
          </a:xfrm>
          <a:prstGeom prst="rect">
            <a:avLst/>
          </a:prstGeom>
          <a:solidFill>
            <a:srgbClr val="3E8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06_TextBox_10"/>
          <p:cNvSpPr txBox="1"/>
          <p:nvPr/>
        </p:nvSpPr>
        <p:spPr>
          <a:xfrm>
            <a:off x="1234440" y="4315968"/>
            <a:ext cx="2011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>
                <a:solidFill>
                  <a:srgbClr val="3E8FF0"/>
                </a:solidFill>
                <a:latin typeface="Segoe UI"/>
              </a:rPr>
              <a:t>—</a:t>
            </a:r>
          </a:p>
        </p:txBody>
      </p:sp>
      <p:sp>
        <p:nvSpPr>
          <p:cNvPr id="12" name="S06_TextBox_11"/>
          <p:cNvSpPr txBox="1"/>
          <p:nvPr/>
        </p:nvSpPr>
        <p:spPr>
          <a:xfrm>
            <a:off x="1618488" y="4315968"/>
            <a:ext cx="3882999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>
                <a:solidFill>
                  <a:srgbClr val="EAF1FA"/>
                </a:solidFill>
                <a:latin typeface="Segoe UI"/>
              </a:rPr>
              <a:t>Ưu tiên tốc độ gia nhiệt</a:t>
            </a:r>
          </a:p>
        </p:txBody>
      </p:sp>
      <p:sp>
        <p:nvSpPr>
          <p:cNvPr id="13" name="S06_TextBox_12"/>
          <p:cNvSpPr txBox="1"/>
          <p:nvPr/>
        </p:nvSpPr>
        <p:spPr>
          <a:xfrm>
            <a:off x="1234440" y="4754880"/>
            <a:ext cx="2011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>
                <a:solidFill>
                  <a:srgbClr val="3E8FF0"/>
                </a:solidFill>
                <a:latin typeface="Segoe UI"/>
              </a:rPr>
              <a:t>—</a:t>
            </a:r>
          </a:p>
        </p:txBody>
      </p:sp>
      <p:sp>
        <p:nvSpPr>
          <p:cNvPr id="14" name="S06_TextBox_13"/>
          <p:cNvSpPr txBox="1"/>
          <p:nvPr/>
        </p:nvSpPr>
        <p:spPr>
          <a:xfrm>
            <a:off x="1618488" y="4754880"/>
            <a:ext cx="3882999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>
                <a:solidFill>
                  <a:srgbClr val="EAF1FA"/>
                </a:solidFill>
                <a:latin typeface="Segoe UI"/>
              </a:rPr>
              <a:t>Damper thấp khi còn xa nhiệt nạp</a:t>
            </a:r>
          </a:p>
        </p:txBody>
      </p:sp>
      <p:sp>
        <p:nvSpPr>
          <p:cNvPr id="15" name="S06_TextBox_14"/>
          <p:cNvSpPr txBox="1"/>
          <p:nvPr/>
        </p:nvSpPr>
        <p:spPr>
          <a:xfrm>
            <a:off x="1234440" y="5193792"/>
            <a:ext cx="2011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>
                <a:solidFill>
                  <a:srgbClr val="3E8FF0"/>
                </a:solidFill>
                <a:latin typeface="Segoe UI"/>
              </a:rPr>
              <a:t>—</a:t>
            </a:r>
          </a:p>
        </p:txBody>
      </p:sp>
      <p:sp>
        <p:nvSpPr>
          <p:cNvPr id="16" name="S06_TextBox_15"/>
          <p:cNvSpPr txBox="1"/>
          <p:nvPr/>
        </p:nvSpPr>
        <p:spPr>
          <a:xfrm>
            <a:off x="1618488" y="5193792"/>
            <a:ext cx="3882999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>
                <a:solidFill>
                  <a:srgbClr val="EAF1FA"/>
                </a:solidFill>
                <a:latin typeface="Segoe UI"/>
              </a:rPr>
              <a:t>Chấp nhận sai lệch ≤ 5°C</a:t>
            </a:r>
          </a:p>
        </p:txBody>
      </p:sp>
      <p:sp>
        <p:nvSpPr>
          <p:cNvPr id="17" name="S06_Rectangle_16"/>
          <p:cNvSpPr/>
          <p:nvPr/>
        </p:nvSpPr>
        <p:spPr>
          <a:xfrm>
            <a:off x="6233007" y="2395728"/>
            <a:ext cx="5181447" cy="3291840"/>
          </a:xfrm>
          <a:prstGeom prst="rect">
            <a:avLst/>
          </a:prstGeom>
          <a:solidFill>
            <a:srgbClr val="1F2A3A"/>
          </a:solidFill>
          <a:ln w="15875">
            <a:solidFill>
              <a:srgbClr val="3C5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06_TextBox_17"/>
          <p:cNvSpPr txBox="1"/>
          <p:nvPr/>
        </p:nvSpPr>
        <p:spPr>
          <a:xfrm>
            <a:off x="6690207" y="2615184"/>
            <a:ext cx="4267047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6400" spc="-150">
                <a:solidFill>
                  <a:srgbClr val="FF4A3D"/>
                </a:solidFill>
                <a:latin typeface="Segoe UI Black"/>
              </a:rPr>
              <a:t>40%</a:t>
            </a:r>
          </a:p>
        </p:txBody>
      </p:sp>
      <p:sp>
        <p:nvSpPr>
          <p:cNvPr id="19" name="S06_TextBox_18"/>
          <p:cNvSpPr txBox="1"/>
          <p:nvPr/>
        </p:nvSpPr>
        <p:spPr>
          <a:xfrm>
            <a:off x="6690207" y="3547872"/>
            <a:ext cx="4267047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spc="140">
                <a:solidFill>
                  <a:srgbClr val="FFFFFF"/>
                </a:solidFill>
                <a:latin typeface="Segoe UI Semibold"/>
              </a:rPr>
              <a:t>PRECISION  ·  2 PHÚT CUỐI</a:t>
            </a:r>
          </a:p>
        </p:txBody>
      </p:sp>
      <p:sp>
        <p:nvSpPr>
          <p:cNvPr id="20" name="S06_Rectangle_19"/>
          <p:cNvSpPr/>
          <p:nvPr/>
        </p:nvSpPr>
        <p:spPr>
          <a:xfrm>
            <a:off x="6690207" y="4041648"/>
            <a:ext cx="548640" cy="50800"/>
          </a:xfrm>
          <a:prstGeom prst="rect">
            <a:avLst/>
          </a:prstGeom>
          <a:solidFill>
            <a:srgbClr val="FF4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06_TextBox_20"/>
          <p:cNvSpPr txBox="1"/>
          <p:nvPr/>
        </p:nvSpPr>
        <p:spPr>
          <a:xfrm>
            <a:off x="6690207" y="4315968"/>
            <a:ext cx="2011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>
                <a:solidFill>
                  <a:srgbClr val="FF4A3D"/>
                </a:solidFill>
                <a:latin typeface="Segoe UI"/>
              </a:rPr>
              <a:t>—</a:t>
            </a:r>
          </a:p>
        </p:txBody>
      </p:sp>
      <p:sp>
        <p:nvSpPr>
          <p:cNvPr id="22" name="S06_TextBox_21"/>
          <p:cNvSpPr txBox="1"/>
          <p:nvPr/>
        </p:nvSpPr>
        <p:spPr>
          <a:xfrm>
            <a:off x="7074255" y="4315968"/>
            <a:ext cx="3882999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>
                <a:solidFill>
                  <a:srgbClr val="EAF1FA"/>
                </a:solidFill>
                <a:latin typeface="Segoe UI"/>
              </a:rPr>
              <a:t>Dao động trong dải ±2°C</a:t>
            </a:r>
          </a:p>
        </p:txBody>
      </p:sp>
      <p:sp>
        <p:nvSpPr>
          <p:cNvPr id="23" name="S06_TextBox_22"/>
          <p:cNvSpPr txBox="1"/>
          <p:nvPr/>
        </p:nvSpPr>
        <p:spPr>
          <a:xfrm>
            <a:off x="6690207" y="4754880"/>
            <a:ext cx="2011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>
                <a:solidFill>
                  <a:srgbClr val="FF4A3D"/>
                </a:solidFill>
                <a:latin typeface="Segoe UI"/>
              </a:rPr>
              <a:t>—</a:t>
            </a:r>
          </a:p>
        </p:txBody>
      </p:sp>
      <p:sp>
        <p:nvSpPr>
          <p:cNvPr id="24" name="S06_TextBox_23"/>
          <p:cNvSpPr txBox="1"/>
          <p:nvPr/>
        </p:nvSpPr>
        <p:spPr>
          <a:xfrm>
            <a:off x="7074255" y="4754880"/>
            <a:ext cx="3882999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>
                <a:solidFill>
                  <a:srgbClr val="EAF1FA"/>
                </a:solidFill>
                <a:latin typeface="Segoe UI"/>
              </a:rPr>
              <a:t>Điều khiển PI khử sai lệch tĩnh</a:t>
            </a:r>
          </a:p>
        </p:txBody>
      </p:sp>
      <p:sp>
        <p:nvSpPr>
          <p:cNvPr id="25" name="S06_TextBox_24"/>
          <p:cNvSpPr txBox="1"/>
          <p:nvPr/>
        </p:nvSpPr>
        <p:spPr>
          <a:xfrm>
            <a:off x="6690207" y="5193792"/>
            <a:ext cx="2011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>
                <a:solidFill>
                  <a:srgbClr val="FF4A3D"/>
                </a:solidFill>
                <a:latin typeface="Segoe UI"/>
              </a:rPr>
              <a:t>—</a:t>
            </a:r>
          </a:p>
        </p:txBody>
      </p:sp>
      <p:sp>
        <p:nvSpPr>
          <p:cNvPr id="26" name="S06_TextBox_25"/>
          <p:cNvSpPr txBox="1"/>
          <p:nvPr/>
        </p:nvSpPr>
        <p:spPr>
          <a:xfrm>
            <a:off x="7074255" y="5193792"/>
            <a:ext cx="3882999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>
                <a:solidFill>
                  <a:srgbClr val="EAF1FA"/>
                </a:solidFill>
                <a:latin typeface="Segoe UI"/>
              </a:rPr>
              <a:t>Chốt nhiệt nạp ±1°C</a:t>
            </a:r>
          </a:p>
        </p:txBody>
      </p:sp>
      <p:sp>
        <p:nvSpPr>
          <p:cNvPr id="27" name="S06_TextBox_26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spc="120">
                <a:solidFill>
                  <a:srgbClr val="8CC2FF"/>
                </a:solidFill>
                <a:latin typeface="Segoe UI"/>
              </a:rPr>
              <a:t>O TESLA  ·  OTL-06ALS</a:t>
            </a:r>
          </a:p>
        </p:txBody>
      </p:sp>
      <p:sp>
        <p:nvSpPr>
          <p:cNvPr id="28" name="S06_TextBox_27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300" spc="120">
                <a:solidFill>
                  <a:srgbClr val="8CC2FF"/>
                </a:solidFill>
                <a:latin typeface="Bahnschrift SemiBold Condensed"/>
              </a:rPr>
              <a:t>06 / 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6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6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6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6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6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6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6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6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6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6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46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46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46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6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6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46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129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6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6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46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159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6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46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173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6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46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6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46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07_Rectangle_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C2636"/>
              </a:gs>
              <a:gs pos="100000">
                <a:srgbClr val="141C28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07_EMBER"/>
          <p:cNvSpPr/>
          <p:nvPr/>
        </p:nvSpPr>
        <p:spPr>
          <a:xfrm>
            <a:off x="8778240" y="4023360"/>
            <a:ext cx="6035040" cy="6035040"/>
          </a:xfrm>
          <a:prstGeom prst="ellipse">
            <a:avLst/>
          </a:prstGeom>
          <a:gradFill rotWithShape="1">
            <a:gsLst>
              <a:gs pos="0">
                <a:srgbClr val="3E8FF0">
                  <a:alpha val="9880"/>
                </a:srgbClr>
              </a:gs>
              <a:gs pos="55000">
                <a:srgbClr val="3E8FF0">
                  <a:alpha val="3458"/>
                </a:srgbClr>
              </a:gs>
              <a:gs pos="100000">
                <a:srgbClr val="3E8FF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07_KICKER"/>
          <p:cNvSpPr txBox="1"/>
          <p:nvPr/>
        </p:nvSpPr>
        <p:spPr>
          <a:xfrm>
            <a:off x="777240" y="65836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spc="240">
                <a:solidFill>
                  <a:srgbClr val="E23A2E"/>
                </a:solidFill>
                <a:latin typeface="Segoe UI Semibold"/>
              </a:rPr>
              <a:t>ĐẶC TÍNH ĐỐI TƯỢNG</a:t>
            </a:r>
          </a:p>
        </p:txBody>
      </p:sp>
      <p:sp>
        <p:nvSpPr>
          <p:cNvPr id="5" name="S07_RULE"/>
          <p:cNvSpPr/>
          <p:nvPr/>
        </p:nvSpPr>
        <p:spPr>
          <a:xfrm>
            <a:off x="777240" y="950976"/>
            <a:ext cx="1371600" cy="63500"/>
          </a:xfrm>
          <a:prstGeom prst="rect">
            <a:avLst/>
          </a:prstGeom>
          <a:solidFill>
            <a:srgbClr val="E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07_HEADING"/>
          <p:cNvSpPr txBox="1"/>
          <p:nvPr/>
        </p:nvSpPr>
        <p:spPr>
          <a:xfrm>
            <a:off x="777240" y="969264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4000"/>
              </a:lnSpc>
            </a:pPr>
            <a:r>
              <a:rPr sz="4600">
                <a:solidFill>
                  <a:srgbClr val="FFFFFF"/>
                </a:solidFill>
                <a:latin typeface="Segoe UI Black"/>
              </a:rPr>
              <a:t>Trễ trong chuỗi truyền nhiệt</a:t>
            </a:r>
          </a:p>
        </p:txBody>
      </p:sp>
      <p:sp>
        <p:nvSpPr>
          <p:cNvPr id="7" name="S07_Rectangle_6"/>
          <p:cNvSpPr/>
          <p:nvPr/>
        </p:nvSpPr>
        <p:spPr>
          <a:xfrm>
            <a:off x="777240" y="2542032"/>
            <a:ext cx="2282113" cy="2194560"/>
          </a:xfrm>
          <a:prstGeom prst="rect">
            <a:avLst/>
          </a:prstGeom>
          <a:solidFill>
            <a:srgbClr val="1F2A3A"/>
          </a:solidFill>
          <a:ln w="15875">
            <a:solidFill>
              <a:srgbClr val="3C5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07_Rectangle_7"/>
          <p:cNvSpPr/>
          <p:nvPr/>
        </p:nvSpPr>
        <p:spPr>
          <a:xfrm>
            <a:off x="777240" y="2542032"/>
            <a:ext cx="2282113" cy="5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07_TextBox_8"/>
          <p:cNvSpPr txBox="1"/>
          <p:nvPr/>
        </p:nvSpPr>
        <p:spPr>
          <a:xfrm>
            <a:off x="1033272" y="2816352"/>
            <a:ext cx="177004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spc="-30">
                <a:solidFill>
                  <a:srgbClr val="FFFFFF"/>
                </a:solidFill>
                <a:latin typeface="Segoe UI Black"/>
              </a:rPr>
              <a:t>GAS %</a:t>
            </a:r>
          </a:p>
        </p:txBody>
      </p:sp>
      <p:sp>
        <p:nvSpPr>
          <p:cNvPr id="10" name="S07_TextBox_9"/>
          <p:cNvSpPr txBox="1"/>
          <p:nvPr/>
        </p:nvSpPr>
        <p:spPr>
          <a:xfrm>
            <a:off x="1033272" y="3346704"/>
            <a:ext cx="1770049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600">
                <a:solidFill>
                  <a:srgbClr val="EAF1FA"/>
                </a:solidFill>
                <a:latin typeface="Segoe UI"/>
              </a:rPr>
              <a:t>tín hiệu đặt</a:t>
            </a:r>
          </a:p>
        </p:txBody>
      </p:sp>
      <p:sp>
        <p:nvSpPr>
          <p:cNvPr id="11" name="S07_TextBox_10"/>
          <p:cNvSpPr txBox="1"/>
          <p:nvPr/>
        </p:nvSpPr>
        <p:spPr>
          <a:xfrm>
            <a:off x="1033272" y="4206240"/>
            <a:ext cx="1770049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spc="120">
                <a:solidFill>
                  <a:srgbClr val="FFFFFF"/>
                </a:solidFill>
                <a:latin typeface="Segoe UI Semibold"/>
              </a:rPr>
              <a:t>TỨC THÌ</a:t>
            </a:r>
          </a:p>
        </p:txBody>
      </p:sp>
      <p:sp>
        <p:nvSpPr>
          <p:cNvPr id="12" name="S07_TextBox_11"/>
          <p:cNvSpPr txBox="1"/>
          <p:nvPr/>
        </p:nvSpPr>
        <p:spPr>
          <a:xfrm>
            <a:off x="3059353" y="3182112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800">
                <a:solidFill>
                  <a:srgbClr val="8CC2FF"/>
                </a:solidFill>
                <a:latin typeface="Segoe UI"/>
              </a:rPr>
              <a:t>→</a:t>
            </a:r>
          </a:p>
        </p:txBody>
      </p:sp>
      <p:sp>
        <p:nvSpPr>
          <p:cNvPr id="13" name="S07_Rectangle_12"/>
          <p:cNvSpPr/>
          <p:nvPr/>
        </p:nvSpPr>
        <p:spPr>
          <a:xfrm>
            <a:off x="3562273" y="2542032"/>
            <a:ext cx="2282113" cy="2194560"/>
          </a:xfrm>
          <a:prstGeom prst="rect">
            <a:avLst/>
          </a:prstGeom>
          <a:solidFill>
            <a:srgbClr val="1F2A3A"/>
          </a:solidFill>
          <a:ln w="15875">
            <a:solidFill>
              <a:srgbClr val="3C5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07_Rectangle_13"/>
          <p:cNvSpPr/>
          <p:nvPr/>
        </p:nvSpPr>
        <p:spPr>
          <a:xfrm>
            <a:off x="3562273" y="2542032"/>
            <a:ext cx="2282113" cy="50800"/>
          </a:xfrm>
          <a:prstGeom prst="rect">
            <a:avLst/>
          </a:prstGeom>
          <a:solidFill>
            <a:srgbClr val="3E8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07_TextBox_14"/>
          <p:cNvSpPr txBox="1"/>
          <p:nvPr/>
        </p:nvSpPr>
        <p:spPr>
          <a:xfrm>
            <a:off x="3818305" y="2816352"/>
            <a:ext cx="177004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spc="-30">
                <a:solidFill>
                  <a:srgbClr val="FFFFFF"/>
                </a:solidFill>
                <a:latin typeface="Segoe UI Black"/>
              </a:rPr>
              <a:t>ĐẦU ĐỐT</a:t>
            </a:r>
          </a:p>
        </p:txBody>
      </p:sp>
      <p:sp>
        <p:nvSpPr>
          <p:cNvPr id="16" name="S07_TextBox_15"/>
          <p:cNvSpPr txBox="1"/>
          <p:nvPr/>
        </p:nvSpPr>
        <p:spPr>
          <a:xfrm>
            <a:off x="3818305" y="3346704"/>
            <a:ext cx="1770049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600">
                <a:solidFill>
                  <a:srgbClr val="EAF1FA"/>
                </a:solidFill>
                <a:latin typeface="Segoe UI"/>
              </a:rPr>
              <a:t>ngọn lửa ổn định</a:t>
            </a:r>
          </a:p>
        </p:txBody>
      </p:sp>
      <p:sp>
        <p:nvSpPr>
          <p:cNvPr id="17" name="S07_TextBox_16"/>
          <p:cNvSpPr txBox="1"/>
          <p:nvPr/>
        </p:nvSpPr>
        <p:spPr>
          <a:xfrm>
            <a:off x="3818305" y="4206240"/>
            <a:ext cx="1770049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spc="120">
                <a:solidFill>
                  <a:srgbClr val="3E8FF0"/>
                </a:solidFill>
                <a:latin typeface="Segoe UI Semibold"/>
              </a:rPr>
              <a:t>2–3 GIÂY</a:t>
            </a:r>
          </a:p>
        </p:txBody>
      </p:sp>
      <p:sp>
        <p:nvSpPr>
          <p:cNvPr id="18" name="S07_TextBox_17"/>
          <p:cNvSpPr txBox="1"/>
          <p:nvPr/>
        </p:nvSpPr>
        <p:spPr>
          <a:xfrm>
            <a:off x="5844387" y="3182112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800">
                <a:solidFill>
                  <a:srgbClr val="8CC2FF"/>
                </a:solidFill>
                <a:latin typeface="Segoe UI"/>
              </a:rPr>
              <a:t>→</a:t>
            </a:r>
          </a:p>
        </p:txBody>
      </p:sp>
      <p:sp>
        <p:nvSpPr>
          <p:cNvPr id="19" name="S07_Rectangle_18"/>
          <p:cNvSpPr/>
          <p:nvPr/>
        </p:nvSpPr>
        <p:spPr>
          <a:xfrm>
            <a:off x="6347307" y="2542032"/>
            <a:ext cx="2282113" cy="2194560"/>
          </a:xfrm>
          <a:prstGeom prst="rect">
            <a:avLst/>
          </a:prstGeom>
          <a:solidFill>
            <a:srgbClr val="1F2A3A"/>
          </a:solidFill>
          <a:ln w="15875">
            <a:solidFill>
              <a:srgbClr val="3C5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07_Rectangle_19"/>
          <p:cNvSpPr/>
          <p:nvPr/>
        </p:nvSpPr>
        <p:spPr>
          <a:xfrm>
            <a:off x="6347307" y="2542032"/>
            <a:ext cx="2282113" cy="50800"/>
          </a:xfrm>
          <a:prstGeom prst="rect">
            <a:avLst/>
          </a:prstGeom>
          <a:solidFill>
            <a:srgbClr val="8C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07_TextBox_20"/>
          <p:cNvSpPr txBox="1"/>
          <p:nvPr/>
        </p:nvSpPr>
        <p:spPr>
          <a:xfrm>
            <a:off x="6603339" y="2816352"/>
            <a:ext cx="177004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spc="-30">
                <a:solidFill>
                  <a:srgbClr val="FFFFFF"/>
                </a:solidFill>
                <a:latin typeface="Segoe UI Black"/>
              </a:rPr>
              <a:t>BUỒNG ĐỐT</a:t>
            </a:r>
          </a:p>
        </p:txBody>
      </p:sp>
      <p:sp>
        <p:nvSpPr>
          <p:cNvPr id="22" name="S07_TextBox_21"/>
          <p:cNvSpPr txBox="1"/>
          <p:nvPr/>
        </p:nvSpPr>
        <p:spPr>
          <a:xfrm>
            <a:off x="6603339" y="3346704"/>
            <a:ext cx="1770049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600">
                <a:solidFill>
                  <a:srgbClr val="EAF1FA"/>
                </a:solidFill>
                <a:latin typeface="Segoe UI"/>
              </a:rPr>
              <a:t>khí nóng · đầu dò ET</a:t>
            </a:r>
          </a:p>
        </p:txBody>
      </p:sp>
      <p:sp>
        <p:nvSpPr>
          <p:cNvPr id="23" name="S07_TextBox_22"/>
          <p:cNvSpPr txBox="1"/>
          <p:nvPr/>
        </p:nvSpPr>
        <p:spPr>
          <a:xfrm>
            <a:off x="6603339" y="4206240"/>
            <a:ext cx="1770049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spc="120">
                <a:solidFill>
                  <a:srgbClr val="8CC2FF"/>
                </a:solidFill>
                <a:latin typeface="Segoe UI Semibold"/>
              </a:rPr>
              <a:t>5–10 GIÂY</a:t>
            </a:r>
          </a:p>
        </p:txBody>
      </p:sp>
      <p:sp>
        <p:nvSpPr>
          <p:cNvPr id="24" name="S07_TextBox_23"/>
          <p:cNvSpPr txBox="1"/>
          <p:nvPr/>
        </p:nvSpPr>
        <p:spPr>
          <a:xfrm>
            <a:off x="8629421" y="3182112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800">
                <a:solidFill>
                  <a:srgbClr val="8CC2FF"/>
                </a:solidFill>
                <a:latin typeface="Segoe UI"/>
              </a:rPr>
              <a:t>→</a:t>
            </a:r>
          </a:p>
        </p:txBody>
      </p:sp>
      <p:sp>
        <p:nvSpPr>
          <p:cNvPr id="25" name="S07_Rectangle_24"/>
          <p:cNvSpPr/>
          <p:nvPr/>
        </p:nvSpPr>
        <p:spPr>
          <a:xfrm>
            <a:off x="9132341" y="2542032"/>
            <a:ext cx="2282113" cy="2194560"/>
          </a:xfrm>
          <a:prstGeom prst="rect">
            <a:avLst/>
          </a:prstGeom>
          <a:solidFill>
            <a:srgbClr val="1F2A3A"/>
          </a:solidFill>
          <a:ln w="15875">
            <a:solidFill>
              <a:srgbClr val="3C5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07_Rectangle_25"/>
          <p:cNvSpPr/>
          <p:nvPr/>
        </p:nvSpPr>
        <p:spPr>
          <a:xfrm>
            <a:off x="9132341" y="2542032"/>
            <a:ext cx="2282113" cy="50800"/>
          </a:xfrm>
          <a:prstGeom prst="rect">
            <a:avLst/>
          </a:prstGeom>
          <a:solidFill>
            <a:srgbClr val="FF4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07_TextBox_26"/>
          <p:cNvSpPr txBox="1"/>
          <p:nvPr/>
        </p:nvSpPr>
        <p:spPr>
          <a:xfrm>
            <a:off x="9388373" y="2816352"/>
            <a:ext cx="177004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spc="-30">
                <a:solidFill>
                  <a:srgbClr val="FFFFFF"/>
                </a:solidFill>
                <a:latin typeface="Segoe UI Black"/>
              </a:rPr>
              <a:t>TRỐNG RANG</a:t>
            </a:r>
          </a:p>
        </p:txBody>
      </p:sp>
      <p:sp>
        <p:nvSpPr>
          <p:cNvPr id="28" name="S07_TextBox_27"/>
          <p:cNvSpPr txBox="1"/>
          <p:nvPr/>
        </p:nvSpPr>
        <p:spPr>
          <a:xfrm>
            <a:off x="9388373" y="3346704"/>
            <a:ext cx="1770049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600">
                <a:solidFill>
                  <a:srgbClr val="EAF1FA"/>
                </a:solidFill>
                <a:latin typeface="Segoe UI"/>
              </a:rPr>
              <a:t>vỏ trống · đầu dò BT</a:t>
            </a:r>
          </a:p>
        </p:txBody>
      </p:sp>
      <p:sp>
        <p:nvSpPr>
          <p:cNvPr id="29" name="S07_TextBox_28"/>
          <p:cNvSpPr txBox="1"/>
          <p:nvPr/>
        </p:nvSpPr>
        <p:spPr>
          <a:xfrm>
            <a:off x="9388373" y="4206240"/>
            <a:ext cx="1770049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spc="120">
                <a:solidFill>
                  <a:srgbClr val="FF4A3D"/>
                </a:solidFill>
                <a:latin typeface="Segoe UI Semibold"/>
              </a:rPr>
              <a:t>15–20 GIÂY</a:t>
            </a:r>
          </a:p>
        </p:txBody>
      </p:sp>
      <p:sp>
        <p:nvSpPr>
          <p:cNvPr id="30" name="S07_TextBox_29"/>
          <p:cNvSpPr txBox="1"/>
          <p:nvPr/>
        </p:nvSpPr>
        <p:spPr>
          <a:xfrm>
            <a:off x="777240" y="512064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900">
                <a:solidFill>
                  <a:srgbClr val="EAF1FA"/>
                </a:solidFill>
                <a:latin typeface="Segoe UI"/>
              </a:rPr>
              <a:t>Chuỗi trễ này chi phối cả mẻ rang. Bộ điều khiển chờ 15 giây sau mỗi bước gas rồi mới tác động tiếp.</a:t>
            </a:r>
          </a:p>
        </p:txBody>
      </p:sp>
      <p:sp>
        <p:nvSpPr>
          <p:cNvPr id="31" name="S07_TextBox_30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spc="120">
                <a:solidFill>
                  <a:srgbClr val="8CC2FF"/>
                </a:solidFill>
                <a:latin typeface="Segoe UI"/>
              </a:rPr>
              <a:t>O TESLA  ·  OTL-06ALS</a:t>
            </a:r>
          </a:p>
        </p:txBody>
      </p:sp>
      <p:sp>
        <p:nvSpPr>
          <p:cNvPr id="32" name="S07_TextBox_31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300" spc="120">
                <a:solidFill>
                  <a:srgbClr val="8CC2FF"/>
                </a:solidFill>
                <a:latin typeface="Bahnschrift SemiBold Condensed"/>
              </a:rPr>
              <a:t>07 / 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6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6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6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6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6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6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6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6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6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46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6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46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6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46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6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6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151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172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6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46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6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46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6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46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6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46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08_Rectangle_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C2636"/>
              </a:gs>
              <a:gs pos="100000">
                <a:srgbClr val="141C28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08_EMBER"/>
          <p:cNvSpPr/>
          <p:nvPr/>
        </p:nvSpPr>
        <p:spPr>
          <a:xfrm>
            <a:off x="-2377440" y="3108960"/>
            <a:ext cx="6217920" cy="6217920"/>
          </a:xfrm>
          <a:prstGeom prst="ellipse">
            <a:avLst/>
          </a:prstGeom>
          <a:gradFill rotWithShape="1">
            <a:gsLst>
              <a:gs pos="0">
                <a:srgbClr val="E23A2E">
                  <a:alpha val="10640"/>
                </a:srgbClr>
              </a:gs>
              <a:gs pos="55000">
                <a:srgbClr val="E23A2E">
                  <a:alpha val="3723"/>
                </a:srgbClr>
              </a:gs>
              <a:gs pos="100000">
                <a:srgbClr val="E23A2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08_KICKER"/>
          <p:cNvSpPr txBox="1"/>
          <p:nvPr/>
        </p:nvSpPr>
        <p:spPr>
          <a:xfrm>
            <a:off x="777240" y="65836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spc="240">
                <a:solidFill>
                  <a:srgbClr val="E23A2E"/>
                </a:solidFill>
                <a:latin typeface="Segoe UI Semibold"/>
              </a:rPr>
              <a:t>TỰ HIỆU CHỈNH</a:t>
            </a:r>
          </a:p>
        </p:txBody>
      </p:sp>
      <p:sp>
        <p:nvSpPr>
          <p:cNvPr id="5" name="S08_RULE"/>
          <p:cNvSpPr/>
          <p:nvPr/>
        </p:nvSpPr>
        <p:spPr>
          <a:xfrm>
            <a:off x="777240" y="950976"/>
            <a:ext cx="1371600" cy="63500"/>
          </a:xfrm>
          <a:prstGeom prst="rect">
            <a:avLst/>
          </a:prstGeom>
          <a:solidFill>
            <a:srgbClr val="E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08_HEADING"/>
          <p:cNvSpPr txBox="1"/>
          <p:nvPr/>
        </p:nvSpPr>
        <p:spPr>
          <a:xfrm>
            <a:off x="777240" y="969264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4000"/>
              </a:lnSpc>
            </a:pPr>
            <a:r>
              <a:rPr sz="4600">
                <a:solidFill>
                  <a:srgbClr val="FFFFFF"/>
                </a:solidFill>
                <a:latin typeface="Segoe UI Black"/>
              </a:rPr>
              <a:t>Bù trước và thích nghi</a:t>
            </a:r>
          </a:p>
        </p:txBody>
      </p:sp>
      <p:sp>
        <p:nvSpPr>
          <p:cNvPr id="7" name="S08_TextBox_6"/>
          <p:cNvSpPr txBox="1"/>
          <p:nvPr/>
        </p:nvSpPr>
        <p:spPr>
          <a:xfrm>
            <a:off x="777240" y="2212848"/>
            <a:ext cx="67665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900">
                <a:solidFill>
                  <a:srgbClr val="EAF1FA"/>
                </a:solidFill>
                <a:latin typeface="Segoe UI"/>
              </a:rPr>
              <a:t>Mỗi lượt sấy, bộ điều khiển lưu mức gas giữ nhiệt của từng vùng.</a:t>
            </a:r>
          </a:p>
        </p:txBody>
      </p:sp>
      <p:sp>
        <p:nvSpPr>
          <p:cNvPr id="8" name="S08_Rectangle_7"/>
          <p:cNvSpPr/>
          <p:nvPr/>
        </p:nvSpPr>
        <p:spPr>
          <a:xfrm>
            <a:off x="777240" y="3063240"/>
            <a:ext cx="1043940" cy="777240"/>
          </a:xfrm>
          <a:prstGeom prst="rect">
            <a:avLst/>
          </a:prstGeom>
          <a:solidFill>
            <a:srgbClr val="1E2A3A"/>
          </a:solidFill>
          <a:ln w="15875">
            <a:solidFill>
              <a:srgbClr val="3C5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08_TextBox_8"/>
          <p:cNvSpPr txBox="1"/>
          <p:nvPr/>
        </p:nvSpPr>
        <p:spPr>
          <a:xfrm>
            <a:off x="777240" y="3191256"/>
            <a:ext cx="10439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600">
                <a:solidFill>
                  <a:srgbClr val="EAF1FA"/>
                </a:solidFill>
                <a:latin typeface="Bahnschrift SemiBold Condensed"/>
              </a:rPr>
              <a:t>0–25</a:t>
            </a:r>
          </a:p>
        </p:txBody>
      </p:sp>
      <p:sp>
        <p:nvSpPr>
          <p:cNvPr id="10" name="S08_TextBox_9"/>
          <p:cNvSpPr txBox="1"/>
          <p:nvPr/>
        </p:nvSpPr>
        <p:spPr>
          <a:xfrm>
            <a:off x="777240" y="3520440"/>
            <a:ext cx="10439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spc="100">
                <a:solidFill>
                  <a:srgbClr val="8CC2FF"/>
                </a:solidFill>
                <a:latin typeface="Segoe UI"/>
              </a:rPr>
              <a:t>°C</a:t>
            </a:r>
          </a:p>
        </p:txBody>
      </p:sp>
      <p:sp>
        <p:nvSpPr>
          <p:cNvPr id="11" name="S08_Rectangle_10"/>
          <p:cNvSpPr/>
          <p:nvPr/>
        </p:nvSpPr>
        <p:spPr>
          <a:xfrm>
            <a:off x="1921764" y="3063240"/>
            <a:ext cx="1043940" cy="777240"/>
          </a:xfrm>
          <a:prstGeom prst="rect">
            <a:avLst/>
          </a:prstGeom>
          <a:solidFill>
            <a:srgbClr val="1E2A3A"/>
          </a:solidFill>
          <a:ln w="15875">
            <a:solidFill>
              <a:srgbClr val="3C5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08_TextBox_11"/>
          <p:cNvSpPr txBox="1"/>
          <p:nvPr/>
        </p:nvSpPr>
        <p:spPr>
          <a:xfrm>
            <a:off x="1921764" y="3191256"/>
            <a:ext cx="10439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600">
                <a:solidFill>
                  <a:srgbClr val="EAF1FA"/>
                </a:solidFill>
                <a:latin typeface="Bahnschrift SemiBold Condensed"/>
              </a:rPr>
              <a:t>25–50</a:t>
            </a:r>
          </a:p>
        </p:txBody>
      </p:sp>
      <p:sp>
        <p:nvSpPr>
          <p:cNvPr id="13" name="S08_TextBox_12"/>
          <p:cNvSpPr txBox="1"/>
          <p:nvPr/>
        </p:nvSpPr>
        <p:spPr>
          <a:xfrm>
            <a:off x="1921764" y="3520440"/>
            <a:ext cx="10439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spc="100">
                <a:solidFill>
                  <a:srgbClr val="8CC2FF"/>
                </a:solidFill>
                <a:latin typeface="Segoe UI"/>
              </a:rPr>
              <a:t>°C</a:t>
            </a:r>
          </a:p>
        </p:txBody>
      </p:sp>
      <p:sp>
        <p:nvSpPr>
          <p:cNvPr id="14" name="S08_Rectangle_13"/>
          <p:cNvSpPr/>
          <p:nvPr/>
        </p:nvSpPr>
        <p:spPr>
          <a:xfrm>
            <a:off x="3066288" y="3063240"/>
            <a:ext cx="1043940" cy="777240"/>
          </a:xfrm>
          <a:prstGeom prst="rect">
            <a:avLst/>
          </a:prstGeom>
          <a:solidFill>
            <a:srgbClr val="4A2320"/>
          </a:solidFill>
          <a:ln w="15875">
            <a:solidFill>
              <a:srgbClr val="3C5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08_TextBox_14"/>
          <p:cNvSpPr txBox="1"/>
          <p:nvPr/>
        </p:nvSpPr>
        <p:spPr>
          <a:xfrm>
            <a:off x="3066288" y="3191256"/>
            <a:ext cx="10439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600">
                <a:solidFill>
                  <a:srgbClr val="EAF1FA"/>
                </a:solidFill>
                <a:latin typeface="Bahnschrift SemiBold Condensed"/>
              </a:rPr>
              <a:t>50–75</a:t>
            </a:r>
          </a:p>
        </p:txBody>
      </p:sp>
      <p:sp>
        <p:nvSpPr>
          <p:cNvPr id="16" name="S08_TextBox_15"/>
          <p:cNvSpPr txBox="1"/>
          <p:nvPr/>
        </p:nvSpPr>
        <p:spPr>
          <a:xfrm>
            <a:off x="3066288" y="3520440"/>
            <a:ext cx="10439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spc="100">
                <a:solidFill>
                  <a:srgbClr val="8CC2FF"/>
                </a:solidFill>
                <a:latin typeface="Segoe UI"/>
              </a:rPr>
              <a:t>°C</a:t>
            </a:r>
          </a:p>
        </p:txBody>
      </p:sp>
      <p:sp>
        <p:nvSpPr>
          <p:cNvPr id="17" name="S08_Rectangle_16"/>
          <p:cNvSpPr/>
          <p:nvPr/>
        </p:nvSpPr>
        <p:spPr>
          <a:xfrm>
            <a:off x="4210812" y="3063240"/>
            <a:ext cx="1043940" cy="777240"/>
          </a:xfrm>
          <a:prstGeom prst="rect">
            <a:avLst/>
          </a:prstGeom>
          <a:solidFill>
            <a:srgbClr val="4A2320"/>
          </a:solidFill>
          <a:ln w="15875">
            <a:solidFill>
              <a:srgbClr val="3C5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08_TextBox_17"/>
          <p:cNvSpPr txBox="1"/>
          <p:nvPr/>
        </p:nvSpPr>
        <p:spPr>
          <a:xfrm>
            <a:off x="4210812" y="3191256"/>
            <a:ext cx="10439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600">
                <a:solidFill>
                  <a:srgbClr val="EAF1FA"/>
                </a:solidFill>
                <a:latin typeface="Bahnschrift SemiBold Condensed"/>
              </a:rPr>
              <a:t>75–100</a:t>
            </a:r>
          </a:p>
        </p:txBody>
      </p:sp>
      <p:sp>
        <p:nvSpPr>
          <p:cNvPr id="19" name="S08_TextBox_18"/>
          <p:cNvSpPr txBox="1"/>
          <p:nvPr/>
        </p:nvSpPr>
        <p:spPr>
          <a:xfrm>
            <a:off x="4210812" y="3520440"/>
            <a:ext cx="10439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spc="100">
                <a:solidFill>
                  <a:srgbClr val="8CC2FF"/>
                </a:solidFill>
                <a:latin typeface="Segoe UI"/>
              </a:rPr>
              <a:t>°C</a:t>
            </a:r>
          </a:p>
        </p:txBody>
      </p:sp>
      <p:sp>
        <p:nvSpPr>
          <p:cNvPr id="20" name="S08_Rectangle_19"/>
          <p:cNvSpPr/>
          <p:nvPr/>
        </p:nvSpPr>
        <p:spPr>
          <a:xfrm>
            <a:off x="5355336" y="3063240"/>
            <a:ext cx="1043940" cy="777240"/>
          </a:xfrm>
          <a:prstGeom prst="rect">
            <a:avLst/>
          </a:prstGeom>
          <a:solidFill>
            <a:srgbClr val="6E2A22"/>
          </a:solidFill>
          <a:ln w="15875">
            <a:solidFill>
              <a:srgbClr val="3C5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08_TextBox_20"/>
          <p:cNvSpPr txBox="1"/>
          <p:nvPr/>
        </p:nvSpPr>
        <p:spPr>
          <a:xfrm>
            <a:off x="5355336" y="3191256"/>
            <a:ext cx="10439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600">
                <a:solidFill>
                  <a:srgbClr val="EAF1FA"/>
                </a:solidFill>
                <a:latin typeface="Bahnschrift SemiBold Condensed"/>
              </a:rPr>
              <a:t>100–125</a:t>
            </a:r>
          </a:p>
        </p:txBody>
      </p:sp>
      <p:sp>
        <p:nvSpPr>
          <p:cNvPr id="22" name="S08_TextBox_21"/>
          <p:cNvSpPr txBox="1"/>
          <p:nvPr/>
        </p:nvSpPr>
        <p:spPr>
          <a:xfrm>
            <a:off x="5355336" y="3520440"/>
            <a:ext cx="10439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spc="100">
                <a:solidFill>
                  <a:srgbClr val="8CC2FF"/>
                </a:solidFill>
                <a:latin typeface="Segoe UI"/>
              </a:rPr>
              <a:t>°C</a:t>
            </a:r>
          </a:p>
        </p:txBody>
      </p:sp>
      <p:sp>
        <p:nvSpPr>
          <p:cNvPr id="23" name="S08_Rectangle_22"/>
          <p:cNvSpPr/>
          <p:nvPr/>
        </p:nvSpPr>
        <p:spPr>
          <a:xfrm>
            <a:off x="6499860" y="3063240"/>
            <a:ext cx="1043940" cy="777240"/>
          </a:xfrm>
          <a:prstGeom prst="rect">
            <a:avLst/>
          </a:prstGeom>
          <a:solidFill>
            <a:srgbClr val="6E2A22"/>
          </a:solidFill>
          <a:ln w="15875">
            <a:solidFill>
              <a:srgbClr val="3C5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08_TextBox_23"/>
          <p:cNvSpPr txBox="1"/>
          <p:nvPr/>
        </p:nvSpPr>
        <p:spPr>
          <a:xfrm>
            <a:off x="6499860" y="3191256"/>
            <a:ext cx="10439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600">
                <a:solidFill>
                  <a:srgbClr val="EAF1FA"/>
                </a:solidFill>
                <a:latin typeface="Bahnschrift SemiBold Condensed"/>
              </a:rPr>
              <a:t>125–150</a:t>
            </a:r>
          </a:p>
        </p:txBody>
      </p:sp>
      <p:sp>
        <p:nvSpPr>
          <p:cNvPr id="25" name="S08_TextBox_24"/>
          <p:cNvSpPr txBox="1"/>
          <p:nvPr/>
        </p:nvSpPr>
        <p:spPr>
          <a:xfrm>
            <a:off x="6499860" y="3520440"/>
            <a:ext cx="10439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spc="100">
                <a:solidFill>
                  <a:srgbClr val="8CC2FF"/>
                </a:solidFill>
                <a:latin typeface="Segoe UI"/>
              </a:rPr>
              <a:t>°C</a:t>
            </a:r>
          </a:p>
        </p:txBody>
      </p:sp>
      <p:sp>
        <p:nvSpPr>
          <p:cNvPr id="26" name="S08_Rectangle_25"/>
          <p:cNvSpPr/>
          <p:nvPr/>
        </p:nvSpPr>
        <p:spPr>
          <a:xfrm>
            <a:off x="777240" y="3931920"/>
            <a:ext cx="1043940" cy="777240"/>
          </a:xfrm>
          <a:prstGeom prst="rect">
            <a:avLst/>
          </a:prstGeom>
          <a:solidFill>
            <a:srgbClr val="A63026"/>
          </a:solidFill>
          <a:ln w="15875">
            <a:solidFill>
              <a:srgbClr val="3C5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08_TextBox_26"/>
          <p:cNvSpPr txBox="1"/>
          <p:nvPr/>
        </p:nvSpPr>
        <p:spPr>
          <a:xfrm>
            <a:off x="777240" y="4059936"/>
            <a:ext cx="10439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Bahnschrift SemiBold Condensed"/>
              </a:rPr>
              <a:t>150–175</a:t>
            </a:r>
          </a:p>
        </p:txBody>
      </p:sp>
      <p:sp>
        <p:nvSpPr>
          <p:cNvPr id="28" name="S08_TextBox_27"/>
          <p:cNvSpPr txBox="1"/>
          <p:nvPr/>
        </p:nvSpPr>
        <p:spPr>
          <a:xfrm>
            <a:off x="777240" y="4389120"/>
            <a:ext cx="10439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spc="100">
                <a:solidFill>
                  <a:srgbClr val="FFFFFF"/>
                </a:solidFill>
                <a:latin typeface="Segoe UI"/>
              </a:rPr>
              <a:t>°C</a:t>
            </a:r>
          </a:p>
        </p:txBody>
      </p:sp>
      <p:sp>
        <p:nvSpPr>
          <p:cNvPr id="29" name="S08_Rectangle_28"/>
          <p:cNvSpPr/>
          <p:nvPr/>
        </p:nvSpPr>
        <p:spPr>
          <a:xfrm>
            <a:off x="1921764" y="3931920"/>
            <a:ext cx="1043940" cy="777240"/>
          </a:xfrm>
          <a:prstGeom prst="rect">
            <a:avLst/>
          </a:prstGeom>
          <a:solidFill>
            <a:srgbClr val="A63026"/>
          </a:solidFill>
          <a:ln w="15875">
            <a:solidFill>
              <a:srgbClr val="3C5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08_TextBox_29"/>
          <p:cNvSpPr txBox="1"/>
          <p:nvPr/>
        </p:nvSpPr>
        <p:spPr>
          <a:xfrm>
            <a:off x="1921764" y="4059936"/>
            <a:ext cx="10439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Bahnschrift SemiBold Condensed"/>
              </a:rPr>
              <a:t>175–200</a:t>
            </a:r>
          </a:p>
        </p:txBody>
      </p:sp>
      <p:sp>
        <p:nvSpPr>
          <p:cNvPr id="31" name="S08_TextBox_30"/>
          <p:cNvSpPr txBox="1"/>
          <p:nvPr/>
        </p:nvSpPr>
        <p:spPr>
          <a:xfrm>
            <a:off x="1921764" y="4389120"/>
            <a:ext cx="10439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spc="100">
                <a:solidFill>
                  <a:srgbClr val="FFFFFF"/>
                </a:solidFill>
                <a:latin typeface="Segoe UI"/>
              </a:rPr>
              <a:t>°C</a:t>
            </a:r>
          </a:p>
        </p:txBody>
      </p:sp>
      <p:sp>
        <p:nvSpPr>
          <p:cNvPr id="32" name="S08_Rectangle_31"/>
          <p:cNvSpPr/>
          <p:nvPr/>
        </p:nvSpPr>
        <p:spPr>
          <a:xfrm>
            <a:off x="3066288" y="3931920"/>
            <a:ext cx="1043940" cy="777240"/>
          </a:xfrm>
          <a:prstGeom prst="rect">
            <a:avLst/>
          </a:prstGeom>
          <a:solidFill>
            <a:srgbClr val="E23A2E"/>
          </a:solidFill>
          <a:ln w="15875">
            <a:solidFill>
              <a:srgbClr val="3C5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08_TextBox_32"/>
          <p:cNvSpPr txBox="1"/>
          <p:nvPr/>
        </p:nvSpPr>
        <p:spPr>
          <a:xfrm>
            <a:off x="3066288" y="4059936"/>
            <a:ext cx="10439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Bahnschrift SemiBold Condensed"/>
              </a:rPr>
              <a:t>200–225</a:t>
            </a:r>
          </a:p>
        </p:txBody>
      </p:sp>
      <p:sp>
        <p:nvSpPr>
          <p:cNvPr id="34" name="S08_TextBox_33"/>
          <p:cNvSpPr txBox="1"/>
          <p:nvPr/>
        </p:nvSpPr>
        <p:spPr>
          <a:xfrm>
            <a:off x="3066288" y="4389120"/>
            <a:ext cx="10439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spc="100">
                <a:solidFill>
                  <a:srgbClr val="FFFFFF"/>
                </a:solidFill>
                <a:latin typeface="Segoe UI"/>
              </a:rPr>
              <a:t>°C</a:t>
            </a:r>
          </a:p>
        </p:txBody>
      </p:sp>
      <p:sp>
        <p:nvSpPr>
          <p:cNvPr id="35" name="S08_Rectangle_34"/>
          <p:cNvSpPr/>
          <p:nvPr/>
        </p:nvSpPr>
        <p:spPr>
          <a:xfrm>
            <a:off x="4210812" y="3931920"/>
            <a:ext cx="1043940" cy="777240"/>
          </a:xfrm>
          <a:prstGeom prst="rect">
            <a:avLst/>
          </a:prstGeom>
          <a:solidFill>
            <a:srgbClr val="E23A2E"/>
          </a:solidFill>
          <a:ln w="15875">
            <a:solidFill>
              <a:srgbClr val="3C5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08_TextBox_35"/>
          <p:cNvSpPr txBox="1"/>
          <p:nvPr/>
        </p:nvSpPr>
        <p:spPr>
          <a:xfrm>
            <a:off x="4210812" y="4059936"/>
            <a:ext cx="10439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Bahnschrift SemiBold Condensed"/>
              </a:rPr>
              <a:t>225–250</a:t>
            </a:r>
          </a:p>
        </p:txBody>
      </p:sp>
      <p:sp>
        <p:nvSpPr>
          <p:cNvPr id="37" name="S08_TextBox_36"/>
          <p:cNvSpPr txBox="1"/>
          <p:nvPr/>
        </p:nvSpPr>
        <p:spPr>
          <a:xfrm>
            <a:off x="4210812" y="4389120"/>
            <a:ext cx="10439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spc="100">
                <a:solidFill>
                  <a:srgbClr val="FFFFFF"/>
                </a:solidFill>
                <a:latin typeface="Segoe UI"/>
              </a:rPr>
              <a:t>°C</a:t>
            </a:r>
          </a:p>
        </p:txBody>
      </p:sp>
      <p:sp>
        <p:nvSpPr>
          <p:cNvPr id="38" name="S08_Rectangle_37"/>
          <p:cNvSpPr/>
          <p:nvPr/>
        </p:nvSpPr>
        <p:spPr>
          <a:xfrm>
            <a:off x="5355336" y="3931920"/>
            <a:ext cx="1043940" cy="777240"/>
          </a:xfrm>
          <a:prstGeom prst="rect">
            <a:avLst/>
          </a:prstGeom>
          <a:solidFill>
            <a:srgbClr val="A63026"/>
          </a:solidFill>
          <a:ln w="15875">
            <a:solidFill>
              <a:srgbClr val="3C5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08_TextBox_38"/>
          <p:cNvSpPr txBox="1"/>
          <p:nvPr/>
        </p:nvSpPr>
        <p:spPr>
          <a:xfrm>
            <a:off x="5355336" y="4059936"/>
            <a:ext cx="10439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Bahnschrift SemiBold Condensed"/>
              </a:rPr>
              <a:t>250–275</a:t>
            </a:r>
          </a:p>
        </p:txBody>
      </p:sp>
      <p:sp>
        <p:nvSpPr>
          <p:cNvPr id="40" name="S08_TextBox_39"/>
          <p:cNvSpPr txBox="1"/>
          <p:nvPr/>
        </p:nvSpPr>
        <p:spPr>
          <a:xfrm>
            <a:off x="5355336" y="4389120"/>
            <a:ext cx="10439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spc="100">
                <a:solidFill>
                  <a:srgbClr val="FFFFFF"/>
                </a:solidFill>
                <a:latin typeface="Segoe UI"/>
              </a:rPr>
              <a:t>°C</a:t>
            </a:r>
          </a:p>
        </p:txBody>
      </p:sp>
      <p:sp>
        <p:nvSpPr>
          <p:cNvPr id="41" name="S08_Rectangle_40"/>
          <p:cNvSpPr/>
          <p:nvPr/>
        </p:nvSpPr>
        <p:spPr>
          <a:xfrm>
            <a:off x="6499860" y="3931920"/>
            <a:ext cx="1043940" cy="777240"/>
          </a:xfrm>
          <a:prstGeom prst="rect">
            <a:avLst/>
          </a:prstGeom>
          <a:solidFill>
            <a:srgbClr val="6E2A22"/>
          </a:solidFill>
          <a:ln w="15875">
            <a:solidFill>
              <a:srgbClr val="3C5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08_TextBox_41"/>
          <p:cNvSpPr txBox="1"/>
          <p:nvPr/>
        </p:nvSpPr>
        <p:spPr>
          <a:xfrm>
            <a:off x="6499860" y="4059936"/>
            <a:ext cx="10439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600">
                <a:solidFill>
                  <a:srgbClr val="EAF1FA"/>
                </a:solidFill>
                <a:latin typeface="Bahnschrift SemiBold Condensed"/>
              </a:rPr>
              <a:t>275–300</a:t>
            </a:r>
          </a:p>
        </p:txBody>
      </p:sp>
      <p:sp>
        <p:nvSpPr>
          <p:cNvPr id="43" name="S08_TextBox_42"/>
          <p:cNvSpPr txBox="1"/>
          <p:nvPr/>
        </p:nvSpPr>
        <p:spPr>
          <a:xfrm>
            <a:off x="6499860" y="4389120"/>
            <a:ext cx="10439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spc="100">
                <a:solidFill>
                  <a:srgbClr val="8CC2FF"/>
                </a:solidFill>
                <a:latin typeface="Segoe UI"/>
              </a:rPr>
              <a:t>°C</a:t>
            </a:r>
          </a:p>
        </p:txBody>
      </p:sp>
      <p:sp>
        <p:nvSpPr>
          <p:cNvPr id="44" name="S08_TextBox_43"/>
          <p:cNvSpPr txBox="1"/>
          <p:nvPr/>
        </p:nvSpPr>
        <p:spPr>
          <a:xfrm>
            <a:off x="777240" y="4956048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50" spc="160">
                <a:solidFill>
                  <a:srgbClr val="8CC2FF"/>
                </a:solidFill>
                <a:latin typeface="Segoe UI Semibold"/>
              </a:rPr>
              <a:t>12 VÙNG × 25°C  ·  LƯU THƯỜNG TRÚ</a:t>
            </a:r>
          </a:p>
        </p:txBody>
      </p:sp>
      <p:sp>
        <p:nvSpPr>
          <p:cNvPr id="45" name="S08_Rectangle_44"/>
          <p:cNvSpPr/>
          <p:nvPr/>
        </p:nvSpPr>
        <p:spPr>
          <a:xfrm>
            <a:off x="7955280" y="2395728"/>
            <a:ext cx="3459175" cy="3337560"/>
          </a:xfrm>
          <a:prstGeom prst="rect">
            <a:avLst/>
          </a:prstGeom>
          <a:solidFill>
            <a:srgbClr val="1F2A3A"/>
          </a:solidFill>
          <a:ln w="15875">
            <a:solidFill>
              <a:srgbClr val="3C5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S08_TextBox_45"/>
          <p:cNvSpPr txBox="1"/>
          <p:nvPr/>
        </p:nvSpPr>
        <p:spPr>
          <a:xfrm>
            <a:off x="8366760" y="2651760"/>
            <a:ext cx="263621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50" spc="120">
                <a:solidFill>
                  <a:srgbClr val="3E8FF0"/>
                </a:solidFill>
                <a:latin typeface="Segoe UI Semibold"/>
              </a:rPr>
              <a:t>THAM SỐ TỰ NHẬN DẠNG</a:t>
            </a:r>
          </a:p>
        </p:txBody>
      </p:sp>
      <p:sp>
        <p:nvSpPr>
          <p:cNvPr id="47" name="S08_Rectangle_46"/>
          <p:cNvSpPr/>
          <p:nvPr/>
        </p:nvSpPr>
        <p:spPr>
          <a:xfrm>
            <a:off x="8366760" y="3172968"/>
            <a:ext cx="310896" cy="50800"/>
          </a:xfrm>
          <a:prstGeom prst="rect">
            <a:avLst/>
          </a:prstGeom>
          <a:solidFill>
            <a:srgbClr val="E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08_TextBox_47"/>
          <p:cNvSpPr txBox="1"/>
          <p:nvPr/>
        </p:nvSpPr>
        <p:spPr>
          <a:xfrm>
            <a:off x="8366760" y="3319272"/>
            <a:ext cx="2727655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>
                <a:solidFill>
                  <a:srgbClr val="FFFFFF"/>
                </a:solidFill>
                <a:latin typeface="Segoe UI Semibold"/>
              </a:rPr>
              <a:t>Quán tính nhiệt</a:t>
            </a:r>
          </a:p>
        </p:txBody>
      </p:sp>
      <p:sp>
        <p:nvSpPr>
          <p:cNvPr id="49" name="S08_TextBox_48"/>
          <p:cNvSpPr txBox="1"/>
          <p:nvPr/>
        </p:nvSpPr>
        <p:spPr>
          <a:xfrm>
            <a:off x="8366760" y="3666744"/>
            <a:ext cx="27276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>
                <a:solidFill>
                  <a:srgbClr val="EAF1FA"/>
                </a:solidFill>
                <a:latin typeface="Segoe UI"/>
              </a:rPr>
              <a:t>Nhiệt còn tăng sau khoá gas</a:t>
            </a:r>
          </a:p>
        </p:txBody>
      </p:sp>
      <p:sp>
        <p:nvSpPr>
          <p:cNvPr id="50" name="S08_Rectangle_49"/>
          <p:cNvSpPr/>
          <p:nvPr/>
        </p:nvSpPr>
        <p:spPr>
          <a:xfrm>
            <a:off x="8366760" y="4041648"/>
            <a:ext cx="310896" cy="50800"/>
          </a:xfrm>
          <a:prstGeom prst="rect">
            <a:avLst/>
          </a:prstGeom>
          <a:solidFill>
            <a:srgbClr val="E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S08_TextBox_50"/>
          <p:cNvSpPr txBox="1"/>
          <p:nvPr/>
        </p:nvSpPr>
        <p:spPr>
          <a:xfrm>
            <a:off x="8366760" y="4187952"/>
            <a:ext cx="2727655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>
                <a:solidFill>
                  <a:srgbClr val="FFFFFF"/>
                </a:solidFill>
                <a:latin typeface="Segoe UI Semibold"/>
              </a:rPr>
              <a:t>Tổn thất nhiệt</a:t>
            </a:r>
          </a:p>
        </p:txBody>
      </p:sp>
      <p:sp>
        <p:nvSpPr>
          <p:cNvPr id="52" name="S08_TextBox_51"/>
          <p:cNvSpPr txBox="1"/>
          <p:nvPr/>
        </p:nvSpPr>
        <p:spPr>
          <a:xfrm>
            <a:off x="8366760" y="4535424"/>
            <a:ext cx="27276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>
                <a:solidFill>
                  <a:srgbClr val="EAF1FA"/>
                </a:solidFill>
                <a:latin typeface="Segoe UI"/>
              </a:rPr>
              <a:t>Tốc độ nguội của trống</a:t>
            </a:r>
          </a:p>
        </p:txBody>
      </p:sp>
      <p:sp>
        <p:nvSpPr>
          <p:cNvPr id="53" name="S08_Rectangle_52"/>
          <p:cNvSpPr/>
          <p:nvPr/>
        </p:nvSpPr>
        <p:spPr>
          <a:xfrm>
            <a:off x="8366760" y="4910328"/>
            <a:ext cx="310896" cy="50800"/>
          </a:xfrm>
          <a:prstGeom prst="rect">
            <a:avLst/>
          </a:prstGeom>
          <a:solidFill>
            <a:srgbClr val="E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08_TextBox_53"/>
          <p:cNvSpPr txBox="1"/>
          <p:nvPr/>
        </p:nvSpPr>
        <p:spPr>
          <a:xfrm>
            <a:off x="8366760" y="5056632"/>
            <a:ext cx="2727655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>
                <a:solidFill>
                  <a:srgbClr val="FFFFFF"/>
                </a:solidFill>
                <a:latin typeface="Segoe UI Semibold"/>
              </a:rPr>
              <a:t>Khuếch đại gas</a:t>
            </a:r>
          </a:p>
        </p:txBody>
      </p:sp>
      <p:sp>
        <p:nvSpPr>
          <p:cNvPr id="55" name="S08_TextBox_54"/>
          <p:cNvSpPr txBox="1"/>
          <p:nvPr/>
        </p:nvSpPr>
        <p:spPr>
          <a:xfrm>
            <a:off x="8366760" y="5404104"/>
            <a:ext cx="27276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>
                <a:solidFill>
                  <a:srgbClr val="EAF1FA"/>
                </a:solidFill>
                <a:latin typeface="Segoe UI"/>
              </a:rPr>
              <a:t>Độ tăng nhiệt trên mỗi 1% gas</a:t>
            </a:r>
          </a:p>
        </p:txBody>
      </p:sp>
      <p:sp>
        <p:nvSpPr>
          <p:cNvPr id="56" name="S08_TextBox_55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spc="120">
                <a:solidFill>
                  <a:srgbClr val="8CC2FF"/>
                </a:solidFill>
                <a:latin typeface="Segoe UI"/>
              </a:rPr>
              <a:t>O TESLA  ·  OTL-06ALS</a:t>
            </a:r>
          </a:p>
        </p:txBody>
      </p:sp>
      <p:sp>
        <p:nvSpPr>
          <p:cNvPr id="57" name="S08_TextBox_56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300" spc="120">
                <a:solidFill>
                  <a:srgbClr val="8CC2FF"/>
                </a:solidFill>
                <a:latin typeface="Bahnschrift SemiBold Condensed"/>
              </a:rPr>
              <a:t>08 / 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6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6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6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6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6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6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6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6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6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6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6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6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6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6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46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46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101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46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46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129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159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173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194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201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217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6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46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231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6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46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6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5" dur="46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259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6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2" dur="46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273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46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46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287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6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6" dur="46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grpId="0" nodeType="withEffect">
                                  <p:stCondLst>
                                    <p:cond delay="294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8" fill="hold" grpId="0" nodeType="withEffect">
                                  <p:stCondLst>
                                    <p:cond delay="301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grpId="0" nodeType="with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8" fill="hold" grpId="0" nodeType="withEffect">
                                  <p:stCondLst>
                                    <p:cond delay="324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8" fill="hold" grpId="0" nodeType="withEffect">
                                  <p:stCondLst>
                                    <p:cond delay="331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8" fill="hold" grpId="0" nodeType="withEffect">
                                  <p:stCondLst>
                                    <p:cond delay="338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8" fill="hold" grpId="0" nodeType="withEffect">
                                  <p:stCondLst>
                                    <p:cond delay="345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8" fill="hold" grpId="0" nodeType="withEffect">
                                  <p:stCondLst>
                                    <p:cond delay="352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8" fill="hold" grpId="0" nodeType="withEffect">
                                  <p:stCondLst>
                                    <p:cond delay="359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8" fill="hold" grpId="0" nodeType="withEffect">
                                  <p:stCondLst>
                                    <p:cond delay="366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22" presetClass="entr" presetSubtype="8" fill="hold" grpId="0" nodeType="withEffect">
                                  <p:stCondLst>
                                    <p:cond delay="382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2" presetClass="entr" presetSubtype="8" fill="hold" grpId="0" nodeType="withEffect">
                                  <p:stCondLst>
                                    <p:cond delay="389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2" presetClass="entr" presetSubtype="8" fill="hold" grpId="0" nodeType="withEffect">
                                  <p:stCondLst>
                                    <p:cond delay="396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412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46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9" dur="46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46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5" dur="46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46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9" dur="46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09_Rectangle_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C2636"/>
              </a:gs>
              <a:gs pos="100000">
                <a:srgbClr val="141C28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09_EMBER"/>
          <p:cNvSpPr/>
          <p:nvPr/>
        </p:nvSpPr>
        <p:spPr>
          <a:xfrm>
            <a:off x="8595360" y="-1828800"/>
            <a:ext cx="5852160" cy="5852160"/>
          </a:xfrm>
          <a:prstGeom prst="ellipse">
            <a:avLst/>
          </a:prstGeom>
          <a:gradFill rotWithShape="1">
            <a:gsLst>
              <a:gs pos="0">
                <a:srgbClr val="E23A2E">
                  <a:alpha val="12160"/>
                </a:srgbClr>
              </a:gs>
              <a:gs pos="55000">
                <a:srgbClr val="E23A2E">
                  <a:alpha val="4256"/>
                </a:srgbClr>
              </a:gs>
              <a:gs pos="100000">
                <a:srgbClr val="E23A2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09_KICKER"/>
          <p:cNvSpPr txBox="1"/>
          <p:nvPr/>
        </p:nvSpPr>
        <p:spPr>
          <a:xfrm>
            <a:off x="777240" y="65836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spc="240">
                <a:solidFill>
                  <a:srgbClr val="E23A2E"/>
                </a:solidFill>
                <a:latin typeface="Segoe UI Semibold"/>
              </a:rPr>
              <a:t>AN TOÀN VẬN HÀNH</a:t>
            </a:r>
          </a:p>
        </p:txBody>
      </p:sp>
      <p:sp>
        <p:nvSpPr>
          <p:cNvPr id="5" name="S09_RULE"/>
          <p:cNvSpPr/>
          <p:nvPr/>
        </p:nvSpPr>
        <p:spPr>
          <a:xfrm>
            <a:off x="777240" y="950976"/>
            <a:ext cx="1371600" cy="63500"/>
          </a:xfrm>
          <a:prstGeom prst="rect">
            <a:avLst/>
          </a:prstGeom>
          <a:solidFill>
            <a:srgbClr val="E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09_HEADING"/>
          <p:cNvSpPr txBox="1"/>
          <p:nvPr/>
        </p:nvSpPr>
        <p:spPr>
          <a:xfrm>
            <a:off x="777240" y="969264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4000"/>
              </a:lnSpc>
            </a:pPr>
            <a:r>
              <a:rPr sz="4600">
                <a:solidFill>
                  <a:srgbClr val="FFFFFF"/>
                </a:solidFill>
                <a:latin typeface="Segoe UI Black"/>
              </a:rPr>
              <a:t>Giám sát và bảo vệ</a:t>
            </a:r>
          </a:p>
        </p:txBody>
      </p:sp>
      <p:sp>
        <p:nvSpPr>
          <p:cNvPr id="7" name="S09_Rectangle_6"/>
          <p:cNvSpPr/>
          <p:nvPr/>
        </p:nvSpPr>
        <p:spPr>
          <a:xfrm>
            <a:off x="777240" y="2395728"/>
            <a:ext cx="2054291" cy="2011680"/>
          </a:xfrm>
          <a:prstGeom prst="rect">
            <a:avLst/>
          </a:prstGeom>
          <a:solidFill>
            <a:srgbClr val="1F2A3A"/>
          </a:solidFill>
          <a:ln w="15875">
            <a:solidFill>
              <a:srgbClr val="3C5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09_Rectangle_7"/>
          <p:cNvSpPr/>
          <p:nvPr/>
        </p:nvSpPr>
        <p:spPr>
          <a:xfrm>
            <a:off x="777240" y="2395728"/>
            <a:ext cx="2054291" cy="50800"/>
          </a:xfrm>
          <a:prstGeom prst="rect">
            <a:avLst/>
          </a:prstGeom>
          <a:solidFill>
            <a:srgbClr val="3E8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09_TextBox_8"/>
          <p:cNvSpPr txBox="1"/>
          <p:nvPr/>
        </p:nvSpPr>
        <p:spPr>
          <a:xfrm>
            <a:off x="996696" y="2670048"/>
            <a:ext cx="1615379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>
                <a:solidFill>
                  <a:srgbClr val="FFFFFF"/>
                </a:solidFill>
                <a:latin typeface="Segoe UI Semibold"/>
              </a:rPr>
              <a:t>Mất tín hiệu đầu dò</a:t>
            </a:r>
          </a:p>
        </p:txBody>
      </p:sp>
      <p:sp>
        <p:nvSpPr>
          <p:cNvPr id="10" name="S09_TextBox_9"/>
          <p:cNvSpPr txBox="1"/>
          <p:nvPr/>
        </p:nvSpPr>
        <p:spPr>
          <a:xfrm>
            <a:off x="996696" y="3547872"/>
            <a:ext cx="1615379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1550">
                <a:solidFill>
                  <a:srgbClr val="EAF1FA"/>
                </a:solidFill>
                <a:latin typeface="Segoe UI"/>
              </a:rPr>
              <a:t>BT hoặc ET sụt đột ngột</a:t>
            </a:r>
          </a:p>
        </p:txBody>
      </p:sp>
      <p:sp>
        <p:nvSpPr>
          <p:cNvPr id="11" name="S09_Rectangle_10"/>
          <p:cNvSpPr/>
          <p:nvPr/>
        </p:nvSpPr>
        <p:spPr>
          <a:xfrm>
            <a:off x="2922971" y="2395728"/>
            <a:ext cx="2054291" cy="2011680"/>
          </a:xfrm>
          <a:prstGeom prst="rect">
            <a:avLst/>
          </a:prstGeom>
          <a:solidFill>
            <a:srgbClr val="1F2A3A"/>
          </a:solidFill>
          <a:ln w="15875">
            <a:solidFill>
              <a:srgbClr val="3C5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09_Rectangle_11"/>
          <p:cNvSpPr/>
          <p:nvPr/>
        </p:nvSpPr>
        <p:spPr>
          <a:xfrm>
            <a:off x="2922971" y="2395728"/>
            <a:ext cx="2054291" cy="50800"/>
          </a:xfrm>
          <a:prstGeom prst="rect">
            <a:avLst/>
          </a:prstGeom>
          <a:solidFill>
            <a:srgbClr val="3E8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09_TextBox_12"/>
          <p:cNvSpPr txBox="1"/>
          <p:nvPr/>
        </p:nvSpPr>
        <p:spPr>
          <a:xfrm>
            <a:off x="3142427" y="2670048"/>
            <a:ext cx="1615379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>
                <a:solidFill>
                  <a:srgbClr val="FFFFFF"/>
                </a:solidFill>
                <a:latin typeface="Segoe UI Semibold"/>
              </a:rPr>
              <a:t>RoR bất thường</a:t>
            </a:r>
          </a:p>
        </p:txBody>
      </p:sp>
      <p:sp>
        <p:nvSpPr>
          <p:cNvPr id="14" name="S09_TextBox_13"/>
          <p:cNvSpPr txBox="1"/>
          <p:nvPr/>
        </p:nvSpPr>
        <p:spPr>
          <a:xfrm>
            <a:off x="3142427" y="3547872"/>
            <a:ext cx="1615379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1550">
                <a:solidFill>
                  <a:srgbClr val="EAF1FA"/>
                </a:solidFill>
                <a:latin typeface="Segoe UI"/>
              </a:rPr>
              <a:t>Vượt dải cho phép</a:t>
            </a:r>
          </a:p>
        </p:txBody>
      </p:sp>
      <p:sp>
        <p:nvSpPr>
          <p:cNvPr id="15" name="S09_Rectangle_14"/>
          <p:cNvSpPr/>
          <p:nvPr/>
        </p:nvSpPr>
        <p:spPr>
          <a:xfrm>
            <a:off x="5068702" y="2395728"/>
            <a:ext cx="2054291" cy="2011680"/>
          </a:xfrm>
          <a:prstGeom prst="rect">
            <a:avLst/>
          </a:prstGeom>
          <a:solidFill>
            <a:srgbClr val="1F2A3A"/>
          </a:solidFill>
          <a:ln w="15875">
            <a:solidFill>
              <a:srgbClr val="3C5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09_Rectangle_15"/>
          <p:cNvSpPr/>
          <p:nvPr/>
        </p:nvSpPr>
        <p:spPr>
          <a:xfrm>
            <a:off x="5068702" y="2395728"/>
            <a:ext cx="2054291" cy="50800"/>
          </a:xfrm>
          <a:prstGeom prst="rect">
            <a:avLst/>
          </a:prstGeom>
          <a:solidFill>
            <a:srgbClr val="3E8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09_TextBox_16"/>
          <p:cNvSpPr txBox="1"/>
          <p:nvPr/>
        </p:nvSpPr>
        <p:spPr>
          <a:xfrm>
            <a:off x="5288158" y="2670048"/>
            <a:ext cx="1615379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>
                <a:solidFill>
                  <a:srgbClr val="FFFFFF"/>
                </a:solidFill>
                <a:latin typeface="Segoe UI Semibold"/>
              </a:rPr>
              <a:t>Mất lửa</a:t>
            </a:r>
          </a:p>
        </p:txBody>
      </p:sp>
      <p:sp>
        <p:nvSpPr>
          <p:cNvPr id="18" name="S09_TextBox_17"/>
          <p:cNvSpPr txBox="1"/>
          <p:nvPr/>
        </p:nvSpPr>
        <p:spPr>
          <a:xfrm>
            <a:off x="5288158" y="3547872"/>
            <a:ext cx="1615379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1550">
                <a:solidFill>
                  <a:srgbClr val="EAF1FA"/>
                </a:solidFill>
                <a:latin typeface="Segoe UI"/>
              </a:rPr>
              <a:t>Cấp gas mà nhiệt không lên</a:t>
            </a:r>
          </a:p>
        </p:txBody>
      </p:sp>
      <p:sp>
        <p:nvSpPr>
          <p:cNvPr id="19" name="S09_Rectangle_18"/>
          <p:cNvSpPr/>
          <p:nvPr/>
        </p:nvSpPr>
        <p:spPr>
          <a:xfrm>
            <a:off x="7214433" y="2395728"/>
            <a:ext cx="2054291" cy="2011680"/>
          </a:xfrm>
          <a:prstGeom prst="rect">
            <a:avLst/>
          </a:prstGeom>
          <a:solidFill>
            <a:srgbClr val="1F2A3A"/>
          </a:solidFill>
          <a:ln w="15875">
            <a:solidFill>
              <a:srgbClr val="3C5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09_Rectangle_19"/>
          <p:cNvSpPr/>
          <p:nvPr/>
        </p:nvSpPr>
        <p:spPr>
          <a:xfrm>
            <a:off x="7214433" y="2395728"/>
            <a:ext cx="2054291" cy="50800"/>
          </a:xfrm>
          <a:prstGeom prst="rect">
            <a:avLst/>
          </a:prstGeom>
          <a:solidFill>
            <a:srgbClr val="3E8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09_TextBox_20"/>
          <p:cNvSpPr txBox="1"/>
          <p:nvPr/>
        </p:nvSpPr>
        <p:spPr>
          <a:xfrm>
            <a:off x="7433889" y="2670048"/>
            <a:ext cx="1615379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>
                <a:solidFill>
                  <a:srgbClr val="FFFFFF"/>
                </a:solidFill>
                <a:latin typeface="Segoe UI Semibold"/>
              </a:rPr>
              <a:t>Mất truyền thông HMI</a:t>
            </a:r>
          </a:p>
        </p:txBody>
      </p:sp>
      <p:sp>
        <p:nvSpPr>
          <p:cNvPr id="22" name="S09_TextBox_21"/>
          <p:cNvSpPr txBox="1"/>
          <p:nvPr/>
        </p:nvSpPr>
        <p:spPr>
          <a:xfrm>
            <a:off x="7433889" y="3547872"/>
            <a:ext cx="1615379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1550">
                <a:solidFill>
                  <a:srgbClr val="EAF1FA"/>
                </a:solidFill>
                <a:latin typeface="Segoe UI"/>
              </a:rPr>
              <a:t>Màn hình không đáp ứng</a:t>
            </a:r>
          </a:p>
        </p:txBody>
      </p:sp>
      <p:sp>
        <p:nvSpPr>
          <p:cNvPr id="23" name="S09_Rectangle_22"/>
          <p:cNvSpPr/>
          <p:nvPr/>
        </p:nvSpPr>
        <p:spPr>
          <a:xfrm>
            <a:off x="9360164" y="2395728"/>
            <a:ext cx="2054291" cy="2011680"/>
          </a:xfrm>
          <a:prstGeom prst="rect">
            <a:avLst/>
          </a:prstGeom>
          <a:solidFill>
            <a:srgbClr val="1F2A3A"/>
          </a:solidFill>
          <a:ln w="15875">
            <a:solidFill>
              <a:srgbClr val="3C5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09_Rectangle_23"/>
          <p:cNvSpPr/>
          <p:nvPr/>
        </p:nvSpPr>
        <p:spPr>
          <a:xfrm>
            <a:off x="9360164" y="2395728"/>
            <a:ext cx="2054291" cy="50800"/>
          </a:xfrm>
          <a:prstGeom prst="rect">
            <a:avLst/>
          </a:prstGeom>
          <a:solidFill>
            <a:srgbClr val="3E8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09_TextBox_24"/>
          <p:cNvSpPr txBox="1"/>
          <p:nvPr/>
        </p:nvSpPr>
        <p:spPr>
          <a:xfrm>
            <a:off x="9579620" y="2670048"/>
            <a:ext cx="1615379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>
                <a:solidFill>
                  <a:srgbClr val="FFFFFF"/>
                </a:solidFill>
                <a:latin typeface="Segoe UI Semibold"/>
              </a:rPr>
              <a:t>Lỗi thẻ nhớ</a:t>
            </a:r>
          </a:p>
        </p:txBody>
      </p:sp>
      <p:sp>
        <p:nvSpPr>
          <p:cNvPr id="26" name="S09_TextBox_25"/>
          <p:cNvSpPr txBox="1"/>
          <p:nvPr/>
        </p:nvSpPr>
        <p:spPr>
          <a:xfrm>
            <a:off x="9579620" y="3547872"/>
            <a:ext cx="1615379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1550">
                <a:solidFill>
                  <a:srgbClr val="EAF1FA"/>
                </a:solidFill>
                <a:latin typeface="Segoe UI"/>
              </a:rPr>
              <a:t>Mất log, máy vẫn chạy</a:t>
            </a:r>
          </a:p>
        </p:txBody>
      </p:sp>
      <p:sp>
        <p:nvSpPr>
          <p:cNvPr id="27" name="S09_Rectangle_26"/>
          <p:cNvSpPr/>
          <p:nvPr/>
        </p:nvSpPr>
        <p:spPr>
          <a:xfrm>
            <a:off x="777240" y="4617720"/>
            <a:ext cx="5181447" cy="1234440"/>
          </a:xfrm>
          <a:prstGeom prst="rect">
            <a:avLst/>
          </a:prstGeom>
          <a:solidFill>
            <a:srgbClr val="2E1210"/>
          </a:solidFill>
          <a:ln w="15875">
            <a:solidFill>
              <a:srgbClr val="E2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09_TextBox_27"/>
          <p:cNvSpPr txBox="1"/>
          <p:nvPr/>
        </p:nvSpPr>
        <p:spPr>
          <a:xfrm>
            <a:off x="1143000" y="4828032"/>
            <a:ext cx="4449927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spc="120">
                <a:solidFill>
                  <a:srgbClr val="FF4A3D"/>
                </a:solidFill>
                <a:latin typeface="Segoe UI Semibold"/>
              </a:rPr>
              <a:t>KHOÁ CỨNG  ·  ET − BT VƯỢT 160°C</a:t>
            </a:r>
          </a:p>
        </p:txBody>
      </p:sp>
      <p:sp>
        <p:nvSpPr>
          <p:cNvPr id="29" name="S09_TextBox_28"/>
          <p:cNvSpPr txBox="1"/>
          <p:nvPr/>
        </p:nvSpPr>
        <p:spPr>
          <a:xfrm>
            <a:off x="1143000" y="5230368"/>
            <a:ext cx="4449927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>
                <a:solidFill>
                  <a:srgbClr val="EAF1FA"/>
                </a:solidFill>
                <a:latin typeface="Segoe UI"/>
              </a:rPr>
              <a:t>Huỷ gia nhiệt, khoá gas và báo lỗi.</a:t>
            </a:r>
          </a:p>
        </p:txBody>
      </p:sp>
      <p:sp>
        <p:nvSpPr>
          <p:cNvPr id="30" name="S09_Rectangle_29"/>
          <p:cNvSpPr/>
          <p:nvPr/>
        </p:nvSpPr>
        <p:spPr>
          <a:xfrm>
            <a:off x="6233007" y="4617720"/>
            <a:ext cx="5181447" cy="1234440"/>
          </a:xfrm>
          <a:prstGeom prst="rect">
            <a:avLst/>
          </a:prstGeom>
          <a:solidFill>
            <a:srgbClr val="2E1210"/>
          </a:solidFill>
          <a:ln w="15875">
            <a:solidFill>
              <a:srgbClr val="E2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09_TextBox_30"/>
          <p:cNvSpPr txBox="1"/>
          <p:nvPr/>
        </p:nvSpPr>
        <p:spPr>
          <a:xfrm>
            <a:off x="6598767" y="4828032"/>
            <a:ext cx="4449927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spc="120">
                <a:solidFill>
                  <a:srgbClr val="FF4A3D"/>
                </a:solidFill>
                <a:latin typeface="Segoe UI Semibold"/>
              </a:rPr>
              <a:t>KHOÁ CỨNG  ·  ĐÁNH LỬA QUÁ GIỜ</a:t>
            </a:r>
          </a:p>
        </p:txBody>
      </p:sp>
      <p:sp>
        <p:nvSpPr>
          <p:cNvPr id="32" name="S09_TextBox_31"/>
          <p:cNvSpPr txBox="1"/>
          <p:nvPr/>
        </p:nvSpPr>
        <p:spPr>
          <a:xfrm>
            <a:off x="6598767" y="5230368"/>
            <a:ext cx="4449927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>
                <a:solidFill>
                  <a:srgbClr val="EAF1FA"/>
                </a:solidFill>
                <a:latin typeface="Segoe UI"/>
              </a:rPr>
              <a:t>Không xác nhận được lửa thì khoá gas.</a:t>
            </a:r>
          </a:p>
        </p:txBody>
      </p:sp>
      <p:sp>
        <p:nvSpPr>
          <p:cNvPr id="33" name="S09_TextBox_32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spc="120">
                <a:solidFill>
                  <a:srgbClr val="8CC2FF"/>
                </a:solidFill>
                <a:latin typeface="Segoe UI"/>
              </a:rPr>
              <a:t>O TESLA  ·  OTL-06ALS</a:t>
            </a:r>
          </a:p>
        </p:txBody>
      </p:sp>
      <p:sp>
        <p:nvSpPr>
          <p:cNvPr id="34" name="S09_TextBox_33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300" spc="120">
                <a:solidFill>
                  <a:srgbClr val="8CC2FF"/>
                </a:solidFill>
                <a:latin typeface="Bahnschrift SemiBold Condensed"/>
              </a:rPr>
              <a:t>09 / 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6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6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6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6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6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6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6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6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6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6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46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46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46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172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6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46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6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46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6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7" dur="46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6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1" dur="46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10_Rectangle_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C2636"/>
              </a:gs>
              <a:gs pos="100000">
                <a:srgbClr val="141C28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10_EMBER"/>
          <p:cNvSpPr/>
          <p:nvPr/>
        </p:nvSpPr>
        <p:spPr>
          <a:xfrm>
            <a:off x="9509760" y="384048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3E8FF0">
                  <a:alpha val="9120"/>
                </a:srgbClr>
              </a:gs>
              <a:gs pos="55000">
                <a:srgbClr val="3E8FF0">
                  <a:alpha val="3192"/>
                </a:srgbClr>
              </a:gs>
              <a:gs pos="100000">
                <a:srgbClr val="3E8FF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10_KICKER"/>
          <p:cNvSpPr txBox="1"/>
          <p:nvPr/>
        </p:nvSpPr>
        <p:spPr>
          <a:xfrm>
            <a:off x="777240" y="65836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spc="240">
                <a:solidFill>
                  <a:srgbClr val="E23A2E"/>
                </a:solidFill>
                <a:latin typeface="Segoe UI Semibold"/>
              </a:rPr>
              <a:t>ĐÁNH GIÁ</a:t>
            </a:r>
          </a:p>
        </p:txBody>
      </p:sp>
      <p:sp>
        <p:nvSpPr>
          <p:cNvPr id="5" name="S10_RULE"/>
          <p:cNvSpPr/>
          <p:nvPr/>
        </p:nvSpPr>
        <p:spPr>
          <a:xfrm>
            <a:off x="777240" y="950976"/>
            <a:ext cx="1371600" cy="63500"/>
          </a:xfrm>
          <a:prstGeom prst="rect">
            <a:avLst/>
          </a:prstGeom>
          <a:solidFill>
            <a:srgbClr val="E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10_HEADING"/>
          <p:cNvSpPr txBox="1"/>
          <p:nvPr/>
        </p:nvSpPr>
        <p:spPr>
          <a:xfrm>
            <a:off x="777240" y="969264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4000"/>
              </a:lnSpc>
            </a:pPr>
            <a:r>
              <a:rPr sz="4600">
                <a:solidFill>
                  <a:srgbClr val="FFFFFF"/>
                </a:solidFill>
                <a:latin typeface="Segoe UI Black"/>
              </a:rPr>
              <a:t>So sánh chỉ tiêu vận hành</a:t>
            </a:r>
          </a:p>
        </p:txBody>
      </p:sp>
      <p:sp>
        <p:nvSpPr>
          <p:cNvPr id="7" name="S10_TextBox_6"/>
          <p:cNvSpPr txBox="1"/>
          <p:nvPr/>
        </p:nvSpPr>
        <p:spPr>
          <a:xfrm>
            <a:off x="1051560" y="2752344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spc="160">
                <a:solidFill>
                  <a:srgbClr val="FF4A3D"/>
                </a:solidFill>
                <a:latin typeface="Segoe UI Semibold"/>
              </a:rPr>
              <a:t/>
            </a:r>
          </a:p>
        </p:txBody>
      </p:sp>
      <p:sp>
        <p:nvSpPr>
          <p:cNvPr id="8" name="S10_Rectangle_7"/>
          <p:cNvSpPr/>
          <p:nvPr/>
        </p:nvSpPr>
        <p:spPr>
          <a:xfrm>
            <a:off x="4572000" y="2514600"/>
            <a:ext cx="3520440" cy="713232"/>
          </a:xfrm>
          <a:prstGeom prst="rect">
            <a:avLst/>
          </a:prstGeom>
          <a:solidFill>
            <a:srgbClr val="1F2A3A"/>
          </a:solidFill>
          <a:ln w="15875">
            <a:solidFill>
              <a:srgbClr val="3C5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10_TextBox_8"/>
          <p:cNvSpPr txBox="1"/>
          <p:nvPr/>
        </p:nvSpPr>
        <p:spPr>
          <a:xfrm>
            <a:off x="4846320" y="2752344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spc="160">
                <a:solidFill>
                  <a:srgbClr val="EAF1FA"/>
                </a:solidFill>
                <a:latin typeface="Segoe UI Semibold"/>
              </a:rPr>
              <a:t>THỦ CÔNG</a:t>
            </a:r>
          </a:p>
        </p:txBody>
      </p:sp>
      <p:sp>
        <p:nvSpPr>
          <p:cNvPr id="10" name="S10_Rectangle_9"/>
          <p:cNvSpPr/>
          <p:nvPr/>
        </p:nvSpPr>
        <p:spPr>
          <a:xfrm>
            <a:off x="8229600" y="2514600"/>
            <a:ext cx="3456432" cy="713232"/>
          </a:xfrm>
          <a:prstGeom prst="rect">
            <a:avLst/>
          </a:prstGeom>
          <a:solidFill>
            <a:srgbClr val="2E1210"/>
          </a:solidFill>
          <a:ln w="15875">
            <a:solidFill>
              <a:srgbClr val="E2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10_TextBox_10"/>
          <p:cNvSpPr txBox="1"/>
          <p:nvPr/>
        </p:nvSpPr>
        <p:spPr>
          <a:xfrm>
            <a:off x="8503920" y="2752344"/>
            <a:ext cx="290779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spc="160">
                <a:solidFill>
                  <a:srgbClr val="FF4A3D"/>
                </a:solidFill>
                <a:latin typeface="Segoe UI Semibold"/>
              </a:rPr>
              <a:t>PREHEAT TỰ ĐỘNG</a:t>
            </a:r>
          </a:p>
        </p:txBody>
      </p:sp>
      <p:sp>
        <p:nvSpPr>
          <p:cNvPr id="12" name="S10_TextBox_11"/>
          <p:cNvSpPr txBox="1"/>
          <p:nvPr/>
        </p:nvSpPr>
        <p:spPr>
          <a:xfrm>
            <a:off x="822960" y="34290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>
                <a:solidFill>
                  <a:srgbClr val="EAF1FA"/>
                </a:solidFill>
                <a:latin typeface="Segoe UI"/>
              </a:rPr>
              <a:t>Người trực khi sấy</a:t>
            </a:r>
          </a:p>
        </p:txBody>
      </p:sp>
      <p:sp>
        <p:nvSpPr>
          <p:cNvPr id="13" name="S10_Rectangle_12"/>
          <p:cNvSpPr/>
          <p:nvPr/>
        </p:nvSpPr>
        <p:spPr>
          <a:xfrm>
            <a:off x="777240" y="3931920"/>
            <a:ext cx="3657600" cy="12700"/>
          </a:xfrm>
          <a:prstGeom prst="rect">
            <a:avLst/>
          </a:prstGeom>
          <a:solidFill>
            <a:srgbClr val="3C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10_TextBox_13"/>
          <p:cNvSpPr txBox="1"/>
          <p:nvPr/>
        </p:nvSpPr>
        <p:spPr>
          <a:xfrm>
            <a:off x="4846320" y="3410712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>
                <a:solidFill>
                  <a:srgbClr val="EAF1FA"/>
                </a:solidFill>
                <a:latin typeface="Segoe UI"/>
              </a:rPr>
              <a:t>Suốt 20–30 phút</a:t>
            </a:r>
          </a:p>
        </p:txBody>
      </p:sp>
      <p:sp>
        <p:nvSpPr>
          <p:cNvPr id="15" name="S10_Rectangle_14"/>
          <p:cNvSpPr/>
          <p:nvPr/>
        </p:nvSpPr>
        <p:spPr>
          <a:xfrm>
            <a:off x="4572000" y="3931920"/>
            <a:ext cx="3520440" cy="12700"/>
          </a:xfrm>
          <a:prstGeom prst="rect">
            <a:avLst/>
          </a:prstGeom>
          <a:solidFill>
            <a:srgbClr val="3C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10_TextBox_15"/>
          <p:cNvSpPr txBox="1"/>
          <p:nvPr/>
        </p:nvSpPr>
        <p:spPr>
          <a:xfrm>
            <a:off x="8503920" y="3410712"/>
            <a:ext cx="2907792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>
                <a:solidFill>
                  <a:srgbClr val="FFFFFF"/>
                </a:solidFill>
                <a:latin typeface="Segoe UI Semibold"/>
              </a:rPr>
              <a:t>Không cần</a:t>
            </a:r>
          </a:p>
        </p:txBody>
      </p:sp>
      <p:sp>
        <p:nvSpPr>
          <p:cNvPr id="17" name="S10_Rectangle_16"/>
          <p:cNvSpPr/>
          <p:nvPr/>
        </p:nvSpPr>
        <p:spPr>
          <a:xfrm>
            <a:off x="8229600" y="3931920"/>
            <a:ext cx="3456432" cy="12700"/>
          </a:xfrm>
          <a:prstGeom prst="rect">
            <a:avLst/>
          </a:prstGeom>
          <a:solidFill>
            <a:srgbClr val="3C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10_TextBox_17"/>
          <p:cNvSpPr txBox="1"/>
          <p:nvPr/>
        </p:nvSpPr>
        <p:spPr>
          <a:xfrm>
            <a:off x="822960" y="414223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>
                <a:solidFill>
                  <a:srgbClr val="EAF1FA"/>
                </a:solidFill>
                <a:latin typeface="Segoe UI"/>
              </a:rPr>
              <a:t>Vọt lố nhiệt nạp</a:t>
            </a:r>
          </a:p>
        </p:txBody>
      </p:sp>
      <p:sp>
        <p:nvSpPr>
          <p:cNvPr id="19" name="S10_Rectangle_18"/>
          <p:cNvSpPr/>
          <p:nvPr/>
        </p:nvSpPr>
        <p:spPr>
          <a:xfrm>
            <a:off x="777240" y="4645152"/>
            <a:ext cx="3657600" cy="12700"/>
          </a:xfrm>
          <a:prstGeom prst="rect">
            <a:avLst/>
          </a:prstGeom>
          <a:solidFill>
            <a:srgbClr val="3C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10_TextBox_19"/>
          <p:cNvSpPr txBox="1"/>
          <p:nvPr/>
        </p:nvSpPr>
        <p:spPr>
          <a:xfrm>
            <a:off x="4846320" y="4123944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>
                <a:solidFill>
                  <a:srgbClr val="EAF1FA"/>
                </a:solidFill>
                <a:latin typeface="Segoe UI"/>
              </a:rPr>
              <a:t>+1 … +3°C</a:t>
            </a:r>
          </a:p>
        </p:txBody>
      </p:sp>
      <p:sp>
        <p:nvSpPr>
          <p:cNvPr id="21" name="S10_Rectangle_20"/>
          <p:cNvSpPr/>
          <p:nvPr/>
        </p:nvSpPr>
        <p:spPr>
          <a:xfrm>
            <a:off x="4572000" y="4645152"/>
            <a:ext cx="3520440" cy="12700"/>
          </a:xfrm>
          <a:prstGeom prst="rect">
            <a:avLst/>
          </a:prstGeom>
          <a:solidFill>
            <a:srgbClr val="3C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10_TextBox_21"/>
          <p:cNvSpPr txBox="1"/>
          <p:nvPr/>
        </p:nvSpPr>
        <p:spPr>
          <a:xfrm>
            <a:off x="8503920" y="4123944"/>
            <a:ext cx="2907792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>
                <a:solidFill>
                  <a:srgbClr val="FFFFFF"/>
                </a:solidFill>
                <a:latin typeface="Segoe UI Semibold"/>
              </a:rPr>
              <a:t>≤ 3°C</a:t>
            </a:r>
          </a:p>
        </p:txBody>
      </p:sp>
      <p:sp>
        <p:nvSpPr>
          <p:cNvPr id="23" name="S10_Rectangle_22"/>
          <p:cNvSpPr/>
          <p:nvPr/>
        </p:nvSpPr>
        <p:spPr>
          <a:xfrm>
            <a:off x="8229600" y="4645152"/>
            <a:ext cx="3456432" cy="12700"/>
          </a:xfrm>
          <a:prstGeom prst="rect">
            <a:avLst/>
          </a:prstGeom>
          <a:solidFill>
            <a:srgbClr val="3C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10_TextBox_23"/>
          <p:cNvSpPr txBox="1"/>
          <p:nvPr/>
        </p:nvSpPr>
        <p:spPr>
          <a:xfrm>
            <a:off x="822960" y="4855464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>
                <a:solidFill>
                  <a:srgbClr val="EAF1FA"/>
                </a:solidFill>
                <a:latin typeface="Segoe UI"/>
              </a:rPr>
              <a:t>Rang liên mẻ</a:t>
            </a:r>
          </a:p>
        </p:txBody>
      </p:sp>
      <p:sp>
        <p:nvSpPr>
          <p:cNvPr id="25" name="S10_Rectangle_24"/>
          <p:cNvSpPr/>
          <p:nvPr/>
        </p:nvSpPr>
        <p:spPr>
          <a:xfrm>
            <a:off x="777240" y="5358384"/>
            <a:ext cx="3657600" cy="12700"/>
          </a:xfrm>
          <a:prstGeom prst="rect">
            <a:avLst/>
          </a:prstGeom>
          <a:solidFill>
            <a:srgbClr val="3C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10_TextBox_25"/>
          <p:cNvSpPr txBox="1"/>
          <p:nvPr/>
        </p:nvSpPr>
        <p:spPr>
          <a:xfrm>
            <a:off x="4846320" y="4837176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>
                <a:solidFill>
                  <a:srgbClr val="EAF1FA"/>
                </a:solidFill>
                <a:latin typeface="Segoe UI"/>
              </a:rPr>
              <a:t>Canh lại từ đầu</a:t>
            </a:r>
          </a:p>
        </p:txBody>
      </p:sp>
      <p:sp>
        <p:nvSpPr>
          <p:cNvPr id="27" name="S10_Rectangle_26"/>
          <p:cNvSpPr/>
          <p:nvPr/>
        </p:nvSpPr>
        <p:spPr>
          <a:xfrm>
            <a:off x="4572000" y="5358384"/>
            <a:ext cx="3520440" cy="12700"/>
          </a:xfrm>
          <a:prstGeom prst="rect">
            <a:avLst/>
          </a:prstGeom>
          <a:solidFill>
            <a:srgbClr val="3C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10_TextBox_27"/>
          <p:cNvSpPr txBox="1"/>
          <p:nvPr/>
        </p:nvSpPr>
        <p:spPr>
          <a:xfrm>
            <a:off x="8503920" y="4837176"/>
            <a:ext cx="2907792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>
                <a:solidFill>
                  <a:srgbClr val="FFFFFF"/>
                </a:solidFill>
                <a:latin typeface="Segoe UI Semibold"/>
              </a:rPr>
              <a:t>Tự bù theo nhiệt dư</a:t>
            </a:r>
          </a:p>
        </p:txBody>
      </p:sp>
      <p:sp>
        <p:nvSpPr>
          <p:cNvPr id="29" name="S10_Rectangle_28"/>
          <p:cNvSpPr/>
          <p:nvPr/>
        </p:nvSpPr>
        <p:spPr>
          <a:xfrm>
            <a:off x="8229600" y="5358384"/>
            <a:ext cx="3456432" cy="12700"/>
          </a:xfrm>
          <a:prstGeom prst="rect">
            <a:avLst/>
          </a:prstGeom>
          <a:solidFill>
            <a:srgbClr val="3C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10_TextBox_29"/>
          <p:cNvSpPr txBox="1"/>
          <p:nvPr/>
        </p:nvSpPr>
        <p:spPr>
          <a:xfrm>
            <a:off x="822960" y="5568696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>
                <a:solidFill>
                  <a:srgbClr val="EAF1FA"/>
                </a:solidFill>
                <a:latin typeface="Segoe UI"/>
              </a:rPr>
              <a:t>Dữ liệu truy vết</a:t>
            </a:r>
          </a:p>
        </p:txBody>
      </p:sp>
      <p:sp>
        <p:nvSpPr>
          <p:cNvPr id="31" name="S10_Rectangle_30"/>
          <p:cNvSpPr/>
          <p:nvPr/>
        </p:nvSpPr>
        <p:spPr>
          <a:xfrm>
            <a:off x="777240" y="6071616"/>
            <a:ext cx="3657600" cy="12700"/>
          </a:xfrm>
          <a:prstGeom prst="rect">
            <a:avLst/>
          </a:prstGeom>
          <a:solidFill>
            <a:srgbClr val="3C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10_TextBox_31"/>
          <p:cNvSpPr txBox="1"/>
          <p:nvPr/>
        </p:nvSpPr>
        <p:spPr>
          <a:xfrm>
            <a:off x="4846320" y="5550408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>
                <a:solidFill>
                  <a:srgbClr val="EAF1FA"/>
                </a:solidFill>
                <a:latin typeface="Segoe UI"/>
              </a:rPr>
              <a:t>Không có</a:t>
            </a:r>
          </a:p>
        </p:txBody>
      </p:sp>
      <p:sp>
        <p:nvSpPr>
          <p:cNvPr id="33" name="S10_Rectangle_32"/>
          <p:cNvSpPr/>
          <p:nvPr/>
        </p:nvSpPr>
        <p:spPr>
          <a:xfrm>
            <a:off x="4572000" y="6071616"/>
            <a:ext cx="3520440" cy="12700"/>
          </a:xfrm>
          <a:prstGeom prst="rect">
            <a:avLst/>
          </a:prstGeom>
          <a:solidFill>
            <a:srgbClr val="3C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10_TextBox_33"/>
          <p:cNvSpPr txBox="1"/>
          <p:nvPr/>
        </p:nvSpPr>
        <p:spPr>
          <a:xfrm>
            <a:off x="8503920" y="5550408"/>
            <a:ext cx="2907792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>
                <a:solidFill>
                  <a:srgbClr val="FFFFFF"/>
                </a:solidFill>
                <a:latin typeface="Segoe UI Semibold"/>
              </a:rPr>
              <a:t>CSV 5 giây/dòng</a:t>
            </a:r>
          </a:p>
        </p:txBody>
      </p:sp>
      <p:sp>
        <p:nvSpPr>
          <p:cNvPr id="35" name="S10_Rectangle_34"/>
          <p:cNvSpPr/>
          <p:nvPr/>
        </p:nvSpPr>
        <p:spPr>
          <a:xfrm>
            <a:off x="8229600" y="6071616"/>
            <a:ext cx="3456432" cy="12700"/>
          </a:xfrm>
          <a:prstGeom prst="rect">
            <a:avLst/>
          </a:prstGeom>
          <a:solidFill>
            <a:srgbClr val="3C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10_TextBox_35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spc="120">
                <a:solidFill>
                  <a:srgbClr val="8CC2FF"/>
                </a:solidFill>
                <a:latin typeface="Segoe UI"/>
              </a:rPr>
              <a:t>O TESLA  ·  OTL-06ALS</a:t>
            </a:r>
          </a:p>
        </p:txBody>
      </p:sp>
      <p:sp>
        <p:nvSpPr>
          <p:cNvPr id="37" name="S10_TextBox_36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300" spc="120">
                <a:solidFill>
                  <a:srgbClr val="8CC2FF"/>
                </a:solidFill>
                <a:latin typeface="Bahnschrift SemiBold Condensed"/>
              </a:rPr>
              <a:t>10 / 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6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6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6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6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6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6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6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97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183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199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213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227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11_Rectangle_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C2636"/>
              </a:gs>
              <a:gs pos="100000">
                <a:srgbClr val="141C28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11_EMBER"/>
          <p:cNvSpPr/>
          <p:nvPr/>
        </p:nvSpPr>
        <p:spPr>
          <a:xfrm>
            <a:off x="2651760" y="365760"/>
            <a:ext cx="7680960" cy="7680960"/>
          </a:xfrm>
          <a:prstGeom prst="ellipse">
            <a:avLst/>
          </a:prstGeom>
          <a:gradFill rotWithShape="1">
            <a:gsLst>
              <a:gs pos="0">
                <a:srgbClr val="E23A2E">
                  <a:alpha val="18240"/>
                </a:srgbClr>
              </a:gs>
              <a:gs pos="55000">
                <a:srgbClr val="E23A2E">
                  <a:alpha val="6384"/>
                </a:srgbClr>
              </a:gs>
              <a:gs pos="100000">
                <a:srgbClr val="E23A2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11_EMBER2"/>
          <p:cNvSpPr/>
          <p:nvPr/>
        </p:nvSpPr>
        <p:spPr>
          <a:xfrm>
            <a:off x="9692640" y="4572000"/>
            <a:ext cx="4572000" cy="4572000"/>
          </a:xfrm>
          <a:prstGeom prst="ellipse">
            <a:avLst/>
          </a:prstGeom>
          <a:gradFill rotWithShape="1">
            <a:gsLst>
              <a:gs pos="0">
                <a:srgbClr val="3E8FF0">
                  <a:alpha val="9880"/>
                </a:srgbClr>
              </a:gs>
              <a:gs pos="55000">
                <a:srgbClr val="3E8FF0">
                  <a:alpha val="3458"/>
                </a:srgbClr>
              </a:gs>
              <a:gs pos="100000">
                <a:srgbClr val="3E8FF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11_Rectangle_4"/>
          <p:cNvSpPr/>
          <p:nvPr/>
        </p:nvSpPr>
        <p:spPr>
          <a:xfrm>
            <a:off x="457200" y="457200"/>
            <a:ext cx="274320" cy="15875"/>
          </a:xfrm>
          <a:prstGeom prst="rect">
            <a:avLst/>
          </a:prstGeom>
          <a:solidFill>
            <a:srgbClr val="3C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11_Rectangle_5"/>
          <p:cNvSpPr/>
          <p:nvPr/>
        </p:nvSpPr>
        <p:spPr>
          <a:xfrm>
            <a:off x="457200" y="457200"/>
            <a:ext cx="15875" cy="274320"/>
          </a:xfrm>
          <a:prstGeom prst="rect">
            <a:avLst/>
          </a:prstGeom>
          <a:solidFill>
            <a:srgbClr val="3C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11_Rectangle_6"/>
          <p:cNvSpPr/>
          <p:nvPr/>
        </p:nvSpPr>
        <p:spPr>
          <a:xfrm>
            <a:off x="457200" y="6384925"/>
            <a:ext cx="274320" cy="15875"/>
          </a:xfrm>
          <a:prstGeom prst="rect">
            <a:avLst/>
          </a:prstGeom>
          <a:solidFill>
            <a:srgbClr val="3C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11_Rectangle_7"/>
          <p:cNvSpPr/>
          <p:nvPr/>
        </p:nvSpPr>
        <p:spPr>
          <a:xfrm>
            <a:off x="457200" y="6126480"/>
            <a:ext cx="15875" cy="274320"/>
          </a:xfrm>
          <a:prstGeom prst="rect">
            <a:avLst/>
          </a:prstGeom>
          <a:solidFill>
            <a:srgbClr val="3C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11_Rectangle_8"/>
          <p:cNvSpPr/>
          <p:nvPr/>
        </p:nvSpPr>
        <p:spPr>
          <a:xfrm>
            <a:off x="11460175" y="457200"/>
            <a:ext cx="274320" cy="15875"/>
          </a:xfrm>
          <a:prstGeom prst="rect">
            <a:avLst/>
          </a:prstGeom>
          <a:solidFill>
            <a:srgbClr val="3C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11_Rectangle_9"/>
          <p:cNvSpPr/>
          <p:nvPr/>
        </p:nvSpPr>
        <p:spPr>
          <a:xfrm>
            <a:off x="11718620" y="457200"/>
            <a:ext cx="15875" cy="274320"/>
          </a:xfrm>
          <a:prstGeom prst="rect">
            <a:avLst/>
          </a:prstGeom>
          <a:solidFill>
            <a:srgbClr val="3C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11_Rectangle_10"/>
          <p:cNvSpPr/>
          <p:nvPr/>
        </p:nvSpPr>
        <p:spPr>
          <a:xfrm>
            <a:off x="11460175" y="6384925"/>
            <a:ext cx="274320" cy="15875"/>
          </a:xfrm>
          <a:prstGeom prst="rect">
            <a:avLst/>
          </a:prstGeom>
          <a:solidFill>
            <a:srgbClr val="3C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11_Rectangle_11"/>
          <p:cNvSpPr/>
          <p:nvPr/>
        </p:nvSpPr>
        <p:spPr>
          <a:xfrm>
            <a:off x="11718620" y="6126480"/>
            <a:ext cx="15875" cy="274320"/>
          </a:xfrm>
          <a:prstGeom prst="rect">
            <a:avLst/>
          </a:prstGeom>
          <a:solidFill>
            <a:srgbClr val="3C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11_RULE"/>
          <p:cNvSpPr/>
          <p:nvPr/>
        </p:nvSpPr>
        <p:spPr>
          <a:xfrm>
            <a:off x="777240" y="1883664"/>
            <a:ext cx="1371600" cy="63500"/>
          </a:xfrm>
          <a:prstGeom prst="rect">
            <a:avLst/>
          </a:prstGeom>
          <a:solidFill>
            <a:srgbClr val="E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11_KICKER"/>
          <p:cNvSpPr txBox="1"/>
          <p:nvPr/>
        </p:nvSpPr>
        <p:spPr>
          <a:xfrm>
            <a:off x="777240" y="137160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spc="240">
                <a:solidFill>
                  <a:srgbClr val="E23A2E"/>
                </a:solidFill>
                <a:latin typeface="Segoe UI Semibold"/>
              </a:rPr>
              <a:t>PREHEAT  ·  OTL-06ALS</a:t>
            </a:r>
          </a:p>
        </p:txBody>
      </p:sp>
      <p:sp>
        <p:nvSpPr>
          <p:cNvPr id="15" name="S11_HEADING"/>
          <p:cNvSpPr txBox="1"/>
          <p:nvPr/>
        </p:nvSpPr>
        <p:spPr>
          <a:xfrm>
            <a:off x="777240" y="2286000"/>
            <a:ext cx="10607040" cy="2377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5800" spc="-200">
                <a:solidFill>
                  <a:srgbClr val="FFFFFF"/>
                </a:solidFill>
                <a:latin typeface="Segoe UI Black"/>
              </a:rPr>
              <a:t>Gia nhiệt tự động.</a:t>
            </a:r>
          </a:p>
          <a:p>
            <a:pPr algn="l">
              <a:lnSpc>
                <a:spcPct val="110000"/>
              </a:lnSpc>
            </a:pPr>
            <a:r>
              <a:rPr sz="5800" spc="-200">
                <a:solidFill>
                  <a:srgbClr val="FF4A3D"/>
                </a:solidFill>
                <a:latin typeface="Segoe UI Black"/>
              </a:rPr>
              <a:t>Đúng nhiệt nạp mỗi mẻ.</a:t>
            </a:r>
          </a:p>
        </p:txBody>
      </p:sp>
      <p:sp>
        <p:nvSpPr>
          <p:cNvPr id="16" name="S11_Rectangle_15"/>
          <p:cNvSpPr/>
          <p:nvPr/>
        </p:nvSpPr>
        <p:spPr>
          <a:xfrm>
            <a:off x="777240" y="4846320"/>
            <a:ext cx="10607040" cy="12700"/>
          </a:xfrm>
          <a:prstGeom prst="rect">
            <a:avLst/>
          </a:prstGeom>
          <a:solidFill>
            <a:srgbClr val="3C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11_TextBox_16"/>
          <p:cNvSpPr txBox="1"/>
          <p:nvPr/>
        </p:nvSpPr>
        <p:spPr>
          <a:xfrm>
            <a:off x="777240" y="5102352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spc="160">
                <a:solidFill>
                  <a:srgbClr val="8CC2FF"/>
                </a:solidFill>
                <a:latin typeface="Segoe UI Semibold"/>
              </a:rPr>
              <a:t>TRẠNG THÁI</a:t>
            </a:r>
          </a:p>
        </p:txBody>
      </p:sp>
      <p:sp>
        <p:nvSpPr>
          <p:cNvPr id="18" name="S11_TextBox_17"/>
          <p:cNvSpPr txBox="1"/>
          <p:nvPr/>
        </p:nvSpPr>
        <p:spPr>
          <a:xfrm>
            <a:off x="777240" y="5504688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>
                <a:solidFill>
                  <a:srgbClr val="FFFFFF"/>
                </a:solidFill>
                <a:latin typeface="Segoe UI Semibold"/>
              </a:rPr>
              <a:t>Đang chạy thử có giám sát</a:t>
            </a:r>
          </a:p>
        </p:txBody>
      </p:sp>
      <p:sp>
        <p:nvSpPr>
          <p:cNvPr id="19" name="S11_TextBox_18"/>
          <p:cNvSpPr txBox="1"/>
          <p:nvPr/>
        </p:nvSpPr>
        <p:spPr>
          <a:xfrm>
            <a:off x="4389120" y="5102352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spc="160">
                <a:solidFill>
                  <a:srgbClr val="8CC2FF"/>
                </a:solidFill>
                <a:latin typeface="Segoe UI Semibold"/>
              </a:rPr>
              <a:t>ÁP DỤNG CHO</a:t>
            </a:r>
          </a:p>
        </p:txBody>
      </p:sp>
      <p:sp>
        <p:nvSpPr>
          <p:cNvPr id="20" name="S11_TextBox_19"/>
          <p:cNvSpPr txBox="1"/>
          <p:nvPr/>
        </p:nvSpPr>
        <p:spPr>
          <a:xfrm>
            <a:off x="4389120" y="5504688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>
                <a:solidFill>
                  <a:srgbClr val="FFFFFF"/>
                </a:solidFill>
                <a:latin typeface="Segoe UI Semibold"/>
              </a:rPr>
              <a:t>Đầu đốt thường và premix</a:t>
            </a:r>
          </a:p>
        </p:txBody>
      </p:sp>
      <p:sp>
        <p:nvSpPr>
          <p:cNvPr id="21" name="S11_TextBox_20"/>
          <p:cNvSpPr txBox="1"/>
          <p:nvPr/>
        </p:nvSpPr>
        <p:spPr>
          <a:xfrm>
            <a:off x="8001000" y="5102352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spc="160">
                <a:solidFill>
                  <a:srgbClr val="8CC2FF"/>
                </a:solidFill>
                <a:latin typeface="Segoe UI Semibold"/>
              </a:rPr>
              <a:t>LIÊN HỆ</a:t>
            </a:r>
          </a:p>
        </p:txBody>
      </p:sp>
      <p:sp>
        <p:nvSpPr>
          <p:cNvPr id="22" name="S11_TextBox_21"/>
          <p:cNvSpPr txBox="1"/>
          <p:nvPr/>
        </p:nvSpPr>
        <p:spPr>
          <a:xfrm>
            <a:off x="8001000" y="5504688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>
                <a:solidFill>
                  <a:srgbClr val="FFFFFF"/>
                </a:solidFill>
                <a:latin typeface="Segoe UI Semibold"/>
              </a:rPr>
              <a:t>otlpro.com@gmail.com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6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6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6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46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6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6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6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6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6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46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6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4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46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6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46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