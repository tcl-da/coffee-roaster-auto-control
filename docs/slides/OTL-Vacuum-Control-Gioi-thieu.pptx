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đầu: điều khiển theo áp hút thay vì theo phần trăm gió.</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một % gió nhưng lực hút thực tế đổi theo ngày.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Tuyên ngôn: đặt theo Pa, máy tự tìm % gió.</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Vòng lặp: lệch quá ±3 Pa thì nhích 1%, trong vùng chết thì đứng yên.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Lệch nhiều đi nhanh, gần tới thì đi chậm cho khỏi vọt.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ghi nhớ: mức đặt Pa nào thì ứng với bao nhiêu % gió.</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Chạy một lần lúc lắp máy: quét toàn dải để dựng bảng.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Ngoài lần quét đầu, máy vẫn học thêm mỗi khi chạy ổn định.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Đổi mức đặt lớn thì nhảy thẳng, đổi nhỏ thì bò từ từ.</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Áp hút được ghi theo từng giây vào hồ sơ và phát lại khi rang AUTO.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con số tóm gọn.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Chốt lại.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424"/>
              </a:gs>
              <a:gs pos="100000">
                <a:srgbClr val="060A12"/>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
          <p:cNvSpPr/>
          <p:nvPr/>
        </p:nvSpPr>
        <p:spPr>
          <a:xfrm>
            <a:off x="6583680" y="-1737360"/>
            <a:ext cx="8961120" cy="8961120"/>
          </a:xfrm>
          <a:prstGeom prst="ellipse">
            <a:avLst/>
          </a:prstGeom>
          <a:gradFill rotWithShape="1">
            <a:gsLst>
              <a:gs pos="0">
                <a:srgbClr val="2E86FF">
                  <a:alpha val="46000"/>
                </a:srgbClr>
              </a:gs>
              <a:gs pos="55000">
                <a:srgbClr val="2E86FF">
                  <a:alpha val="16100"/>
                </a:srgbClr>
              </a:gs>
              <a:gs pos="100000">
                <a:srgbClr val="2E86FF">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2"/>
          <p:cNvSpPr/>
          <p:nvPr/>
        </p:nvSpPr>
        <p:spPr>
          <a:xfrm>
            <a:off x="-2377440" y="3657600"/>
            <a:ext cx="6217920" cy="6217920"/>
          </a:xfrm>
          <a:prstGeom prst="ellipse">
            <a:avLst/>
          </a:prstGeom>
          <a:gradFill rotWithShape="1">
            <a:gsLst>
              <a:gs pos="0">
                <a:srgbClr val="22D3EE">
                  <a:alpha val="20000"/>
                </a:srgbClr>
              </a:gs>
              <a:gs pos="55000">
                <a:srgbClr val="22D3EE">
                  <a:alpha val="7000"/>
                </a:srgbClr>
              </a:gs>
              <a:gs pos="100000">
                <a:srgbClr val="22D3EE">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KICKER"/>
          <p:cNvSpPr txBox="1"/>
          <p:nvPr/>
        </p:nvSpPr>
        <p:spPr>
          <a:xfrm>
            <a:off x="777240" y="1371600"/>
            <a:ext cx="10637215" cy="365760"/>
          </a:xfrm>
          <a:prstGeom prst="rect">
            <a:avLst/>
          </a:prstGeom>
          <a:noFill/>
        </p:spPr>
        <p:txBody>
          <a:bodyPr wrap="square" lIns="0" rIns="0" tIns="0" bIns="0" anchor="t">
            <a:noAutofit/>
          </a:bodyPr>
          <a:lstStyle/>
          <a:p>
            <a:pPr algn="l"/>
            <a:r>
              <a:rPr sz="1200" spc="240">
                <a:solidFill>
                  <a:srgbClr val="22D3EE"/>
                </a:solidFill>
                <a:latin typeface="Segoe UI Semibold"/>
              </a:rPr>
              <a:t>TÍNH NĂNG  ·  FIRMWARE OTL-06ALS</a:t>
            </a:r>
          </a:p>
        </p:txBody>
      </p:sp>
      <p:sp>
        <p:nvSpPr>
          <p:cNvPr id="6" name="RULE"/>
          <p:cNvSpPr/>
          <p:nvPr/>
        </p:nvSpPr>
        <p:spPr>
          <a:xfrm>
            <a:off x="777240" y="1883664"/>
            <a:ext cx="1371600" cy="635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ADING"/>
          <p:cNvSpPr txBox="1"/>
          <p:nvPr/>
        </p:nvSpPr>
        <p:spPr>
          <a:xfrm>
            <a:off x="777240" y="2194560"/>
            <a:ext cx="10241280" cy="2651760"/>
          </a:xfrm>
          <a:prstGeom prst="rect">
            <a:avLst/>
          </a:prstGeom>
          <a:noFill/>
        </p:spPr>
        <p:txBody>
          <a:bodyPr wrap="square" lIns="0" rIns="0" tIns="0" bIns="0" anchor="t">
            <a:noAutofit/>
          </a:bodyPr>
          <a:lstStyle/>
          <a:p>
            <a:pPr algn="l">
              <a:lnSpc>
                <a:spcPct val="90000"/>
              </a:lnSpc>
            </a:pPr>
            <a:r>
              <a:rPr sz="9600" spc="-300">
                <a:solidFill>
                  <a:srgbClr val="FFFFFF"/>
                </a:solidFill>
                <a:latin typeface="Segoe UI Black"/>
              </a:rPr>
              <a:t>VACUUM</a:t>
            </a:r>
          </a:p>
          <a:p>
            <a:pPr algn="l">
              <a:lnSpc>
                <a:spcPct val="90000"/>
              </a:lnSpc>
            </a:pPr>
            <a:r>
              <a:rPr sz="9600" spc="-300">
                <a:solidFill>
                  <a:srgbClr val="2E86FF"/>
                </a:solidFill>
                <a:latin typeface="Segoe UI Black"/>
              </a:rPr>
              <a:t>CONTROL</a:t>
            </a:r>
          </a:p>
        </p:txBody>
      </p:sp>
      <p:sp>
        <p:nvSpPr>
          <p:cNvPr id="8" name="TextBox 7"/>
          <p:cNvSpPr txBox="1"/>
          <p:nvPr/>
        </p:nvSpPr>
        <p:spPr>
          <a:xfrm>
            <a:off x="777240" y="4617720"/>
            <a:ext cx="8778240" cy="640080"/>
          </a:xfrm>
          <a:prstGeom prst="rect">
            <a:avLst/>
          </a:prstGeom>
          <a:noFill/>
        </p:spPr>
        <p:txBody>
          <a:bodyPr wrap="square" lIns="0" rIns="0" tIns="0" bIns="0" anchor="t">
            <a:noAutofit/>
          </a:bodyPr>
          <a:lstStyle/>
          <a:p>
            <a:pPr algn="l"/>
            <a:r>
              <a:rPr sz="2600">
                <a:solidFill>
                  <a:srgbClr val="94A6C0"/>
                </a:solidFill>
                <a:latin typeface="Segoe UI Light"/>
              </a:rPr>
              <a:t>Giữ áp hút — không giữ phần trăm gió</a:t>
            </a:r>
          </a:p>
        </p:txBody>
      </p:sp>
      <p:sp>
        <p:nvSpPr>
          <p:cNvPr id="9" name="Rectangle 8"/>
          <p:cNvSpPr/>
          <p:nvPr/>
        </p:nvSpPr>
        <p:spPr>
          <a:xfrm>
            <a:off x="777240" y="5257800"/>
            <a:ext cx="10607040" cy="12700"/>
          </a:xfrm>
          <a:prstGeom prst="rect">
            <a:avLst/>
          </a:prstGeom>
          <a:solidFill>
            <a:srgbClr val="1F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504688"/>
            <a:ext cx="10607040" cy="365760"/>
          </a:xfrm>
          <a:prstGeom prst="rect">
            <a:avLst/>
          </a:prstGeom>
          <a:noFill/>
        </p:spPr>
        <p:txBody>
          <a:bodyPr wrap="square" lIns="0" rIns="0" tIns="0" bIns="0" anchor="t">
            <a:noAutofit/>
          </a:bodyPr>
          <a:lstStyle/>
          <a:p>
            <a:pPr algn="l"/>
            <a:r>
              <a:rPr sz="1300" spc="100">
                <a:solidFill>
                  <a:srgbClr val="5B6C88"/>
                </a:solidFill>
                <a:latin typeface="Segoe UI"/>
              </a:rPr>
              <a:t>O TESLA  ·  Điều khiển &amp; Tự động hoá máy rang cà phê</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900">
        <p159:morph option="byObject"/>
      </p:transition>
    </mc:Choice>
    <mc:Fallback>
      <p:transition spd="slow">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424"/>
              </a:gs>
              <a:gs pos="100000">
                <a:srgbClr val="060A12"/>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
          <p:cNvSpPr/>
          <p:nvPr/>
        </p:nvSpPr>
        <p:spPr>
          <a:xfrm>
            <a:off x="8961120" y="-2286000"/>
            <a:ext cx="6583680" cy="6583680"/>
          </a:xfrm>
          <a:prstGeom prst="ellipse">
            <a:avLst/>
          </a:prstGeom>
          <a:gradFill rotWithShape="1">
            <a:gsLst>
              <a:gs pos="0">
                <a:srgbClr val="2E86FF">
                  <a:alpha val="30000"/>
                </a:srgbClr>
              </a:gs>
              <a:gs pos="55000">
                <a:srgbClr val="2E86FF">
                  <a:alpha val="10500"/>
                </a:srgbClr>
              </a:gs>
              <a:gs pos="100000">
                <a:srgbClr val="2E86FF">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2"/>
          <p:cNvSpPr/>
          <p:nvPr/>
        </p:nvSpPr>
        <p:spPr>
          <a:xfrm>
            <a:off x="-2743200" y="4754880"/>
            <a:ext cx="4754880" cy="4754880"/>
          </a:xfrm>
          <a:prstGeom prst="ellipse">
            <a:avLst/>
          </a:prstGeom>
          <a:gradFill rotWithShape="1">
            <a:gsLst>
              <a:gs pos="0">
                <a:srgbClr val="22D3EE">
                  <a:alpha val="14000"/>
                </a:srgbClr>
              </a:gs>
              <a:gs pos="55000">
                <a:srgbClr val="22D3EE">
                  <a:alpha val="4900"/>
                </a:srgbClr>
              </a:gs>
              <a:gs pos="100000">
                <a:srgbClr val="22D3EE">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KICKER"/>
          <p:cNvSpPr txBox="1"/>
          <p:nvPr/>
        </p:nvSpPr>
        <p:spPr>
          <a:xfrm>
            <a:off x="777240" y="658368"/>
            <a:ext cx="10637215" cy="274320"/>
          </a:xfrm>
          <a:prstGeom prst="rect">
            <a:avLst/>
          </a:prstGeom>
          <a:noFill/>
        </p:spPr>
        <p:txBody>
          <a:bodyPr wrap="square" lIns="0" rIns="0" tIns="0" bIns="0" anchor="t">
            <a:noAutofit/>
          </a:bodyPr>
          <a:lstStyle/>
          <a:p>
            <a:pPr algn="l"/>
            <a:r>
              <a:rPr sz="1200" spc="240">
                <a:solidFill>
                  <a:srgbClr val="2E86FF"/>
                </a:solidFill>
                <a:latin typeface="Segoe UI Semibold"/>
              </a:rPr>
              <a:t>VẤN ĐỀ</a:t>
            </a:r>
          </a:p>
        </p:txBody>
      </p:sp>
      <p:sp>
        <p:nvSpPr>
          <p:cNvPr id="6" name="RULE"/>
          <p:cNvSpPr/>
          <p:nvPr/>
        </p:nvSpPr>
        <p:spPr>
          <a:xfrm>
            <a:off x="777240" y="950976"/>
            <a:ext cx="1371600" cy="635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ADING"/>
          <p:cNvSpPr txBox="1"/>
          <p:nvPr/>
        </p:nvSpPr>
        <p:spPr>
          <a:xfrm>
            <a:off x="777240" y="1024128"/>
            <a:ext cx="10637215" cy="1280160"/>
          </a:xfrm>
          <a:prstGeom prst="rect">
            <a:avLst/>
          </a:prstGeom>
          <a:noFill/>
        </p:spPr>
        <p:txBody>
          <a:bodyPr wrap="square" lIns="0" rIns="0" tIns="0" bIns="0" anchor="t">
            <a:noAutofit/>
          </a:bodyPr>
          <a:lstStyle/>
          <a:p>
            <a:pPr algn="l">
              <a:lnSpc>
                <a:spcPct val="94000"/>
              </a:lnSpc>
            </a:pPr>
            <a:r>
              <a:rPr sz="4000">
                <a:solidFill>
                  <a:srgbClr val="FFFFFF"/>
                </a:solidFill>
                <a:latin typeface="Segoe UI Black"/>
              </a:rPr>
              <a:t>Cùng 40% gió — hôm nay khác hôm qua</a:t>
            </a:r>
          </a:p>
        </p:txBody>
      </p:sp>
      <p:sp>
        <p:nvSpPr>
          <p:cNvPr id="8" name="Rounded Rectangle 7"/>
          <p:cNvSpPr/>
          <p:nvPr/>
        </p:nvSpPr>
        <p:spPr>
          <a:xfrm>
            <a:off x="777240" y="2514600"/>
            <a:ext cx="3393338" cy="269748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3000" y="2880360"/>
            <a:ext cx="502920" cy="50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3200400"/>
            <a:ext cx="2661818" cy="457200"/>
          </a:xfrm>
          <a:prstGeom prst="rect">
            <a:avLst/>
          </a:prstGeom>
          <a:noFill/>
        </p:spPr>
        <p:txBody>
          <a:bodyPr wrap="square" lIns="0" rIns="0" tIns="0" bIns="0" anchor="t">
            <a:noAutofit/>
          </a:bodyPr>
          <a:lstStyle/>
          <a:p>
            <a:pPr algn="l"/>
            <a:r>
              <a:rPr sz="2200" spc="-50">
                <a:solidFill>
                  <a:srgbClr val="FFFFFF"/>
                </a:solidFill>
                <a:latin typeface="Segoe UI Black"/>
              </a:rPr>
              <a:t>Vỏ lụa bám lọc</a:t>
            </a:r>
          </a:p>
        </p:txBody>
      </p:sp>
      <p:sp>
        <p:nvSpPr>
          <p:cNvPr id="11" name="TextBox 10"/>
          <p:cNvSpPr txBox="1"/>
          <p:nvPr/>
        </p:nvSpPr>
        <p:spPr>
          <a:xfrm>
            <a:off x="1143000" y="3767328"/>
            <a:ext cx="2661818" cy="1280160"/>
          </a:xfrm>
          <a:prstGeom prst="rect">
            <a:avLst/>
          </a:prstGeom>
          <a:noFill/>
        </p:spPr>
        <p:txBody>
          <a:bodyPr wrap="square" lIns="0" rIns="0" tIns="0" bIns="0" anchor="t">
            <a:noAutofit/>
          </a:bodyPr>
          <a:lstStyle/>
          <a:p>
            <a:pPr algn="l">
              <a:lnSpc>
                <a:spcPct val="135000"/>
              </a:lnSpc>
            </a:pPr>
            <a:r>
              <a:rPr sz="1350">
                <a:solidFill>
                  <a:srgbClr val="94A6C0"/>
                </a:solidFill>
                <a:latin typeface="Segoe UI"/>
              </a:rPr>
              <a:t>Rang được vài mẻ là lưới lọc dày lên. Quạt vẫn quay đúng 40% nhưng gió qua trống đã yếu đi rõ.</a:t>
            </a:r>
          </a:p>
        </p:txBody>
      </p:sp>
      <p:sp>
        <p:nvSpPr>
          <p:cNvPr id="12" name="Rounded Rectangle 11"/>
          <p:cNvSpPr/>
          <p:nvPr/>
        </p:nvSpPr>
        <p:spPr>
          <a:xfrm>
            <a:off x="4399178" y="2514600"/>
            <a:ext cx="3393338" cy="269748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64938" y="2880360"/>
            <a:ext cx="502920" cy="50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64938" y="3200400"/>
            <a:ext cx="2661818" cy="457200"/>
          </a:xfrm>
          <a:prstGeom prst="rect">
            <a:avLst/>
          </a:prstGeom>
          <a:noFill/>
        </p:spPr>
        <p:txBody>
          <a:bodyPr wrap="square" lIns="0" rIns="0" tIns="0" bIns="0" anchor="t">
            <a:noAutofit/>
          </a:bodyPr>
          <a:lstStyle/>
          <a:p>
            <a:pPr algn="l"/>
            <a:r>
              <a:rPr sz="2200" spc="-50">
                <a:solidFill>
                  <a:srgbClr val="FFFFFF"/>
                </a:solidFill>
                <a:latin typeface="Segoe UI Black"/>
              </a:rPr>
              <a:t>Bụi bám đường ống</a:t>
            </a:r>
          </a:p>
        </p:txBody>
      </p:sp>
      <p:sp>
        <p:nvSpPr>
          <p:cNvPr id="15" name="TextBox 14"/>
          <p:cNvSpPr txBox="1"/>
          <p:nvPr/>
        </p:nvSpPr>
        <p:spPr>
          <a:xfrm>
            <a:off x="4764938" y="3767328"/>
            <a:ext cx="2661818" cy="1280160"/>
          </a:xfrm>
          <a:prstGeom prst="rect">
            <a:avLst/>
          </a:prstGeom>
          <a:noFill/>
        </p:spPr>
        <p:txBody>
          <a:bodyPr wrap="square" lIns="0" rIns="0" tIns="0" bIns="0" anchor="t">
            <a:noAutofit/>
          </a:bodyPr>
          <a:lstStyle/>
          <a:p>
            <a:pPr algn="l">
              <a:lnSpc>
                <a:spcPct val="135000"/>
              </a:lnSpc>
            </a:pPr>
            <a:r>
              <a:rPr sz="1350">
                <a:solidFill>
                  <a:srgbClr val="94A6C0"/>
                </a:solidFill>
                <a:latin typeface="Segoe UI"/>
              </a:rPr>
              <a:t>Xiclon và đường ống bám bụi dần theo tuần. Cùng một mức đặt, lực hút cứ trôi đi mà không ai để ý.</a:t>
            </a:r>
          </a:p>
        </p:txBody>
      </p:sp>
      <p:sp>
        <p:nvSpPr>
          <p:cNvPr id="16" name="Rounded Rectangle 15"/>
          <p:cNvSpPr/>
          <p:nvPr/>
        </p:nvSpPr>
        <p:spPr>
          <a:xfrm>
            <a:off x="8021116" y="2514600"/>
            <a:ext cx="3393338" cy="269748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86876" y="2880360"/>
            <a:ext cx="502920" cy="50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6876" y="3200400"/>
            <a:ext cx="2661818" cy="457200"/>
          </a:xfrm>
          <a:prstGeom prst="rect">
            <a:avLst/>
          </a:prstGeom>
          <a:noFill/>
        </p:spPr>
        <p:txBody>
          <a:bodyPr wrap="square" lIns="0" rIns="0" tIns="0" bIns="0" anchor="t">
            <a:noAutofit/>
          </a:bodyPr>
          <a:lstStyle/>
          <a:p>
            <a:pPr algn="l"/>
            <a:r>
              <a:rPr sz="2200" spc="-50">
                <a:solidFill>
                  <a:srgbClr val="FFFFFF"/>
                </a:solidFill>
                <a:latin typeface="Segoe UI Black"/>
              </a:rPr>
              <a:t>Cửa gió và thời tiết</a:t>
            </a:r>
          </a:p>
        </p:txBody>
      </p:sp>
      <p:sp>
        <p:nvSpPr>
          <p:cNvPr id="19" name="TextBox 18"/>
          <p:cNvSpPr txBox="1"/>
          <p:nvPr/>
        </p:nvSpPr>
        <p:spPr>
          <a:xfrm>
            <a:off x="8386876" y="3767328"/>
            <a:ext cx="2661818" cy="1280160"/>
          </a:xfrm>
          <a:prstGeom prst="rect">
            <a:avLst/>
          </a:prstGeom>
          <a:noFill/>
        </p:spPr>
        <p:txBody>
          <a:bodyPr wrap="square" lIns="0" rIns="0" tIns="0" bIns="0" anchor="t">
            <a:noAutofit/>
          </a:bodyPr>
          <a:lstStyle/>
          <a:p>
            <a:pPr algn="l">
              <a:lnSpc>
                <a:spcPct val="135000"/>
              </a:lnSpc>
            </a:pPr>
            <a:r>
              <a:rPr sz="1350">
                <a:solidFill>
                  <a:srgbClr val="94A6C0"/>
                </a:solidFill>
                <a:latin typeface="Segoe UI"/>
              </a:rPr>
              <a:t>Cửa gió chỉnh tay, áp suất ngoài trời, ống khói nóng nguội — mỗi thứ đẩy lưu lượng đi một ít.</a:t>
            </a:r>
          </a:p>
        </p:txBody>
      </p:sp>
      <p:sp>
        <p:nvSpPr>
          <p:cNvPr id="20" name="TextBox 19"/>
          <p:cNvSpPr txBox="1"/>
          <p:nvPr/>
        </p:nvSpPr>
        <p:spPr>
          <a:xfrm>
            <a:off x="777240" y="5486400"/>
            <a:ext cx="10637215" cy="457200"/>
          </a:xfrm>
          <a:prstGeom prst="rect">
            <a:avLst/>
          </a:prstGeom>
          <a:noFill/>
        </p:spPr>
        <p:txBody>
          <a:bodyPr wrap="square" lIns="0" rIns="0" tIns="0" bIns="0" anchor="t">
            <a:noAutofit/>
          </a:bodyPr>
          <a:lstStyle/>
          <a:p>
            <a:pPr algn="l">
              <a:lnSpc>
                <a:spcPct val="135000"/>
              </a:lnSpc>
            </a:pPr>
            <a:r>
              <a:rPr sz="1500">
                <a:solidFill>
                  <a:srgbClr val="7DD3FC"/>
                </a:solidFill>
                <a:latin typeface="Segoe UI"/>
              </a:rPr>
              <a:t>Phần trăm gió chỉ là lệnh gửi cho biến tần. Thứ quyết định mẻ rang là LỰC HÚT THẬT trong trống — đo bằng Pa.</a:t>
            </a:r>
          </a:p>
        </p:txBody>
      </p:sp>
      <p:sp>
        <p:nvSpPr>
          <p:cNvPr id="21" name="TextBox 20"/>
          <p:cNvSpPr txBox="1"/>
          <p:nvPr/>
        </p:nvSpPr>
        <p:spPr>
          <a:xfrm>
            <a:off x="777240" y="6199632"/>
            <a:ext cx="10637215" cy="274320"/>
          </a:xfrm>
          <a:prstGeom prst="rect">
            <a:avLst/>
          </a:prstGeom>
          <a:noFill/>
        </p:spPr>
        <p:txBody>
          <a:bodyPr wrap="square" lIns="0" rIns="0" tIns="0" bIns="0" anchor="t">
            <a:noAutofit/>
          </a:bodyPr>
          <a:lstStyle/>
          <a:p>
            <a:pPr algn="l"/>
            <a:r>
              <a:rPr sz="1000" spc="120">
                <a:solidFill>
                  <a:srgbClr val="5B6C88"/>
                </a:solidFill>
                <a:latin typeface="Segoe UI"/>
              </a:rPr>
              <a:t>O TESLA  ·  OTL-06ALS</a:t>
            </a:r>
          </a:p>
        </p:txBody>
      </p:sp>
      <p:sp>
        <p:nvSpPr>
          <p:cNvPr id="22" name="TextBox 21"/>
          <p:cNvSpPr txBox="1"/>
          <p:nvPr/>
        </p:nvSpPr>
        <p:spPr>
          <a:xfrm>
            <a:off x="777240" y="6199632"/>
            <a:ext cx="10637215" cy="274320"/>
          </a:xfrm>
          <a:prstGeom prst="rect">
            <a:avLst/>
          </a:prstGeom>
          <a:noFill/>
        </p:spPr>
        <p:txBody>
          <a:bodyPr wrap="square" lIns="0" rIns="0" tIns="0" bIns="0" anchor="t">
            <a:noAutofit/>
          </a:bodyPr>
          <a:lstStyle/>
          <a:p>
            <a:pPr algn="r"/>
            <a:r>
              <a:rPr sz="1000" spc="120">
                <a:solidFill>
                  <a:srgbClr val="5B6C88"/>
                </a:solidFill>
                <a:latin typeface="Bahnschrift SemiBold Condensed"/>
              </a:rPr>
              <a:t>02 / 12</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900">
        <p159:morph option="byObject"/>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424"/>
              </a:gs>
              <a:gs pos="100000">
                <a:srgbClr val="060A12"/>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
          <p:cNvSpPr/>
          <p:nvPr/>
        </p:nvSpPr>
        <p:spPr>
          <a:xfrm>
            <a:off x="2926080" y="640080"/>
            <a:ext cx="7132320" cy="7132320"/>
          </a:xfrm>
          <a:prstGeom prst="ellipse">
            <a:avLst/>
          </a:prstGeom>
          <a:gradFill rotWithShape="1">
            <a:gsLst>
              <a:gs pos="0">
                <a:srgbClr val="2E86FF">
                  <a:alpha val="44000"/>
                </a:srgbClr>
              </a:gs>
              <a:gs pos="55000">
                <a:srgbClr val="2E86FF">
                  <a:alpha val="15400"/>
                </a:srgbClr>
              </a:gs>
              <a:gs pos="100000">
                <a:srgbClr val="2E86FF">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777240" y="822960"/>
            <a:ext cx="10637215" cy="274320"/>
          </a:xfrm>
          <a:prstGeom prst="rect">
            <a:avLst/>
          </a:prstGeom>
          <a:noFill/>
        </p:spPr>
        <p:txBody>
          <a:bodyPr wrap="square" lIns="0" rIns="0" tIns="0" bIns="0" anchor="t">
            <a:noAutofit/>
          </a:bodyPr>
          <a:lstStyle/>
          <a:p>
            <a:pPr algn="l"/>
            <a:r>
              <a:rPr sz="1200" spc="240">
                <a:solidFill>
                  <a:srgbClr val="2E86FF"/>
                </a:solidFill>
                <a:latin typeface="Segoe UI Semibold"/>
              </a:rPr>
              <a:t>GIẢI PHÁP</a:t>
            </a:r>
          </a:p>
        </p:txBody>
      </p:sp>
      <p:sp>
        <p:nvSpPr>
          <p:cNvPr id="5" name="RULE"/>
          <p:cNvSpPr/>
          <p:nvPr/>
        </p:nvSpPr>
        <p:spPr>
          <a:xfrm>
            <a:off x="777240" y="1115568"/>
            <a:ext cx="1371600" cy="635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ING"/>
          <p:cNvSpPr txBox="1"/>
          <p:nvPr/>
        </p:nvSpPr>
        <p:spPr>
          <a:xfrm>
            <a:off x="777240" y="2103120"/>
            <a:ext cx="10607040" cy="2011680"/>
          </a:xfrm>
          <a:prstGeom prst="rect">
            <a:avLst/>
          </a:prstGeom>
          <a:noFill/>
        </p:spPr>
        <p:txBody>
          <a:bodyPr wrap="square" lIns="0" rIns="0" tIns="0" bIns="0" anchor="t">
            <a:noAutofit/>
          </a:bodyPr>
          <a:lstStyle/>
          <a:p>
            <a:pPr algn="l">
              <a:lnSpc>
                <a:spcPct val="110000"/>
              </a:lnSpc>
            </a:pPr>
            <a:r>
              <a:rPr sz="6000" spc="-200">
                <a:solidFill>
                  <a:srgbClr val="FFFFFF"/>
                </a:solidFill>
                <a:latin typeface="Segoe UI Black"/>
              </a:rPr>
              <a:t>Anh đặt Pa.</a:t>
            </a:r>
          </a:p>
          <a:p>
            <a:pPr algn="l">
              <a:lnSpc>
                <a:spcPct val="110000"/>
              </a:lnSpc>
            </a:pPr>
            <a:r>
              <a:rPr sz="6000" spc="-200">
                <a:solidFill>
                  <a:srgbClr val="22D3EE"/>
                </a:solidFill>
                <a:latin typeface="Segoe UI Black"/>
              </a:rPr>
              <a:t>Máy tự tìm % gió.</a:t>
            </a:r>
          </a:p>
        </p:txBody>
      </p:sp>
      <p:sp>
        <p:nvSpPr>
          <p:cNvPr id="7" name="TextBox 6"/>
          <p:cNvSpPr txBox="1"/>
          <p:nvPr/>
        </p:nvSpPr>
        <p:spPr>
          <a:xfrm>
            <a:off x="777240" y="4434840"/>
            <a:ext cx="9692640" cy="1097280"/>
          </a:xfrm>
          <a:prstGeom prst="rect">
            <a:avLst/>
          </a:prstGeom>
          <a:noFill/>
        </p:spPr>
        <p:txBody>
          <a:bodyPr wrap="square" lIns="0" rIns="0" tIns="0" bIns="0" anchor="t">
            <a:noAutofit/>
          </a:bodyPr>
          <a:lstStyle/>
          <a:p>
            <a:pPr algn="l">
              <a:lnSpc>
                <a:spcPct val="140000"/>
              </a:lnSpc>
            </a:pPr>
            <a:r>
              <a:rPr sz="1700">
                <a:solidFill>
                  <a:srgbClr val="94A6C0"/>
                </a:solidFill>
                <a:latin typeface="Segoe UI"/>
              </a:rPr>
              <a:t>Cảm biến áp suất đọc lực hút thật trong trống mỗi vòng lặp. Firmware so với mức anh đặt rồi tự nhích biến tần gió lên xuống cho tới khi khớp — lọc có bẩn, ống có bám bụi thì nó tự bù.</a:t>
            </a:r>
          </a:p>
        </p:txBody>
      </p:sp>
      <p:sp>
        <p:nvSpPr>
          <p:cNvPr id="8" name="TextBox 7"/>
          <p:cNvSpPr txBox="1"/>
          <p:nvPr/>
        </p:nvSpPr>
        <p:spPr>
          <a:xfrm>
            <a:off x="777240" y="6199632"/>
            <a:ext cx="10637215" cy="274320"/>
          </a:xfrm>
          <a:prstGeom prst="rect">
            <a:avLst/>
          </a:prstGeom>
          <a:noFill/>
        </p:spPr>
        <p:txBody>
          <a:bodyPr wrap="square" lIns="0" rIns="0" tIns="0" bIns="0" anchor="t">
            <a:noAutofit/>
          </a:bodyPr>
          <a:lstStyle/>
          <a:p>
            <a:pPr algn="l"/>
            <a:r>
              <a:rPr sz="1000" spc="120">
                <a:solidFill>
                  <a:srgbClr val="5B6C88"/>
                </a:solidFill>
                <a:latin typeface="Segoe UI"/>
              </a:rPr>
              <a:t>O TESLA  ·  OTL-06ALS</a:t>
            </a:r>
          </a:p>
        </p:txBody>
      </p:sp>
      <p:sp>
        <p:nvSpPr>
          <p:cNvPr id="9" name="TextBox 8"/>
          <p:cNvSpPr txBox="1"/>
          <p:nvPr/>
        </p:nvSpPr>
        <p:spPr>
          <a:xfrm>
            <a:off x="777240" y="6199632"/>
            <a:ext cx="10637215" cy="274320"/>
          </a:xfrm>
          <a:prstGeom prst="rect">
            <a:avLst/>
          </a:prstGeom>
          <a:noFill/>
        </p:spPr>
        <p:txBody>
          <a:bodyPr wrap="square" lIns="0" rIns="0" tIns="0" bIns="0" anchor="t">
            <a:noAutofit/>
          </a:bodyPr>
          <a:lstStyle/>
          <a:p>
            <a:pPr algn="r"/>
            <a:r>
              <a:rPr sz="1000" spc="120">
                <a:solidFill>
                  <a:srgbClr val="5B6C88"/>
                </a:solidFill>
                <a:latin typeface="Bahnschrift SemiBold Condensed"/>
              </a:rPr>
              <a:t>03 / 12</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900">
        <p159:morph option="byObject"/>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424"/>
              </a:gs>
              <a:gs pos="100000">
                <a:srgbClr val="060A12"/>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
          <p:cNvSpPr/>
          <p:nvPr/>
        </p:nvSpPr>
        <p:spPr>
          <a:xfrm>
            <a:off x="9692640" y="4206240"/>
            <a:ext cx="5486400" cy="5486400"/>
          </a:xfrm>
          <a:prstGeom prst="ellipse">
            <a:avLst/>
          </a:prstGeom>
          <a:gradFill rotWithShape="1">
            <a:gsLst>
              <a:gs pos="0">
                <a:srgbClr val="2E86FF">
                  <a:alpha val="20000"/>
                </a:srgbClr>
              </a:gs>
              <a:gs pos="55000">
                <a:srgbClr val="2E86FF">
                  <a:alpha val="7000"/>
                </a:srgbClr>
              </a:gs>
              <a:gs pos="100000">
                <a:srgbClr val="2E86FF">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777240" y="658368"/>
            <a:ext cx="10637215" cy="274320"/>
          </a:xfrm>
          <a:prstGeom prst="rect">
            <a:avLst/>
          </a:prstGeom>
          <a:noFill/>
        </p:spPr>
        <p:txBody>
          <a:bodyPr wrap="square" lIns="0" rIns="0" tIns="0" bIns="0" anchor="t">
            <a:noAutofit/>
          </a:bodyPr>
          <a:lstStyle/>
          <a:p>
            <a:pPr algn="l"/>
            <a:r>
              <a:rPr sz="1200" spc="240">
                <a:solidFill>
                  <a:srgbClr val="2E86FF"/>
                </a:solidFill>
                <a:latin typeface="Segoe UI Semibold"/>
              </a:rPr>
              <a:t>VÒNG LẶP</a:t>
            </a:r>
          </a:p>
        </p:txBody>
      </p:sp>
      <p:sp>
        <p:nvSpPr>
          <p:cNvPr id="5" name="RULE"/>
          <p:cNvSpPr/>
          <p:nvPr/>
        </p:nvSpPr>
        <p:spPr>
          <a:xfrm>
            <a:off x="777240" y="950976"/>
            <a:ext cx="1371600" cy="635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ING"/>
          <p:cNvSpPr txBox="1"/>
          <p:nvPr/>
        </p:nvSpPr>
        <p:spPr>
          <a:xfrm>
            <a:off x="777240" y="1024128"/>
            <a:ext cx="10637215" cy="1280160"/>
          </a:xfrm>
          <a:prstGeom prst="rect">
            <a:avLst/>
          </a:prstGeom>
          <a:noFill/>
        </p:spPr>
        <p:txBody>
          <a:bodyPr wrap="square" lIns="0" rIns="0" tIns="0" bIns="0" anchor="t">
            <a:noAutofit/>
          </a:bodyPr>
          <a:lstStyle/>
          <a:p>
            <a:pPr algn="l">
              <a:lnSpc>
                <a:spcPct val="94000"/>
              </a:lnSpc>
            </a:pPr>
            <a:r>
              <a:rPr sz="4000">
                <a:solidFill>
                  <a:srgbClr val="FFFFFF"/>
                </a:solidFill>
                <a:latin typeface="Segoe UI Black"/>
              </a:rPr>
              <a:t>Lệch quá 3 Pa mới nhích — mỗi lần 1%</a:t>
            </a:r>
          </a:p>
        </p:txBody>
      </p:sp>
      <p:sp>
        <p:nvSpPr>
          <p:cNvPr id="7" name="Rounded Rectangle 6"/>
          <p:cNvSpPr/>
          <p:nvPr/>
        </p:nvSpPr>
        <p:spPr>
          <a:xfrm>
            <a:off x="777240" y="2606040"/>
            <a:ext cx="6126480" cy="2606040"/>
          </a:xfrm>
          <a:prstGeom prst="roundRect">
            <a:avLst>
              <a:gd name="adj" fmla="val 6000"/>
            </a:avLst>
          </a:prstGeom>
          <a:solidFill>
            <a:srgbClr val="0B1322"/>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3341220"/>
            <a:ext cx="5943600" cy="175560"/>
          </a:xfrm>
          <a:prstGeom prst="rect">
            <a:avLst/>
          </a:prstGeom>
          <a:solidFill>
            <a:srgbClr val="22D3EE">
              <a:alpha val="1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868680" y="3429000"/>
            <a:ext cx="5943600" cy="0"/>
          </a:xfrm>
          <a:custGeom>
            <a:avLst/>
            <a:gdLst/>
            <a:ahLst/>
            <a:cxnLst/>
            <a:rect l="l" t="t" r="r" b="b"/>
            <a:pathLst>
              <a:path w="5943600" h="0">
                <a:moveTo>
                  <a:pt x="0" y="0"/>
                </a:moveTo>
                <a:lnTo>
                  <a:pt x="5943600" y="0"/>
                </a:lnTo>
              </a:path>
            </a:pathLst>
          </a:custGeom>
          <a:noFill/>
          <a:ln w="22225">
            <a:solidFill>
              <a:srgbClr val="22D3EE"/>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941832" y="3373388"/>
            <a:ext cx="5797296" cy="1401572"/>
          </a:xfrm>
          <a:custGeom>
            <a:avLst/>
            <a:gdLst/>
            <a:ahLst/>
            <a:cxnLst/>
            <a:rect l="l" t="t" r="r" b="b"/>
            <a:pathLst>
              <a:path w="5797296" h="1401572">
                <a:moveTo>
                  <a:pt x="0" y="1401572"/>
                </a:moveTo>
                <a:lnTo>
                  <a:pt x="175675" y="1401572"/>
                </a:lnTo>
                <a:lnTo>
                  <a:pt x="175675" y="1208312"/>
                </a:lnTo>
                <a:lnTo>
                  <a:pt x="351351" y="1208312"/>
                </a:lnTo>
                <a:lnTo>
                  <a:pt x="351351" y="1042802"/>
                </a:lnTo>
                <a:lnTo>
                  <a:pt x="527026" y="1042802"/>
                </a:lnTo>
                <a:lnTo>
                  <a:pt x="527026" y="901056"/>
                </a:lnTo>
                <a:lnTo>
                  <a:pt x="702702" y="901056"/>
                </a:lnTo>
                <a:lnTo>
                  <a:pt x="702702" y="779663"/>
                </a:lnTo>
                <a:lnTo>
                  <a:pt x="878378" y="779663"/>
                </a:lnTo>
                <a:lnTo>
                  <a:pt x="878378" y="675700"/>
                </a:lnTo>
                <a:lnTo>
                  <a:pt x="1054053" y="675700"/>
                </a:lnTo>
                <a:lnTo>
                  <a:pt x="1054053" y="586665"/>
                </a:lnTo>
                <a:lnTo>
                  <a:pt x="1229729" y="586665"/>
                </a:lnTo>
                <a:lnTo>
                  <a:pt x="1229729" y="510414"/>
                </a:lnTo>
                <a:lnTo>
                  <a:pt x="1405405" y="510414"/>
                </a:lnTo>
                <a:lnTo>
                  <a:pt x="1405405" y="445111"/>
                </a:lnTo>
                <a:lnTo>
                  <a:pt x="1581080" y="445111"/>
                </a:lnTo>
                <a:lnTo>
                  <a:pt x="1581080" y="389185"/>
                </a:lnTo>
                <a:lnTo>
                  <a:pt x="1756756" y="389185"/>
                </a:lnTo>
                <a:lnTo>
                  <a:pt x="1756756" y="341289"/>
                </a:lnTo>
                <a:lnTo>
                  <a:pt x="1932432" y="341289"/>
                </a:lnTo>
                <a:lnTo>
                  <a:pt x="1932432" y="300270"/>
                </a:lnTo>
                <a:lnTo>
                  <a:pt x="2108107" y="300270"/>
                </a:lnTo>
                <a:lnTo>
                  <a:pt x="2108107" y="265141"/>
                </a:lnTo>
                <a:lnTo>
                  <a:pt x="2283783" y="265141"/>
                </a:lnTo>
                <a:lnTo>
                  <a:pt x="2283783" y="235055"/>
                </a:lnTo>
                <a:lnTo>
                  <a:pt x="2459458" y="235055"/>
                </a:lnTo>
                <a:lnTo>
                  <a:pt x="2459458" y="209290"/>
                </a:lnTo>
                <a:lnTo>
                  <a:pt x="2635134" y="209290"/>
                </a:lnTo>
                <a:lnTo>
                  <a:pt x="2635134" y="238965"/>
                </a:lnTo>
                <a:lnTo>
                  <a:pt x="2810810" y="238965"/>
                </a:lnTo>
                <a:lnTo>
                  <a:pt x="2810810" y="230488"/>
                </a:lnTo>
                <a:lnTo>
                  <a:pt x="2986485" y="230488"/>
                </a:lnTo>
                <a:lnTo>
                  <a:pt x="2986485" y="177681"/>
                </a:lnTo>
                <a:lnTo>
                  <a:pt x="3162161" y="177681"/>
                </a:lnTo>
                <a:lnTo>
                  <a:pt x="3162161" y="107871"/>
                </a:lnTo>
                <a:lnTo>
                  <a:pt x="3337837" y="107871"/>
                </a:lnTo>
                <a:lnTo>
                  <a:pt x="3337837" y="63066"/>
                </a:lnTo>
                <a:lnTo>
                  <a:pt x="3513512" y="63066"/>
                </a:lnTo>
                <a:lnTo>
                  <a:pt x="3513512" y="67903"/>
                </a:lnTo>
                <a:lnTo>
                  <a:pt x="3689188" y="67903"/>
                </a:lnTo>
                <a:lnTo>
                  <a:pt x="3689188" y="110786"/>
                </a:lnTo>
                <a:lnTo>
                  <a:pt x="3864864" y="110786"/>
                </a:lnTo>
                <a:lnTo>
                  <a:pt x="3864864" y="152461"/>
                </a:lnTo>
                <a:lnTo>
                  <a:pt x="4040539" y="152461"/>
                </a:lnTo>
                <a:lnTo>
                  <a:pt x="4040539" y="155569"/>
                </a:lnTo>
                <a:lnTo>
                  <a:pt x="4216215" y="155569"/>
                </a:lnTo>
                <a:lnTo>
                  <a:pt x="4216215" y="112771"/>
                </a:lnTo>
                <a:lnTo>
                  <a:pt x="4391890" y="112771"/>
                </a:lnTo>
                <a:lnTo>
                  <a:pt x="4391890" y="52186"/>
                </a:lnTo>
                <a:lnTo>
                  <a:pt x="4567566" y="52186"/>
                </a:lnTo>
                <a:lnTo>
                  <a:pt x="4567566" y="16005"/>
                </a:lnTo>
                <a:lnTo>
                  <a:pt x="4743242" y="16005"/>
                </a:lnTo>
                <a:lnTo>
                  <a:pt x="4743242" y="28479"/>
                </a:lnTo>
                <a:lnTo>
                  <a:pt x="4918917" y="28479"/>
                </a:lnTo>
                <a:lnTo>
                  <a:pt x="4918917" y="77484"/>
                </a:lnTo>
                <a:lnTo>
                  <a:pt x="5094593" y="77484"/>
                </a:lnTo>
                <a:lnTo>
                  <a:pt x="5094593" y="123638"/>
                </a:lnTo>
                <a:lnTo>
                  <a:pt x="5270269" y="123638"/>
                </a:lnTo>
                <a:lnTo>
                  <a:pt x="5270269" y="130045"/>
                </a:lnTo>
                <a:lnTo>
                  <a:pt x="5445944" y="130045"/>
                </a:lnTo>
                <a:lnTo>
                  <a:pt x="5445944" y="90171"/>
                </a:lnTo>
                <a:lnTo>
                  <a:pt x="5621620" y="90171"/>
                </a:lnTo>
                <a:lnTo>
                  <a:pt x="5621620" y="32749"/>
                </a:lnTo>
                <a:lnTo>
                  <a:pt x="5797296" y="32749"/>
                </a:lnTo>
                <a:lnTo>
                  <a:pt x="5797296" y="0"/>
                </a:lnTo>
              </a:path>
            </a:pathLst>
          </a:custGeom>
          <a:noFill/>
          <a:ln w="34925">
            <a:solidFill>
              <a:srgbClr val="2E8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96112" y="4729240"/>
            <a:ext cx="91440" cy="91440"/>
          </a:xfrm>
          <a:prstGeom prst="ellipse">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693408" y="3327668"/>
            <a:ext cx="91440" cy="91440"/>
          </a:xfrm>
          <a:prstGeom prst="ellipse">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724912"/>
            <a:ext cx="2743200" cy="274320"/>
          </a:xfrm>
          <a:prstGeom prst="rect">
            <a:avLst/>
          </a:prstGeom>
          <a:noFill/>
        </p:spPr>
        <p:txBody>
          <a:bodyPr wrap="square" lIns="0" rIns="0" tIns="0" bIns="0" anchor="t">
            <a:noAutofit/>
          </a:bodyPr>
          <a:lstStyle/>
          <a:p>
            <a:pPr algn="l"/>
            <a:r>
              <a:rPr sz="1050" spc="160">
                <a:solidFill>
                  <a:srgbClr val="2E86FF"/>
                </a:solidFill>
                <a:latin typeface="Segoe UI Semibold"/>
              </a:rPr>
              <a:t>ÁP HÚT ĐO ĐƯỢC</a:t>
            </a:r>
          </a:p>
        </p:txBody>
      </p:sp>
      <p:sp>
        <p:nvSpPr>
          <p:cNvPr id="14" name="TextBox 13"/>
          <p:cNvSpPr txBox="1"/>
          <p:nvPr/>
        </p:nvSpPr>
        <p:spPr>
          <a:xfrm>
            <a:off x="4800600" y="3044952"/>
            <a:ext cx="1920240" cy="274320"/>
          </a:xfrm>
          <a:prstGeom prst="rect">
            <a:avLst/>
          </a:prstGeom>
          <a:noFill/>
        </p:spPr>
        <p:txBody>
          <a:bodyPr wrap="square" lIns="0" rIns="0" tIns="0" bIns="0" anchor="t">
            <a:noAutofit/>
          </a:bodyPr>
          <a:lstStyle/>
          <a:p>
            <a:pPr algn="r"/>
            <a:r>
              <a:rPr sz="1050" spc="160">
                <a:solidFill>
                  <a:srgbClr val="22D3EE"/>
                </a:solidFill>
                <a:latin typeface="Segoe UI Semibold"/>
              </a:rPr>
              <a:t>MỨC ĐẶT ±3 Pa</a:t>
            </a:r>
          </a:p>
        </p:txBody>
      </p:sp>
      <p:sp>
        <p:nvSpPr>
          <p:cNvPr id="15" name="TextBox 14"/>
          <p:cNvSpPr txBox="1"/>
          <p:nvPr/>
        </p:nvSpPr>
        <p:spPr>
          <a:xfrm>
            <a:off x="777240" y="5321808"/>
            <a:ext cx="6126480" cy="274320"/>
          </a:xfrm>
          <a:prstGeom prst="rect">
            <a:avLst/>
          </a:prstGeom>
          <a:noFill/>
        </p:spPr>
        <p:txBody>
          <a:bodyPr wrap="square" lIns="0" rIns="0" tIns="0" bIns="0" anchor="t">
            <a:noAutofit/>
          </a:bodyPr>
          <a:lstStyle/>
          <a:p>
            <a:pPr algn="ctr"/>
            <a:r>
              <a:rPr sz="1100">
                <a:solidFill>
                  <a:srgbClr val="5B6C88"/>
                </a:solidFill>
                <a:latin typeface="Segoe UI"/>
              </a:rPr>
              <a:t>thời gian →</a:t>
            </a:r>
          </a:p>
        </p:txBody>
      </p:sp>
      <p:sp>
        <p:nvSpPr>
          <p:cNvPr id="16" name="Rounded Rectangle 15"/>
          <p:cNvSpPr/>
          <p:nvPr/>
        </p:nvSpPr>
        <p:spPr>
          <a:xfrm>
            <a:off x="7452360" y="2606040"/>
            <a:ext cx="3962095" cy="260604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63840" y="2926080"/>
            <a:ext cx="274320" cy="381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0" y="3072384"/>
            <a:ext cx="3139135" cy="274320"/>
          </a:xfrm>
          <a:prstGeom prst="rect">
            <a:avLst/>
          </a:prstGeom>
          <a:noFill/>
        </p:spPr>
        <p:txBody>
          <a:bodyPr wrap="square" lIns="0" rIns="0" tIns="0" bIns="0" anchor="t">
            <a:noAutofit/>
          </a:bodyPr>
          <a:lstStyle/>
          <a:p>
            <a:pPr algn="l"/>
            <a:r>
              <a:rPr sz="1500">
                <a:solidFill>
                  <a:srgbClr val="FFFFFF"/>
                </a:solidFill>
                <a:latin typeface="Segoe UI Semibold"/>
              </a:rPr>
              <a:t>Thấp hơn mức đặt</a:t>
            </a:r>
          </a:p>
        </p:txBody>
      </p:sp>
      <p:sp>
        <p:nvSpPr>
          <p:cNvPr id="19" name="TextBox 18"/>
          <p:cNvSpPr txBox="1"/>
          <p:nvPr/>
        </p:nvSpPr>
        <p:spPr>
          <a:xfrm>
            <a:off x="7863840" y="3346704"/>
            <a:ext cx="3139135" cy="274320"/>
          </a:xfrm>
          <a:prstGeom prst="rect">
            <a:avLst/>
          </a:prstGeom>
          <a:noFill/>
        </p:spPr>
        <p:txBody>
          <a:bodyPr wrap="square" lIns="0" rIns="0" tIns="0" bIns="0" anchor="t">
            <a:noAutofit/>
          </a:bodyPr>
          <a:lstStyle/>
          <a:p>
            <a:pPr algn="l"/>
            <a:r>
              <a:rPr sz="1300">
                <a:solidFill>
                  <a:srgbClr val="2E86FF"/>
                </a:solidFill>
                <a:latin typeface="Segoe UI"/>
              </a:rPr>
              <a:t>tăng gió 1%</a:t>
            </a:r>
          </a:p>
        </p:txBody>
      </p:sp>
      <p:sp>
        <p:nvSpPr>
          <p:cNvPr id="20" name="Rectangle 19"/>
          <p:cNvSpPr/>
          <p:nvPr/>
        </p:nvSpPr>
        <p:spPr>
          <a:xfrm>
            <a:off x="7863840" y="3730752"/>
            <a:ext cx="274320" cy="381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3877056"/>
            <a:ext cx="3139135" cy="274320"/>
          </a:xfrm>
          <a:prstGeom prst="rect">
            <a:avLst/>
          </a:prstGeom>
          <a:noFill/>
        </p:spPr>
        <p:txBody>
          <a:bodyPr wrap="square" lIns="0" rIns="0" tIns="0" bIns="0" anchor="t">
            <a:noAutofit/>
          </a:bodyPr>
          <a:lstStyle/>
          <a:p>
            <a:pPr algn="l"/>
            <a:r>
              <a:rPr sz="1500">
                <a:solidFill>
                  <a:srgbClr val="FFFFFF"/>
                </a:solidFill>
                <a:latin typeface="Segoe UI Semibold"/>
              </a:rPr>
              <a:t>Cao hơn mức đặt</a:t>
            </a:r>
          </a:p>
        </p:txBody>
      </p:sp>
      <p:sp>
        <p:nvSpPr>
          <p:cNvPr id="22" name="TextBox 21"/>
          <p:cNvSpPr txBox="1"/>
          <p:nvPr/>
        </p:nvSpPr>
        <p:spPr>
          <a:xfrm>
            <a:off x="7863840" y="4151376"/>
            <a:ext cx="3139135" cy="274320"/>
          </a:xfrm>
          <a:prstGeom prst="rect">
            <a:avLst/>
          </a:prstGeom>
          <a:noFill/>
        </p:spPr>
        <p:txBody>
          <a:bodyPr wrap="square" lIns="0" rIns="0" tIns="0" bIns="0" anchor="t">
            <a:noAutofit/>
          </a:bodyPr>
          <a:lstStyle/>
          <a:p>
            <a:pPr algn="l"/>
            <a:r>
              <a:rPr sz="1300">
                <a:solidFill>
                  <a:srgbClr val="2E86FF"/>
                </a:solidFill>
                <a:latin typeface="Segoe UI"/>
              </a:rPr>
              <a:t>giảm gió 1%</a:t>
            </a:r>
          </a:p>
        </p:txBody>
      </p:sp>
      <p:sp>
        <p:nvSpPr>
          <p:cNvPr id="23" name="Rectangle 22"/>
          <p:cNvSpPr/>
          <p:nvPr/>
        </p:nvSpPr>
        <p:spPr>
          <a:xfrm>
            <a:off x="7863840" y="4535424"/>
            <a:ext cx="274320" cy="381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0" y="4681728"/>
            <a:ext cx="3139135" cy="274320"/>
          </a:xfrm>
          <a:prstGeom prst="rect">
            <a:avLst/>
          </a:prstGeom>
          <a:noFill/>
        </p:spPr>
        <p:txBody>
          <a:bodyPr wrap="square" lIns="0" rIns="0" tIns="0" bIns="0" anchor="t">
            <a:noAutofit/>
          </a:bodyPr>
          <a:lstStyle/>
          <a:p>
            <a:pPr algn="l"/>
            <a:r>
              <a:rPr sz="1500">
                <a:solidFill>
                  <a:srgbClr val="FFFFFF"/>
                </a:solidFill>
                <a:latin typeface="Segoe UI Semibold"/>
              </a:rPr>
              <a:t>Trong vùng ±3 Pa</a:t>
            </a:r>
          </a:p>
        </p:txBody>
      </p:sp>
      <p:sp>
        <p:nvSpPr>
          <p:cNvPr id="25" name="TextBox 24"/>
          <p:cNvSpPr txBox="1"/>
          <p:nvPr/>
        </p:nvSpPr>
        <p:spPr>
          <a:xfrm>
            <a:off x="7863840" y="4956048"/>
            <a:ext cx="3139135" cy="274320"/>
          </a:xfrm>
          <a:prstGeom prst="rect">
            <a:avLst/>
          </a:prstGeom>
          <a:noFill/>
        </p:spPr>
        <p:txBody>
          <a:bodyPr wrap="square" lIns="0" rIns="0" tIns="0" bIns="0" anchor="t">
            <a:noAutofit/>
          </a:bodyPr>
          <a:lstStyle/>
          <a:p>
            <a:pPr algn="l"/>
            <a:r>
              <a:rPr sz="1300">
                <a:solidFill>
                  <a:srgbClr val="22D3EE"/>
                </a:solidFill>
                <a:latin typeface="Segoe UI"/>
              </a:rPr>
              <a:t>đứng yên, không rung</a:t>
            </a:r>
          </a:p>
        </p:txBody>
      </p:sp>
      <p:sp>
        <p:nvSpPr>
          <p:cNvPr id="26" name="TextBox 25"/>
          <p:cNvSpPr txBox="1"/>
          <p:nvPr/>
        </p:nvSpPr>
        <p:spPr>
          <a:xfrm>
            <a:off x="777240" y="5760720"/>
            <a:ext cx="10637215" cy="365760"/>
          </a:xfrm>
          <a:prstGeom prst="rect">
            <a:avLst/>
          </a:prstGeom>
          <a:noFill/>
        </p:spPr>
        <p:txBody>
          <a:bodyPr wrap="square" lIns="0" rIns="0" tIns="0" bIns="0" anchor="t">
            <a:noAutofit/>
          </a:bodyPr>
          <a:lstStyle/>
          <a:p>
            <a:pPr algn="l"/>
            <a:r>
              <a:rPr sz="1300">
                <a:solidFill>
                  <a:srgbClr val="5B6C88"/>
                </a:solidFill>
                <a:latin typeface="Segoe UI"/>
              </a:rPr>
              <a:t>Vùng chết ±3 Pa là thứ giữ cho biến tần không rung liên tục quanh mức đặt.</a:t>
            </a:r>
          </a:p>
        </p:txBody>
      </p:sp>
      <p:sp>
        <p:nvSpPr>
          <p:cNvPr id="27" name="TextBox 26"/>
          <p:cNvSpPr txBox="1"/>
          <p:nvPr/>
        </p:nvSpPr>
        <p:spPr>
          <a:xfrm>
            <a:off x="777240" y="6199632"/>
            <a:ext cx="10637215" cy="274320"/>
          </a:xfrm>
          <a:prstGeom prst="rect">
            <a:avLst/>
          </a:prstGeom>
          <a:noFill/>
        </p:spPr>
        <p:txBody>
          <a:bodyPr wrap="square" lIns="0" rIns="0" tIns="0" bIns="0" anchor="t">
            <a:noAutofit/>
          </a:bodyPr>
          <a:lstStyle/>
          <a:p>
            <a:pPr algn="l"/>
            <a:r>
              <a:rPr sz="1000" spc="120">
                <a:solidFill>
                  <a:srgbClr val="5B6C88"/>
                </a:solidFill>
                <a:latin typeface="Segoe UI"/>
              </a:rPr>
              <a:t>O TESLA  ·  OTL-06ALS</a:t>
            </a:r>
          </a:p>
        </p:txBody>
      </p:sp>
      <p:sp>
        <p:nvSpPr>
          <p:cNvPr id="28" name="TextBox 27"/>
          <p:cNvSpPr txBox="1"/>
          <p:nvPr/>
        </p:nvSpPr>
        <p:spPr>
          <a:xfrm>
            <a:off x="777240" y="6199632"/>
            <a:ext cx="10637215" cy="274320"/>
          </a:xfrm>
          <a:prstGeom prst="rect">
            <a:avLst/>
          </a:prstGeom>
          <a:noFill/>
        </p:spPr>
        <p:txBody>
          <a:bodyPr wrap="square" lIns="0" rIns="0" tIns="0" bIns="0" anchor="t">
            <a:noAutofit/>
          </a:bodyPr>
          <a:lstStyle/>
          <a:p>
            <a:pPr algn="r"/>
            <a:r>
              <a:rPr sz="1000" spc="120">
                <a:solidFill>
                  <a:srgbClr val="5B6C88"/>
                </a:solidFill>
                <a:latin typeface="Bahnschrift SemiBold Condensed"/>
              </a:rPr>
              <a:t>04 / 12</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900">
        <p159:morph option="byObject"/>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424"/>
              </a:gs>
              <a:gs pos="100000">
                <a:srgbClr val="060A12"/>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
          <p:cNvSpPr/>
          <p:nvPr/>
        </p:nvSpPr>
        <p:spPr>
          <a:xfrm>
            <a:off x="-2560320" y="-1463040"/>
            <a:ext cx="6035040" cy="6035040"/>
          </a:xfrm>
          <a:prstGeom prst="ellipse">
            <a:avLst/>
          </a:prstGeom>
          <a:gradFill rotWithShape="1">
            <a:gsLst>
              <a:gs pos="0">
                <a:srgbClr val="2E86FF">
                  <a:alpha val="26000"/>
                </a:srgbClr>
              </a:gs>
              <a:gs pos="55000">
                <a:srgbClr val="2E86FF">
                  <a:alpha val="9100"/>
                </a:srgbClr>
              </a:gs>
              <a:gs pos="100000">
                <a:srgbClr val="2E86FF">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777240" y="658368"/>
            <a:ext cx="10637215" cy="274320"/>
          </a:xfrm>
          <a:prstGeom prst="rect">
            <a:avLst/>
          </a:prstGeom>
          <a:noFill/>
        </p:spPr>
        <p:txBody>
          <a:bodyPr wrap="square" lIns="0" rIns="0" tIns="0" bIns="0" anchor="t">
            <a:noAutofit/>
          </a:bodyPr>
          <a:lstStyle/>
          <a:p>
            <a:pPr algn="l"/>
            <a:r>
              <a:rPr sz="1200" spc="240">
                <a:solidFill>
                  <a:srgbClr val="2E86FF"/>
                </a:solidFill>
                <a:latin typeface="Segoe UI Semibold"/>
              </a:rPr>
              <a:t>NHỊP BƯỚC</a:t>
            </a:r>
          </a:p>
        </p:txBody>
      </p:sp>
      <p:sp>
        <p:nvSpPr>
          <p:cNvPr id="5" name="RULE"/>
          <p:cNvSpPr/>
          <p:nvPr/>
        </p:nvSpPr>
        <p:spPr>
          <a:xfrm>
            <a:off x="777240" y="950976"/>
            <a:ext cx="1371600" cy="635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ING"/>
          <p:cNvSpPr txBox="1"/>
          <p:nvPr/>
        </p:nvSpPr>
        <p:spPr>
          <a:xfrm>
            <a:off x="777240" y="1024128"/>
            <a:ext cx="10637215" cy="1280160"/>
          </a:xfrm>
          <a:prstGeom prst="rect">
            <a:avLst/>
          </a:prstGeom>
          <a:noFill/>
        </p:spPr>
        <p:txBody>
          <a:bodyPr wrap="square" lIns="0" rIns="0" tIns="0" bIns="0" anchor="t">
            <a:noAutofit/>
          </a:bodyPr>
          <a:lstStyle/>
          <a:p>
            <a:pPr algn="l">
              <a:lnSpc>
                <a:spcPct val="94000"/>
              </a:lnSpc>
            </a:pPr>
            <a:r>
              <a:rPr sz="4000">
                <a:solidFill>
                  <a:srgbClr val="FFFFFF"/>
                </a:solidFill>
                <a:latin typeface="Segoe UI Black"/>
              </a:rPr>
              <a:t>Xa thì bước nhanh, gần thì bước chậm</a:t>
            </a:r>
          </a:p>
        </p:txBody>
      </p:sp>
      <p:sp>
        <p:nvSpPr>
          <p:cNvPr id="7" name="TextBox 6"/>
          <p:cNvSpPr txBox="1"/>
          <p:nvPr/>
        </p:nvSpPr>
        <p:spPr>
          <a:xfrm>
            <a:off x="777240" y="2148840"/>
            <a:ext cx="5486400" cy="914400"/>
          </a:xfrm>
          <a:prstGeom prst="rect">
            <a:avLst/>
          </a:prstGeom>
          <a:noFill/>
        </p:spPr>
        <p:txBody>
          <a:bodyPr wrap="square" lIns="0" rIns="0" tIns="0" bIns="0" anchor="t">
            <a:noAutofit/>
          </a:bodyPr>
          <a:lstStyle/>
          <a:p>
            <a:pPr algn="l">
              <a:lnSpc>
                <a:spcPct val="140000"/>
              </a:lnSpc>
            </a:pPr>
            <a:r>
              <a:rPr sz="1500">
                <a:solidFill>
                  <a:srgbClr val="94A6C0"/>
                </a:solidFill>
                <a:latin typeface="Segoe UI"/>
              </a:rPr>
              <a:t>Nhịp nhích gió không cố định. Lệch càng lớn thì khoảng nghỉ giữa hai bước càng ngắn, nên máy đuổi kịp nhanh; càng gần mức đặt thì bước càng thưa, tránh vọt qua rồi phải kéo lại.</a:t>
            </a:r>
          </a:p>
        </p:txBody>
      </p:sp>
      <p:sp>
        <p:nvSpPr>
          <p:cNvPr id="8" name="Rounded Rectangle 7"/>
          <p:cNvSpPr/>
          <p:nvPr/>
        </p:nvSpPr>
        <p:spPr>
          <a:xfrm>
            <a:off x="777240" y="3703320"/>
            <a:ext cx="5394960" cy="804672"/>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886200"/>
            <a:ext cx="2011680" cy="457200"/>
          </a:xfrm>
          <a:prstGeom prst="rect">
            <a:avLst/>
          </a:prstGeom>
          <a:noFill/>
        </p:spPr>
        <p:txBody>
          <a:bodyPr wrap="square" lIns="0" rIns="0" tIns="0" bIns="0" anchor="t">
            <a:noAutofit/>
          </a:bodyPr>
          <a:lstStyle/>
          <a:p>
            <a:pPr algn="l"/>
            <a:r>
              <a:rPr sz="2600" spc="-100">
                <a:solidFill>
                  <a:srgbClr val="2E86FF"/>
                </a:solidFill>
                <a:latin typeface="Segoe UI Black"/>
              </a:rPr>
              <a:t>1,5 giây</a:t>
            </a:r>
          </a:p>
        </p:txBody>
      </p:sp>
      <p:sp>
        <p:nvSpPr>
          <p:cNvPr id="10" name="TextBox 9"/>
          <p:cNvSpPr txBox="1"/>
          <p:nvPr/>
        </p:nvSpPr>
        <p:spPr>
          <a:xfrm>
            <a:off x="3429000" y="3977640"/>
            <a:ext cx="2560320" cy="320040"/>
          </a:xfrm>
          <a:prstGeom prst="rect">
            <a:avLst/>
          </a:prstGeom>
          <a:noFill/>
        </p:spPr>
        <p:txBody>
          <a:bodyPr wrap="square" lIns="0" rIns="0" tIns="0" bIns="0" anchor="t">
            <a:noAutofit/>
          </a:bodyPr>
          <a:lstStyle/>
          <a:p>
            <a:pPr algn="l"/>
            <a:r>
              <a:rPr sz="1350">
                <a:solidFill>
                  <a:srgbClr val="94A6C0"/>
                </a:solidFill>
                <a:latin typeface="Segoe UI"/>
              </a:rPr>
              <a:t>khi lệch ≥ 30 Pa</a:t>
            </a:r>
          </a:p>
        </p:txBody>
      </p:sp>
      <p:sp>
        <p:nvSpPr>
          <p:cNvPr id="11" name="Rounded Rectangle 10"/>
          <p:cNvSpPr/>
          <p:nvPr/>
        </p:nvSpPr>
        <p:spPr>
          <a:xfrm>
            <a:off x="777240" y="4663440"/>
            <a:ext cx="5394960" cy="804672"/>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846320"/>
            <a:ext cx="2011680" cy="457200"/>
          </a:xfrm>
          <a:prstGeom prst="rect">
            <a:avLst/>
          </a:prstGeom>
          <a:noFill/>
        </p:spPr>
        <p:txBody>
          <a:bodyPr wrap="square" lIns="0" rIns="0" tIns="0" bIns="0" anchor="t">
            <a:noAutofit/>
          </a:bodyPr>
          <a:lstStyle/>
          <a:p>
            <a:pPr algn="l"/>
            <a:r>
              <a:rPr sz="2600" spc="-100">
                <a:solidFill>
                  <a:srgbClr val="22D3EE"/>
                </a:solidFill>
                <a:latin typeface="Segoe UI Black"/>
              </a:rPr>
              <a:t>3,0 giây</a:t>
            </a:r>
          </a:p>
        </p:txBody>
      </p:sp>
      <p:sp>
        <p:nvSpPr>
          <p:cNvPr id="13" name="TextBox 12"/>
          <p:cNvSpPr txBox="1"/>
          <p:nvPr/>
        </p:nvSpPr>
        <p:spPr>
          <a:xfrm>
            <a:off x="3429000" y="4937760"/>
            <a:ext cx="2560320" cy="320040"/>
          </a:xfrm>
          <a:prstGeom prst="rect">
            <a:avLst/>
          </a:prstGeom>
          <a:noFill/>
        </p:spPr>
        <p:txBody>
          <a:bodyPr wrap="square" lIns="0" rIns="0" tIns="0" bIns="0" anchor="t">
            <a:noAutofit/>
          </a:bodyPr>
          <a:lstStyle/>
          <a:p>
            <a:pPr algn="l"/>
            <a:r>
              <a:rPr sz="1350">
                <a:solidFill>
                  <a:srgbClr val="94A6C0"/>
                </a:solidFill>
                <a:latin typeface="Segoe UI"/>
              </a:rPr>
              <a:t>khi vừa ra khỏi vùng chết</a:t>
            </a:r>
          </a:p>
        </p:txBody>
      </p:sp>
      <p:sp>
        <p:nvSpPr>
          <p:cNvPr id="14" name="Rounded Rectangle 13"/>
          <p:cNvSpPr/>
          <p:nvPr/>
        </p:nvSpPr>
        <p:spPr>
          <a:xfrm>
            <a:off x="6858000" y="2514600"/>
            <a:ext cx="4553712" cy="3108960"/>
          </a:xfrm>
          <a:prstGeom prst="roundRect">
            <a:avLst>
              <a:gd name="adj" fmla="val 6000"/>
            </a:avLst>
          </a:prstGeom>
          <a:solidFill>
            <a:srgbClr val="0B1322"/>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7635240" y="3063240"/>
            <a:ext cx="3364992" cy="0"/>
          </a:xfrm>
          <a:custGeom>
            <a:avLst/>
            <a:gdLst/>
            <a:ahLst/>
            <a:cxnLst/>
            <a:rect l="l" t="t" r="r" b="b"/>
            <a:pathLst>
              <a:path w="3364992" h="0">
                <a:moveTo>
                  <a:pt x="0" y="0"/>
                </a:moveTo>
                <a:lnTo>
                  <a:pt x="3364992" y="0"/>
                </a:lnTo>
              </a:path>
            </a:pathLst>
          </a:custGeom>
          <a:noFill/>
          <a:ln w="9525">
            <a:solidFill>
              <a:srgbClr val="1825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7635240" y="3733800"/>
            <a:ext cx="3364992" cy="0"/>
          </a:xfrm>
          <a:custGeom>
            <a:avLst/>
            <a:gdLst/>
            <a:ahLst/>
            <a:cxnLst/>
            <a:rect l="l" t="t" r="r" b="b"/>
            <a:pathLst>
              <a:path w="3364992" h="0">
                <a:moveTo>
                  <a:pt x="0" y="0"/>
                </a:moveTo>
                <a:lnTo>
                  <a:pt x="3364992" y="0"/>
                </a:lnTo>
              </a:path>
            </a:pathLst>
          </a:custGeom>
          <a:noFill/>
          <a:ln w="9525">
            <a:solidFill>
              <a:srgbClr val="1825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7635240" y="4404360"/>
            <a:ext cx="3364992" cy="0"/>
          </a:xfrm>
          <a:custGeom>
            <a:avLst/>
            <a:gdLst/>
            <a:ahLst/>
            <a:cxnLst/>
            <a:rect l="l" t="t" r="r" b="b"/>
            <a:pathLst>
              <a:path w="3364992" h="0">
                <a:moveTo>
                  <a:pt x="0" y="0"/>
                </a:moveTo>
                <a:lnTo>
                  <a:pt x="3364992" y="0"/>
                </a:lnTo>
              </a:path>
            </a:pathLst>
          </a:custGeom>
          <a:noFill/>
          <a:ln w="9525">
            <a:solidFill>
              <a:srgbClr val="1825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635240" y="5074920"/>
            <a:ext cx="3364992" cy="0"/>
          </a:xfrm>
          <a:custGeom>
            <a:avLst/>
            <a:gdLst/>
            <a:ahLst/>
            <a:cxnLst/>
            <a:rect l="l" t="t" r="r" b="b"/>
            <a:pathLst>
              <a:path w="3364992" h="0">
                <a:moveTo>
                  <a:pt x="0" y="0"/>
                </a:moveTo>
                <a:lnTo>
                  <a:pt x="3364992" y="0"/>
                </a:lnTo>
              </a:path>
            </a:pathLst>
          </a:custGeom>
          <a:noFill/>
          <a:ln w="9525">
            <a:solidFill>
              <a:srgbClr val="1825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7635240" y="3063240"/>
            <a:ext cx="3364992" cy="2011680"/>
          </a:xfrm>
          <a:custGeom>
            <a:avLst/>
            <a:gdLst/>
            <a:ahLst/>
            <a:cxnLst/>
            <a:rect l="l" t="t" r="r" b="b"/>
            <a:pathLst>
              <a:path w="3364992" h="2011680">
                <a:moveTo>
                  <a:pt x="0" y="0"/>
                </a:moveTo>
                <a:lnTo>
                  <a:pt x="2243328" y="2011680"/>
                </a:lnTo>
                <a:lnTo>
                  <a:pt x="3364992" y="2011680"/>
                </a:lnTo>
              </a:path>
            </a:pathLst>
          </a:custGeom>
          <a:noFill/>
          <a:ln w="38100">
            <a:solidFill>
              <a:srgbClr val="2E8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594092" y="3022092"/>
            <a:ext cx="82296" cy="82296"/>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837420" y="5033772"/>
            <a:ext cx="82296" cy="82296"/>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0" y="2724912"/>
            <a:ext cx="2743200" cy="274320"/>
          </a:xfrm>
          <a:prstGeom prst="rect">
            <a:avLst/>
          </a:prstGeom>
          <a:noFill/>
        </p:spPr>
        <p:txBody>
          <a:bodyPr wrap="square" lIns="0" rIns="0" tIns="0" bIns="0" anchor="t">
            <a:noAutofit/>
          </a:bodyPr>
          <a:lstStyle/>
          <a:p>
            <a:pPr algn="l"/>
            <a:r>
              <a:rPr sz="1000" spc="140">
                <a:solidFill>
                  <a:srgbClr val="7DD3FC"/>
                </a:solidFill>
                <a:latin typeface="Segoe UI Semibold"/>
              </a:rPr>
              <a:t>KHOẢNG NGHỈ GIỮA 2 BƯỚC</a:t>
            </a:r>
          </a:p>
        </p:txBody>
      </p:sp>
      <p:sp>
        <p:nvSpPr>
          <p:cNvPr id="23" name="TextBox 22"/>
          <p:cNvSpPr txBox="1"/>
          <p:nvPr/>
        </p:nvSpPr>
        <p:spPr>
          <a:xfrm>
            <a:off x="7086600" y="2953512"/>
            <a:ext cx="548640" cy="228600"/>
          </a:xfrm>
          <a:prstGeom prst="rect">
            <a:avLst/>
          </a:prstGeom>
          <a:noFill/>
        </p:spPr>
        <p:txBody>
          <a:bodyPr wrap="square" lIns="0" rIns="0" tIns="0" bIns="0" anchor="t">
            <a:noAutofit/>
          </a:bodyPr>
          <a:lstStyle/>
          <a:p>
            <a:pPr algn="l"/>
            <a:r>
              <a:rPr sz="1000">
                <a:solidFill>
                  <a:srgbClr val="5B6C88"/>
                </a:solidFill>
                <a:latin typeface="Bahnschrift SemiBold Condensed"/>
              </a:rPr>
              <a:t>3,0s</a:t>
            </a:r>
          </a:p>
        </p:txBody>
      </p:sp>
      <p:sp>
        <p:nvSpPr>
          <p:cNvPr id="24" name="TextBox 23"/>
          <p:cNvSpPr txBox="1"/>
          <p:nvPr/>
        </p:nvSpPr>
        <p:spPr>
          <a:xfrm>
            <a:off x="7086600" y="4965192"/>
            <a:ext cx="548640" cy="228600"/>
          </a:xfrm>
          <a:prstGeom prst="rect">
            <a:avLst/>
          </a:prstGeom>
          <a:noFill/>
        </p:spPr>
        <p:txBody>
          <a:bodyPr wrap="square" lIns="0" rIns="0" tIns="0" bIns="0" anchor="t">
            <a:noAutofit/>
          </a:bodyPr>
          <a:lstStyle/>
          <a:p>
            <a:pPr algn="l"/>
            <a:r>
              <a:rPr sz="1000">
                <a:solidFill>
                  <a:srgbClr val="5B6C88"/>
                </a:solidFill>
                <a:latin typeface="Bahnschrift SemiBold Condensed"/>
              </a:rPr>
              <a:t>1,5s</a:t>
            </a:r>
          </a:p>
        </p:txBody>
      </p:sp>
      <p:sp>
        <p:nvSpPr>
          <p:cNvPr id="25" name="TextBox 24"/>
          <p:cNvSpPr txBox="1"/>
          <p:nvPr/>
        </p:nvSpPr>
        <p:spPr>
          <a:xfrm>
            <a:off x="7269480" y="5221224"/>
            <a:ext cx="731520" cy="228600"/>
          </a:xfrm>
          <a:prstGeom prst="rect">
            <a:avLst/>
          </a:prstGeom>
          <a:noFill/>
        </p:spPr>
        <p:txBody>
          <a:bodyPr wrap="square" lIns="0" rIns="0" tIns="0" bIns="0" anchor="t">
            <a:noAutofit/>
          </a:bodyPr>
          <a:lstStyle/>
          <a:p>
            <a:pPr algn="ctr"/>
            <a:r>
              <a:rPr sz="1000">
                <a:solidFill>
                  <a:srgbClr val="5B6C88"/>
                </a:solidFill>
                <a:latin typeface="Bahnschrift SemiBold Condensed"/>
              </a:rPr>
              <a:t>3 Pa</a:t>
            </a:r>
          </a:p>
        </p:txBody>
      </p:sp>
      <p:sp>
        <p:nvSpPr>
          <p:cNvPr id="26" name="TextBox 25"/>
          <p:cNvSpPr txBox="1"/>
          <p:nvPr/>
        </p:nvSpPr>
        <p:spPr>
          <a:xfrm>
            <a:off x="9512808" y="5221224"/>
            <a:ext cx="731520" cy="228600"/>
          </a:xfrm>
          <a:prstGeom prst="rect">
            <a:avLst/>
          </a:prstGeom>
          <a:noFill/>
        </p:spPr>
        <p:txBody>
          <a:bodyPr wrap="square" lIns="0" rIns="0" tIns="0" bIns="0" anchor="t">
            <a:noAutofit/>
          </a:bodyPr>
          <a:lstStyle/>
          <a:p>
            <a:pPr algn="ctr"/>
            <a:r>
              <a:rPr sz="1000">
                <a:solidFill>
                  <a:srgbClr val="5B6C88"/>
                </a:solidFill>
                <a:latin typeface="Bahnschrift SemiBold Condensed"/>
              </a:rPr>
              <a:t>30 Pa</a:t>
            </a:r>
          </a:p>
        </p:txBody>
      </p:sp>
      <p:sp>
        <p:nvSpPr>
          <p:cNvPr id="27" name="TextBox 26"/>
          <p:cNvSpPr txBox="1"/>
          <p:nvPr/>
        </p:nvSpPr>
        <p:spPr>
          <a:xfrm>
            <a:off x="10634472" y="5221224"/>
            <a:ext cx="731520" cy="228600"/>
          </a:xfrm>
          <a:prstGeom prst="rect">
            <a:avLst/>
          </a:prstGeom>
          <a:noFill/>
        </p:spPr>
        <p:txBody>
          <a:bodyPr wrap="square" lIns="0" rIns="0" tIns="0" bIns="0" anchor="t">
            <a:noAutofit/>
          </a:bodyPr>
          <a:lstStyle/>
          <a:p>
            <a:pPr algn="ctr"/>
            <a:r>
              <a:rPr sz="1000">
                <a:solidFill>
                  <a:srgbClr val="5B6C88"/>
                </a:solidFill>
                <a:latin typeface="Bahnschrift SemiBold Condensed"/>
              </a:rPr>
              <a:t>45 Pa</a:t>
            </a:r>
          </a:p>
        </p:txBody>
      </p:sp>
      <p:sp>
        <p:nvSpPr>
          <p:cNvPr id="28" name="TextBox 27"/>
          <p:cNvSpPr txBox="1"/>
          <p:nvPr/>
        </p:nvSpPr>
        <p:spPr>
          <a:xfrm>
            <a:off x="777240" y="6199632"/>
            <a:ext cx="10637215" cy="274320"/>
          </a:xfrm>
          <a:prstGeom prst="rect">
            <a:avLst/>
          </a:prstGeom>
          <a:noFill/>
        </p:spPr>
        <p:txBody>
          <a:bodyPr wrap="square" lIns="0" rIns="0" tIns="0" bIns="0" anchor="t">
            <a:noAutofit/>
          </a:bodyPr>
          <a:lstStyle/>
          <a:p>
            <a:pPr algn="l"/>
            <a:r>
              <a:rPr sz="1000" spc="120">
                <a:solidFill>
                  <a:srgbClr val="5B6C88"/>
                </a:solidFill>
                <a:latin typeface="Segoe UI"/>
              </a:rPr>
              <a:t>O TESLA  ·  OTL-06ALS</a:t>
            </a:r>
          </a:p>
        </p:txBody>
      </p:sp>
      <p:sp>
        <p:nvSpPr>
          <p:cNvPr id="29" name="TextBox 28"/>
          <p:cNvSpPr txBox="1"/>
          <p:nvPr/>
        </p:nvSpPr>
        <p:spPr>
          <a:xfrm>
            <a:off x="777240" y="6199632"/>
            <a:ext cx="10637215" cy="274320"/>
          </a:xfrm>
          <a:prstGeom prst="rect">
            <a:avLst/>
          </a:prstGeom>
          <a:noFill/>
        </p:spPr>
        <p:txBody>
          <a:bodyPr wrap="square" lIns="0" rIns="0" tIns="0" bIns="0" anchor="t">
            <a:noAutofit/>
          </a:bodyPr>
          <a:lstStyle/>
          <a:p>
            <a:pPr algn="r"/>
            <a:r>
              <a:rPr sz="1000" spc="120">
                <a:solidFill>
                  <a:srgbClr val="5B6C88"/>
                </a:solidFill>
                <a:latin typeface="Bahnschrift SemiBold Condensed"/>
              </a:rPr>
              <a:t>05 / 12</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900">
        <p159:morph option="byObject"/>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424"/>
              </a:gs>
              <a:gs pos="100000">
                <a:srgbClr val="060A12"/>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
          <p:cNvSpPr/>
          <p:nvPr/>
        </p:nvSpPr>
        <p:spPr>
          <a:xfrm>
            <a:off x="9326880" y="-2011680"/>
            <a:ext cx="5852160" cy="5852160"/>
          </a:xfrm>
          <a:prstGeom prst="ellipse">
            <a:avLst/>
          </a:prstGeom>
          <a:gradFill rotWithShape="1">
            <a:gsLst>
              <a:gs pos="0">
                <a:srgbClr val="2E86FF">
                  <a:alpha val="26000"/>
                </a:srgbClr>
              </a:gs>
              <a:gs pos="55000">
                <a:srgbClr val="2E86FF">
                  <a:alpha val="9100"/>
                </a:srgbClr>
              </a:gs>
              <a:gs pos="100000">
                <a:srgbClr val="2E86FF">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777240" y="658368"/>
            <a:ext cx="10637215" cy="274320"/>
          </a:xfrm>
          <a:prstGeom prst="rect">
            <a:avLst/>
          </a:prstGeom>
          <a:noFill/>
        </p:spPr>
        <p:txBody>
          <a:bodyPr wrap="square" lIns="0" rIns="0" tIns="0" bIns="0" anchor="t">
            <a:noAutofit/>
          </a:bodyPr>
          <a:lstStyle/>
          <a:p>
            <a:pPr algn="l"/>
            <a:r>
              <a:rPr sz="1200" spc="240">
                <a:solidFill>
                  <a:srgbClr val="2E86FF"/>
                </a:solidFill>
                <a:latin typeface="Segoe UI Semibold"/>
              </a:rPr>
              <a:t>BẢNG GHI NHỚ</a:t>
            </a:r>
          </a:p>
        </p:txBody>
      </p:sp>
      <p:sp>
        <p:nvSpPr>
          <p:cNvPr id="5" name="RULE"/>
          <p:cNvSpPr/>
          <p:nvPr/>
        </p:nvSpPr>
        <p:spPr>
          <a:xfrm>
            <a:off x="777240" y="950976"/>
            <a:ext cx="1371600" cy="635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ING"/>
          <p:cNvSpPr txBox="1"/>
          <p:nvPr/>
        </p:nvSpPr>
        <p:spPr>
          <a:xfrm>
            <a:off x="777240" y="1024128"/>
            <a:ext cx="10637215" cy="1280160"/>
          </a:xfrm>
          <a:prstGeom prst="rect">
            <a:avLst/>
          </a:prstGeom>
          <a:noFill/>
        </p:spPr>
        <p:txBody>
          <a:bodyPr wrap="square" lIns="0" rIns="0" tIns="0" bIns="0" anchor="t">
            <a:noAutofit/>
          </a:bodyPr>
          <a:lstStyle/>
          <a:p>
            <a:pPr algn="l">
              <a:lnSpc>
                <a:spcPct val="94000"/>
              </a:lnSpc>
            </a:pPr>
            <a:r>
              <a:rPr sz="4000">
                <a:solidFill>
                  <a:srgbClr val="FFFFFF"/>
                </a:solidFill>
                <a:latin typeface="Segoe UI Black"/>
              </a:rPr>
              <a:t>Máy nhớ sẵn: Pa nào thì mấy phần trăm</a:t>
            </a:r>
          </a:p>
        </p:txBody>
      </p:sp>
      <p:sp>
        <p:nvSpPr>
          <p:cNvPr id="7" name="Rounded Rectangle 6"/>
          <p:cNvSpPr/>
          <p:nvPr/>
        </p:nvSpPr>
        <p:spPr>
          <a:xfrm>
            <a:off x="777240" y="2697480"/>
            <a:ext cx="5806440" cy="2743200"/>
          </a:xfrm>
          <a:prstGeom prst="roundRect">
            <a:avLst>
              <a:gd name="adj" fmla="val 6000"/>
            </a:avLst>
          </a:prstGeom>
          <a:solidFill>
            <a:srgbClr val="0B1322"/>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554480" y="3063240"/>
            <a:ext cx="4617720" cy="0"/>
          </a:xfrm>
          <a:custGeom>
            <a:avLst/>
            <a:gdLst/>
            <a:ahLst/>
            <a:cxnLst/>
            <a:rect l="l" t="t" r="r" b="b"/>
            <a:pathLst>
              <a:path w="4617720" h="0">
                <a:moveTo>
                  <a:pt x="0" y="0"/>
                </a:moveTo>
                <a:lnTo>
                  <a:pt x="4617720" y="0"/>
                </a:lnTo>
              </a:path>
            </a:pathLst>
          </a:custGeom>
          <a:noFill/>
          <a:ln w="9525">
            <a:solidFill>
              <a:srgbClr val="1825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554480" y="3479292"/>
            <a:ext cx="4617720" cy="0"/>
          </a:xfrm>
          <a:custGeom>
            <a:avLst/>
            <a:gdLst/>
            <a:ahLst/>
            <a:cxnLst/>
            <a:rect l="l" t="t" r="r" b="b"/>
            <a:pathLst>
              <a:path w="4617720" h="0">
                <a:moveTo>
                  <a:pt x="0" y="0"/>
                </a:moveTo>
                <a:lnTo>
                  <a:pt x="4617720" y="0"/>
                </a:lnTo>
              </a:path>
            </a:pathLst>
          </a:custGeom>
          <a:noFill/>
          <a:ln w="9525">
            <a:solidFill>
              <a:srgbClr val="1825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1554480" y="3895344"/>
            <a:ext cx="4617720" cy="0"/>
          </a:xfrm>
          <a:custGeom>
            <a:avLst/>
            <a:gdLst/>
            <a:ahLst/>
            <a:cxnLst/>
            <a:rect l="l" t="t" r="r" b="b"/>
            <a:pathLst>
              <a:path w="4617720" h="0">
                <a:moveTo>
                  <a:pt x="0" y="0"/>
                </a:moveTo>
                <a:lnTo>
                  <a:pt x="4617720" y="0"/>
                </a:lnTo>
              </a:path>
            </a:pathLst>
          </a:custGeom>
          <a:noFill/>
          <a:ln w="9525">
            <a:solidFill>
              <a:srgbClr val="1825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1554480" y="4311396"/>
            <a:ext cx="4617720" cy="0"/>
          </a:xfrm>
          <a:custGeom>
            <a:avLst/>
            <a:gdLst/>
            <a:ahLst/>
            <a:cxnLst/>
            <a:rect l="l" t="t" r="r" b="b"/>
            <a:pathLst>
              <a:path w="4617720" h="0">
                <a:moveTo>
                  <a:pt x="0" y="0"/>
                </a:moveTo>
                <a:lnTo>
                  <a:pt x="4617720" y="0"/>
                </a:lnTo>
              </a:path>
            </a:pathLst>
          </a:custGeom>
          <a:noFill/>
          <a:ln w="9525">
            <a:solidFill>
              <a:srgbClr val="1825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1554480" y="4727448"/>
            <a:ext cx="4617720" cy="0"/>
          </a:xfrm>
          <a:custGeom>
            <a:avLst/>
            <a:gdLst/>
            <a:ahLst/>
            <a:cxnLst/>
            <a:rect l="l" t="t" r="r" b="b"/>
            <a:pathLst>
              <a:path w="4617720" h="0">
                <a:moveTo>
                  <a:pt x="0" y="0"/>
                </a:moveTo>
                <a:lnTo>
                  <a:pt x="4617720" y="0"/>
                </a:lnTo>
              </a:path>
            </a:pathLst>
          </a:custGeom>
          <a:noFill/>
          <a:ln w="9525">
            <a:solidFill>
              <a:srgbClr val="1825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554480" y="3063240"/>
            <a:ext cx="4617720" cy="1664208"/>
          </a:xfrm>
          <a:custGeom>
            <a:avLst/>
            <a:gdLst/>
            <a:ahLst/>
            <a:cxnLst/>
            <a:rect l="l" t="t" r="r" b="b"/>
            <a:pathLst>
              <a:path w="4617720" h="1664208">
                <a:moveTo>
                  <a:pt x="0" y="1664208"/>
                </a:moveTo>
                <a:lnTo>
                  <a:pt x="184708" y="1642632"/>
                </a:lnTo>
                <a:lnTo>
                  <a:pt x="369417" y="1609206"/>
                </a:lnTo>
                <a:lnTo>
                  <a:pt x="554126" y="1569126"/>
                </a:lnTo>
                <a:lnTo>
                  <a:pt x="738835" y="1524002"/>
                </a:lnTo>
                <a:lnTo>
                  <a:pt x="923544" y="1474713"/>
                </a:lnTo>
                <a:lnTo>
                  <a:pt x="1108252" y="1421831"/>
                </a:lnTo>
                <a:lnTo>
                  <a:pt x="1292961" y="1365759"/>
                </a:lnTo>
                <a:lnTo>
                  <a:pt x="1477670" y="1306804"/>
                </a:lnTo>
                <a:lnTo>
                  <a:pt x="1662379" y="1245207"/>
                </a:lnTo>
                <a:lnTo>
                  <a:pt x="1847088" y="1181162"/>
                </a:lnTo>
                <a:lnTo>
                  <a:pt x="2031796" y="1114834"/>
                </a:lnTo>
                <a:lnTo>
                  <a:pt x="2216505" y="1046358"/>
                </a:lnTo>
                <a:lnTo>
                  <a:pt x="2401214" y="975854"/>
                </a:lnTo>
                <a:lnTo>
                  <a:pt x="2585923" y="903424"/>
                </a:lnTo>
                <a:lnTo>
                  <a:pt x="2770632" y="829160"/>
                </a:lnTo>
                <a:lnTo>
                  <a:pt x="2955340" y="753141"/>
                </a:lnTo>
                <a:lnTo>
                  <a:pt x="3140049" y="675440"/>
                </a:lnTo>
                <a:lnTo>
                  <a:pt x="3324758" y="596122"/>
                </a:lnTo>
                <a:lnTo>
                  <a:pt x="3509467" y="515246"/>
                </a:lnTo>
                <a:lnTo>
                  <a:pt x="3694176" y="432865"/>
                </a:lnTo>
                <a:lnTo>
                  <a:pt x="3878884" y="349030"/>
                </a:lnTo>
                <a:lnTo>
                  <a:pt x="4063593" y="263786"/>
                </a:lnTo>
                <a:lnTo>
                  <a:pt x="4248302" y="177174"/>
                </a:lnTo>
                <a:lnTo>
                  <a:pt x="4433011" y="89233"/>
                </a:lnTo>
                <a:lnTo>
                  <a:pt x="4617720" y="0"/>
                </a:lnTo>
              </a:path>
            </a:pathLst>
          </a:custGeom>
          <a:noFill/>
          <a:ln w="38100">
            <a:solidFill>
              <a:srgbClr val="2E8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04188" y="4677156"/>
            <a:ext cx="100584" cy="100584"/>
          </a:xfrm>
          <a:prstGeom prst="ellipse">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427732" y="4487661"/>
            <a:ext cx="100584" cy="100584"/>
          </a:xfrm>
          <a:prstGeom prst="ellipse">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351276" y="4194110"/>
            <a:ext cx="100584" cy="100584"/>
          </a:xfrm>
          <a:prstGeom prst="ellipse">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274820" y="3842108"/>
            <a:ext cx="100584" cy="100584"/>
          </a:xfrm>
          <a:prstGeom prst="ellipse">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198364" y="3445813"/>
            <a:ext cx="100584" cy="100584"/>
          </a:xfrm>
          <a:prstGeom prst="ellipse">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121908" y="3012948"/>
            <a:ext cx="100584" cy="100584"/>
          </a:xfrm>
          <a:prstGeom prst="ellipse">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2816352"/>
            <a:ext cx="2743200" cy="274320"/>
          </a:xfrm>
          <a:prstGeom prst="rect">
            <a:avLst/>
          </a:prstGeom>
          <a:noFill/>
        </p:spPr>
        <p:txBody>
          <a:bodyPr wrap="square" lIns="0" rIns="0" tIns="0" bIns="0" anchor="t">
            <a:noAutofit/>
          </a:bodyPr>
          <a:lstStyle/>
          <a:p>
            <a:pPr algn="l"/>
            <a:r>
              <a:rPr sz="1000" spc="140">
                <a:solidFill>
                  <a:srgbClr val="7DD3FC"/>
                </a:solidFill>
                <a:latin typeface="Segoe UI Semibold"/>
              </a:rPr>
              <a:t>ÁP HÚT (Pa)</a:t>
            </a:r>
          </a:p>
        </p:txBody>
      </p:sp>
      <p:sp>
        <p:nvSpPr>
          <p:cNvPr id="21" name="TextBox 20"/>
          <p:cNvSpPr txBox="1"/>
          <p:nvPr/>
        </p:nvSpPr>
        <p:spPr>
          <a:xfrm>
            <a:off x="1234440" y="4873752"/>
            <a:ext cx="640080" cy="228600"/>
          </a:xfrm>
          <a:prstGeom prst="rect">
            <a:avLst/>
          </a:prstGeom>
          <a:noFill/>
        </p:spPr>
        <p:txBody>
          <a:bodyPr wrap="square" lIns="0" rIns="0" tIns="0" bIns="0" anchor="t">
            <a:noAutofit/>
          </a:bodyPr>
          <a:lstStyle/>
          <a:p>
            <a:pPr algn="ctr"/>
            <a:r>
              <a:rPr sz="1000">
                <a:solidFill>
                  <a:srgbClr val="5B6C88"/>
                </a:solidFill>
                <a:latin typeface="Bahnschrift SemiBold Condensed"/>
              </a:rPr>
              <a:t>0%</a:t>
            </a:r>
          </a:p>
        </p:txBody>
      </p:sp>
      <p:sp>
        <p:nvSpPr>
          <p:cNvPr id="22" name="TextBox 21"/>
          <p:cNvSpPr txBox="1"/>
          <p:nvPr/>
        </p:nvSpPr>
        <p:spPr>
          <a:xfrm>
            <a:off x="2388870" y="4873752"/>
            <a:ext cx="640080" cy="228600"/>
          </a:xfrm>
          <a:prstGeom prst="rect">
            <a:avLst/>
          </a:prstGeom>
          <a:noFill/>
        </p:spPr>
        <p:txBody>
          <a:bodyPr wrap="square" lIns="0" rIns="0" tIns="0" bIns="0" anchor="t">
            <a:noAutofit/>
          </a:bodyPr>
          <a:lstStyle/>
          <a:p>
            <a:pPr algn="ctr"/>
            <a:r>
              <a:rPr sz="1000">
                <a:solidFill>
                  <a:srgbClr val="5B6C88"/>
                </a:solidFill>
                <a:latin typeface="Bahnschrift SemiBold Condensed"/>
              </a:rPr>
              <a:t>25%</a:t>
            </a:r>
          </a:p>
        </p:txBody>
      </p:sp>
      <p:sp>
        <p:nvSpPr>
          <p:cNvPr id="23" name="TextBox 22"/>
          <p:cNvSpPr txBox="1"/>
          <p:nvPr/>
        </p:nvSpPr>
        <p:spPr>
          <a:xfrm>
            <a:off x="3543300" y="4873752"/>
            <a:ext cx="640080" cy="228600"/>
          </a:xfrm>
          <a:prstGeom prst="rect">
            <a:avLst/>
          </a:prstGeom>
          <a:noFill/>
        </p:spPr>
        <p:txBody>
          <a:bodyPr wrap="square" lIns="0" rIns="0" tIns="0" bIns="0" anchor="t">
            <a:noAutofit/>
          </a:bodyPr>
          <a:lstStyle/>
          <a:p>
            <a:pPr algn="ctr"/>
            <a:r>
              <a:rPr sz="1000">
                <a:solidFill>
                  <a:srgbClr val="5B6C88"/>
                </a:solidFill>
                <a:latin typeface="Bahnschrift SemiBold Condensed"/>
              </a:rPr>
              <a:t>50%</a:t>
            </a:r>
          </a:p>
        </p:txBody>
      </p:sp>
      <p:sp>
        <p:nvSpPr>
          <p:cNvPr id="24" name="TextBox 23"/>
          <p:cNvSpPr txBox="1"/>
          <p:nvPr/>
        </p:nvSpPr>
        <p:spPr>
          <a:xfrm>
            <a:off x="4697730" y="4873752"/>
            <a:ext cx="640080" cy="228600"/>
          </a:xfrm>
          <a:prstGeom prst="rect">
            <a:avLst/>
          </a:prstGeom>
          <a:noFill/>
        </p:spPr>
        <p:txBody>
          <a:bodyPr wrap="square" lIns="0" rIns="0" tIns="0" bIns="0" anchor="t">
            <a:noAutofit/>
          </a:bodyPr>
          <a:lstStyle/>
          <a:p>
            <a:pPr algn="ctr"/>
            <a:r>
              <a:rPr sz="1000">
                <a:solidFill>
                  <a:srgbClr val="5B6C88"/>
                </a:solidFill>
                <a:latin typeface="Bahnschrift SemiBold Condensed"/>
              </a:rPr>
              <a:t>75%</a:t>
            </a:r>
          </a:p>
        </p:txBody>
      </p:sp>
      <p:sp>
        <p:nvSpPr>
          <p:cNvPr id="25" name="TextBox 24"/>
          <p:cNvSpPr txBox="1"/>
          <p:nvPr/>
        </p:nvSpPr>
        <p:spPr>
          <a:xfrm>
            <a:off x="5852160" y="4873752"/>
            <a:ext cx="640080" cy="228600"/>
          </a:xfrm>
          <a:prstGeom prst="rect">
            <a:avLst/>
          </a:prstGeom>
          <a:noFill/>
        </p:spPr>
        <p:txBody>
          <a:bodyPr wrap="square" lIns="0" rIns="0" tIns="0" bIns="0" anchor="t">
            <a:noAutofit/>
          </a:bodyPr>
          <a:lstStyle/>
          <a:p>
            <a:pPr algn="ctr"/>
            <a:r>
              <a:rPr sz="1000">
                <a:solidFill>
                  <a:srgbClr val="5B6C88"/>
                </a:solidFill>
                <a:latin typeface="Bahnschrift SemiBold Condensed"/>
              </a:rPr>
              <a:t>100%</a:t>
            </a:r>
          </a:p>
        </p:txBody>
      </p:sp>
      <p:sp>
        <p:nvSpPr>
          <p:cNvPr id="26" name="TextBox 25"/>
          <p:cNvSpPr txBox="1"/>
          <p:nvPr/>
        </p:nvSpPr>
        <p:spPr>
          <a:xfrm>
            <a:off x="777240" y="5148072"/>
            <a:ext cx="5806440" cy="228600"/>
          </a:xfrm>
          <a:prstGeom prst="rect">
            <a:avLst/>
          </a:prstGeom>
          <a:noFill/>
        </p:spPr>
        <p:txBody>
          <a:bodyPr wrap="square" lIns="0" rIns="0" tIns="0" bIns="0" anchor="t">
            <a:noAutofit/>
          </a:bodyPr>
          <a:lstStyle/>
          <a:p>
            <a:pPr algn="ctr"/>
            <a:r>
              <a:rPr sz="1050">
                <a:solidFill>
                  <a:srgbClr val="5B6C88"/>
                </a:solidFill>
                <a:latin typeface="Segoe UI"/>
              </a:rPr>
              <a:t>phần trăm gió →</a:t>
            </a:r>
          </a:p>
        </p:txBody>
      </p:sp>
      <p:sp>
        <p:nvSpPr>
          <p:cNvPr id="27" name="Rounded Rectangle 26"/>
          <p:cNvSpPr/>
          <p:nvPr/>
        </p:nvSpPr>
        <p:spPr>
          <a:xfrm>
            <a:off x="7178040" y="2697480"/>
            <a:ext cx="4236415" cy="274320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562088" y="3081528"/>
            <a:ext cx="274320" cy="381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62088" y="3227832"/>
            <a:ext cx="3468319" cy="292608"/>
          </a:xfrm>
          <a:prstGeom prst="rect">
            <a:avLst/>
          </a:prstGeom>
          <a:noFill/>
        </p:spPr>
        <p:txBody>
          <a:bodyPr wrap="square" lIns="0" rIns="0" tIns="0" bIns="0" anchor="t">
            <a:noAutofit/>
          </a:bodyPr>
          <a:lstStyle/>
          <a:p>
            <a:pPr algn="l"/>
            <a:r>
              <a:rPr sz="1550">
                <a:solidFill>
                  <a:srgbClr val="FFFFFF"/>
                </a:solidFill>
                <a:latin typeface="Segoe UI Semibold"/>
              </a:rPr>
              <a:t>Đổi mức đặt là nhảy thẳng</a:t>
            </a:r>
          </a:p>
        </p:txBody>
      </p:sp>
      <p:sp>
        <p:nvSpPr>
          <p:cNvPr id="30" name="TextBox 29"/>
          <p:cNvSpPr txBox="1"/>
          <p:nvPr/>
        </p:nvSpPr>
        <p:spPr>
          <a:xfrm>
            <a:off x="7562088" y="3520440"/>
            <a:ext cx="3468319" cy="457200"/>
          </a:xfrm>
          <a:prstGeom prst="rect">
            <a:avLst/>
          </a:prstGeom>
          <a:noFill/>
        </p:spPr>
        <p:txBody>
          <a:bodyPr wrap="square" lIns="0" rIns="0" tIns="0" bIns="0" anchor="t">
            <a:noAutofit/>
          </a:bodyPr>
          <a:lstStyle/>
          <a:p>
            <a:pPr algn="l">
              <a:lnSpc>
                <a:spcPct val="130000"/>
              </a:lnSpc>
            </a:pPr>
            <a:r>
              <a:rPr sz="1250">
                <a:solidFill>
                  <a:srgbClr val="94A6C0"/>
                </a:solidFill>
                <a:latin typeface="Segoe UI"/>
              </a:rPr>
              <a:t>Lấy ngay % gió đã học cho mức Pa đó.</a:t>
            </a:r>
          </a:p>
        </p:txBody>
      </p:sp>
      <p:sp>
        <p:nvSpPr>
          <p:cNvPr id="31" name="Rectangle 30"/>
          <p:cNvSpPr/>
          <p:nvPr/>
        </p:nvSpPr>
        <p:spPr>
          <a:xfrm>
            <a:off x="7562088" y="3922776"/>
            <a:ext cx="274320" cy="381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62088" y="4069080"/>
            <a:ext cx="3468319" cy="292608"/>
          </a:xfrm>
          <a:prstGeom prst="rect">
            <a:avLst/>
          </a:prstGeom>
          <a:noFill/>
        </p:spPr>
        <p:txBody>
          <a:bodyPr wrap="square" lIns="0" rIns="0" tIns="0" bIns="0" anchor="t">
            <a:noAutofit/>
          </a:bodyPr>
          <a:lstStyle/>
          <a:p>
            <a:pPr algn="l"/>
            <a:r>
              <a:rPr sz="1550">
                <a:solidFill>
                  <a:srgbClr val="FFFFFF"/>
                </a:solidFill>
                <a:latin typeface="Segoe UI Semibold"/>
              </a:rPr>
              <a:t>60 ô nhớ</a:t>
            </a:r>
          </a:p>
        </p:txBody>
      </p:sp>
      <p:sp>
        <p:nvSpPr>
          <p:cNvPr id="33" name="TextBox 32"/>
          <p:cNvSpPr txBox="1"/>
          <p:nvPr/>
        </p:nvSpPr>
        <p:spPr>
          <a:xfrm>
            <a:off x="7562088" y="4361688"/>
            <a:ext cx="3468319" cy="457200"/>
          </a:xfrm>
          <a:prstGeom prst="rect">
            <a:avLst/>
          </a:prstGeom>
          <a:noFill/>
        </p:spPr>
        <p:txBody>
          <a:bodyPr wrap="square" lIns="0" rIns="0" tIns="0" bIns="0" anchor="t">
            <a:noAutofit/>
          </a:bodyPr>
          <a:lstStyle/>
          <a:p>
            <a:pPr algn="l">
              <a:lnSpc>
                <a:spcPct val="130000"/>
              </a:lnSpc>
            </a:pPr>
            <a:r>
              <a:rPr sz="1250">
                <a:solidFill>
                  <a:srgbClr val="94A6C0"/>
                </a:solidFill>
                <a:latin typeface="Segoe UI"/>
              </a:rPr>
              <a:t>Hai mức cách nhau dưới 3 Pa gộp chung một ô.</a:t>
            </a:r>
          </a:p>
        </p:txBody>
      </p:sp>
      <p:sp>
        <p:nvSpPr>
          <p:cNvPr id="34" name="Rectangle 33"/>
          <p:cNvSpPr/>
          <p:nvPr/>
        </p:nvSpPr>
        <p:spPr>
          <a:xfrm>
            <a:off x="7562088" y="4764024"/>
            <a:ext cx="274320" cy="381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62088" y="4910328"/>
            <a:ext cx="3468319" cy="292608"/>
          </a:xfrm>
          <a:prstGeom prst="rect">
            <a:avLst/>
          </a:prstGeom>
          <a:noFill/>
        </p:spPr>
        <p:txBody>
          <a:bodyPr wrap="square" lIns="0" rIns="0" tIns="0" bIns="0" anchor="t">
            <a:noAutofit/>
          </a:bodyPr>
          <a:lstStyle/>
          <a:p>
            <a:pPr algn="l"/>
            <a:r>
              <a:rPr sz="1550">
                <a:solidFill>
                  <a:srgbClr val="FFFFFF"/>
                </a:solidFill>
                <a:latin typeface="Segoe UI Semibold"/>
              </a:rPr>
              <a:t>Lưu trong thẻ nhớ</a:t>
            </a:r>
          </a:p>
        </p:txBody>
      </p:sp>
      <p:sp>
        <p:nvSpPr>
          <p:cNvPr id="36" name="TextBox 35"/>
          <p:cNvSpPr txBox="1"/>
          <p:nvPr/>
        </p:nvSpPr>
        <p:spPr>
          <a:xfrm>
            <a:off x="7562088" y="5202936"/>
            <a:ext cx="3468319" cy="457200"/>
          </a:xfrm>
          <a:prstGeom prst="rect">
            <a:avLst/>
          </a:prstGeom>
          <a:noFill/>
        </p:spPr>
        <p:txBody>
          <a:bodyPr wrap="square" lIns="0" rIns="0" tIns="0" bIns="0" anchor="t">
            <a:noAutofit/>
          </a:bodyPr>
          <a:lstStyle/>
          <a:p>
            <a:pPr algn="l">
              <a:lnSpc>
                <a:spcPct val="130000"/>
              </a:lnSpc>
            </a:pPr>
            <a:r>
              <a:rPr sz="1250">
                <a:solidFill>
                  <a:srgbClr val="94A6C0"/>
                </a:solidFill>
                <a:latin typeface="Segoe UI"/>
              </a:rPr>
              <a:t>Ghi ra /pid_ff.txt, mất điện vẫn còn.</a:t>
            </a:r>
          </a:p>
        </p:txBody>
      </p:sp>
      <p:sp>
        <p:nvSpPr>
          <p:cNvPr id="37" name="TextBox 36"/>
          <p:cNvSpPr txBox="1"/>
          <p:nvPr/>
        </p:nvSpPr>
        <p:spPr>
          <a:xfrm>
            <a:off x="777240" y="6199632"/>
            <a:ext cx="10637215" cy="274320"/>
          </a:xfrm>
          <a:prstGeom prst="rect">
            <a:avLst/>
          </a:prstGeom>
          <a:noFill/>
        </p:spPr>
        <p:txBody>
          <a:bodyPr wrap="square" lIns="0" rIns="0" tIns="0" bIns="0" anchor="t">
            <a:noAutofit/>
          </a:bodyPr>
          <a:lstStyle/>
          <a:p>
            <a:pPr algn="l"/>
            <a:r>
              <a:rPr sz="1000" spc="120">
                <a:solidFill>
                  <a:srgbClr val="5B6C88"/>
                </a:solidFill>
                <a:latin typeface="Segoe UI"/>
              </a:rPr>
              <a:t>O TESLA  ·  OTL-06ALS</a:t>
            </a:r>
          </a:p>
        </p:txBody>
      </p:sp>
      <p:sp>
        <p:nvSpPr>
          <p:cNvPr id="38" name="TextBox 37"/>
          <p:cNvSpPr txBox="1"/>
          <p:nvPr/>
        </p:nvSpPr>
        <p:spPr>
          <a:xfrm>
            <a:off x="777240" y="6199632"/>
            <a:ext cx="10637215" cy="274320"/>
          </a:xfrm>
          <a:prstGeom prst="rect">
            <a:avLst/>
          </a:prstGeom>
          <a:noFill/>
        </p:spPr>
        <p:txBody>
          <a:bodyPr wrap="square" lIns="0" rIns="0" tIns="0" bIns="0" anchor="t">
            <a:noAutofit/>
          </a:bodyPr>
          <a:lstStyle/>
          <a:p>
            <a:pPr algn="r"/>
            <a:r>
              <a:rPr sz="1000" spc="120">
                <a:solidFill>
                  <a:srgbClr val="5B6C88"/>
                </a:solidFill>
                <a:latin typeface="Bahnschrift SemiBold Condensed"/>
              </a:rPr>
              <a:t>06 / 12</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900">
        <p159:morph option="byObject"/>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424"/>
              </a:gs>
              <a:gs pos="100000">
                <a:srgbClr val="060A12"/>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
          <p:cNvSpPr/>
          <p:nvPr/>
        </p:nvSpPr>
        <p:spPr>
          <a:xfrm>
            <a:off x="-2194560" y="4023360"/>
            <a:ext cx="5852160" cy="5852160"/>
          </a:xfrm>
          <a:prstGeom prst="ellipse">
            <a:avLst/>
          </a:prstGeom>
          <a:gradFill rotWithShape="1">
            <a:gsLst>
              <a:gs pos="0">
                <a:srgbClr val="22D3EE">
                  <a:alpha val="18000"/>
                </a:srgbClr>
              </a:gs>
              <a:gs pos="55000">
                <a:srgbClr val="22D3EE">
                  <a:alpha val="6300"/>
                </a:srgbClr>
              </a:gs>
              <a:gs pos="100000">
                <a:srgbClr val="22D3EE">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777240" y="658368"/>
            <a:ext cx="10637215" cy="274320"/>
          </a:xfrm>
          <a:prstGeom prst="rect">
            <a:avLst/>
          </a:prstGeom>
          <a:noFill/>
        </p:spPr>
        <p:txBody>
          <a:bodyPr wrap="square" lIns="0" rIns="0" tIns="0" bIns="0" anchor="t">
            <a:noAutofit/>
          </a:bodyPr>
          <a:lstStyle/>
          <a:p>
            <a:pPr algn="l"/>
            <a:r>
              <a:rPr sz="1200" spc="240">
                <a:solidFill>
                  <a:srgbClr val="2E86FF"/>
                </a:solidFill>
                <a:latin typeface="Segoe UI Semibold"/>
              </a:rPr>
              <a:t>CÂN CHỈNH ĐẦU VÀO</a:t>
            </a:r>
          </a:p>
        </p:txBody>
      </p:sp>
      <p:sp>
        <p:nvSpPr>
          <p:cNvPr id="5" name="RULE"/>
          <p:cNvSpPr/>
          <p:nvPr/>
        </p:nvSpPr>
        <p:spPr>
          <a:xfrm>
            <a:off x="777240" y="950976"/>
            <a:ext cx="1371600" cy="635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ING"/>
          <p:cNvSpPr txBox="1"/>
          <p:nvPr/>
        </p:nvSpPr>
        <p:spPr>
          <a:xfrm>
            <a:off x="777240" y="1024128"/>
            <a:ext cx="10637215" cy="1280160"/>
          </a:xfrm>
          <a:prstGeom prst="rect">
            <a:avLst/>
          </a:prstGeom>
          <a:noFill/>
        </p:spPr>
        <p:txBody>
          <a:bodyPr wrap="square" lIns="0" rIns="0" tIns="0" bIns="0" anchor="t">
            <a:noAutofit/>
          </a:bodyPr>
          <a:lstStyle/>
          <a:p>
            <a:pPr algn="l">
              <a:lnSpc>
                <a:spcPct val="94000"/>
              </a:lnSpc>
            </a:pPr>
            <a:r>
              <a:rPr sz="4000">
                <a:solidFill>
                  <a:srgbClr val="FFFFFF"/>
                </a:solidFill>
                <a:latin typeface="Segoe UI Black"/>
              </a:rPr>
              <a:t>Bấm một lần — năm phút có cả bảng</a:t>
            </a:r>
          </a:p>
        </p:txBody>
      </p:sp>
      <p:sp>
        <p:nvSpPr>
          <p:cNvPr id="7" name="Rectangle 6"/>
          <p:cNvSpPr/>
          <p:nvPr/>
        </p:nvSpPr>
        <p:spPr>
          <a:xfrm>
            <a:off x="777240" y="4962449"/>
            <a:ext cx="356264" cy="112471"/>
          </a:xfrm>
          <a:prstGeom prst="rect">
            <a:avLst/>
          </a:prstGeom>
          <a:solidFill>
            <a:srgbClr val="2E86FF">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79224" y="4939604"/>
            <a:ext cx="356264" cy="135316"/>
          </a:xfrm>
          <a:prstGeom prst="rect">
            <a:avLst/>
          </a:prstGeom>
          <a:solidFill>
            <a:srgbClr val="22D3EE">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81208" y="4904214"/>
            <a:ext cx="356264" cy="170706"/>
          </a:xfrm>
          <a:prstGeom prst="rect">
            <a:avLst/>
          </a:prstGeom>
          <a:solidFill>
            <a:srgbClr val="2E86FF">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983192" y="4861777"/>
            <a:ext cx="356264" cy="213143"/>
          </a:xfrm>
          <a:prstGeom prst="rect">
            <a:avLst/>
          </a:prstGeom>
          <a:solidFill>
            <a:srgbClr val="22D3EE">
              <a:alpha val="3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85176" y="4814000"/>
            <a:ext cx="356264" cy="260920"/>
          </a:xfrm>
          <a:prstGeom prst="rect">
            <a:avLst/>
          </a:prstGeom>
          <a:solidFill>
            <a:srgbClr val="2E86FF">
              <a:alpha val="3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87160" y="4761814"/>
            <a:ext cx="356264" cy="313106"/>
          </a:xfrm>
          <a:prstGeom prst="rect">
            <a:avLst/>
          </a:prstGeom>
          <a:solidFill>
            <a:srgbClr val="22D3EE">
              <a:alpha val="3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89144" y="4705822"/>
            <a:ext cx="356264" cy="369098"/>
          </a:xfrm>
          <a:prstGeom prst="rect">
            <a:avLst/>
          </a:prstGeom>
          <a:solidFill>
            <a:srgbClr val="2E86FF">
              <a:alpha val="3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91128" y="4646454"/>
            <a:ext cx="356264" cy="428466"/>
          </a:xfrm>
          <a:prstGeom prst="rect">
            <a:avLst/>
          </a:prstGeom>
          <a:solidFill>
            <a:srgbClr val="22D3EE">
              <a:alpha val="39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993112" y="4584033"/>
            <a:ext cx="356264" cy="490887"/>
          </a:xfrm>
          <a:prstGeom prst="rect">
            <a:avLst/>
          </a:prstGeom>
          <a:solidFill>
            <a:srgbClr val="2E86FF">
              <a:alpha val="4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5096" y="4518814"/>
            <a:ext cx="356264" cy="556106"/>
          </a:xfrm>
          <a:prstGeom prst="rect">
            <a:avLst/>
          </a:prstGeom>
          <a:solidFill>
            <a:srgbClr val="22D3EE">
              <a:alpha val="4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97080" y="4451005"/>
            <a:ext cx="356264" cy="623915"/>
          </a:xfrm>
          <a:prstGeom prst="rect">
            <a:avLst/>
          </a:prstGeom>
          <a:solidFill>
            <a:srgbClr val="2E86FF">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99064" y="4380776"/>
            <a:ext cx="356264" cy="694144"/>
          </a:xfrm>
          <a:prstGeom prst="rect">
            <a:avLst/>
          </a:prstGeom>
          <a:solidFill>
            <a:srgbClr val="22D3EE">
              <a:alpha val="4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01048" y="4308275"/>
            <a:ext cx="356264" cy="766645"/>
          </a:xfrm>
          <a:prstGeom prst="rect">
            <a:avLst/>
          </a:prstGeom>
          <a:solidFill>
            <a:srgbClr val="2E86F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03032" y="4233626"/>
            <a:ext cx="356264" cy="841294"/>
          </a:xfrm>
          <a:prstGeom prst="rect">
            <a:avLst/>
          </a:prstGeom>
          <a:solidFill>
            <a:srgbClr val="22D3EE">
              <a:alpha val="5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5016" y="4156938"/>
            <a:ext cx="356264" cy="917982"/>
          </a:xfrm>
          <a:prstGeom prst="rect">
            <a:avLst/>
          </a:prstGeom>
          <a:solidFill>
            <a:srgbClr val="2E86FF">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07000" y="4078308"/>
            <a:ext cx="356264" cy="996612"/>
          </a:xfrm>
          <a:prstGeom prst="rect">
            <a:avLst/>
          </a:prstGeom>
          <a:solidFill>
            <a:srgbClr val="22D3EE">
              <a:alpha val="5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08984" y="3997820"/>
            <a:ext cx="356264" cy="1077100"/>
          </a:xfrm>
          <a:prstGeom prst="rect">
            <a:avLst/>
          </a:prstGeom>
          <a:solidFill>
            <a:srgbClr val="2E86FF">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10968" y="3915550"/>
            <a:ext cx="356264" cy="1159370"/>
          </a:xfrm>
          <a:prstGeom prst="rect">
            <a:avLst/>
          </a:prstGeom>
          <a:solidFill>
            <a:srgbClr val="22D3EE">
              <a:alpha val="6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12952" y="3831569"/>
            <a:ext cx="356264" cy="1243351"/>
          </a:xfrm>
          <a:prstGeom prst="rect">
            <a:avLst/>
          </a:prstGeom>
          <a:solidFill>
            <a:srgbClr val="2E86FF">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4936" y="3745938"/>
            <a:ext cx="356264" cy="1328982"/>
          </a:xfrm>
          <a:prstGeom prst="rect">
            <a:avLst/>
          </a:prstGeom>
          <a:solidFill>
            <a:srgbClr val="22D3EE">
              <a:alpha val="6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16920" y="3658715"/>
            <a:ext cx="356264" cy="1416205"/>
          </a:xfrm>
          <a:prstGeom prst="rect">
            <a:avLst/>
          </a:prstGeom>
          <a:solidFill>
            <a:srgbClr val="2E86FF">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18904" y="3569951"/>
            <a:ext cx="356264" cy="1504969"/>
          </a:xfrm>
          <a:prstGeom prst="rect">
            <a:avLst/>
          </a:prstGeom>
          <a:solidFill>
            <a:srgbClr val="22D3EE">
              <a:alpha val="7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20888" y="3479695"/>
            <a:ext cx="356264" cy="1595225"/>
          </a:xfrm>
          <a:prstGeom prst="rect">
            <a:avLst/>
          </a:prstGeom>
          <a:solidFill>
            <a:srgbClr val="2E86FF">
              <a:alpha val="7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022872" y="3387991"/>
            <a:ext cx="356264" cy="1686929"/>
          </a:xfrm>
          <a:prstGeom prst="rect">
            <a:avLst/>
          </a:prstGeom>
          <a:solidFill>
            <a:srgbClr val="22D3EE">
              <a:alpha val="79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24856" y="3294880"/>
            <a:ext cx="356264" cy="1780040"/>
          </a:xfrm>
          <a:prstGeom prst="rect">
            <a:avLst/>
          </a:prstGeom>
          <a:solidFill>
            <a:srgbClr val="2E86FF">
              <a:alpha val="8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826840" y="3200401"/>
            <a:ext cx="356264" cy="1874519"/>
          </a:xfrm>
          <a:prstGeom prst="rect">
            <a:avLst/>
          </a:prstGeom>
          <a:solidFill>
            <a:srgbClr val="22D3EE">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777240" y="5074920"/>
            <a:ext cx="10634472" cy="0"/>
          </a:xfrm>
          <a:custGeom>
            <a:avLst/>
            <a:gdLst/>
            <a:ahLst/>
            <a:cxnLst/>
            <a:rect l="l" t="t" r="r" b="b"/>
            <a:pathLst>
              <a:path w="10634472" h="0">
                <a:moveTo>
                  <a:pt x="0" y="0"/>
                </a:moveTo>
                <a:lnTo>
                  <a:pt x="10634472" y="0"/>
                </a:lnTo>
              </a:path>
            </a:pathLst>
          </a:custGeom>
          <a:noFill/>
          <a:ln w="1905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193792"/>
            <a:ext cx="10634472" cy="274320"/>
          </a:xfrm>
          <a:prstGeom prst="rect">
            <a:avLst/>
          </a:prstGeom>
          <a:noFill/>
        </p:spPr>
        <p:txBody>
          <a:bodyPr wrap="square" lIns="0" rIns="0" tIns="0" bIns="0" anchor="t">
            <a:noAutofit/>
          </a:bodyPr>
          <a:lstStyle/>
          <a:p>
            <a:pPr algn="ctr"/>
            <a:r>
              <a:rPr sz="1150" spc="120">
                <a:solidFill>
                  <a:srgbClr val="5B6C88"/>
                </a:solidFill>
                <a:latin typeface="Bahnschrift SemiBold Condensed"/>
              </a:rPr>
              <a:t>0%  →  100% gió,  mỗi bước 2%</a:t>
            </a:r>
          </a:p>
        </p:txBody>
      </p:sp>
      <p:sp>
        <p:nvSpPr>
          <p:cNvPr id="35" name="TextBox 34"/>
          <p:cNvSpPr txBox="1"/>
          <p:nvPr/>
        </p:nvSpPr>
        <p:spPr>
          <a:xfrm>
            <a:off x="777240" y="2212848"/>
            <a:ext cx="2556433" cy="411480"/>
          </a:xfrm>
          <a:prstGeom prst="rect">
            <a:avLst/>
          </a:prstGeom>
          <a:noFill/>
        </p:spPr>
        <p:txBody>
          <a:bodyPr wrap="square" lIns="0" rIns="0" tIns="0" bIns="0" anchor="t">
            <a:noAutofit/>
          </a:bodyPr>
          <a:lstStyle/>
          <a:p>
            <a:pPr algn="l"/>
            <a:r>
              <a:rPr sz="2500" spc="-80">
                <a:solidFill>
                  <a:srgbClr val="7DD3FC"/>
                </a:solidFill>
                <a:latin typeface="Segoe UI Black"/>
              </a:rPr>
              <a:t>15 giây</a:t>
            </a:r>
          </a:p>
        </p:txBody>
      </p:sp>
      <p:sp>
        <p:nvSpPr>
          <p:cNvPr id="36" name="TextBox 35"/>
          <p:cNvSpPr txBox="1"/>
          <p:nvPr/>
        </p:nvSpPr>
        <p:spPr>
          <a:xfrm>
            <a:off x="777240" y="2615184"/>
            <a:ext cx="2556433" cy="365760"/>
          </a:xfrm>
          <a:prstGeom prst="rect">
            <a:avLst/>
          </a:prstGeom>
          <a:noFill/>
        </p:spPr>
        <p:txBody>
          <a:bodyPr wrap="square" lIns="0" rIns="0" tIns="0" bIns="0" anchor="t">
            <a:noAutofit/>
          </a:bodyPr>
          <a:lstStyle/>
          <a:p>
            <a:pPr algn="l">
              <a:lnSpc>
                <a:spcPct val="130000"/>
              </a:lnSpc>
            </a:pPr>
            <a:r>
              <a:rPr sz="1250">
                <a:solidFill>
                  <a:srgbClr val="94A6C0"/>
                </a:solidFill>
                <a:latin typeface="Segoe UI"/>
              </a:rPr>
              <a:t>chờ máy ổn định rồi mới quét</a:t>
            </a:r>
          </a:p>
        </p:txBody>
      </p:sp>
      <p:sp>
        <p:nvSpPr>
          <p:cNvPr id="37" name="TextBox 36"/>
          <p:cNvSpPr txBox="1"/>
          <p:nvPr/>
        </p:nvSpPr>
        <p:spPr>
          <a:xfrm>
            <a:off x="3470833" y="2212848"/>
            <a:ext cx="2556433" cy="411480"/>
          </a:xfrm>
          <a:prstGeom prst="rect">
            <a:avLst/>
          </a:prstGeom>
          <a:noFill/>
        </p:spPr>
        <p:txBody>
          <a:bodyPr wrap="square" lIns="0" rIns="0" tIns="0" bIns="0" anchor="t">
            <a:noAutofit/>
          </a:bodyPr>
          <a:lstStyle/>
          <a:p>
            <a:pPr algn="l"/>
            <a:r>
              <a:rPr sz="2500" spc="-80">
                <a:solidFill>
                  <a:srgbClr val="7DD3FC"/>
                </a:solidFill>
                <a:latin typeface="Segoe UI Black"/>
              </a:rPr>
              <a:t>3 giây</a:t>
            </a:r>
          </a:p>
        </p:txBody>
      </p:sp>
      <p:sp>
        <p:nvSpPr>
          <p:cNvPr id="38" name="TextBox 37"/>
          <p:cNvSpPr txBox="1"/>
          <p:nvPr/>
        </p:nvSpPr>
        <p:spPr>
          <a:xfrm>
            <a:off x="3470833" y="2615184"/>
            <a:ext cx="2556433" cy="365760"/>
          </a:xfrm>
          <a:prstGeom prst="rect">
            <a:avLst/>
          </a:prstGeom>
          <a:noFill/>
        </p:spPr>
        <p:txBody>
          <a:bodyPr wrap="square" lIns="0" rIns="0" tIns="0" bIns="0" anchor="t">
            <a:noAutofit/>
          </a:bodyPr>
          <a:lstStyle/>
          <a:p>
            <a:pPr algn="l">
              <a:lnSpc>
                <a:spcPct val="130000"/>
              </a:lnSpc>
            </a:pPr>
            <a:r>
              <a:rPr sz="1250">
                <a:solidFill>
                  <a:srgbClr val="94A6C0"/>
                </a:solidFill>
                <a:latin typeface="Segoe UI"/>
              </a:rPr>
              <a:t>giữ mỗi mức gió, đo Pa ở 2 giây cuối</a:t>
            </a:r>
          </a:p>
        </p:txBody>
      </p:sp>
      <p:sp>
        <p:nvSpPr>
          <p:cNvPr id="39" name="TextBox 38"/>
          <p:cNvSpPr txBox="1"/>
          <p:nvPr/>
        </p:nvSpPr>
        <p:spPr>
          <a:xfrm>
            <a:off x="6164427" y="2212848"/>
            <a:ext cx="2556433" cy="411480"/>
          </a:xfrm>
          <a:prstGeom prst="rect">
            <a:avLst/>
          </a:prstGeom>
          <a:noFill/>
        </p:spPr>
        <p:txBody>
          <a:bodyPr wrap="square" lIns="0" rIns="0" tIns="0" bIns="0" anchor="t">
            <a:noAutofit/>
          </a:bodyPr>
          <a:lstStyle/>
          <a:p>
            <a:pPr algn="l"/>
            <a:r>
              <a:rPr sz="2500" spc="-80">
                <a:solidFill>
                  <a:srgbClr val="7DD3FC"/>
                </a:solidFill>
                <a:latin typeface="Segoe UI Black"/>
              </a:rPr>
              <a:t>51 điểm</a:t>
            </a:r>
          </a:p>
        </p:txBody>
      </p:sp>
      <p:sp>
        <p:nvSpPr>
          <p:cNvPr id="40" name="TextBox 39"/>
          <p:cNvSpPr txBox="1"/>
          <p:nvPr/>
        </p:nvSpPr>
        <p:spPr>
          <a:xfrm>
            <a:off x="6164427" y="2615184"/>
            <a:ext cx="2556433" cy="365760"/>
          </a:xfrm>
          <a:prstGeom prst="rect">
            <a:avLst/>
          </a:prstGeom>
          <a:noFill/>
        </p:spPr>
        <p:txBody>
          <a:bodyPr wrap="square" lIns="0" rIns="0" tIns="0" bIns="0" anchor="t">
            <a:noAutofit/>
          </a:bodyPr>
          <a:lstStyle/>
          <a:p>
            <a:pPr algn="l">
              <a:lnSpc>
                <a:spcPct val="130000"/>
              </a:lnSpc>
            </a:pPr>
            <a:r>
              <a:rPr sz="1250">
                <a:solidFill>
                  <a:srgbClr val="94A6C0"/>
                </a:solidFill>
                <a:latin typeface="Segoe UI"/>
              </a:rPr>
              <a:t>ghi thẳng vào bảng ghi nhớ</a:t>
            </a:r>
          </a:p>
        </p:txBody>
      </p:sp>
      <p:sp>
        <p:nvSpPr>
          <p:cNvPr id="41" name="TextBox 40"/>
          <p:cNvSpPr txBox="1"/>
          <p:nvPr/>
        </p:nvSpPr>
        <p:spPr>
          <a:xfrm>
            <a:off x="8858021" y="2212848"/>
            <a:ext cx="2556433" cy="411480"/>
          </a:xfrm>
          <a:prstGeom prst="rect">
            <a:avLst/>
          </a:prstGeom>
          <a:noFill/>
        </p:spPr>
        <p:txBody>
          <a:bodyPr wrap="square" lIns="0" rIns="0" tIns="0" bIns="0" anchor="t">
            <a:noAutofit/>
          </a:bodyPr>
          <a:lstStyle/>
          <a:p>
            <a:pPr algn="l"/>
            <a:r>
              <a:rPr sz="2500" spc="-80">
                <a:solidFill>
                  <a:srgbClr val="7DD3FC"/>
                </a:solidFill>
                <a:latin typeface="Segoe UI Black"/>
              </a:rPr>
              <a:t>~5 phút</a:t>
            </a:r>
          </a:p>
        </p:txBody>
      </p:sp>
      <p:sp>
        <p:nvSpPr>
          <p:cNvPr id="42" name="TextBox 41"/>
          <p:cNvSpPr txBox="1"/>
          <p:nvPr/>
        </p:nvSpPr>
        <p:spPr>
          <a:xfrm>
            <a:off x="8858021" y="2615184"/>
            <a:ext cx="2556433" cy="365760"/>
          </a:xfrm>
          <a:prstGeom prst="rect">
            <a:avLst/>
          </a:prstGeom>
          <a:noFill/>
        </p:spPr>
        <p:txBody>
          <a:bodyPr wrap="square" lIns="0" rIns="0" tIns="0" bIns="0" anchor="t">
            <a:noAutofit/>
          </a:bodyPr>
          <a:lstStyle/>
          <a:p>
            <a:pPr algn="l">
              <a:lnSpc>
                <a:spcPct val="130000"/>
              </a:lnSpc>
            </a:pPr>
            <a:r>
              <a:rPr sz="1250">
                <a:solidFill>
                  <a:srgbClr val="94A6C0"/>
                </a:solidFill>
                <a:latin typeface="Segoe UI"/>
              </a:rPr>
              <a:t>xong là tự lưu thẻ và tự tắt</a:t>
            </a:r>
          </a:p>
        </p:txBody>
      </p:sp>
      <p:sp>
        <p:nvSpPr>
          <p:cNvPr id="43" name="TextBox 42"/>
          <p:cNvSpPr txBox="1"/>
          <p:nvPr/>
        </p:nvSpPr>
        <p:spPr>
          <a:xfrm>
            <a:off x="777240" y="6199632"/>
            <a:ext cx="10637215" cy="274320"/>
          </a:xfrm>
          <a:prstGeom prst="rect">
            <a:avLst/>
          </a:prstGeom>
          <a:noFill/>
        </p:spPr>
        <p:txBody>
          <a:bodyPr wrap="square" lIns="0" rIns="0" tIns="0" bIns="0" anchor="t">
            <a:noAutofit/>
          </a:bodyPr>
          <a:lstStyle/>
          <a:p>
            <a:pPr algn="l"/>
            <a:r>
              <a:rPr sz="1000" spc="120">
                <a:solidFill>
                  <a:srgbClr val="5B6C88"/>
                </a:solidFill>
                <a:latin typeface="Segoe UI"/>
              </a:rPr>
              <a:t>O TESLA  ·  OTL-06ALS</a:t>
            </a:r>
          </a:p>
        </p:txBody>
      </p:sp>
      <p:sp>
        <p:nvSpPr>
          <p:cNvPr id="44" name="TextBox 43"/>
          <p:cNvSpPr txBox="1"/>
          <p:nvPr/>
        </p:nvSpPr>
        <p:spPr>
          <a:xfrm>
            <a:off x="777240" y="6199632"/>
            <a:ext cx="10637215" cy="274320"/>
          </a:xfrm>
          <a:prstGeom prst="rect">
            <a:avLst/>
          </a:prstGeom>
          <a:noFill/>
        </p:spPr>
        <p:txBody>
          <a:bodyPr wrap="square" lIns="0" rIns="0" tIns="0" bIns="0" anchor="t">
            <a:noAutofit/>
          </a:bodyPr>
          <a:lstStyle/>
          <a:p>
            <a:pPr algn="r"/>
            <a:r>
              <a:rPr sz="1000" spc="120">
                <a:solidFill>
                  <a:srgbClr val="5B6C88"/>
                </a:solidFill>
                <a:latin typeface="Bahnschrift SemiBold Condensed"/>
              </a:rPr>
              <a:t>07 / 12</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900">
        <p159:morph option="byObject"/>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424"/>
              </a:gs>
              <a:gs pos="100000">
                <a:srgbClr val="060A12"/>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
          <p:cNvSpPr/>
          <p:nvPr/>
        </p:nvSpPr>
        <p:spPr>
          <a:xfrm>
            <a:off x="8778240" y="3840480"/>
            <a:ext cx="5852160" cy="5852160"/>
          </a:xfrm>
          <a:prstGeom prst="ellipse">
            <a:avLst/>
          </a:prstGeom>
          <a:gradFill rotWithShape="1">
            <a:gsLst>
              <a:gs pos="0">
                <a:srgbClr val="2E86FF">
                  <a:alpha val="22000"/>
                </a:srgbClr>
              </a:gs>
              <a:gs pos="55000">
                <a:srgbClr val="2E86FF">
                  <a:alpha val="7700"/>
                </a:srgbClr>
              </a:gs>
              <a:gs pos="100000">
                <a:srgbClr val="2E86FF">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777240" y="658368"/>
            <a:ext cx="10637215" cy="274320"/>
          </a:xfrm>
          <a:prstGeom prst="rect">
            <a:avLst/>
          </a:prstGeom>
          <a:noFill/>
        </p:spPr>
        <p:txBody>
          <a:bodyPr wrap="square" lIns="0" rIns="0" tIns="0" bIns="0" anchor="t">
            <a:noAutofit/>
          </a:bodyPr>
          <a:lstStyle/>
          <a:p>
            <a:pPr algn="l"/>
            <a:r>
              <a:rPr sz="1200" spc="240">
                <a:solidFill>
                  <a:srgbClr val="2E86FF"/>
                </a:solidFill>
                <a:latin typeface="Segoe UI Semibold"/>
              </a:rPr>
              <a:t>TỰ HỌC</a:t>
            </a:r>
          </a:p>
        </p:txBody>
      </p:sp>
      <p:sp>
        <p:nvSpPr>
          <p:cNvPr id="5" name="RULE"/>
          <p:cNvSpPr/>
          <p:nvPr/>
        </p:nvSpPr>
        <p:spPr>
          <a:xfrm>
            <a:off x="777240" y="950976"/>
            <a:ext cx="1371600" cy="635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ING"/>
          <p:cNvSpPr txBox="1"/>
          <p:nvPr/>
        </p:nvSpPr>
        <p:spPr>
          <a:xfrm>
            <a:off x="777240" y="1024128"/>
            <a:ext cx="10637215" cy="1280160"/>
          </a:xfrm>
          <a:prstGeom prst="rect">
            <a:avLst/>
          </a:prstGeom>
          <a:noFill/>
        </p:spPr>
        <p:txBody>
          <a:bodyPr wrap="square" lIns="0" rIns="0" tIns="0" bIns="0" anchor="t">
            <a:noAutofit/>
          </a:bodyPr>
          <a:lstStyle/>
          <a:p>
            <a:pPr algn="l">
              <a:lnSpc>
                <a:spcPct val="94000"/>
              </a:lnSpc>
            </a:pPr>
            <a:r>
              <a:rPr sz="4000">
                <a:solidFill>
                  <a:srgbClr val="FFFFFF"/>
                </a:solidFill>
                <a:latin typeface="Segoe UI Black"/>
              </a:rPr>
              <a:t>Chạy ngày nào, bảng chuẩn thêm ngày đó</a:t>
            </a:r>
          </a:p>
        </p:txBody>
      </p:sp>
      <p:sp>
        <p:nvSpPr>
          <p:cNvPr id="7" name="Rounded Rectangle 6"/>
          <p:cNvSpPr/>
          <p:nvPr/>
        </p:nvSpPr>
        <p:spPr>
          <a:xfrm>
            <a:off x="777240" y="2560320"/>
            <a:ext cx="2556433" cy="196596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2556433" cy="381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834640"/>
            <a:ext cx="2044369" cy="274320"/>
          </a:xfrm>
          <a:prstGeom prst="rect">
            <a:avLst/>
          </a:prstGeom>
          <a:noFill/>
        </p:spPr>
        <p:txBody>
          <a:bodyPr wrap="square" lIns="0" rIns="0" tIns="0" bIns="0" anchor="t">
            <a:noAutofit/>
          </a:bodyPr>
          <a:lstStyle/>
          <a:p>
            <a:pPr algn="l"/>
            <a:r>
              <a:rPr sz="1200" spc="120">
                <a:solidFill>
                  <a:srgbClr val="5B6C88"/>
                </a:solidFill>
                <a:latin typeface="Bahnschrift SemiBold Condensed"/>
              </a:rPr>
              <a:t>01</a:t>
            </a:r>
          </a:p>
        </p:txBody>
      </p:sp>
      <p:sp>
        <p:nvSpPr>
          <p:cNvPr id="10" name="TextBox 9"/>
          <p:cNvSpPr txBox="1"/>
          <p:nvPr/>
        </p:nvSpPr>
        <p:spPr>
          <a:xfrm>
            <a:off x="1033272" y="3154680"/>
            <a:ext cx="2044369" cy="548640"/>
          </a:xfrm>
          <a:prstGeom prst="rect">
            <a:avLst/>
          </a:prstGeom>
          <a:noFill/>
        </p:spPr>
        <p:txBody>
          <a:bodyPr wrap="square" lIns="0" rIns="0" tIns="0" bIns="0" anchor="t">
            <a:noAutofit/>
          </a:bodyPr>
          <a:lstStyle/>
          <a:p>
            <a:pPr algn="l">
              <a:lnSpc>
                <a:spcPct val="105000"/>
              </a:lnSpc>
            </a:pPr>
            <a:r>
              <a:rPr sz="1700" spc="-30">
                <a:solidFill>
                  <a:srgbClr val="FFFFFF"/>
                </a:solidFill>
                <a:latin typeface="Segoe UI Black"/>
              </a:rPr>
              <a:t>Ổn định 10 giây</a:t>
            </a:r>
          </a:p>
        </p:txBody>
      </p:sp>
      <p:sp>
        <p:nvSpPr>
          <p:cNvPr id="11" name="TextBox 10"/>
          <p:cNvSpPr txBox="1"/>
          <p:nvPr/>
        </p:nvSpPr>
        <p:spPr>
          <a:xfrm>
            <a:off x="1033272" y="3767328"/>
            <a:ext cx="2044369" cy="640080"/>
          </a:xfrm>
          <a:prstGeom prst="rect">
            <a:avLst/>
          </a:prstGeom>
          <a:noFill/>
        </p:spPr>
        <p:txBody>
          <a:bodyPr wrap="square" lIns="0" rIns="0" tIns="0" bIns="0" anchor="t">
            <a:noAutofit/>
          </a:bodyPr>
          <a:lstStyle/>
          <a:p>
            <a:pPr algn="l">
              <a:lnSpc>
                <a:spcPct val="130000"/>
              </a:lnSpc>
            </a:pPr>
            <a:r>
              <a:rPr sz="1250">
                <a:solidFill>
                  <a:srgbClr val="94A6C0"/>
                </a:solidFill>
                <a:latin typeface="Segoe UI"/>
              </a:rPr>
              <a:t>Áp hút nằm trong vùng chết liên tục 10 giây</a:t>
            </a:r>
          </a:p>
        </p:txBody>
      </p:sp>
      <p:sp>
        <p:nvSpPr>
          <p:cNvPr id="12" name="TextBox 11"/>
          <p:cNvSpPr txBox="1"/>
          <p:nvPr/>
        </p:nvSpPr>
        <p:spPr>
          <a:xfrm>
            <a:off x="3333673" y="3429000"/>
            <a:ext cx="137160" cy="274320"/>
          </a:xfrm>
          <a:prstGeom prst="rect">
            <a:avLst/>
          </a:prstGeom>
          <a:noFill/>
        </p:spPr>
        <p:txBody>
          <a:bodyPr wrap="square" lIns="0" rIns="0" tIns="0" bIns="0" anchor="t">
            <a:noAutofit/>
          </a:bodyPr>
          <a:lstStyle/>
          <a:p>
            <a:pPr algn="ctr"/>
            <a:r>
              <a:rPr sz="2000">
                <a:solidFill>
                  <a:srgbClr val="5B6C88"/>
                </a:solidFill>
                <a:latin typeface="Segoe UI"/>
              </a:rPr>
              <a:t>›</a:t>
            </a:r>
          </a:p>
        </p:txBody>
      </p:sp>
      <p:sp>
        <p:nvSpPr>
          <p:cNvPr id="13" name="Rounded Rectangle 12"/>
          <p:cNvSpPr/>
          <p:nvPr/>
        </p:nvSpPr>
        <p:spPr>
          <a:xfrm>
            <a:off x="3470833" y="2560320"/>
            <a:ext cx="2556433" cy="196596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0833" y="2560320"/>
            <a:ext cx="2556433" cy="381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26865" y="2834640"/>
            <a:ext cx="2044369" cy="274320"/>
          </a:xfrm>
          <a:prstGeom prst="rect">
            <a:avLst/>
          </a:prstGeom>
          <a:noFill/>
        </p:spPr>
        <p:txBody>
          <a:bodyPr wrap="square" lIns="0" rIns="0" tIns="0" bIns="0" anchor="t">
            <a:noAutofit/>
          </a:bodyPr>
          <a:lstStyle/>
          <a:p>
            <a:pPr algn="l"/>
            <a:r>
              <a:rPr sz="1200" spc="120">
                <a:solidFill>
                  <a:srgbClr val="5B6C88"/>
                </a:solidFill>
                <a:latin typeface="Bahnschrift SemiBold Condensed"/>
              </a:rPr>
              <a:t>02</a:t>
            </a:r>
          </a:p>
        </p:txBody>
      </p:sp>
      <p:sp>
        <p:nvSpPr>
          <p:cNvPr id="16" name="TextBox 15"/>
          <p:cNvSpPr txBox="1"/>
          <p:nvPr/>
        </p:nvSpPr>
        <p:spPr>
          <a:xfrm>
            <a:off x="3726865" y="3154680"/>
            <a:ext cx="2044369" cy="548640"/>
          </a:xfrm>
          <a:prstGeom prst="rect">
            <a:avLst/>
          </a:prstGeom>
          <a:noFill/>
        </p:spPr>
        <p:txBody>
          <a:bodyPr wrap="square" lIns="0" rIns="0" tIns="0" bIns="0" anchor="t">
            <a:noAutofit/>
          </a:bodyPr>
          <a:lstStyle/>
          <a:p>
            <a:pPr algn="l">
              <a:lnSpc>
                <a:spcPct val="105000"/>
              </a:lnSpc>
            </a:pPr>
            <a:r>
              <a:rPr sz="1700" spc="-30">
                <a:solidFill>
                  <a:srgbClr val="FFFFFF"/>
                </a:solidFill>
                <a:latin typeface="Segoe UI Black"/>
              </a:rPr>
              <a:t>Ghi vào bảng</a:t>
            </a:r>
          </a:p>
        </p:txBody>
      </p:sp>
      <p:sp>
        <p:nvSpPr>
          <p:cNvPr id="17" name="TextBox 16"/>
          <p:cNvSpPr txBox="1"/>
          <p:nvPr/>
        </p:nvSpPr>
        <p:spPr>
          <a:xfrm>
            <a:off x="3726865" y="3767328"/>
            <a:ext cx="2044369" cy="640080"/>
          </a:xfrm>
          <a:prstGeom prst="rect">
            <a:avLst/>
          </a:prstGeom>
          <a:noFill/>
        </p:spPr>
        <p:txBody>
          <a:bodyPr wrap="square" lIns="0" rIns="0" tIns="0" bIns="0" anchor="t">
            <a:noAutofit/>
          </a:bodyPr>
          <a:lstStyle/>
          <a:p>
            <a:pPr algn="l">
              <a:lnSpc>
                <a:spcPct val="130000"/>
              </a:lnSpc>
            </a:pPr>
            <a:r>
              <a:rPr sz="1250">
                <a:solidFill>
                  <a:srgbClr val="94A6C0"/>
                </a:solidFill>
                <a:latin typeface="Segoe UI"/>
              </a:rPr>
              <a:t>Lưu cặp mức đặt và % gió đang dùng</a:t>
            </a:r>
          </a:p>
        </p:txBody>
      </p:sp>
      <p:sp>
        <p:nvSpPr>
          <p:cNvPr id="18" name="TextBox 17"/>
          <p:cNvSpPr txBox="1"/>
          <p:nvPr/>
        </p:nvSpPr>
        <p:spPr>
          <a:xfrm>
            <a:off x="6027266" y="3429000"/>
            <a:ext cx="137160" cy="274320"/>
          </a:xfrm>
          <a:prstGeom prst="rect">
            <a:avLst/>
          </a:prstGeom>
          <a:noFill/>
        </p:spPr>
        <p:txBody>
          <a:bodyPr wrap="square" lIns="0" rIns="0" tIns="0" bIns="0" anchor="t">
            <a:noAutofit/>
          </a:bodyPr>
          <a:lstStyle/>
          <a:p>
            <a:pPr algn="ctr"/>
            <a:r>
              <a:rPr sz="2000">
                <a:solidFill>
                  <a:srgbClr val="5B6C88"/>
                </a:solidFill>
                <a:latin typeface="Segoe UI"/>
              </a:rPr>
              <a:t>›</a:t>
            </a:r>
          </a:p>
        </p:txBody>
      </p:sp>
      <p:sp>
        <p:nvSpPr>
          <p:cNvPr id="19" name="Rounded Rectangle 18"/>
          <p:cNvSpPr/>
          <p:nvPr/>
        </p:nvSpPr>
        <p:spPr>
          <a:xfrm>
            <a:off x="6164427" y="2560320"/>
            <a:ext cx="2556433" cy="196596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64427" y="2560320"/>
            <a:ext cx="2556433" cy="381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0459" y="2834640"/>
            <a:ext cx="2044369" cy="274320"/>
          </a:xfrm>
          <a:prstGeom prst="rect">
            <a:avLst/>
          </a:prstGeom>
          <a:noFill/>
        </p:spPr>
        <p:txBody>
          <a:bodyPr wrap="square" lIns="0" rIns="0" tIns="0" bIns="0" anchor="t">
            <a:noAutofit/>
          </a:bodyPr>
          <a:lstStyle/>
          <a:p>
            <a:pPr algn="l"/>
            <a:r>
              <a:rPr sz="1200" spc="120">
                <a:solidFill>
                  <a:srgbClr val="5B6C88"/>
                </a:solidFill>
                <a:latin typeface="Bahnschrift SemiBold Condensed"/>
              </a:rPr>
              <a:t>03</a:t>
            </a:r>
          </a:p>
        </p:txBody>
      </p:sp>
      <p:sp>
        <p:nvSpPr>
          <p:cNvPr id="22" name="TextBox 21"/>
          <p:cNvSpPr txBox="1"/>
          <p:nvPr/>
        </p:nvSpPr>
        <p:spPr>
          <a:xfrm>
            <a:off x="6420459" y="3154680"/>
            <a:ext cx="2044369" cy="548640"/>
          </a:xfrm>
          <a:prstGeom prst="rect">
            <a:avLst/>
          </a:prstGeom>
          <a:noFill/>
        </p:spPr>
        <p:txBody>
          <a:bodyPr wrap="square" lIns="0" rIns="0" tIns="0" bIns="0" anchor="t">
            <a:noAutofit/>
          </a:bodyPr>
          <a:lstStyle/>
          <a:p>
            <a:pPr algn="l">
              <a:lnSpc>
                <a:spcPct val="105000"/>
              </a:lnSpc>
            </a:pPr>
            <a:r>
              <a:rPr sz="1700" spc="-30">
                <a:solidFill>
                  <a:srgbClr val="FFFFFF"/>
                </a:solidFill>
                <a:latin typeface="Segoe UI Black"/>
              </a:rPr>
              <a:t>Lệch ≥ 3% mới sửa</a:t>
            </a:r>
          </a:p>
        </p:txBody>
      </p:sp>
      <p:sp>
        <p:nvSpPr>
          <p:cNvPr id="23" name="TextBox 22"/>
          <p:cNvSpPr txBox="1"/>
          <p:nvPr/>
        </p:nvSpPr>
        <p:spPr>
          <a:xfrm>
            <a:off x="6420459" y="3767328"/>
            <a:ext cx="2044369" cy="640080"/>
          </a:xfrm>
          <a:prstGeom prst="rect">
            <a:avLst/>
          </a:prstGeom>
          <a:noFill/>
        </p:spPr>
        <p:txBody>
          <a:bodyPr wrap="square" lIns="0" rIns="0" tIns="0" bIns="0" anchor="t">
            <a:noAutofit/>
          </a:bodyPr>
          <a:lstStyle/>
          <a:p>
            <a:pPr algn="l">
              <a:lnSpc>
                <a:spcPct val="130000"/>
              </a:lnSpc>
            </a:pPr>
            <a:r>
              <a:rPr sz="1250">
                <a:solidFill>
                  <a:srgbClr val="94A6C0"/>
                </a:solidFill>
                <a:latin typeface="Segoe UI"/>
              </a:rPr>
              <a:t>Nhiễu vặt không làm hỏng số đã học</a:t>
            </a:r>
          </a:p>
        </p:txBody>
      </p:sp>
      <p:sp>
        <p:nvSpPr>
          <p:cNvPr id="24" name="TextBox 23"/>
          <p:cNvSpPr txBox="1"/>
          <p:nvPr/>
        </p:nvSpPr>
        <p:spPr>
          <a:xfrm>
            <a:off x="8720860" y="3429000"/>
            <a:ext cx="137160" cy="274320"/>
          </a:xfrm>
          <a:prstGeom prst="rect">
            <a:avLst/>
          </a:prstGeom>
          <a:noFill/>
        </p:spPr>
        <p:txBody>
          <a:bodyPr wrap="square" lIns="0" rIns="0" tIns="0" bIns="0" anchor="t">
            <a:noAutofit/>
          </a:bodyPr>
          <a:lstStyle/>
          <a:p>
            <a:pPr algn="ctr"/>
            <a:r>
              <a:rPr sz="2000">
                <a:solidFill>
                  <a:srgbClr val="5B6C88"/>
                </a:solidFill>
                <a:latin typeface="Segoe UI"/>
              </a:rPr>
              <a:t>›</a:t>
            </a:r>
          </a:p>
        </p:txBody>
      </p:sp>
      <p:sp>
        <p:nvSpPr>
          <p:cNvPr id="25" name="Rounded Rectangle 24"/>
          <p:cNvSpPr/>
          <p:nvPr/>
        </p:nvSpPr>
        <p:spPr>
          <a:xfrm>
            <a:off x="8858021" y="2560320"/>
            <a:ext cx="2556433" cy="196596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58021" y="2560320"/>
            <a:ext cx="2556433" cy="381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14053" y="2834640"/>
            <a:ext cx="2044369" cy="274320"/>
          </a:xfrm>
          <a:prstGeom prst="rect">
            <a:avLst/>
          </a:prstGeom>
          <a:noFill/>
        </p:spPr>
        <p:txBody>
          <a:bodyPr wrap="square" lIns="0" rIns="0" tIns="0" bIns="0" anchor="t">
            <a:noAutofit/>
          </a:bodyPr>
          <a:lstStyle/>
          <a:p>
            <a:pPr algn="l"/>
            <a:r>
              <a:rPr sz="1200" spc="120">
                <a:solidFill>
                  <a:srgbClr val="5B6C88"/>
                </a:solidFill>
                <a:latin typeface="Bahnschrift SemiBold Condensed"/>
              </a:rPr>
              <a:t>04</a:t>
            </a:r>
          </a:p>
        </p:txBody>
      </p:sp>
      <p:sp>
        <p:nvSpPr>
          <p:cNvPr id="28" name="TextBox 27"/>
          <p:cNvSpPr txBox="1"/>
          <p:nvPr/>
        </p:nvSpPr>
        <p:spPr>
          <a:xfrm>
            <a:off x="9114053" y="3154680"/>
            <a:ext cx="2044369" cy="548640"/>
          </a:xfrm>
          <a:prstGeom prst="rect">
            <a:avLst/>
          </a:prstGeom>
          <a:noFill/>
        </p:spPr>
        <p:txBody>
          <a:bodyPr wrap="square" lIns="0" rIns="0" tIns="0" bIns="0" anchor="t">
            <a:noAutofit/>
          </a:bodyPr>
          <a:lstStyle/>
          <a:p>
            <a:pPr algn="l">
              <a:lnSpc>
                <a:spcPct val="105000"/>
              </a:lnSpc>
            </a:pPr>
            <a:r>
              <a:rPr sz="1700" spc="-30">
                <a:solidFill>
                  <a:srgbClr val="FFFFFF"/>
                </a:solidFill>
                <a:latin typeface="Segoe UI Black"/>
              </a:rPr>
              <a:t>60 giây lưu thẻ</a:t>
            </a:r>
          </a:p>
        </p:txBody>
      </p:sp>
      <p:sp>
        <p:nvSpPr>
          <p:cNvPr id="29" name="TextBox 28"/>
          <p:cNvSpPr txBox="1"/>
          <p:nvPr/>
        </p:nvSpPr>
        <p:spPr>
          <a:xfrm>
            <a:off x="9114053" y="3767328"/>
            <a:ext cx="2044369" cy="640080"/>
          </a:xfrm>
          <a:prstGeom prst="rect">
            <a:avLst/>
          </a:prstGeom>
          <a:noFill/>
        </p:spPr>
        <p:txBody>
          <a:bodyPr wrap="square" lIns="0" rIns="0" tIns="0" bIns="0" anchor="t">
            <a:noAutofit/>
          </a:bodyPr>
          <a:lstStyle/>
          <a:p>
            <a:pPr algn="l">
              <a:lnSpc>
                <a:spcPct val="130000"/>
              </a:lnSpc>
            </a:pPr>
            <a:r>
              <a:rPr sz="1250">
                <a:solidFill>
                  <a:srgbClr val="94A6C0"/>
                </a:solidFill>
                <a:latin typeface="Segoe UI"/>
              </a:rPr>
              <a:t>Ghi SD ngoài vòng lặp, không làm nghẽn máy</a:t>
            </a:r>
          </a:p>
        </p:txBody>
      </p:sp>
      <p:sp>
        <p:nvSpPr>
          <p:cNvPr id="30" name="TextBox 29"/>
          <p:cNvSpPr txBox="1"/>
          <p:nvPr/>
        </p:nvSpPr>
        <p:spPr>
          <a:xfrm>
            <a:off x="777240" y="4892040"/>
            <a:ext cx="10637215" cy="731520"/>
          </a:xfrm>
          <a:prstGeom prst="rect">
            <a:avLst/>
          </a:prstGeom>
          <a:noFill/>
        </p:spPr>
        <p:txBody>
          <a:bodyPr wrap="square" lIns="0" rIns="0" tIns="0" bIns="0" anchor="t">
            <a:noAutofit/>
          </a:bodyPr>
          <a:lstStyle/>
          <a:p>
            <a:pPr algn="l">
              <a:lnSpc>
                <a:spcPct val="135000"/>
              </a:lnSpc>
            </a:pPr>
            <a:r>
              <a:rPr sz="1500">
                <a:solidFill>
                  <a:srgbClr val="7DD3FC"/>
                </a:solidFill>
                <a:latin typeface="Segoe UI"/>
              </a:rPr>
              <a:t>Việc ghi thẻ nhớ nằm ngoài vòng điều khiển — máy không bao giờ khựng lại chỉ vì đang lưu dữ liệu.</a:t>
            </a:r>
          </a:p>
        </p:txBody>
      </p:sp>
      <p:sp>
        <p:nvSpPr>
          <p:cNvPr id="31" name="TextBox 30"/>
          <p:cNvSpPr txBox="1"/>
          <p:nvPr/>
        </p:nvSpPr>
        <p:spPr>
          <a:xfrm>
            <a:off x="777240" y="6199632"/>
            <a:ext cx="10637215" cy="274320"/>
          </a:xfrm>
          <a:prstGeom prst="rect">
            <a:avLst/>
          </a:prstGeom>
          <a:noFill/>
        </p:spPr>
        <p:txBody>
          <a:bodyPr wrap="square" lIns="0" rIns="0" tIns="0" bIns="0" anchor="t">
            <a:noAutofit/>
          </a:bodyPr>
          <a:lstStyle/>
          <a:p>
            <a:pPr algn="l"/>
            <a:r>
              <a:rPr sz="1000" spc="120">
                <a:solidFill>
                  <a:srgbClr val="5B6C88"/>
                </a:solidFill>
                <a:latin typeface="Segoe UI"/>
              </a:rPr>
              <a:t>O TESLA  ·  OTL-06ALS</a:t>
            </a:r>
          </a:p>
        </p:txBody>
      </p:sp>
      <p:sp>
        <p:nvSpPr>
          <p:cNvPr id="32" name="TextBox 31"/>
          <p:cNvSpPr txBox="1"/>
          <p:nvPr/>
        </p:nvSpPr>
        <p:spPr>
          <a:xfrm>
            <a:off x="777240" y="6199632"/>
            <a:ext cx="10637215" cy="274320"/>
          </a:xfrm>
          <a:prstGeom prst="rect">
            <a:avLst/>
          </a:prstGeom>
          <a:noFill/>
        </p:spPr>
        <p:txBody>
          <a:bodyPr wrap="square" lIns="0" rIns="0" tIns="0" bIns="0" anchor="t">
            <a:noAutofit/>
          </a:bodyPr>
          <a:lstStyle/>
          <a:p>
            <a:pPr algn="r"/>
            <a:r>
              <a:rPr sz="1000" spc="120">
                <a:solidFill>
                  <a:srgbClr val="5B6C88"/>
                </a:solidFill>
                <a:latin typeface="Bahnschrift SemiBold Condensed"/>
              </a:rPr>
              <a:t>08 / 12</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900">
        <p159:morph option="byObject"/>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424"/>
              </a:gs>
              <a:gs pos="100000">
                <a:srgbClr val="060A12"/>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
          <p:cNvSpPr/>
          <p:nvPr/>
        </p:nvSpPr>
        <p:spPr>
          <a:xfrm>
            <a:off x="2743200" y="-2194560"/>
            <a:ext cx="6400800" cy="6400800"/>
          </a:xfrm>
          <a:prstGeom prst="ellipse">
            <a:avLst/>
          </a:prstGeom>
          <a:gradFill rotWithShape="1">
            <a:gsLst>
              <a:gs pos="0">
                <a:srgbClr val="2E86FF">
                  <a:alpha val="26000"/>
                </a:srgbClr>
              </a:gs>
              <a:gs pos="55000">
                <a:srgbClr val="2E86FF">
                  <a:alpha val="9100"/>
                </a:srgbClr>
              </a:gs>
              <a:gs pos="100000">
                <a:srgbClr val="2E86FF">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777240" y="658368"/>
            <a:ext cx="10637215" cy="274320"/>
          </a:xfrm>
          <a:prstGeom prst="rect">
            <a:avLst/>
          </a:prstGeom>
          <a:noFill/>
        </p:spPr>
        <p:txBody>
          <a:bodyPr wrap="square" lIns="0" rIns="0" tIns="0" bIns="0" anchor="t">
            <a:noAutofit/>
          </a:bodyPr>
          <a:lstStyle/>
          <a:p>
            <a:pPr algn="l"/>
            <a:r>
              <a:rPr sz="1200" spc="240">
                <a:solidFill>
                  <a:srgbClr val="2E86FF"/>
                </a:solidFill>
                <a:latin typeface="Segoe UI Semibold"/>
              </a:rPr>
              <a:t>ĐỔI MỨC ĐẶT</a:t>
            </a:r>
          </a:p>
        </p:txBody>
      </p:sp>
      <p:sp>
        <p:nvSpPr>
          <p:cNvPr id="5" name="RULE"/>
          <p:cNvSpPr/>
          <p:nvPr/>
        </p:nvSpPr>
        <p:spPr>
          <a:xfrm>
            <a:off x="777240" y="950976"/>
            <a:ext cx="1371600" cy="635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ING"/>
          <p:cNvSpPr txBox="1"/>
          <p:nvPr/>
        </p:nvSpPr>
        <p:spPr>
          <a:xfrm>
            <a:off x="777240" y="1024128"/>
            <a:ext cx="10637215" cy="1280160"/>
          </a:xfrm>
          <a:prstGeom prst="rect">
            <a:avLst/>
          </a:prstGeom>
          <a:noFill/>
        </p:spPr>
        <p:txBody>
          <a:bodyPr wrap="square" lIns="0" rIns="0" tIns="0" bIns="0" anchor="t">
            <a:noAutofit/>
          </a:bodyPr>
          <a:lstStyle/>
          <a:p>
            <a:pPr algn="l">
              <a:lnSpc>
                <a:spcPct val="94000"/>
              </a:lnSpc>
            </a:pPr>
            <a:r>
              <a:rPr sz="4000">
                <a:solidFill>
                  <a:srgbClr val="FFFFFF"/>
                </a:solidFill>
                <a:latin typeface="Segoe UI Black"/>
              </a:rPr>
              <a:t>Đổi nhiều thì nhảy, đổi ít thì bò</a:t>
            </a:r>
          </a:p>
        </p:txBody>
      </p:sp>
      <p:sp>
        <p:nvSpPr>
          <p:cNvPr id="7" name="Rounded Rectangle 6"/>
          <p:cNvSpPr/>
          <p:nvPr/>
        </p:nvSpPr>
        <p:spPr>
          <a:xfrm>
            <a:off x="777240" y="2468880"/>
            <a:ext cx="5181447" cy="310896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743200"/>
            <a:ext cx="4358487" cy="640080"/>
          </a:xfrm>
          <a:prstGeom prst="rect">
            <a:avLst/>
          </a:prstGeom>
          <a:noFill/>
        </p:spPr>
        <p:txBody>
          <a:bodyPr wrap="square" lIns="0" rIns="0" tIns="0" bIns="0" anchor="t">
            <a:noAutofit/>
          </a:bodyPr>
          <a:lstStyle/>
          <a:p>
            <a:pPr algn="l"/>
            <a:r>
              <a:rPr sz="4000" spc="-150">
                <a:solidFill>
                  <a:srgbClr val="2E86FF"/>
                </a:solidFill>
                <a:latin typeface="Segoe UI Black"/>
              </a:rPr>
              <a:t>&gt; 30 Pa</a:t>
            </a:r>
          </a:p>
        </p:txBody>
      </p:sp>
      <p:sp>
        <p:nvSpPr>
          <p:cNvPr id="9" name="TextBox 8"/>
          <p:cNvSpPr txBox="1"/>
          <p:nvPr/>
        </p:nvSpPr>
        <p:spPr>
          <a:xfrm>
            <a:off x="1188720" y="3401568"/>
            <a:ext cx="4358487" cy="320040"/>
          </a:xfrm>
          <a:prstGeom prst="rect">
            <a:avLst/>
          </a:prstGeom>
          <a:noFill/>
        </p:spPr>
        <p:txBody>
          <a:bodyPr wrap="square" lIns="0" rIns="0" tIns="0" bIns="0" anchor="t">
            <a:noAutofit/>
          </a:bodyPr>
          <a:lstStyle/>
          <a:p>
            <a:pPr algn="l"/>
            <a:r>
              <a:rPr sz="1250" spc="160">
                <a:solidFill>
                  <a:srgbClr val="FFFFFF"/>
                </a:solidFill>
                <a:latin typeface="Segoe UI Semibold"/>
              </a:rPr>
              <a:t>NHẢY THẲNG</a:t>
            </a:r>
          </a:p>
        </p:txBody>
      </p:sp>
      <p:sp>
        <p:nvSpPr>
          <p:cNvPr id="10" name="Rectangle 9"/>
          <p:cNvSpPr/>
          <p:nvPr/>
        </p:nvSpPr>
        <p:spPr>
          <a:xfrm>
            <a:off x="1188720" y="3794760"/>
            <a:ext cx="457200" cy="381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005072"/>
            <a:ext cx="146304" cy="274320"/>
          </a:xfrm>
          <a:prstGeom prst="rect">
            <a:avLst/>
          </a:prstGeom>
          <a:noFill/>
        </p:spPr>
        <p:txBody>
          <a:bodyPr wrap="square" lIns="0" rIns="0" tIns="0" bIns="0" anchor="t">
            <a:noAutofit/>
          </a:bodyPr>
          <a:lstStyle/>
          <a:p>
            <a:pPr algn="l"/>
            <a:r>
              <a:rPr sz="1200">
                <a:solidFill>
                  <a:srgbClr val="2E86FF"/>
                </a:solidFill>
                <a:latin typeface="Segoe UI"/>
              </a:rPr>
              <a:t>—</a:t>
            </a:r>
          </a:p>
        </p:txBody>
      </p:sp>
      <p:sp>
        <p:nvSpPr>
          <p:cNvPr id="12" name="TextBox 11"/>
          <p:cNvSpPr txBox="1"/>
          <p:nvPr/>
        </p:nvSpPr>
        <p:spPr>
          <a:xfrm>
            <a:off x="1490472" y="4005072"/>
            <a:ext cx="4038447" cy="274320"/>
          </a:xfrm>
          <a:prstGeom prst="rect">
            <a:avLst/>
          </a:prstGeom>
          <a:noFill/>
        </p:spPr>
        <p:txBody>
          <a:bodyPr wrap="square" lIns="0" rIns="0" tIns="0" bIns="0" anchor="t">
            <a:noAutofit/>
          </a:bodyPr>
          <a:lstStyle/>
          <a:p>
            <a:pPr algn="l"/>
            <a:r>
              <a:rPr sz="1350">
                <a:solidFill>
                  <a:srgbClr val="94A6C0"/>
                </a:solidFill>
                <a:latin typeface="Segoe UI"/>
              </a:rPr>
              <a:t>Lấy % gió đã học cho mức mới</a:t>
            </a:r>
          </a:p>
        </p:txBody>
      </p:sp>
      <p:sp>
        <p:nvSpPr>
          <p:cNvPr id="13" name="TextBox 12"/>
          <p:cNvSpPr txBox="1"/>
          <p:nvPr/>
        </p:nvSpPr>
        <p:spPr>
          <a:xfrm>
            <a:off x="1188720" y="4334256"/>
            <a:ext cx="146304" cy="274320"/>
          </a:xfrm>
          <a:prstGeom prst="rect">
            <a:avLst/>
          </a:prstGeom>
          <a:noFill/>
        </p:spPr>
        <p:txBody>
          <a:bodyPr wrap="square" lIns="0" rIns="0" tIns="0" bIns="0" anchor="t">
            <a:noAutofit/>
          </a:bodyPr>
          <a:lstStyle/>
          <a:p>
            <a:pPr algn="l"/>
            <a:r>
              <a:rPr sz="1200">
                <a:solidFill>
                  <a:srgbClr val="2E86FF"/>
                </a:solidFill>
                <a:latin typeface="Segoe UI"/>
              </a:rPr>
              <a:t>—</a:t>
            </a:r>
          </a:p>
        </p:txBody>
      </p:sp>
      <p:sp>
        <p:nvSpPr>
          <p:cNvPr id="14" name="TextBox 13"/>
          <p:cNvSpPr txBox="1"/>
          <p:nvPr/>
        </p:nvSpPr>
        <p:spPr>
          <a:xfrm>
            <a:off x="1490472" y="4334256"/>
            <a:ext cx="4038447" cy="274320"/>
          </a:xfrm>
          <a:prstGeom prst="rect">
            <a:avLst/>
          </a:prstGeom>
          <a:noFill/>
        </p:spPr>
        <p:txBody>
          <a:bodyPr wrap="square" lIns="0" rIns="0" tIns="0" bIns="0" anchor="t">
            <a:noAutofit/>
          </a:bodyPr>
          <a:lstStyle/>
          <a:p>
            <a:pPr algn="l"/>
            <a:r>
              <a:rPr sz="1350">
                <a:solidFill>
                  <a:srgbClr val="94A6C0"/>
                </a:solidFill>
                <a:latin typeface="Segoe UI"/>
              </a:rPr>
              <a:t>Trừ hao một khoảng đệm cho khỏi vọt</a:t>
            </a:r>
          </a:p>
        </p:txBody>
      </p:sp>
      <p:sp>
        <p:nvSpPr>
          <p:cNvPr id="15" name="TextBox 14"/>
          <p:cNvSpPr txBox="1"/>
          <p:nvPr/>
        </p:nvSpPr>
        <p:spPr>
          <a:xfrm>
            <a:off x="1188720" y="4663440"/>
            <a:ext cx="146304" cy="274320"/>
          </a:xfrm>
          <a:prstGeom prst="rect">
            <a:avLst/>
          </a:prstGeom>
          <a:noFill/>
        </p:spPr>
        <p:txBody>
          <a:bodyPr wrap="square" lIns="0" rIns="0" tIns="0" bIns="0" anchor="t">
            <a:noAutofit/>
          </a:bodyPr>
          <a:lstStyle/>
          <a:p>
            <a:pPr algn="l"/>
            <a:r>
              <a:rPr sz="1200">
                <a:solidFill>
                  <a:srgbClr val="2E86FF"/>
                </a:solidFill>
                <a:latin typeface="Segoe UI"/>
              </a:rPr>
              <a:t>—</a:t>
            </a:r>
          </a:p>
        </p:txBody>
      </p:sp>
      <p:sp>
        <p:nvSpPr>
          <p:cNvPr id="16" name="TextBox 15"/>
          <p:cNvSpPr txBox="1"/>
          <p:nvPr/>
        </p:nvSpPr>
        <p:spPr>
          <a:xfrm>
            <a:off x="1490472" y="4663440"/>
            <a:ext cx="4038447" cy="274320"/>
          </a:xfrm>
          <a:prstGeom prst="rect">
            <a:avLst/>
          </a:prstGeom>
          <a:noFill/>
        </p:spPr>
        <p:txBody>
          <a:bodyPr wrap="square" lIns="0" rIns="0" tIns="0" bIns="0" anchor="t">
            <a:noAutofit/>
          </a:bodyPr>
          <a:lstStyle/>
          <a:p>
            <a:pPr algn="l"/>
            <a:r>
              <a:rPr sz="1350">
                <a:solidFill>
                  <a:srgbClr val="94A6C0"/>
                </a:solidFill>
                <a:latin typeface="Segoe UI"/>
              </a:rPr>
              <a:t>Đệm tự tính từ độ nhạy của máy: 8–25%</a:t>
            </a:r>
          </a:p>
        </p:txBody>
      </p:sp>
      <p:sp>
        <p:nvSpPr>
          <p:cNvPr id="17" name="TextBox 16"/>
          <p:cNvSpPr txBox="1"/>
          <p:nvPr/>
        </p:nvSpPr>
        <p:spPr>
          <a:xfrm>
            <a:off x="1188720" y="4992624"/>
            <a:ext cx="146304" cy="274320"/>
          </a:xfrm>
          <a:prstGeom prst="rect">
            <a:avLst/>
          </a:prstGeom>
          <a:noFill/>
        </p:spPr>
        <p:txBody>
          <a:bodyPr wrap="square" lIns="0" rIns="0" tIns="0" bIns="0" anchor="t">
            <a:noAutofit/>
          </a:bodyPr>
          <a:lstStyle/>
          <a:p>
            <a:pPr algn="l"/>
            <a:r>
              <a:rPr sz="1200">
                <a:solidFill>
                  <a:srgbClr val="2E86FF"/>
                </a:solidFill>
                <a:latin typeface="Segoe UI"/>
              </a:rPr>
              <a:t>—</a:t>
            </a:r>
          </a:p>
        </p:txBody>
      </p:sp>
      <p:sp>
        <p:nvSpPr>
          <p:cNvPr id="18" name="TextBox 17"/>
          <p:cNvSpPr txBox="1"/>
          <p:nvPr/>
        </p:nvSpPr>
        <p:spPr>
          <a:xfrm>
            <a:off x="1490472" y="4992624"/>
            <a:ext cx="4038447" cy="274320"/>
          </a:xfrm>
          <a:prstGeom prst="rect">
            <a:avLst/>
          </a:prstGeom>
          <a:noFill/>
        </p:spPr>
        <p:txBody>
          <a:bodyPr wrap="square" lIns="0" rIns="0" tIns="0" bIns="0" anchor="t">
            <a:noAutofit/>
          </a:bodyPr>
          <a:lstStyle/>
          <a:p>
            <a:pPr algn="l"/>
            <a:r>
              <a:rPr sz="1350">
                <a:solidFill>
                  <a:srgbClr val="94A6C0"/>
                </a:solidFill>
                <a:latin typeface="Segoe UI"/>
              </a:rPr>
              <a:t>Mỗi lần nhảy không quá 20%</a:t>
            </a:r>
          </a:p>
        </p:txBody>
      </p:sp>
      <p:sp>
        <p:nvSpPr>
          <p:cNvPr id="19" name="Rounded Rectangle 18"/>
          <p:cNvSpPr/>
          <p:nvPr/>
        </p:nvSpPr>
        <p:spPr>
          <a:xfrm>
            <a:off x="6233007" y="2468880"/>
            <a:ext cx="5181447" cy="310896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44487" y="2743200"/>
            <a:ext cx="4358487" cy="640080"/>
          </a:xfrm>
          <a:prstGeom prst="rect">
            <a:avLst/>
          </a:prstGeom>
          <a:noFill/>
        </p:spPr>
        <p:txBody>
          <a:bodyPr wrap="square" lIns="0" rIns="0" tIns="0" bIns="0" anchor="t">
            <a:noAutofit/>
          </a:bodyPr>
          <a:lstStyle/>
          <a:p>
            <a:pPr algn="l"/>
            <a:r>
              <a:rPr sz="4000" spc="-150">
                <a:solidFill>
                  <a:srgbClr val="22D3EE"/>
                </a:solidFill>
                <a:latin typeface="Segoe UI Black"/>
              </a:rPr>
              <a:t>≤ 30 Pa</a:t>
            </a:r>
          </a:p>
        </p:txBody>
      </p:sp>
      <p:sp>
        <p:nvSpPr>
          <p:cNvPr id="21" name="TextBox 20"/>
          <p:cNvSpPr txBox="1"/>
          <p:nvPr/>
        </p:nvSpPr>
        <p:spPr>
          <a:xfrm>
            <a:off x="6644487" y="3401568"/>
            <a:ext cx="4358487" cy="320040"/>
          </a:xfrm>
          <a:prstGeom prst="rect">
            <a:avLst/>
          </a:prstGeom>
          <a:noFill/>
        </p:spPr>
        <p:txBody>
          <a:bodyPr wrap="square" lIns="0" rIns="0" tIns="0" bIns="0" anchor="t">
            <a:noAutofit/>
          </a:bodyPr>
          <a:lstStyle/>
          <a:p>
            <a:pPr algn="l"/>
            <a:r>
              <a:rPr sz="1250" spc="160">
                <a:solidFill>
                  <a:srgbClr val="FFFFFF"/>
                </a:solidFill>
                <a:latin typeface="Segoe UI Semibold"/>
              </a:rPr>
              <a:t>BÒ TỪ TỪ</a:t>
            </a:r>
          </a:p>
        </p:txBody>
      </p:sp>
      <p:sp>
        <p:nvSpPr>
          <p:cNvPr id="22" name="Rectangle 21"/>
          <p:cNvSpPr/>
          <p:nvPr/>
        </p:nvSpPr>
        <p:spPr>
          <a:xfrm>
            <a:off x="6644487" y="3794760"/>
            <a:ext cx="457200" cy="381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44487" y="4005072"/>
            <a:ext cx="146304" cy="274320"/>
          </a:xfrm>
          <a:prstGeom prst="rect">
            <a:avLst/>
          </a:prstGeom>
          <a:noFill/>
        </p:spPr>
        <p:txBody>
          <a:bodyPr wrap="square" lIns="0" rIns="0" tIns="0" bIns="0" anchor="t">
            <a:noAutofit/>
          </a:bodyPr>
          <a:lstStyle/>
          <a:p>
            <a:pPr algn="l"/>
            <a:r>
              <a:rPr sz="1200">
                <a:solidFill>
                  <a:srgbClr val="22D3EE"/>
                </a:solidFill>
                <a:latin typeface="Segoe UI"/>
              </a:rPr>
              <a:t>—</a:t>
            </a:r>
          </a:p>
        </p:txBody>
      </p:sp>
      <p:sp>
        <p:nvSpPr>
          <p:cNvPr id="24" name="TextBox 23"/>
          <p:cNvSpPr txBox="1"/>
          <p:nvPr/>
        </p:nvSpPr>
        <p:spPr>
          <a:xfrm>
            <a:off x="6946239" y="4005072"/>
            <a:ext cx="4038447" cy="274320"/>
          </a:xfrm>
          <a:prstGeom prst="rect">
            <a:avLst/>
          </a:prstGeom>
          <a:noFill/>
        </p:spPr>
        <p:txBody>
          <a:bodyPr wrap="square" lIns="0" rIns="0" tIns="0" bIns="0" anchor="t">
            <a:noAutofit/>
          </a:bodyPr>
          <a:lstStyle/>
          <a:p>
            <a:pPr algn="l"/>
            <a:r>
              <a:rPr sz="1350">
                <a:solidFill>
                  <a:srgbClr val="94A6C0"/>
                </a:solidFill>
                <a:latin typeface="Segoe UI"/>
              </a:rPr>
              <a:t>Không nhảy, giữ nguyên % gió đang chạy</a:t>
            </a:r>
          </a:p>
        </p:txBody>
      </p:sp>
      <p:sp>
        <p:nvSpPr>
          <p:cNvPr id="25" name="TextBox 24"/>
          <p:cNvSpPr txBox="1"/>
          <p:nvPr/>
        </p:nvSpPr>
        <p:spPr>
          <a:xfrm>
            <a:off x="6644487" y="4334256"/>
            <a:ext cx="146304" cy="274320"/>
          </a:xfrm>
          <a:prstGeom prst="rect">
            <a:avLst/>
          </a:prstGeom>
          <a:noFill/>
        </p:spPr>
        <p:txBody>
          <a:bodyPr wrap="square" lIns="0" rIns="0" tIns="0" bIns="0" anchor="t">
            <a:noAutofit/>
          </a:bodyPr>
          <a:lstStyle/>
          <a:p>
            <a:pPr algn="l"/>
            <a:r>
              <a:rPr sz="1200">
                <a:solidFill>
                  <a:srgbClr val="22D3EE"/>
                </a:solidFill>
                <a:latin typeface="Segoe UI"/>
              </a:rPr>
              <a:t>—</a:t>
            </a:r>
          </a:p>
        </p:txBody>
      </p:sp>
      <p:sp>
        <p:nvSpPr>
          <p:cNvPr id="26" name="TextBox 25"/>
          <p:cNvSpPr txBox="1"/>
          <p:nvPr/>
        </p:nvSpPr>
        <p:spPr>
          <a:xfrm>
            <a:off x="6946239" y="4334256"/>
            <a:ext cx="4038447" cy="274320"/>
          </a:xfrm>
          <a:prstGeom prst="rect">
            <a:avLst/>
          </a:prstGeom>
          <a:noFill/>
        </p:spPr>
        <p:txBody>
          <a:bodyPr wrap="square" lIns="0" rIns="0" tIns="0" bIns="0" anchor="t">
            <a:noAutofit/>
          </a:bodyPr>
          <a:lstStyle/>
          <a:p>
            <a:pPr algn="l"/>
            <a:r>
              <a:rPr sz="1350">
                <a:solidFill>
                  <a:srgbClr val="94A6C0"/>
                </a:solidFill>
                <a:latin typeface="Segoe UI"/>
              </a:rPr>
              <a:t>Để vòng lặp 1% tự bù dần</a:t>
            </a:r>
          </a:p>
        </p:txBody>
      </p:sp>
      <p:sp>
        <p:nvSpPr>
          <p:cNvPr id="27" name="TextBox 26"/>
          <p:cNvSpPr txBox="1"/>
          <p:nvPr/>
        </p:nvSpPr>
        <p:spPr>
          <a:xfrm>
            <a:off x="6644487" y="4663440"/>
            <a:ext cx="146304" cy="274320"/>
          </a:xfrm>
          <a:prstGeom prst="rect">
            <a:avLst/>
          </a:prstGeom>
          <a:noFill/>
        </p:spPr>
        <p:txBody>
          <a:bodyPr wrap="square" lIns="0" rIns="0" tIns="0" bIns="0" anchor="t">
            <a:noAutofit/>
          </a:bodyPr>
          <a:lstStyle/>
          <a:p>
            <a:pPr algn="l"/>
            <a:r>
              <a:rPr sz="1200">
                <a:solidFill>
                  <a:srgbClr val="22D3EE"/>
                </a:solidFill>
                <a:latin typeface="Segoe UI"/>
              </a:rPr>
              <a:t>—</a:t>
            </a:r>
          </a:p>
        </p:txBody>
      </p:sp>
      <p:sp>
        <p:nvSpPr>
          <p:cNvPr id="28" name="TextBox 27"/>
          <p:cNvSpPr txBox="1"/>
          <p:nvPr/>
        </p:nvSpPr>
        <p:spPr>
          <a:xfrm>
            <a:off x="6946239" y="4663440"/>
            <a:ext cx="4038447" cy="274320"/>
          </a:xfrm>
          <a:prstGeom prst="rect">
            <a:avLst/>
          </a:prstGeom>
          <a:noFill/>
        </p:spPr>
        <p:txBody>
          <a:bodyPr wrap="square" lIns="0" rIns="0" tIns="0" bIns="0" anchor="t">
            <a:noAutofit/>
          </a:bodyPr>
          <a:lstStyle/>
          <a:p>
            <a:pPr algn="l"/>
            <a:r>
              <a:rPr sz="1350">
                <a:solidFill>
                  <a:srgbClr val="94A6C0"/>
                </a:solidFill>
                <a:latin typeface="Segoe UI"/>
              </a:rPr>
              <a:t>Tránh giật gió giữa mẻ đang rang</a:t>
            </a:r>
          </a:p>
        </p:txBody>
      </p:sp>
      <p:sp>
        <p:nvSpPr>
          <p:cNvPr id="29" name="TextBox 28"/>
          <p:cNvSpPr txBox="1"/>
          <p:nvPr/>
        </p:nvSpPr>
        <p:spPr>
          <a:xfrm>
            <a:off x="6644487" y="4992624"/>
            <a:ext cx="146304" cy="274320"/>
          </a:xfrm>
          <a:prstGeom prst="rect">
            <a:avLst/>
          </a:prstGeom>
          <a:noFill/>
        </p:spPr>
        <p:txBody>
          <a:bodyPr wrap="square" lIns="0" rIns="0" tIns="0" bIns="0" anchor="t">
            <a:noAutofit/>
          </a:bodyPr>
          <a:lstStyle/>
          <a:p>
            <a:pPr algn="l"/>
            <a:r>
              <a:rPr sz="1200">
                <a:solidFill>
                  <a:srgbClr val="22D3EE"/>
                </a:solidFill>
                <a:latin typeface="Segoe UI"/>
              </a:rPr>
              <a:t>—</a:t>
            </a:r>
          </a:p>
        </p:txBody>
      </p:sp>
      <p:sp>
        <p:nvSpPr>
          <p:cNvPr id="30" name="TextBox 29"/>
          <p:cNvSpPr txBox="1"/>
          <p:nvPr/>
        </p:nvSpPr>
        <p:spPr>
          <a:xfrm>
            <a:off x="6946239" y="4992624"/>
            <a:ext cx="4038447" cy="274320"/>
          </a:xfrm>
          <a:prstGeom prst="rect">
            <a:avLst/>
          </a:prstGeom>
          <a:noFill/>
        </p:spPr>
        <p:txBody>
          <a:bodyPr wrap="square" lIns="0" rIns="0" tIns="0" bIns="0" anchor="t">
            <a:noAutofit/>
          </a:bodyPr>
          <a:lstStyle/>
          <a:p>
            <a:pPr algn="l"/>
            <a:r>
              <a:rPr sz="1350">
                <a:solidFill>
                  <a:srgbClr val="94A6C0"/>
                </a:solidFill>
                <a:latin typeface="Segoe UI"/>
              </a:rPr>
              <a:t>Êm hơn cho cả hạt lẫn quạt</a:t>
            </a:r>
          </a:p>
        </p:txBody>
      </p:sp>
      <p:sp>
        <p:nvSpPr>
          <p:cNvPr id="31" name="TextBox 30"/>
          <p:cNvSpPr txBox="1"/>
          <p:nvPr/>
        </p:nvSpPr>
        <p:spPr>
          <a:xfrm>
            <a:off x="777240" y="6199632"/>
            <a:ext cx="10637215" cy="274320"/>
          </a:xfrm>
          <a:prstGeom prst="rect">
            <a:avLst/>
          </a:prstGeom>
          <a:noFill/>
        </p:spPr>
        <p:txBody>
          <a:bodyPr wrap="square" lIns="0" rIns="0" tIns="0" bIns="0" anchor="t">
            <a:noAutofit/>
          </a:bodyPr>
          <a:lstStyle/>
          <a:p>
            <a:pPr algn="l"/>
            <a:r>
              <a:rPr sz="1000" spc="120">
                <a:solidFill>
                  <a:srgbClr val="5B6C88"/>
                </a:solidFill>
                <a:latin typeface="Segoe UI"/>
              </a:rPr>
              <a:t>O TESLA  ·  OTL-06ALS</a:t>
            </a:r>
          </a:p>
        </p:txBody>
      </p:sp>
      <p:sp>
        <p:nvSpPr>
          <p:cNvPr id="32" name="TextBox 31"/>
          <p:cNvSpPr txBox="1"/>
          <p:nvPr/>
        </p:nvSpPr>
        <p:spPr>
          <a:xfrm>
            <a:off x="777240" y="6199632"/>
            <a:ext cx="10637215" cy="274320"/>
          </a:xfrm>
          <a:prstGeom prst="rect">
            <a:avLst/>
          </a:prstGeom>
          <a:noFill/>
        </p:spPr>
        <p:txBody>
          <a:bodyPr wrap="square" lIns="0" rIns="0" tIns="0" bIns="0" anchor="t">
            <a:noAutofit/>
          </a:bodyPr>
          <a:lstStyle/>
          <a:p>
            <a:pPr algn="r"/>
            <a:r>
              <a:rPr sz="1000" spc="120">
                <a:solidFill>
                  <a:srgbClr val="5B6C88"/>
                </a:solidFill>
                <a:latin typeface="Bahnschrift SemiBold Condensed"/>
              </a:rPr>
              <a:t>09 / 12</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900">
        <p159:morph option="byObject"/>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424"/>
              </a:gs>
              <a:gs pos="100000">
                <a:srgbClr val="060A12"/>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
          <p:cNvSpPr/>
          <p:nvPr/>
        </p:nvSpPr>
        <p:spPr>
          <a:xfrm>
            <a:off x="9509760" y="-1828800"/>
            <a:ext cx="5669280" cy="5669280"/>
          </a:xfrm>
          <a:prstGeom prst="ellipse">
            <a:avLst/>
          </a:prstGeom>
          <a:gradFill rotWithShape="1">
            <a:gsLst>
              <a:gs pos="0">
                <a:srgbClr val="22D3EE">
                  <a:alpha val="22000"/>
                </a:srgbClr>
              </a:gs>
              <a:gs pos="55000">
                <a:srgbClr val="22D3EE">
                  <a:alpha val="7700"/>
                </a:srgbClr>
              </a:gs>
              <a:gs pos="100000">
                <a:srgbClr val="22D3EE">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777240" y="658368"/>
            <a:ext cx="10637215" cy="274320"/>
          </a:xfrm>
          <a:prstGeom prst="rect">
            <a:avLst/>
          </a:prstGeom>
          <a:noFill/>
        </p:spPr>
        <p:txBody>
          <a:bodyPr wrap="square" lIns="0" rIns="0" tIns="0" bIns="0" anchor="t">
            <a:noAutofit/>
          </a:bodyPr>
          <a:lstStyle/>
          <a:p>
            <a:pPr algn="l"/>
            <a:r>
              <a:rPr sz="1200" spc="240">
                <a:solidFill>
                  <a:srgbClr val="2E86FF"/>
                </a:solidFill>
                <a:latin typeface="Segoe UI Semibold"/>
              </a:rPr>
              <a:t>VÀO MẺ RANG</a:t>
            </a:r>
          </a:p>
        </p:txBody>
      </p:sp>
      <p:sp>
        <p:nvSpPr>
          <p:cNvPr id="5" name="RULE"/>
          <p:cNvSpPr/>
          <p:nvPr/>
        </p:nvSpPr>
        <p:spPr>
          <a:xfrm>
            <a:off x="777240" y="950976"/>
            <a:ext cx="1371600" cy="635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ING"/>
          <p:cNvSpPr txBox="1"/>
          <p:nvPr/>
        </p:nvSpPr>
        <p:spPr>
          <a:xfrm>
            <a:off x="777240" y="1024128"/>
            <a:ext cx="10637215" cy="1280160"/>
          </a:xfrm>
          <a:prstGeom prst="rect">
            <a:avLst/>
          </a:prstGeom>
          <a:noFill/>
        </p:spPr>
        <p:txBody>
          <a:bodyPr wrap="square" lIns="0" rIns="0" tIns="0" bIns="0" anchor="t">
            <a:noAutofit/>
          </a:bodyPr>
          <a:lstStyle/>
          <a:p>
            <a:pPr algn="l">
              <a:lnSpc>
                <a:spcPct val="94000"/>
              </a:lnSpc>
            </a:pPr>
            <a:r>
              <a:rPr sz="4000">
                <a:solidFill>
                  <a:srgbClr val="FFFFFF"/>
                </a:solidFill>
                <a:latin typeface="Segoe UI Black"/>
              </a:rPr>
              <a:t>Áp hút cũng là một phần của hồ sơ</a:t>
            </a:r>
          </a:p>
        </p:txBody>
      </p:sp>
      <p:sp>
        <p:nvSpPr>
          <p:cNvPr id="7" name="Freeform 6"/>
          <p:cNvSpPr/>
          <p:nvPr/>
        </p:nvSpPr>
        <p:spPr>
          <a:xfrm>
            <a:off x="777240" y="2971800"/>
            <a:ext cx="10634472" cy="0"/>
          </a:xfrm>
          <a:custGeom>
            <a:avLst/>
            <a:gdLst/>
            <a:ahLst/>
            <a:cxnLst/>
            <a:rect l="l" t="t" r="r" b="b"/>
            <a:pathLst>
              <a:path w="10634472" h="0">
                <a:moveTo>
                  <a:pt x="0" y="0"/>
                </a:moveTo>
                <a:lnTo>
                  <a:pt x="10634472" y="0"/>
                </a:lnTo>
              </a:path>
            </a:pathLst>
          </a:custGeom>
          <a:noFill/>
          <a:ln w="1905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13232" y="2907792"/>
            <a:ext cx="128016" cy="128016"/>
          </a:xfrm>
          <a:prstGeom prst="ellipse">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 y="2532888"/>
            <a:ext cx="1645920" cy="274320"/>
          </a:xfrm>
          <a:prstGeom prst="rect">
            <a:avLst/>
          </a:prstGeom>
          <a:noFill/>
        </p:spPr>
        <p:txBody>
          <a:bodyPr wrap="square" lIns="0" rIns="0" tIns="0" bIns="0" anchor="t">
            <a:noAutofit/>
          </a:bodyPr>
          <a:lstStyle/>
          <a:p>
            <a:pPr algn="ctr"/>
            <a:r>
              <a:rPr sz="1100" spc="140">
                <a:solidFill>
                  <a:srgbClr val="2E86FF"/>
                </a:solidFill>
                <a:latin typeface="Segoe UI Semibold"/>
              </a:rPr>
              <a:t>NẠP</a:t>
            </a:r>
          </a:p>
        </p:txBody>
      </p:sp>
      <p:sp>
        <p:nvSpPr>
          <p:cNvPr id="10" name="Oval 9"/>
          <p:cNvSpPr/>
          <p:nvPr/>
        </p:nvSpPr>
        <p:spPr>
          <a:xfrm>
            <a:off x="3052815" y="2907792"/>
            <a:ext cx="128016" cy="128016"/>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93863" y="2532888"/>
            <a:ext cx="1645920" cy="274320"/>
          </a:xfrm>
          <a:prstGeom prst="rect">
            <a:avLst/>
          </a:prstGeom>
          <a:noFill/>
        </p:spPr>
        <p:txBody>
          <a:bodyPr wrap="square" lIns="0" rIns="0" tIns="0" bIns="0" anchor="t">
            <a:noAutofit/>
          </a:bodyPr>
          <a:lstStyle/>
          <a:p>
            <a:pPr algn="ctr"/>
            <a:r>
              <a:rPr sz="1100" spc="140">
                <a:solidFill>
                  <a:srgbClr val="22D3EE"/>
                </a:solidFill>
                <a:latin typeface="Segoe UI Semibold"/>
              </a:rPr>
              <a:t>TP</a:t>
            </a:r>
          </a:p>
        </p:txBody>
      </p:sp>
      <p:sp>
        <p:nvSpPr>
          <p:cNvPr id="12" name="Oval 11"/>
          <p:cNvSpPr/>
          <p:nvPr/>
        </p:nvSpPr>
        <p:spPr>
          <a:xfrm>
            <a:off x="5817778" y="2907792"/>
            <a:ext cx="128016" cy="128016"/>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58826" y="2532888"/>
            <a:ext cx="1645920" cy="274320"/>
          </a:xfrm>
          <a:prstGeom prst="rect">
            <a:avLst/>
          </a:prstGeom>
          <a:noFill/>
        </p:spPr>
        <p:txBody>
          <a:bodyPr wrap="square" lIns="0" rIns="0" tIns="0" bIns="0" anchor="t">
            <a:noAutofit/>
          </a:bodyPr>
          <a:lstStyle/>
          <a:p>
            <a:pPr algn="ctr"/>
            <a:r>
              <a:rPr sz="1100" spc="140">
                <a:solidFill>
                  <a:srgbClr val="22D3EE"/>
                </a:solidFill>
                <a:latin typeface="Segoe UI Semibold"/>
              </a:rPr>
              <a:t>CHUYỂN VÀNG</a:t>
            </a:r>
          </a:p>
        </p:txBody>
      </p:sp>
      <p:sp>
        <p:nvSpPr>
          <p:cNvPr id="14" name="Oval 13"/>
          <p:cNvSpPr/>
          <p:nvPr/>
        </p:nvSpPr>
        <p:spPr>
          <a:xfrm>
            <a:off x="8582741" y="2907792"/>
            <a:ext cx="128016" cy="128016"/>
          </a:xfrm>
          <a:prstGeom prst="ellipse">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23789" y="2532888"/>
            <a:ext cx="1645920" cy="274320"/>
          </a:xfrm>
          <a:prstGeom prst="rect">
            <a:avLst/>
          </a:prstGeom>
          <a:noFill/>
        </p:spPr>
        <p:txBody>
          <a:bodyPr wrap="square" lIns="0" rIns="0" tIns="0" bIns="0" anchor="t">
            <a:noAutofit/>
          </a:bodyPr>
          <a:lstStyle/>
          <a:p>
            <a:pPr algn="ctr"/>
            <a:r>
              <a:rPr sz="1100" spc="140">
                <a:solidFill>
                  <a:srgbClr val="2E86FF"/>
                </a:solidFill>
                <a:latin typeface="Segoe UI Semibold"/>
              </a:rPr>
              <a:t>NỔ HẠT</a:t>
            </a:r>
          </a:p>
        </p:txBody>
      </p:sp>
      <p:sp>
        <p:nvSpPr>
          <p:cNvPr id="16" name="Oval 15"/>
          <p:cNvSpPr/>
          <p:nvPr/>
        </p:nvSpPr>
        <p:spPr>
          <a:xfrm>
            <a:off x="11347704" y="2907792"/>
            <a:ext cx="128016" cy="128016"/>
          </a:xfrm>
          <a:prstGeom prst="ellipse">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88752" y="2532888"/>
            <a:ext cx="1645920" cy="274320"/>
          </a:xfrm>
          <a:prstGeom prst="rect">
            <a:avLst/>
          </a:prstGeom>
          <a:noFill/>
        </p:spPr>
        <p:txBody>
          <a:bodyPr wrap="square" lIns="0" rIns="0" tIns="0" bIns="0" anchor="t">
            <a:noAutofit/>
          </a:bodyPr>
          <a:lstStyle/>
          <a:p>
            <a:pPr algn="ctr"/>
            <a:r>
              <a:rPr sz="1100" spc="140">
                <a:solidFill>
                  <a:srgbClr val="2E86FF"/>
                </a:solidFill>
                <a:latin typeface="Segoe UI Semibold"/>
              </a:rPr>
              <a:t>XẢ</a:t>
            </a:r>
          </a:p>
        </p:txBody>
      </p:sp>
      <p:sp>
        <p:nvSpPr>
          <p:cNvPr id="18" name="Freeform 17"/>
          <p:cNvSpPr/>
          <p:nvPr/>
        </p:nvSpPr>
        <p:spPr>
          <a:xfrm>
            <a:off x="777240" y="3346704"/>
            <a:ext cx="10634472" cy="0"/>
          </a:xfrm>
          <a:custGeom>
            <a:avLst/>
            <a:gdLst/>
            <a:ahLst/>
            <a:cxnLst/>
            <a:rect l="l" t="t" r="r" b="b"/>
            <a:pathLst>
              <a:path w="10634472" h="0">
                <a:moveTo>
                  <a:pt x="0" y="0"/>
                </a:moveTo>
                <a:lnTo>
                  <a:pt x="10634472" y="0"/>
                </a:lnTo>
              </a:path>
            </a:pathLst>
          </a:custGeom>
          <a:noFill/>
          <a:ln w="9525">
            <a:solidFill>
              <a:srgbClr val="1825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777240" y="3867912"/>
            <a:ext cx="10634472" cy="0"/>
          </a:xfrm>
          <a:custGeom>
            <a:avLst/>
            <a:gdLst/>
            <a:ahLst/>
            <a:cxnLst/>
            <a:rect l="l" t="t" r="r" b="b"/>
            <a:pathLst>
              <a:path w="10634472" h="0">
                <a:moveTo>
                  <a:pt x="0" y="0"/>
                </a:moveTo>
                <a:lnTo>
                  <a:pt x="10634472" y="0"/>
                </a:lnTo>
              </a:path>
            </a:pathLst>
          </a:custGeom>
          <a:noFill/>
          <a:ln w="9525">
            <a:solidFill>
              <a:srgbClr val="1825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777240" y="4389120"/>
            <a:ext cx="10634472" cy="0"/>
          </a:xfrm>
          <a:custGeom>
            <a:avLst/>
            <a:gdLst/>
            <a:ahLst/>
            <a:cxnLst/>
            <a:rect l="l" t="t" r="r" b="b"/>
            <a:pathLst>
              <a:path w="10634472" h="0">
                <a:moveTo>
                  <a:pt x="0" y="0"/>
                </a:moveTo>
                <a:lnTo>
                  <a:pt x="10634472" y="0"/>
                </a:lnTo>
              </a:path>
            </a:pathLst>
          </a:custGeom>
          <a:noFill/>
          <a:ln w="9525">
            <a:solidFill>
              <a:srgbClr val="1825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777240" y="3346704"/>
            <a:ext cx="10634472" cy="1042416"/>
          </a:xfrm>
          <a:custGeom>
            <a:avLst/>
            <a:gdLst/>
            <a:ahLst/>
            <a:cxnLst/>
            <a:rect l="l" t="t" r="r" b="b"/>
            <a:pathLst>
              <a:path w="10634472" h="1042416">
                <a:moveTo>
                  <a:pt x="0" y="1042416"/>
                </a:moveTo>
                <a:lnTo>
                  <a:pt x="177241" y="1003491"/>
                </a:lnTo>
                <a:lnTo>
                  <a:pt x="354482" y="964771"/>
                </a:lnTo>
                <a:lnTo>
                  <a:pt x="531723" y="926460"/>
                </a:lnTo>
                <a:lnTo>
                  <a:pt x="708964" y="888759"/>
                </a:lnTo>
                <a:lnTo>
                  <a:pt x="886206" y="851860"/>
                </a:lnTo>
                <a:lnTo>
                  <a:pt x="1063447" y="815949"/>
                </a:lnTo>
                <a:lnTo>
                  <a:pt x="1240688" y="781202"/>
                </a:lnTo>
                <a:lnTo>
                  <a:pt x="1417929" y="747782"/>
                </a:lnTo>
                <a:lnTo>
                  <a:pt x="1595170" y="715841"/>
                </a:lnTo>
                <a:lnTo>
                  <a:pt x="1772412" y="685514"/>
                </a:lnTo>
                <a:lnTo>
                  <a:pt x="1949653" y="656922"/>
                </a:lnTo>
                <a:lnTo>
                  <a:pt x="2126894" y="630165"/>
                </a:lnTo>
                <a:lnTo>
                  <a:pt x="2304135" y="605330"/>
                </a:lnTo>
                <a:lnTo>
                  <a:pt x="2481376" y="582481"/>
                </a:lnTo>
                <a:lnTo>
                  <a:pt x="2658618" y="561662"/>
                </a:lnTo>
                <a:lnTo>
                  <a:pt x="2835859" y="542899"/>
                </a:lnTo>
                <a:lnTo>
                  <a:pt x="3013100" y="526196"/>
                </a:lnTo>
                <a:lnTo>
                  <a:pt x="3190341" y="511537"/>
                </a:lnTo>
                <a:lnTo>
                  <a:pt x="3367582" y="498885"/>
                </a:lnTo>
                <a:lnTo>
                  <a:pt x="3544824" y="488183"/>
                </a:lnTo>
                <a:lnTo>
                  <a:pt x="3722065" y="479355"/>
                </a:lnTo>
                <a:lnTo>
                  <a:pt x="3899306" y="472306"/>
                </a:lnTo>
                <a:lnTo>
                  <a:pt x="4076547" y="466923"/>
                </a:lnTo>
                <a:lnTo>
                  <a:pt x="4253788" y="463077"/>
                </a:lnTo>
                <a:lnTo>
                  <a:pt x="4431030" y="460623"/>
                </a:lnTo>
                <a:lnTo>
                  <a:pt x="4608271" y="459402"/>
                </a:lnTo>
                <a:lnTo>
                  <a:pt x="4785512" y="459244"/>
                </a:lnTo>
                <a:lnTo>
                  <a:pt x="4962753" y="459966"/>
                </a:lnTo>
                <a:lnTo>
                  <a:pt x="5139994" y="461379"/>
                </a:lnTo>
                <a:lnTo>
                  <a:pt x="5317236" y="463285"/>
                </a:lnTo>
                <a:lnTo>
                  <a:pt x="5494477" y="465482"/>
                </a:lnTo>
                <a:lnTo>
                  <a:pt x="5671718" y="467764"/>
                </a:lnTo>
                <a:lnTo>
                  <a:pt x="5848959" y="469927"/>
                </a:lnTo>
                <a:lnTo>
                  <a:pt x="6026200" y="471764"/>
                </a:lnTo>
                <a:lnTo>
                  <a:pt x="6203442" y="473074"/>
                </a:lnTo>
                <a:lnTo>
                  <a:pt x="6380683" y="473662"/>
                </a:lnTo>
                <a:lnTo>
                  <a:pt x="6557924" y="473337"/>
                </a:lnTo>
                <a:lnTo>
                  <a:pt x="6735165" y="471921"/>
                </a:lnTo>
                <a:lnTo>
                  <a:pt x="6912406" y="469243"/>
                </a:lnTo>
                <a:lnTo>
                  <a:pt x="7089648" y="465149"/>
                </a:lnTo>
                <a:lnTo>
                  <a:pt x="7266889" y="459494"/>
                </a:lnTo>
                <a:lnTo>
                  <a:pt x="7444130" y="452153"/>
                </a:lnTo>
                <a:lnTo>
                  <a:pt x="7621371" y="443016"/>
                </a:lnTo>
                <a:lnTo>
                  <a:pt x="7798612" y="431991"/>
                </a:lnTo>
                <a:lnTo>
                  <a:pt x="7975854" y="419005"/>
                </a:lnTo>
                <a:lnTo>
                  <a:pt x="8153095" y="404004"/>
                </a:lnTo>
                <a:lnTo>
                  <a:pt x="8330336" y="386955"/>
                </a:lnTo>
                <a:lnTo>
                  <a:pt x="8507577" y="367846"/>
                </a:lnTo>
                <a:lnTo>
                  <a:pt x="8684818" y="346684"/>
                </a:lnTo>
                <a:lnTo>
                  <a:pt x="8862060" y="323497"/>
                </a:lnTo>
                <a:lnTo>
                  <a:pt x="9039301" y="298333"/>
                </a:lnTo>
                <a:lnTo>
                  <a:pt x="9216542" y="271262"/>
                </a:lnTo>
                <a:lnTo>
                  <a:pt x="9393783" y="242370"/>
                </a:lnTo>
                <a:lnTo>
                  <a:pt x="9571024" y="211763"/>
                </a:lnTo>
                <a:lnTo>
                  <a:pt x="9748266" y="179563"/>
                </a:lnTo>
                <a:lnTo>
                  <a:pt x="9925507" y="145909"/>
                </a:lnTo>
                <a:lnTo>
                  <a:pt x="10102748" y="110955"/>
                </a:lnTo>
                <a:lnTo>
                  <a:pt x="10279989" y="74865"/>
                </a:lnTo>
                <a:lnTo>
                  <a:pt x="10457230" y="37818"/>
                </a:lnTo>
                <a:lnTo>
                  <a:pt x="10634472" y="0"/>
                </a:lnTo>
              </a:path>
            </a:pathLst>
          </a:custGeom>
          <a:noFill/>
          <a:ln w="44450">
            <a:solidFill>
              <a:srgbClr val="2E8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6948" y="4338828"/>
            <a:ext cx="100584" cy="100584"/>
          </a:xfrm>
          <a:prstGeom prst="ellipse">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361420" y="3296412"/>
            <a:ext cx="100584" cy="100584"/>
          </a:xfrm>
          <a:prstGeom prst="ellipse">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617720"/>
            <a:ext cx="4572000" cy="274320"/>
          </a:xfrm>
          <a:prstGeom prst="rect">
            <a:avLst/>
          </a:prstGeom>
          <a:noFill/>
        </p:spPr>
        <p:txBody>
          <a:bodyPr wrap="square" lIns="0" rIns="0" tIns="0" bIns="0" anchor="t">
            <a:noAutofit/>
          </a:bodyPr>
          <a:lstStyle/>
          <a:p>
            <a:pPr algn="l"/>
            <a:r>
              <a:rPr sz="1050" spc="160">
                <a:solidFill>
                  <a:srgbClr val="2E86FF"/>
                </a:solidFill>
                <a:latin typeface="Segoe UI Semibold"/>
              </a:rPr>
              <a:t>MỨC ÁP HÚT GHI THEO TỪNG GIÂY</a:t>
            </a:r>
          </a:p>
        </p:txBody>
      </p:sp>
      <p:sp>
        <p:nvSpPr>
          <p:cNvPr id="25" name="Rectangle 24"/>
          <p:cNvSpPr/>
          <p:nvPr/>
        </p:nvSpPr>
        <p:spPr>
          <a:xfrm>
            <a:off x="777240" y="5029200"/>
            <a:ext cx="365760" cy="381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184648"/>
            <a:ext cx="3393338" cy="274320"/>
          </a:xfrm>
          <a:prstGeom prst="rect">
            <a:avLst/>
          </a:prstGeom>
          <a:noFill/>
        </p:spPr>
        <p:txBody>
          <a:bodyPr wrap="square" lIns="0" rIns="0" tIns="0" bIns="0" anchor="t">
            <a:noAutofit/>
          </a:bodyPr>
          <a:lstStyle/>
          <a:p>
            <a:pPr algn="l"/>
            <a:r>
              <a:rPr sz="1500">
                <a:solidFill>
                  <a:srgbClr val="FFFFFF"/>
                </a:solidFill>
                <a:latin typeface="Segoe UI Semibold"/>
              </a:rPr>
              <a:t>Ghi lúc rang tay</a:t>
            </a:r>
          </a:p>
        </p:txBody>
      </p:sp>
      <p:sp>
        <p:nvSpPr>
          <p:cNvPr id="27" name="TextBox 26"/>
          <p:cNvSpPr txBox="1"/>
          <p:nvPr/>
        </p:nvSpPr>
        <p:spPr>
          <a:xfrm>
            <a:off x="777240" y="5477256"/>
            <a:ext cx="3393338" cy="548640"/>
          </a:xfrm>
          <a:prstGeom prst="rect">
            <a:avLst/>
          </a:prstGeom>
          <a:noFill/>
        </p:spPr>
        <p:txBody>
          <a:bodyPr wrap="square" lIns="0" rIns="0" tIns="0" bIns="0" anchor="t">
            <a:noAutofit/>
          </a:bodyPr>
          <a:lstStyle/>
          <a:p>
            <a:pPr algn="l">
              <a:lnSpc>
                <a:spcPct val="130000"/>
              </a:lnSpc>
            </a:pPr>
            <a:r>
              <a:rPr sz="1250">
                <a:solidFill>
                  <a:srgbClr val="94A6C0"/>
                </a:solidFill>
                <a:latin typeface="Segoe UI"/>
              </a:rPr>
              <a:t>Mỗi giây một giá trị, nằm chung hồ sơ với nhiệt và gas.</a:t>
            </a:r>
          </a:p>
        </p:txBody>
      </p:sp>
      <p:sp>
        <p:nvSpPr>
          <p:cNvPr id="28" name="Rectangle 27"/>
          <p:cNvSpPr/>
          <p:nvPr/>
        </p:nvSpPr>
        <p:spPr>
          <a:xfrm>
            <a:off x="4399178" y="5029200"/>
            <a:ext cx="365760" cy="381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99178" y="5184648"/>
            <a:ext cx="3393338" cy="274320"/>
          </a:xfrm>
          <a:prstGeom prst="rect">
            <a:avLst/>
          </a:prstGeom>
          <a:noFill/>
        </p:spPr>
        <p:txBody>
          <a:bodyPr wrap="square" lIns="0" rIns="0" tIns="0" bIns="0" anchor="t">
            <a:noAutofit/>
          </a:bodyPr>
          <a:lstStyle/>
          <a:p>
            <a:pPr algn="l"/>
            <a:r>
              <a:rPr sz="1500">
                <a:solidFill>
                  <a:srgbClr val="FFFFFF"/>
                </a:solidFill>
                <a:latin typeface="Segoe UI Semibold"/>
              </a:rPr>
              <a:t>Phát lại lúc rang AUTO</a:t>
            </a:r>
          </a:p>
        </p:txBody>
      </p:sp>
      <p:sp>
        <p:nvSpPr>
          <p:cNvPr id="30" name="TextBox 29"/>
          <p:cNvSpPr txBox="1"/>
          <p:nvPr/>
        </p:nvSpPr>
        <p:spPr>
          <a:xfrm>
            <a:off x="4399178" y="5477256"/>
            <a:ext cx="3393338" cy="548640"/>
          </a:xfrm>
          <a:prstGeom prst="rect">
            <a:avLst/>
          </a:prstGeom>
          <a:noFill/>
        </p:spPr>
        <p:txBody>
          <a:bodyPr wrap="square" lIns="0" rIns="0" tIns="0" bIns="0" anchor="t">
            <a:noAutofit/>
          </a:bodyPr>
          <a:lstStyle/>
          <a:p>
            <a:pPr algn="l">
              <a:lnSpc>
                <a:spcPct val="130000"/>
              </a:lnSpc>
            </a:pPr>
            <a:r>
              <a:rPr sz="1250">
                <a:solidFill>
                  <a:srgbClr val="94A6C0"/>
                </a:solidFill>
                <a:latin typeface="Segoe UI"/>
              </a:rPr>
              <a:t>Máy bám đúng đường áp hút của mẻ nền đã chọn.</a:t>
            </a:r>
          </a:p>
        </p:txBody>
      </p:sp>
      <p:sp>
        <p:nvSpPr>
          <p:cNvPr id="31" name="Rectangle 30"/>
          <p:cNvSpPr/>
          <p:nvPr/>
        </p:nvSpPr>
        <p:spPr>
          <a:xfrm>
            <a:off x="8021116" y="5029200"/>
            <a:ext cx="365760" cy="381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21116" y="5184648"/>
            <a:ext cx="3393338" cy="274320"/>
          </a:xfrm>
          <a:prstGeom prst="rect">
            <a:avLst/>
          </a:prstGeom>
          <a:noFill/>
        </p:spPr>
        <p:txBody>
          <a:bodyPr wrap="square" lIns="0" rIns="0" tIns="0" bIns="0" anchor="t">
            <a:noAutofit/>
          </a:bodyPr>
          <a:lstStyle/>
          <a:p>
            <a:pPr algn="l"/>
            <a:r>
              <a:rPr sz="1500">
                <a:solidFill>
                  <a:srgbClr val="FFFFFF"/>
                </a:solidFill>
                <a:latin typeface="Segoe UI Semibold"/>
              </a:rPr>
              <a:t>Xả xong trả về như cũ</a:t>
            </a:r>
          </a:p>
        </p:txBody>
      </p:sp>
      <p:sp>
        <p:nvSpPr>
          <p:cNvPr id="33" name="TextBox 32"/>
          <p:cNvSpPr txBox="1"/>
          <p:nvPr/>
        </p:nvSpPr>
        <p:spPr>
          <a:xfrm>
            <a:off x="8021116" y="5477256"/>
            <a:ext cx="3393338" cy="548640"/>
          </a:xfrm>
          <a:prstGeom prst="rect">
            <a:avLst/>
          </a:prstGeom>
          <a:noFill/>
        </p:spPr>
        <p:txBody>
          <a:bodyPr wrap="square" lIns="0" rIns="0" tIns="0" bIns="0" anchor="t">
            <a:noAutofit/>
          </a:bodyPr>
          <a:lstStyle/>
          <a:p>
            <a:pPr algn="l">
              <a:lnSpc>
                <a:spcPct val="130000"/>
              </a:lnSpc>
            </a:pPr>
            <a:r>
              <a:rPr sz="1250">
                <a:solidFill>
                  <a:srgbClr val="94A6C0"/>
                </a:solidFill>
                <a:latin typeface="Segoe UI"/>
              </a:rPr>
              <a:t>Kết mẻ hoặc bấm huỷ là trạng thái hút quay lại mức trước đó.</a:t>
            </a:r>
          </a:p>
        </p:txBody>
      </p:sp>
      <p:sp>
        <p:nvSpPr>
          <p:cNvPr id="34" name="TextBox 33"/>
          <p:cNvSpPr txBox="1"/>
          <p:nvPr/>
        </p:nvSpPr>
        <p:spPr>
          <a:xfrm>
            <a:off x="777240" y="6199632"/>
            <a:ext cx="10637215" cy="274320"/>
          </a:xfrm>
          <a:prstGeom prst="rect">
            <a:avLst/>
          </a:prstGeom>
          <a:noFill/>
        </p:spPr>
        <p:txBody>
          <a:bodyPr wrap="square" lIns="0" rIns="0" tIns="0" bIns="0" anchor="t">
            <a:noAutofit/>
          </a:bodyPr>
          <a:lstStyle/>
          <a:p>
            <a:pPr algn="l"/>
            <a:r>
              <a:rPr sz="1000" spc="120">
                <a:solidFill>
                  <a:srgbClr val="5B6C88"/>
                </a:solidFill>
                <a:latin typeface="Segoe UI"/>
              </a:rPr>
              <a:t>O TESLA  ·  OTL-06ALS</a:t>
            </a:r>
          </a:p>
        </p:txBody>
      </p:sp>
      <p:sp>
        <p:nvSpPr>
          <p:cNvPr id="35" name="TextBox 34"/>
          <p:cNvSpPr txBox="1"/>
          <p:nvPr/>
        </p:nvSpPr>
        <p:spPr>
          <a:xfrm>
            <a:off x="777240" y="6199632"/>
            <a:ext cx="10637215" cy="274320"/>
          </a:xfrm>
          <a:prstGeom prst="rect">
            <a:avLst/>
          </a:prstGeom>
          <a:noFill/>
        </p:spPr>
        <p:txBody>
          <a:bodyPr wrap="square" lIns="0" rIns="0" tIns="0" bIns="0" anchor="t">
            <a:noAutofit/>
          </a:bodyPr>
          <a:lstStyle/>
          <a:p>
            <a:pPr algn="r"/>
            <a:r>
              <a:rPr sz="1000" spc="120">
                <a:solidFill>
                  <a:srgbClr val="5B6C88"/>
                </a:solidFill>
                <a:latin typeface="Bahnschrift SemiBold Condensed"/>
              </a:rPr>
              <a:t>10 / 12</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900">
        <p159:morph option="byObject"/>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424"/>
              </a:gs>
              <a:gs pos="100000">
                <a:srgbClr val="060A12"/>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
          <p:cNvSpPr/>
          <p:nvPr/>
        </p:nvSpPr>
        <p:spPr>
          <a:xfrm>
            <a:off x="-2377440" y="3291840"/>
            <a:ext cx="6035040" cy="6035040"/>
          </a:xfrm>
          <a:prstGeom prst="ellipse">
            <a:avLst/>
          </a:prstGeom>
          <a:gradFill rotWithShape="1">
            <a:gsLst>
              <a:gs pos="0">
                <a:srgbClr val="2E86FF">
                  <a:alpha val="24000"/>
                </a:srgbClr>
              </a:gs>
              <a:gs pos="55000">
                <a:srgbClr val="2E86FF">
                  <a:alpha val="8400"/>
                </a:srgbClr>
              </a:gs>
              <a:gs pos="100000">
                <a:srgbClr val="2E86FF">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777240" y="658368"/>
            <a:ext cx="10637215" cy="274320"/>
          </a:xfrm>
          <a:prstGeom prst="rect">
            <a:avLst/>
          </a:prstGeom>
          <a:noFill/>
        </p:spPr>
        <p:txBody>
          <a:bodyPr wrap="square" lIns="0" rIns="0" tIns="0" bIns="0" anchor="t">
            <a:noAutofit/>
          </a:bodyPr>
          <a:lstStyle/>
          <a:p>
            <a:pPr algn="l"/>
            <a:r>
              <a:rPr sz="1200" spc="240">
                <a:solidFill>
                  <a:srgbClr val="2E86FF"/>
                </a:solidFill>
                <a:latin typeface="Segoe UI Semibold"/>
              </a:rPr>
              <a:t>TÓM TẮT</a:t>
            </a:r>
          </a:p>
        </p:txBody>
      </p:sp>
      <p:sp>
        <p:nvSpPr>
          <p:cNvPr id="5" name="RULE"/>
          <p:cNvSpPr/>
          <p:nvPr/>
        </p:nvSpPr>
        <p:spPr>
          <a:xfrm>
            <a:off x="777240" y="950976"/>
            <a:ext cx="1371600" cy="635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ING"/>
          <p:cNvSpPr txBox="1"/>
          <p:nvPr/>
        </p:nvSpPr>
        <p:spPr>
          <a:xfrm>
            <a:off x="777240" y="1024128"/>
            <a:ext cx="10637215" cy="1280160"/>
          </a:xfrm>
          <a:prstGeom prst="rect">
            <a:avLst/>
          </a:prstGeom>
          <a:noFill/>
        </p:spPr>
        <p:txBody>
          <a:bodyPr wrap="square" lIns="0" rIns="0" tIns="0" bIns="0" anchor="t">
            <a:noAutofit/>
          </a:bodyPr>
          <a:lstStyle/>
          <a:p>
            <a:pPr algn="l">
              <a:lnSpc>
                <a:spcPct val="94000"/>
              </a:lnSpc>
            </a:pPr>
            <a:r>
              <a:rPr sz="4000">
                <a:solidFill>
                  <a:srgbClr val="FFFFFF"/>
                </a:solidFill>
                <a:latin typeface="Segoe UI Black"/>
              </a:rPr>
              <a:t>Những con số cần nhớ</a:t>
            </a:r>
          </a:p>
        </p:txBody>
      </p:sp>
      <p:sp>
        <p:nvSpPr>
          <p:cNvPr id="7" name="Rounded Rectangle 6"/>
          <p:cNvSpPr/>
          <p:nvPr/>
        </p:nvSpPr>
        <p:spPr>
          <a:xfrm>
            <a:off x="777240" y="2468880"/>
            <a:ext cx="2017715" cy="292608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2788920"/>
            <a:ext cx="1432499" cy="914400"/>
          </a:xfrm>
          <a:prstGeom prst="rect">
            <a:avLst/>
          </a:prstGeom>
          <a:noFill/>
        </p:spPr>
        <p:txBody>
          <a:bodyPr wrap="square" lIns="0" rIns="0" tIns="0" bIns="0" anchor="t">
            <a:noAutofit/>
          </a:bodyPr>
          <a:lstStyle/>
          <a:p>
            <a:pPr algn="l">
              <a:lnSpc>
                <a:spcPct val="95000"/>
              </a:lnSpc>
            </a:pPr>
            <a:r>
              <a:rPr sz="5400" spc="-200">
                <a:solidFill>
                  <a:srgbClr val="FFFFFF"/>
                </a:solidFill>
                <a:latin typeface="Segoe UI Black"/>
              </a:rPr>
              <a:t>± 3</a:t>
            </a:r>
          </a:p>
        </p:txBody>
      </p:sp>
      <p:sp>
        <p:nvSpPr>
          <p:cNvPr id="9" name="TextBox 8"/>
          <p:cNvSpPr txBox="1"/>
          <p:nvPr/>
        </p:nvSpPr>
        <p:spPr>
          <a:xfrm>
            <a:off x="1069848" y="3639312"/>
            <a:ext cx="1432499" cy="320040"/>
          </a:xfrm>
          <a:prstGeom prst="rect">
            <a:avLst/>
          </a:prstGeom>
          <a:noFill/>
        </p:spPr>
        <p:txBody>
          <a:bodyPr wrap="square" lIns="0" rIns="0" tIns="0" bIns="0" anchor="t">
            <a:noAutofit/>
          </a:bodyPr>
          <a:lstStyle/>
          <a:p>
            <a:pPr algn="l"/>
            <a:r>
              <a:rPr sz="1200" spc="180">
                <a:solidFill>
                  <a:srgbClr val="22D3EE"/>
                </a:solidFill>
                <a:latin typeface="Segoe UI Semibold"/>
              </a:rPr>
              <a:t>PA</a:t>
            </a:r>
          </a:p>
        </p:txBody>
      </p:sp>
      <p:sp>
        <p:nvSpPr>
          <p:cNvPr id="10" name="Rectangle 9"/>
          <p:cNvSpPr/>
          <p:nvPr/>
        </p:nvSpPr>
        <p:spPr>
          <a:xfrm>
            <a:off x="1069848" y="4114800"/>
            <a:ext cx="457200" cy="25400"/>
          </a:xfrm>
          <a:prstGeom prst="rect">
            <a:avLst/>
          </a:prstGeom>
          <a:solidFill>
            <a:srgbClr val="1F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 y="4315968"/>
            <a:ext cx="1432499" cy="365760"/>
          </a:xfrm>
          <a:prstGeom prst="rect">
            <a:avLst/>
          </a:prstGeom>
          <a:noFill/>
        </p:spPr>
        <p:txBody>
          <a:bodyPr wrap="square" lIns="0" rIns="0" tIns="0" bIns="0" anchor="t">
            <a:noAutofit/>
          </a:bodyPr>
          <a:lstStyle/>
          <a:p>
            <a:pPr algn="l"/>
            <a:r>
              <a:rPr sz="1500">
                <a:solidFill>
                  <a:srgbClr val="FFFFFF"/>
                </a:solidFill>
                <a:latin typeface="Segoe UI Semibold"/>
              </a:rPr>
              <a:t>Vùng chết</a:t>
            </a:r>
          </a:p>
        </p:txBody>
      </p:sp>
      <p:sp>
        <p:nvSpPr>
          <p:cNvPr id="12" name="TextBox 11"/>
          <p:cNvSpPr txBox="1"/>
          <p:nvPr/>
        </p:nvSpPr>
        <p:spPr>
          <a:xfrm>
            <a:off x="1069848" y="4645152"/>
            <a:ext cx="1432499" cy="640080"/>
          </a:xfrm>
          <a:prstGeom prst="rect">
            <a:avLst/>
          </a:prstGeom>
          <a:noFill/>
        </p:spPr>
        <p:txBody>
          <a:bodyPr wrap="square" lIns="0" rIns="0" tIns="0" bIns="0" anchor="t">
            <a:noAutofit/>
          </a:bodyPr>
          <a:lstStyle/>
          <a:p>
            <a:pPr algn="l">
              <a:lnSpc>
                <a:spcPct val="130000"/>
              </a:lnSpc>
            </a:pPr>
            <a:r>
              <a:rPr sz="1200">
                <a:solidFill>
                  <a:srgbClr val="5B6C88"/>
                </a:solidFill>
                <a:latin typeface="Segoe UI"/>
              </a:rPr>
              <a:t>Trong khoảng này thì đứng yên</a:t>
            </a:r>
          </a:p>
        </p:txBody>
      </p:sp>
      <p:sp>
        <p:nvSpPr>
          <p:cNvPr id="13" name="Rounded Rectangle 12"/>
          <p:cNvSpPr/>
          <p:nvPr/>
        </p:nvSpPr>
        <p:spPr>
          <a:xfrm>
            <a:off x="2932115" y="2468880"/>
            <a:ext cx="2017715" cy="292608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24723" y="2788920"/>
            <a:ext cx="1432499" cy="914400"/>
          </a:xfrm>
          <a:prstGeom prst="rect">
            <a:avLst/>
          </a:prstGeom>
          <a:noFill/>
        </p:spPr>
        <p:txBody>
          <a:bodyPr wrap="square" lIns="0" rIns="0" tIns="0" bIns="0" anchor="t">
            <a:noAutofit/>
          </a:bodyPr>
          <a:lstStyle/>
          <a:p>
            <a:pPr algn="l">
              <a:lnSpc>
                <a:spcPct val="95000"/>
              </a:lnSpc>
            </a:pPr>
            <a:r>
              <a:rPr sz="5400" spc="-200">
                <a:solidFill>
                  <a:srgbClr val="FFFFFF"/>
                </a:solidFill>
                <a:latin typeface="Segoe UI Black"/>
              </a:rPr>
              <a:t>1</a:t>
            </a:r>
          </a:p>
        </p:txBody>
      </p:sp>
      <p:sp>
        <p:nvSpPr>
          <p:cNvPr id="15" name="TextBox 14"/>
          <p:cNvSpPr txBox="1"/>
          <p:nvPr/>
        </p:nvSpPr>
        <p:spPr>
          <a:xfrm>
            <a:off x="3224723" y="3639312"/>
            <a:ext cx="1432499" cy="320040"/>
          </a:xfrm>
          <a:prstGeom prst="rect">
            <a:avLst/>
          </a:prstGeom>
          <a:noFill/>
        </p:spPr>
        <p:txBody>
          <a:bodyPr wrap="square" lIns="0" rIns="0" tIns="0" bIns="0" anchor="t">
            <a:noAutofit/>
          </a:bodyPr>
          <a:lstStyle/>
          <a:p>
            <a:pPr algn="l"/>
            <a:r>
              <a:rPr sz="1200" spc="180">
                <a:solidFill>
                  <a:srgbClr val="22D3EE"/>
                </a:solidFill>
                <a:latin typeface="Segoe UI Semibold"/>
              </a:rPr>
              <a:t>%</a:t>
            </a:r>
          </a:p>
        </p:txBody>
      </p:sp>
      <p:sp>
        <p:nvSpPr>
          <p:cNvPr id="16" name="Rectangle 15"/>
          <p:cNvSpPr/>
          <p:nvPr/>
        </p:nvSpPr>
        <p:spPr>
          <a:xfrm>
            <a:off x="3224723" y="4114800"/>
            <a:ext cx="457200" cy="25400"/>
          </a:xfrm>
          <a:prstGeom prst="rect">
            <a:avLst/>
          </a:prstGeom>
          <a:solidFill>
            <a:srgbClr val="1F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24723" y="4315968"/>
            <a:ext cx="1432499" cy="365760"/>
          </a:xfrm>
          <a:prstGeom prst="rect">
            <a:avLst/>
          </a:prstGeom>
          <a:noFill/>
        </p:spPr>
        <p:txBody>
          <a:bodyPr wrap="square" lIns="0" rIns="0" tIns="0" bIns="0" anchor="t">
            <a:noAutofit/>
          </a:bodyPr>
          <a:lstStyle/>
          <a:p>
            <a:pPr algn="l"/>
            <a:r>
              <a:rPr sz="1500">
                <a:solidFill>
                  <a:srgbClr val="FFFFFF"/>
                </a:solidFill>
                <a:latin typeface="Segoe UI Semibold"/>
              </a:rPr>
              <a:t>Mỗi bước gió</a:t>
            </a:r>
          </a:p>
        </p:txBody>
      </p:sp>
      <p:sp>
        <p:nvSpPr>
          <p:cNvPr id="18" name="TextBox 17"/>
          <p:cNvSpPr txBox="1"/>
          <p:nvPr/>
        </p:nvSpPr>
        <p:spPr>
          <a:xfrm>
            <a:off x="3224723" y="4645152"/>
            <a:ext cx="1432499" cy="640080"/>
          </a:xfrm>
          <a:prstGeom prst="rect">
            <a:avLst/>
          </a:prstGeom>
          <a:noFill/>
        </p:spPr>
        <p:txBody>
          <a:bodyPr wrap="square" lIns="0" rIns="0" tIns="0" bIns="0" anchor="t">
            <a:noAutofit/>
          </a:bodyPr>
          <a:lstStyle/>
          <a:p>
            <a:pPr algn="l">
              <a:lnSpc>
                <a:spcPct val="130000"/>
              </a:lnSpc>
            </a:pPr>
            <a:r>
              <a:rPr sz="1200">
                <a:solidFill>
                  <a:srgbClr val="5B6C88"/>
                </a:solidFill>
                <a:latin typeface="Segoe UI"/>
              </a:rPr>
              <a:t>Nhích nhỏ nên không giật mẻ</a:t>
            </a:r>
          </a:p>
        </p:txBody>
      </p:sp>
      <p:sp>
        <p:nvSpPr>
          <p:cNvPr id="19" name="Rounded Rectangle 18"/>
          <p:cNvSpPr/>
          <p:nvPr/>
        </p:nvSpPr>
        <p:spPr>
          <a:xfrm>
            <a:off x="5086990" y="2468880"/>
            <a:ext cx="2017715" cy="292608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79598" y="2788920"/>
            <a:ext cx="1432499" cy="914400"/>
          </a:xfrm>
          <a:prstGeom prst="rect">
            <a:avLst/>
          </a:prstGeom>
          <a:noFill/>
        </p:spPr>
        <p:txBody>
          <a:bodyPr wrap="square" lIns="0" rIns="0" tIns="0" bIns="0" anchor="t">
            <a:noAutofit/>
          </a:bodyPr>
          <a:lstStyle/>
          <a:p>
            <a:pPr algn="l">
              <a:lnSpc>
                <a:spcPct val="95000"/>
              </a:lnSpc>
            </a:pPr>
            <a:r>
              <a:rPr sz="5400" spc="-200">
                <a:solidFill>
                  <a:srgbClr val="FFFFFF"/>
                </a:solidFill>
                <a:latin typeface="Segoe UI Black"/>
              </a:rPr>
              <a:t>60</a:t>
            </a:r>
          </a:p>
        </p:txBody>
      </p:sp>
      <p:sp>
        <p:nvSpPr>
          <p:cNvPr id="21" name="TextBox 20"/>
          <p:cNvSpPr txBox="1"/>
          <p:nvPr/>
        </p:nvSpPr>
        <p:spPr>
          <a:xfrm>
            <a:off x="5379598" y="3639312"/>
            <a:ext cx="1432499" cy="320040"/>
          </a:xfrm>
          <a:prstGeom prst="rect">
            <a:avLst/>
          </a:prstGeom>
          <a:noFill/>
        </p:spPr>
        <p:txBody>
          <a:bodyPr wrap="square" lIns="0" rIns="0" tIns="0" bIns="0" anchor="t">
            <a:noAutofit/>
          </a:bodyPr>
          <a:lstStyle/>
          <a:p>
            <a:pPr algn="l"/>
            <a:r>
              <a:rPr sz="1200" spc="180">
                <a:solidFill>
                  <a:srgbClr val="22D3EE"/>
                </a:solidFill>
                <a:latin typeface="Segoe UI Semibold"/>
              </a:rPr>
              <a:t>Ô NHỚ</a:t>
            </a:r>
          </a:p>
        </p:txBody>
      </p:sp>
      <p:sp>
        <p:nvSpPr>
          <p:cNvPr id="22" name="Rectangle 21"/>
          <p:cNvSpPr/>
          <p:nvPr/>
        </p:nvSpPr>
        <p:spPr>
          <a:xfrm>
            <a:off x="5379598" y="4114800"/>
            <a:ext cx="457200" cy="25400"/>
          </a:xfrm>
          <a:prstGeom prst="rect">
            <a:avLst/>
          </a:prstGeom>
          <a:solidFill>
            <a:srgbClr val="1F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79598" y="4315968"/>
            <a:ext cx="1432499" cy="365760"/>
          </a:xfrm>
          <a:prstGeom prst="rect">
            <a:avLst/>
          </a:prstGeom>
          <a:noFill/>
        </p:spPr>
        <p:txBody>
          <a:bodyPr wrap="square" lIns="0" rIns="0" tIns="0" bIns="0" anchor="t">
            <a:noAutofit/>
          </a:bodyPr>
          <a:lstStyle/>
          <a:p>
            <a:pPr algn="l"/>
            <a:r>
              <a:rPr sz="1500">
                <a:solidFill>
                  <a:srgbClr val="FFFFFF"/>
                </a:solidFill>
                <a:latin typeface="Segoe UI Semibold"/>
              </a:rPr>
              <a:t>Bảng ghi nhớ</a:t>
            </a:r>
          </a:p>
        </p:txBody>
      </p:sp>
      <p:sp>
        <p:nvSpPr>
          <p:cNvPr id="24" name="TextBox 23"/>
          <p:cNvSpPr txBox="1"/>
          <p:nvPr/>
        </p:nvSpPr>
        <p:spPr>
          <a:xfrm>
            <a:off x="5379598" y="4645152"/>
            <a:ext cx="1432499" cy="640080"/>
          </a:xfrm>
          <a:prstGeom prst="rect">
            <a:avLst/>
          </a:prstGeom>
          <a:noFill/>
        </p:spPr>
        <p:txBody>
          <a:bodyPr wrap="square" lIns="0" rIns="0" tIns="0" bIns="0" anchor="t">
            <a:noAutofit/>
          </a:bodyPr>
          <a:lstStyle/>
          <a:p>
            <a:pPr algn="l">
              <a:lnSpc>
                <a:spcPct val="130000"/>
              </a:lnSpc>
            </a:pPr>
            <a:r>
              <a:rPr sz="1200">
                <a:solidFill>
                  <a:srgbClr val="5B6C88"/>
                </a:solidFill>
                <a:latin typeface="Segoe UI"/>
              </a:rPr>
              <a:t>Lưu trong /pid_ff.txt</a:t>
            </a:r>
          </a:p>
        </p:txBody>
      </p:sp>
      <p:sp>
        <p:nvSpPr>
          <p:cNvPr id="25" name="Rounded Rectangle 24"/>
          <p:cNvSpPr/>
          <p:nvPr/>
        </p:nvSpPr>
        <p:spPr>
          <a:xfrm>
            <a:off x="7241865" y="2468880"/>
            <a:ext cx="2017715" cy="292608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34473" y="2788920"/>
            <a:ext cx="1432499" cy="914400"/>
          </a:xfrm>
          <a:prstGeom prst="rect">
            <a:avLst/>
          </a:prstGeom>
          <a:noFill/>
        </p:spPr>
        <p:txBody>
          <a:bodyPr wrap="square" lIns="0" rIns="0" tIns="0" bIns="0" anchor="t">
            <a:noAutofit/>
          </a:bodyPr>
          <a:lstStyle/>
          <a:p>
            <a:pPr algn="l">
              <a:lnSpc>
                <a:spcPct val="95000"/>
              </a:lnSpc>
            </a:pPr>
            <a:r>
              <a:rPr sz="5400" spc="-200">
                <a:solidFill>
                  <a:srgbClr val="FFFFFF"/>
                </a:solidFill>
                <a:latin typeface="Segoe UI Black"/>
              </a:rPr>
              <a:t>51</a:t>
            </a:r>
          </a:p>
        </p:txBody>
      </p:sp>
      <p:sp>
        <p:nvSpPr>
          <p:cNvPr id="27" name="TextBox 26"/>
          <p:cNvSpPr txBox="1"/>
          <p:nvPr/>
        </p:nvSpPr>
        <p:spPr>
          <a:xfrm>
            <a:off x="7534473" y="3639312"/>
            <a:ext cx="1432499" cy="320040"/>
          </a:xfrm>
          <a:prstGeom prst="rect">
            <a:avLst/>
          </a:prstGeom>
          <a:noFill/>
        </p:spPr>
        <p:txBody>
          <a:bodyPr wrap="square" lIns="0" rIns="0" tIns="0" bIns="0" anchor="t">
            <a:noAutofit/>
          </a:bodyPr>
          <a:lstStyle/>
          <a:p>
            <a:pPr algn="l"/>
            <a:r>
              <a:rPr sz="1200" spc="180">
                <a:solidFill>
                  <a:srgbClr val="22D3EE"/>
                </a:solidFill>
                <a:latin typeface="Segoe UI Semibold"/>
              </a:rPr>
              <a:t>ĐIỂM</a:t>
            </a:r>
          </a:p>
        </p:txBody>
      </p:sp>
      <p:sp>
        <p:nvSpPr>
          <p:cNvPr id="28" name="Rectangle 27"/>
          <p:cNvSpPr/>
          <p:nvPr/>
        </p:nvSpPr>
        <p:spPr>
          <a:xfrm>
            <a:off x="7534473" y="4114800"/>
            <a:ext cx="457200" cy="25400"/>
          </a:xfrm>
          <a:prstGeom prst="rect">
            <a:avLst/>
          </a:prstGeom>
          <a:solidFill>
            <a:srgbClr val="1F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34473" y="4315968"/>
            <a:ext cx="1432499" cy="365760"/>
          </a:xfrm>
          <a:prstGeom prst="rect">
            <a:avLst/>
          </a:prstGeom>
          <a:noFill/>
        </p:spPr>
        <p:txBody>
          <a:bodyPr wrap="square" lIns="0" rIns="0" tIns="0" bIns="0" anchor="t">
            <a:noAutofit/>
          </a:bodyPr>
          <a:lstStyle/>
          <a:p>
            <a:pPr algn="l"/>
            <a:r>
              <a:rPr sz="1500">
                <a:solidFill>
                  <a:srgbClr val="FFFFFF"/>
                </a:solidFill>
                <a:latin typeface="Segoe UI Semibold"/>
              </a:rPr>
              <a:t>Lần quét đầu</a:t>
            </a:r>
          </a:p>
        </p:txBody>
      </p:sp>
      <p:sp>
        <p:nvSpPr>
          <p:cNvPr id="30" name="TextBox 29"/>
          <p:cNvSpPr txBox="1"/>
          <p:nvPr/>
        </p:nvSpPr>
        <p:spPr>
          <a:xfrm>
            <a:off x="7534473" y="4645152"/>
            <a:ext cx="1432499" cy="640080"/>
          </a:xfrm>
          <a:prstGeom prst="rect">
            <a:avLst/>
          </a:prstGeom>
          <a:noFill/>
        </p:spPr>
        <p:txBody>
          <a:bodyPr wrap="square" lIns="0" rIns="0" tIns="0" bIns="0" anchor="t">
            <a:noAutofit/>
          </a:bodyPr>
          <a:lstStyle/>
          <a:p>
            <a:pPr algn="l">
              <a:lnSpc>
                <a:spcPct val="130000"/>
              </a:lnSpc>
            </a:pPr>
            <a:r>
              <a:rPr sz="1200">
                <a:solidFill>
                  <a:srgbClr val="5B6C88"/>
                </a:solidFill>
                <a:latin typeface="Segoe UI"/>
              </a:rPr>
              <a:t>0→100% gió, bước 2%</a:t>
            </a:r>
          </a:p>
        </p:txBody>
      </p:sp>
      <p:sp>
        <p:nvSpPr>
          <p:cNvPr id="31" name="Rounded Rectangle 30"/>
          <p:cNvSpPr/>
          <p:nvPr/>
        </p:nvSpPr>
        <p:spPr>
          <a:xfrm>
            <a:off x="9396740" y="2468880"/>
            <a:ext cx="2017715" cy="2926080"/>
          </a:xfrm>
          <a:prstGeom prst="roundRect">
            <a:avLst>
              <a:gd name="adj" fmla="val 6000"/>
            </a:avLst>
          </a:prstGeom>
          <a:solidFill>
            <a:srgbClr val="101A2C"/>
          </a:solidFill>
          <a:ln w="12700">
            <a:solidFill>
              <a:srgbClr val="1F2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89348" y="2788920"/>
            <a:ext cx="1432499" cy="914400"/>
          </a:xfrm>
          <a:prstGeom prst="rect">
            <a:avLst/>
          </a:prstGeom>
          <a:noFill/>
        </p:spPr>
        <p:txBody>
          <a:bodyPr wrap="square" lIns="0" rIns="0" tIns="0" bIns="0" anchor="t">
            <a:noAutofit/>
          </a:bodyPr>
          <a:lstStyle/>
          <a:p>
            <a:pPr algn="l">
              <a:lnSpc>
                <a:spcPct val="95000"/>
              </a:lnSpc>
            </a:pPr>
            <a:r>
              <a:rPr sz="5400" spc="-200">
                <a:solidFill>
                  <a:srgbClr val="FFFFFF"/>
                </a:solidFill>
                <a:latin typeface="Segoe UI Black"/>
              </a:rPr>
              <a:t>~5</a:t>
            </a:r>
          </a:p>
        </p:txBody>
      </p:sp>
      <p:sp>
        <p:nvSpPr>
          <p:cNvPr id="33" name="TextBox 32"/>
          <p:cNvSpPr txBox="1"/>
          <p:nvPr/>
        </p:nvSpPr>
        <p:spPr>
          <a:xfrm>
            <a:off x="9689348" y="3639312"/>
            <a:ext cx="1432499" cy="320040"/>
          </a:xfrm>
          <a:prstGeom prst="rect">
            <a:avLst/>
          </a:prstGeom>
          <a:noFill/>
        </p:spPr>
        <p:txBody>
          <a:bodyPr wrap="square" lIns="0" rIns="0" tIns="0" bIns="0" anchor="t">
            <a:noAutofit/>
          </a:bodyPr>
          <a:lstStyle/>
          <a:p>
            <a:pPr algn="l"/>
            <a:r>
              <a:rPr sz="1200" spc="180">
                <a:solidFill>
                  <a:srgbClr val="22D3EE"/>
                </a:solidFill>
                <a:latin typeface="Segoe UI Semibold"/>
              </a:rPr>
              <a:t>PHÚT</a:t>
            </a:r>
          </a:p>
        </p:txBody>
      </p:sp>
      <p:sp>
        <p:nvSpPr>
          <p:cNvPr id="34" name="Rectangle 33"/>
          <p:cNvSpPr/>
          <p:nvPr/>
        </p:nvSpPr>
        <p:spPr>
          <a:xfrm>
            <a:off x="9689348" y="4114800"/>
            <a:ext cx="457200" cy="25400"/>
          </a:xfrm>
          <a:prstGeom prst="rect">
            <a:avLst/>
          </a:prstGeom>
          <a:solidFill>
            <a:srgbClr val="1F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89348" y="4315968"/>
            <a:ext cx="1432499" cy="365760"/>
          </a:xfrm>
          <a:prstGeom prst="rect">
            <a:avLst/>
          </a:prstGeom>
          <a:noFill/>
        </p:spPr>
        <p:txBody>
          <a:bodyPr wrap="square" lIns="0" rIns="0" tIns="0" bIns="0" anchor="t">
            <a:noAutofit/>
          </a:bodyPr>
          <a:lstStyle/>
          <a:p>
            <a:pPr algn="l"/>
            <a:r>
              <a:rPr sz="1500">
                <a:solidFill>
                  <a:srgbClr val="FFFFFF"/>
                </a:solidFill>
                <a:latin typeface="Segoe UI Semibold"/>
              </a:rPr>
              <a:t>Cân chỉnh</a:t>
            </a:r>
          </a:p>
        </p:txBody>
      </p:sp>
      <p:sp>
        <p:nvSpPr>
          <p:cNvPr id="36" name="TextBox 35"/>
          <p:cNvSpPr txBox="1"/>
          <p:nvPr/>
        </p:nvSpPr>
        <p:spPr>
          <a:xfrm>
            <a:off x="9689348" y="4645152"/>
            <a:ext cx="1432499" cy="640080"/>
          </a:xfrm>
          <a:prstGeom prst="rect">
            <a:avLst/>
          </a:prstGeom>
          <a:noFill/>
        </p:spPr>
        <p:txBody>
          <a:bodyPr wrap="square" lIns="0" rIns="0" tIns="0" bIns="0" anchor="t">
            <a:noAutofit/>
          </a:bodyPr>
          <a:lstStyle/>
          <a:p>
            <a:pPr algn="l">
              <a:lnSpc>
                <a:spcPct val="130000"/>
              </a:lnSpc>
            </a:pPr>
            <a:r>
              <a:rPr sz="1200">
                <a:solidFill>
                  <a:srgbClr val="5B6C88"/>
                </a:solidFill>
                <a:latin typeface="Segoe UI"/>
              </a:rPr>
              <a:t>Chỉ chạy một lần lúc lắp máy</a:t>
            </a:r>
          </a:p>
        </p:txBody>
      </p:sp>
      <p:sp>
        <p:nvSpPr>
          <p:cNvPr id="37" name="TextBox 36"/>
          <p:cNvSpPr txBox="1"/>
          <p:nvPr/>
        </p:nvSpPr>
        <p:spPr>
          <a:xfrm>
            <a:off x="777240" y="6199632"/>
            <a:ext cx="10637215" cy="274320"/>
          </a:xfrm>
          <a:prstGeom prst="rect">
            <a:avLst/>
          </a:prstGeom>
          <a:noFill/>
        </p:spPr>
        <p:txBody>
          <a:bodyPr wrap="square" lIns="0" rIns="0" tIns="0" bIns="0" anchor="t">
            <a:noAutofit/>
          </a:bodyPr>
          <a:lstStyle/>
          <a:p>
            <a:pPr algn="l"/>
            <a:r>
              <a:rPr sz="1000" spc="120">
                <a:solidFill>
                  <a:srgbClr val="5B6C88"/>
                </a:solidFill>
                <a:latin typeface="Segoe UI"/>
              </a:rPr>
              <a:t>O TESLA  ·  OTL-06ALS</a:t>
            </a:r>
          </a:p>
        </p:txBody>
      </p:sp>
      <p:sp>
        <p:nvSpPr>
          <p:cNvPr id="38" name="TextBox 37"/>
          <p:cNvSpPr txBox="1"/>
          <p:nvPr/>
        </p:nvSpPr>
        <p:spPr>
          <a:xfrm>
            <a:off x="777240" y="6199632"/>
            <a:ext cx="10637215" cy="274320"/>
          </a:xfrm>
          <a:prstGeom prst="rect">
            <a:avLst/>
          </a:prstGeom>
          <a:noFill/>
        </p:spPr>
        <p:txBody>
          <a:bodyPr wrap="square" lIns="0" rIns="0" tIns="0" bIns="0" anchor="t">
            <a:noAutofit/>
          </a:bodyPr>
          <a:lstStyle/>
          <a:p>
            <a:pPr algn="r"/>
            <a:r>
              <a:rPr sz="1000" spc="120">
                <a:solidFill>
                  <a:srgbClr val="5B6C88"/>
                </a:solidFill>
                <a:latin typeface="Bahnschrift SemiBold Condensed"/>
              </a:rPr>
              <a:t>11 / 12</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900">
        <p159:morph option="byObject"/>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424"/>
              </a:gs>
              <a:gs pos="100000">
                <a:srgbClr val="060A12"/>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
          <p:cNvSpPr/>
          <p:nvPr/>
        </p:nvSpPr>
        <p:spPr>
          <a:xfrm>
            <a:off x="2560320" y="274320"/>
            <a:ext cx="7863840" cy="7863840"/>
          </a:xfrm>
          <a:prstGeom prst="ellipse">
            <a:avLst/>
          </a:prstGeom>
          <a:gradFill rotWithShape="1">
            <a:gsLst>
              <a:gs pos="0">
                <a:srgbClr val="2E86FF">
                  <a:alpha val="48000"/>
                </a:srgbClr>
              </a:gs>
              <a:gs pos="55000">
                <a:srgbClr val="2E86FF">
                  <a:alpha val="16800"/>
                </a:srgbClr>
              </a:gs>
              <a:gs pos="100000">
                <a:srgbClr val="2E86FF">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2"/>
          <p:cNvSpPr/>
          <p:nvPr/>
        </p:nvSpPr>
        <p:spPr>
          <a:xfrm>
            <a:off x="9509760" y="4389120"/>
            <a:ext cx="4754880" cy="4754880"/>
          </a:xfrm>
          <a:prstGeom prst="ellipse">
            <a:avLst/>
          </a:prstGeom>
          <a:gradFill rotWithShape="1">
            <a:gsLst>
              <a:gs pos="0">
                <a:srgbClr val="22D3EE">
                  <a:alpha val="18000"/>
                </a:srgbClr>
              </a:gs>
              <a:gs pos="55000">
                <a:srgbClr val="22D3EE">
                  <a:alpha val="6300"/>
                </a:srgbClr>
              </a:gs>
              <a:gs pos="100000">
                <a:srgbClr val="22D3EE">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KICKER"/>
          <p:cNvSpPr txBox="1"/>
          <p:nvPr/>
        </p:nvSpPr>
        <p:spPr>
          <a:xfrm>
            <a:off x="777240" y="1371600"/>
            <a:ext cx="10637215" cy="365760"/>
          </a:xfrm>
          <a:prstGeom prst="rect">
            <a:avLst/>
          </a:prstGeom>
          <a:noFill/>
        </p:spPr>
        <p:txBody>
          <a:bodyPr wrap="square" lIns="0" rIns="0" tIns="0" bIns="0" anchor="t">
            <a:noAutofit/>
          </a:bodyPr>
          <a:lstStyle/>
          <a:p>
            <a:pPr algn="l"/>
            <a:r>
              <a:rPr sz="1200" spc="240">
                <a:solidFill>
                  <a:srgbClr val="22D3EE"/>
                </a:solidFill>
                <a:latin typeface="Segoe UI Semibold"/>
              </a:rPr>
              <a:t>VACUUM CONTROL  ·  OTL-06ALS</a:t>
            </a:r>
          </a:p>
        </p:txBody>
      </p:sp>
      <p:sp>
        <p:nvSpPr>
          <p:cNvPr id="6" name="RULE"/>
          <p:cNvSpPr/>
          <p:nvPr/>
        </p:nvSpPr>
        <p:spPr>
          <a:xfrm>
            <a:off x="777240" y="1883664"/>
            <a:ext cx="1371600" cy="63500"/>
          </a:xfrm>
          <a:prstGeom prst="rect">
            <a:avLst/>
          </a:prstGeom>
          <a:solidFill>
            <a:srgbClr val="2E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ADING"/>
          <p:cNvSpPr txBox="1"/>
          <p:nvPr/>
        </p:nvSpPr>
        <p:spPr>
          <a:xfrm>
            <a:off x="777240" y="2286000"/>
            <a:ext cx="10607040" cy="2194560"/>
          </a:xfrm>
          <a:prstGeom prst="rect">
            <a:avLst/>
          </a:prstGeom>
          <a:noFill/>
        </p:spPr>
        <p:txBody>
          <a:bodyPr wrap="square" lIns="0" rIns="0" tIns="0" bIns="0" anchor="t">
            <a:noAutofit/>
          </a:bodyPr>
          <a:lstStyle/>
          <a:p>
            <a:pPr algn="l">
              <a:lnSpc>
                <a:spcPct val="110000"/>
              </a:lnSpc>
            </a:pPr>
            <a:r>
              <a:rPr sz="5600" spc="-200">
                <a:solidFill>
                  <a:srgbClr val="FFFFFF"/>
                </a:solidFill>
                <a:latin typeface="Segoe UI Black"/>
              </a:rPr>
              <a:t>Lọc có bẩn, ống có bụi.</a:t>
            </a:r>
          </a:p>
          <a:p>
            <a:pPr algn="l">
              <a:lnSpc>
                <a:spcPct val="110000"/>
              </a:lnSpc>
            </a:pPr>
            <a:r>
              <a:rPr sz="5600" spc="-200">
                <a:solidFill>
                  <a:srgbClr val="22D3EE"/>
                </a:solidFill>
                <a:latin typeface="Segoe UI Black"/>
              </a:rPr>
              <a:t>Lực hút vẫn y như hôm qua.</a:t>
            </a:r>
          </a:p>
        </p:txBody>
      </p:sp>
      <p:sp>
        <p:nvSpPr>
          <p:cNvPr id="8" name="Rectangle 7"/>
          <p:cNvSpPr/>
          <p:nvPr/>
        </p:nvSpPr>
        <p:spPr>
          <a:xfrm>
            <a:off x="777240" y="4846320"/>
            <a:ext cx="10607040" cy="12700"/>
          </a:xfrm>
          <a:prstGeom prst="rect">
            <a:avLst/>
          </a:prstGeom>
          <a:solidFill>
            <a:srgbClr val="1F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120640"/>
            <a:ext cx="3383280" cy="274320"/>
          </a:xfrm>
          <a:prstGeom prst="rect">
            <a:avLst/>
          </a:prstGeom>
          <a:noFill/>
        </p:spPr>
        <p:txBody>
          <a:bodyPr wrap="square" lIns="0" rIns="0" tIns="0" bIns="0" anchor="t">
            <a:noAutofit/>
          </a:bodyPr>
          <a:lstStyle/>
          <a:p>
            <a:pPr algn="l"/>
            <a:r>
              <a:rPr sz="1050" spc="160">
                <a:solidFill>
                  <a:srgbClr val="5B6C88"/>
                </a:solidFill>
                <a:latin typeface="Segoe UI Semibold"/>
              </a:rPr>
              <a:t>ĐO BẰNG</a:t>
            </a:r>
          </a:p>
        </p:txBody>
      </p:sp>
      <p:sp>
        <p:nvSpPr>
          <p:cNvPr id="10" name="TextBox 9"/>
          <p:cNvSpPr txBox="1"/>
          <p:nvPr/>
        </p:nvSpPr>
        <p:spPr>
          <a:xfrm>
            <a:off x="777240" y="5440680"/>
            <a:ext cx="3383280" cy="365760"/>
          </a:xfrm>
          <a:prstGeom prst="rect">
            <a:avLst/>
          </a:prstGeom>
          <a:noFill/>
        </p:spPr>
        <p:txBody>
          <a:bodyPr wrap="square" lIns="0" rIns="0" tIns="0" bIns="0" anchor="t">
            <a:noAutofit/>
          </a:bodyPr>
          <a:lstStyle/>
          <a:p>
            <a:pPr algn="l"/>
            <a:r>
              <a:rPr sz="1500">
                <a:solidFill>
                  <a:srgbClr val="FFFFFF"/>
                </a:solidFill>
                <a:latin typeface="Segoe UI Semibold"/>
              </a:rPr>
              <a:t>Cảm biến áp suất chênh, đơn vị Pa</a:t>
            </a:r>
          </a:p>
        </p:txBody>
      </p:sp>
      <p:sp>
        <p:nvSpPr>
          <p:cNvPr id="11" name="TextBox 10"/>
          <p:cNvSpPr txBox="1"/>
          <p:nvPr/>
        </p:nvSpPr>
        <p:spPr>
          <a:xfrm>
            <a:off x="4389120" y="5120640"/>
            <a:ext cx="3383280" cy="274320"/>
          </a:xfrm>
          <a:prstGeom prst="rect">
            <a:avLst/>
          </a:prstGeom>
          <a:noFill/>
        </p:spPr>
        <p:txBody>
          <a:bodyPr wrap="square" lIns="0" rIns="0" tIns="0" bIns="0" anchor="t">
            <a:noAutofit/>
          </a:bodyPr>
          <a:lstStyle/>
          <a:p>
            <a:pPr algn="l"/>
            <a:r>
              <a:rPr sz="1050" spc="160">
                <a:solidFill>
                  <a:srgbClr val="5B6C88"/>
                </a:solidFill>
                <a:latin typeface="Segoe UI Semibold"/>
              </a:rPr>
              <a:t>CẦN CÓ</a:t>
            </a:r>
          </a:p>
        </p:txBody>
      </p:sp>
      <p:sp>
        <p:nvSpPr>
          <p:cNvPr id="12" name="TextBox 11"/>
          <p:cNvSpPr txBox="1"/>
          <p:nvPr/>
        </p:nvSpPr>
        <p:spPr>
          <a:xfrm>
            <a:off x="4389120" y="5440680"/>
            <a:ext cx="3383280" cy="365760"/>
          </a:xfrm>
          <a:prstGeom prst="rect">
            <a:avLst/>
          </a:prstGeom>
          <a:noFill/>
        </p:spPr>
        <p:txBody>
          <a:bodyPr wrap="square" lIns="0" rIns="0" tIns="0" bIns="0" anchor="t">
            <a:noAutofit/>
          </a:bodyPr>
          <a:lstStyle/>
          <a:p>
            <a:pPr algn="l"/>
            <a:r>
              <a:rPr sz="1500">
                <a:solidFill>
                  <a:srgbClr val="FFFFFF"/>
                </a:solidFill>
                <a:latin typeface="Segoe UI Semibold"/>
              </a:rPr>
              <a:t>Biến tần gió điều khiển được</a:t>
            </a:r>
          </a:p>
        </p:txBody>
      </p:sp>
      <p:sp>
        <p:nvSpPr>
          <p:cNvPr id="13" name="TextBox 12"/>
          <p:cNvSpPr txBox="1"/>
          <p:nvPr/>
        </p:nvSpPr>
        <p:spPr>
          <a:xfrm>
            <a:off x="8001000" y="5120640"/>
            <a:ext cx="3383280" cy="274320"/>
          </a:xfrm>
          <a:prstGeom prst="rect">
            <a:avLst/>
          </a:prstGeom>
          <a:noFill/>
        </p:spPr>
        <p:txBody>
          <a:bodyPr wrap="square" lIns="0" rIns="0" tIns="0" bIns="0" anchor="t">
            <a:noAutofit/>
          </a:bodyPr>
          <a:lstStyle/>
          <a:p>
            <a:pPr algn="l"/>
            <a:r>
              <a:rPr sz="1050" spc="160">
                <a:solidFill>
                  <a:srgbClr val="5B6C88"/>
                </a:solidFill>
                <a:latin typeface="Segoe UI Semibold"/>
              </a:rPr>
              <a:t>LIÊN HỆ</a:t>
            </a:r>
          </a:p>
        </p:txBody>
      </p:sp>
      <p:sp>
        <p:nvSpPr>
          <p:cNvPr id="14" name="TextBox 13"/>
          <p:cNvSpPr txBox="1"/>
          <p:nvPr/>
        </p:nvSpPr>
        <p:spPr>
          <a:xfrm>
            <a:off x="8001000" y="5440680"/>
            <a:ext cx="3383280" cy="365760"/>
          </a:xfrm>
          <a:prstGeom prst="rect">
            <a:avLst/>
          </a:prstGeom>
          <a:noFill/>
        </p:spPr>
        <p:txBody>
          <a:bodyPr wrap="square" lIns="0" rIns="0" tIns="0" bIns="0" anchor="t">
            <a:noAutofit/>
          </a:bodyPr>
          <a:lstStyle/>
          <a:p>
            <a:pPr algn="l"/>
            <a:r>
              <a:rPr sz="1500">
                <a:solidFill>
                  <a:srgbClr val="FFFFFF"/>
                </a:solidFill>
                <a:latin typeface="Segoe UI Semibold"/>
              </a:rPr>
              <a:t>O Tesla  ·  otlpro.com@gmail.com</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9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