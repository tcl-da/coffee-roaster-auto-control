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Giới thiệu bài: Bài 25 Toán 3 Kết nối tri thức, trang 72–74.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Yêu cầu cần đạt của tiết học.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Khởi động: 8 quả táo chia đều vào 2 đĩa thì mỗi đĩa mấy quả?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Khám phá 1: 8 : 2 = 4, không thừa quả nào — phép chia hết.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Khám phá 2: 9 : 2 = 4 dư 1 — phép chia có dư.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sánh hai phép chia cạnh nhau.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Quy tắc phải nhớ: số dư luôn bé hơn số chia.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Luyện tập bài 2 trang 74: nối phép chia với số dư của nó.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Đáp án bài nối.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Vận dụng bài 3 trang 74: 56 con cá, mỗi rổ 8 con.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Vận dụng nâng cao: 14 người, thuyền chở 4 người — cần mấy chuyến?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Củng cố: ba điều cần nhớ.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F9F0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RB"/>
          <p:cNvSpPr/>
          <p:nvPr/>
        </p:nvSpPr>
        <p:spPr>
          <a:xfrm>
            <a:off x="7863840" y="-1280160"/>
            <a:ext cx="6949440" cy="6949440"/>
          </a:xfrm>
          <a:prstGeom prst="ellipse">
            <a:avLst/>
          </a:prstGeom>
          <a:gradFill rotWithShape="1">
            <a:gsLst>
              <a:gs pos="0">
                <a:srgbClr val="FFB800">
                  <a:alpha val="26000"/>
                </a:srgbClr>
              </a:gs>
              <a:gs pos="55000">
                <a:srgbClr val="FFB800">
                  <a:alpha val="9100"/>
                </a:srgbClr>
              </a:gs>
              <a:gs pos="100000">
                <a:srgbClr val="FFB8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RB2"/>
          <p:cNvSpPr/>
          <p:nvPr/>
        </p:nvSpPr>
        <p:spPr>
          <a:xfrm>
            <a:off x="-1828800" y="4023360"/>
            <a:ext cx="5120640" cy="5120640"/>
          </a:xfrm>
          <a:prstGeom prst="ellipse">
            <a:avLst/>
          </a:prstGeom>
          <a:gradFill rotWithShape="1">
            <a:gsLst>
              <a:gs pos="0">
                <a:srgbClr val="1FA971">
                  <a:alpha val="16000"/>
                </a:srgbClr>
              </a:gs>
              <a:gs pos="55000">
                <a:srgbClr val="1FA971">
                  <a:alpha val="5600"/>
                </a:srgbClr>
              </a:gs>
              <a:gs pos="100000">
                <a:srgbClr val="1FA97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KICKER"/>
          <p:cNvSpPr txBox="1"/>
          <p:nvPr/>
        </p:nvSpPr>
        <p:spPr>
          <a:xfrm>
            <a:off x="777240" y="123444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spc="240">
                <a:solidFill>
                  <a:srgbClr val="2E7FE8"/>
                </a:solidFill>
                <a:latin typeface="Segoe UI Semibold"/>
              </a:rPr>
              <a:t>TOÁN LỚP 3  ·  KẾT NỐI TRI THỨC</a:t>
            </a:r>
          </a:p>
        </p:txBody>
      </p:sp>
      <p:sp>
        <p:nvSpPr>
          <p:cNvPr id="6" name="RULE"/>
          <p:cNvSpPr/>
          <p:nvPr/>
        </p:nvSpPr>
        <p:spPr>
          <a:xfrm>
            <a:off x="777240" y="1755648"/>
            <a:ext cx="1371600" cy="635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ADING"/>
          <p:cNvSpPr txBox="1"/>
          <p:nvPr/>
        </p:nvSpPr>
        <p:spPr>
          <a:xfrm>
            <a:off x="777240" y="2148840"/>
            <a:ext cx="1060704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6200" spc="-150">
                <a:solidFill>
                  <a:srgbClr val="1FA971"/>
                </a:solidFill>
                <a:latin typeface="Segoe UI Black"/>
              </a:rPr>
              <a:t>Phép chia hết</a:t>
            </a:r>
          </a:p>
          <a:p>
            <a:pPr algn="l">
              <a:lnSpc>
                <a:spcPct val="112000"/>
              </a:lnSpc>
            </a:pPr>
            <a:r>
              <a:rPr sz="6200" spc="-150">
                <a:solidFill>
                  <a:srgbClr val="FF6B35"/>
                </a:solidFill>
                <a:latin typeface="Segoe UI Black"/>
              </a:rPr>
              <a:t>Phép chia có dư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26280"/>
            <a:ext cx="8778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>
                <a:solidFill>
                  <a:srgbClr val="6B5E50"/>
                </a:solidFill>
                <a:latin typeface="Segoe UI Light"/>
              </a:rPr>
              <a:t>Bài 25  ·  Sách giáo khoa trang 72 – 74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212080"/>
            <a:ext cx="10607040" cy="12700"/>
          </a:xfrm>
          <a:prstGeom prst="rect">
            <a:avLst/>
          </a:prstGeom>
          <a:solidFill>
            <a:srgbClr val="EFE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46811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>
                <a:solidFill>
                  <a:srgbClr val="A0917F"/>
                </a:solidFill>
                <a:latin typeface="Segoe UI"/>
              </a:rPr>
              <a:t>Chủ đề 4: Phép nhân, phép chia trong phạm vi 100</a:t>
            </a:r>
          </a:p>
        </p:txBody>
      </p:sp>
      <p:sp>
        <p:nvSpPr>
          <p:cNvPr id="11" name="Oval 10"/>
          <p:cNvSpPr/>
          <p:nvPr/>
        </p:nvSpPr>
        <p:spPr>
          <a:xfrm>
            <a:off x="8321040" y="4502505"/>
            <a:ext cx="548640" cy="521208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76157" y="4384548"/>
            <a:ext cx="41148" cy="137160"/>
          </a:xfrm>
          <a:prstGeom prst="round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09076" y="4398264"/>
            <a:ext cx="150876" cy="82296"/>
          </a:xfrm>
          <a:prstGeom prst="ellipse">
            <a:avLst/>
          </a:prstGeom>
          <a:solidFill>
            <a:srgbClr val="3AA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098280" y="4502505"/>
            <a:ext cx="548640" cy="521208"/>
          </a:xfrm>
          <a:prstGeom prst="ellipse">
            <a:avLst/>
          </a:prstGeom>
          <a:solidFill>
            <a:srgbClr val="1FA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353397" y="4384548"/>
            <a:ext cx="41148" cy="137160"/>
          </a:xfrm>
          <a:prstGeom prst="round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386316" y="4398264"/>
            <a:ext cx="150876" cy="82296"/>
          </a:xfrm>
          <a:prstGeom prst="ellipse">
            <a:avLst/>
          </a:prstGeom>
          <a:solidFill>
            <a:srgbClr val="3AA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75520" y="4502505"/>
            <a:ext cx="548640" cy="521208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130637" y="4384548"/>
            <a:ext cx="41148" cy="137160"/>
          </a:xfrm>
          <a:prstGeom prst="round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63556" y="4398264"/>
            <a:ext cx="150876" cy="82296"/>
          </a:xfrm>
          <a:prstGeom prst="ellipse">
            <a:avLst/>
          </a:prstGeom>
          <a:solidFill>
            <a:srgbClr val="3AA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52760" y="4502505"/>
            <a:ext cx="548640" cy="521208"/>
          </a:xfrm>
          <a:prstGeom prst="ellipse">
            <a:avLst/>
          </a:prstGeom>
          <a:solidFill>
            <a:srgbClr val="1FA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907877" y="4384548"/>
            <a:ext cx="41148" cy="137160"/>
          </a:xfrm>
          <a:prstGeom prst="round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40796" y="4398264"/>
            <a:ext cx="150876" cy="82296"/>
          </a:xfrm>
          <a:prstGeom prst="ellipse">
            <a:avLst/>
          </a:prstGeom>
          <a:solidFill>
            <a:srgbClr val="3AA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F9F0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RB"/>
          <p:cNvSpPr/>
          <p:nvPr/>
        </p:nvSpPr>
        <p:spPr>
          <a:xfrm>
            <a:off x="9326880" y="402336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FFB800">
                  <a:alpha val="18000"/>
                </a:srgbClr>
              </a:gs>
              <a:gs pos="55000">
                <a:srgbClr val="FFB800">
                  <a:alpha val="6300"/>
                </a:srgbClr>
              </a:gs>
              <a:gs pos="100000">
                <a:srgbClr val="FFB8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777240" y="65836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spc="240">
                <a:solidFill>
                  <a:srgbClr val="2E7FE8"/>
                </a:solidFill>
                <a:latin typeface="Segoe UI Semibold"/>
              </a:rPr>
              <a:t>SAU BÀI HỌC, EM SẼ</a:t>
            </a:r>
          </a:p>
        </p:txBody>
      </p:sp>
      <p:sp>
        <p:nvSpPr>
          <p:cNvPr id="5" name="RULE"/>
          <p:cNvSpPr/>
          <p:nvPr/>
        </p:nvSpPr>
        <p:spPr>
          <a:xfrm>
            <a:off x="777240" y="950976"/>
            <a:ext cx="1371600" cy="635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ADING"/>
          <p:cNvSpPr txBox="1"/>
          <p:nvPr/>
        </p:nvSpPr>
        <p:spPr>
          <a:xfrm>
            <a:off x="777240" y="102412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4000"/>
              </a:lnSpc>
            </a:pPr>
            <a:r>
              <a:rPr sz="4000">
                <a:solidFill>
                  <a:srgbClr val="241C14"/>
                </a:solidFill>
                <a:latin typeface="Segoe UI Black"/>
              </a:rPr>
              <a:t>Em học được gì hôm nay?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60320"/>
            <a:ext cx="2522143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FE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" y="2926080"/>
            <a:ext cx="566928" cy="566928"/>
          </a:xfrm>
          <a:prstGeom prst="ellipse">
            <a:avLst/>
          </a:prstGeom>
          <a:solidFill>
            <a:srgbClr val="1FA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054096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Segoe UI Black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749039"/>
            <a:ext cx="1790623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spc="-30">
                <a:solidFill>
                  <a:srgbClr val="241C14"/>
                </a:solidFill>
                <a:latin typeface="Segoe UI Black"/>
              </a:rPr>
              <a:t>Nhận ra phép chia hết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434840"/>
            <a:ext cx="1790623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6B5E50"/>
                </a:solidFill>
                <a:latin typeface="Segoe UI"/>
              </a:rPr>
              <a:t>Chia xong không thừa cái nào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82263" y="2560320"/>
            <a:ext cx="2522143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FE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48023" y="2926080"/>
            <a:ext cx="566928" cy="566928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8023" y="3054096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Segoe UI Black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3749039"/>
            <a:ext cx="1790623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spc="-30">
                <a:solidFill>
                  <a:srgbClr val="241C14"/>
                </a:solidFill>
                <a:latin typeface="Segoe UI Black"/>
              </a:rPr>
              <a:t>Nhận ra phép chia có dư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8023" y="4434840"/>
            <a:ext cx="1790623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6B5E50"/>
                </a:solidFill>
                <a:latin typeface="Segoe UI"/>
              </a:rPr>
              <a:t>Chia xong vẫn còn thừa lại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7287" y="2560320"/>
            <a:ext cx="2522143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FE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53047" y="2926080"/>
            <a:ext cx="566928" cy="566928"/>
          </a:xfrm>
          <a:prstGeom prst="ellipse">
            <a:avLst/>
          </a:prstGeom>
          <a:solidFill>
            <a:srgbClr val="7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3047" y="3054096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Segoe UI Black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3749039"/>
            <a:ext cx="1790623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spc="-30">
                <a:solidFill>
                  <a:srgbClr val="241C14"/>
                </a:solidFill>
                <a:latin typeface="Segoe UI Black"/>
              </a:rPr>
              <a:t>Nhớ quy tắc số dư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4434840"/>
            <a:ext cx="1790623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6B5E50"/>
                </a:solidFill>
                <a:latin typeface="Segoe UI"/>
              </a:rPr>
              <a:t>Số dư luôn bé hơn số chia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92311" y="2560320"/>
            <a:ext cx="2522143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FE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58071" y="2926080"/>
            <a:ext cx="566928" cy="566928"/>
          </a:xfrm>
          <a:prstGeom prst="ellipse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8071" y="3054096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Segoe UI Black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3749039"/>
            <a:ext cx="1790623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spc="-30">
                <a:solidFill>
                  <a:srgbClr val="241C14"/>
                </a:solidFill>
                <a:latin typeface="Segoe UI Black"/>
              </a:rPr>
              <a:t>Giải bài toán thực tế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8071" y="4434840"/>
            <a:ext cx="1790623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6B5E50"/>
                </a:solidFill>
                <a:latin typeface="Segoe UI"/>
              </a:rPr>
              <a:t>Chia cá vào rổ, chia người lên thuyền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>
                <a:solidFill>
                  <a:srgbClr val="A0917F"/>
                </a:solidFill>
                <a:latin typeface="Segoe UI"/>
              </a:rPr>
              <a:t>Toán 3  ·  Bài 25: Phép chia hết, phép chia có dư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50" spc="120">
                <a:solidFill>
                  <a:srgbClr val="A0917F"/>
                </a:solidFill>
                <a:latin typeface="Bahnschrift SemiBold Condensed"/>
              </a:rPr>
              <a:t>2 / 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F9F0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RB"/>
          <p:cNvSpPr/>
          <p:nvPr/>
        </p:nvSpPr>
        <p:spPr>
          <a:xfrm>
            <a:off x="-2194560" y="-1463040"/>
            <a:ext cx="5852160" cy="5852160"/>
          </a:xfrm>
          <a:prstGeom prst="ellipse">
            <a:avLst/>
          </a:prstGeom>
          <a:gradFill rotWithShape="1">
            <a:gsLst>
              <a:gs pos="0">
                <a:srgbClr val="FFB800">
                  <a:alpha val="22000"/>
                </a:srgbClr>
              </a:gs>
              <a:gs pos="55000">
                <a:srgbClr val="FFB800">
                  <a:alpha val="7700"/>
                </a:srgbClr>
              </a:gs>
              <a:gs pos="100000">
                <a:srgbClr val="FFB8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777240" y="65836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spc="240">
                <a:solidFill>
                  <a:srgbClr val="FFB800"/>
                </a:solidFill>
                <a:latin typeface="Segoe UI Semibold"/>
              </a:rPr>
              <a:t>BÀI TOÁN MỞ ĐẦU</a:t>
            </a:r>
          </a:p>
        </p:txBody>
      </p:sp>
      <p:sp>
        <p:nvSpPr>
          <p:cNvPr id="5" name="RULE"/>
          <p:cNvSpPr/>
          <p:nvPr/>
        </p:nvSpPr>
        <p:spPr>
          <a:xfrm>
            <a:off x="777240" y="950976"/>
            <a:ext cx="1371600" cy="635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37015" y="603504"/>
            <a:ext cx="2377440" cy="402336"/>
          </a:xfrm>
          <a:prstGeom prst="roundRect">
            <a:avLst>
              <a:gd name="adj" fmla="val 45000"/>
            </a:avLst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7015" y="71323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spc="180">
                <a:solidFill>
                  <a:srgbClr val="FFFFFF"/>
                </a:solidFill>
                <a:latin typeface="Segoe UI Semibold"/>
              </a:rPr>
              <a:t>KHỞI ĐỘNG</a:t>
            </a:r>
          </a:p>
        </p:txBody>
      </p:sp>
      <p:sp>
        <p:nvSpPr>
          <p:cNvPr id="8" name="HEADING"/>
          <p:cNvSpPr txBox="1"/>
          <p:nvPr/>
        </p:nvSpPr>
        <p:spPr>
          <a:xfrm>
            <a:off x="777240" y="102412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4000"/>
              </a:lnSpc>
            </a:pPr>
            <a:r>
              <a:rPr sz="4000">
                <a:solidFill>
                  <a:srgbClr val="241C14"/>
                </a:solidFill>
                <a:latin typeface="Segoe UI Black"/>
              </a:rPr>
              <a:t>Cô có 8 quả táo và 2 cái đĩa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>
                <a:solidFill>
                  <a:srgbClr val="6B5E50"/>
                </a:solidFill>
                <a:latin typeface="Segoe UI Light"/>
              </a:rPr>
              <a:t>Chia đều số táo vào hai đĩa thì mỗi đĩa được mấy quả?</a:t>
            </a:r>
          </a:p>
        </p:txBody>
      </p:sp>
      <p:sp>
        <p:nvSpPr>
          <p:cNvPr id="10" name="Oval 9"/>
          <p:cNvSpPr/>
          <p:nvPr/>
        </p:nvSpPr>
        <p:spPr>
          <a:xfrm>
            <a:off x="1042416" y="3263310"/>
            <a:ext cx="658368" cy="625449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48557" y="3121761"/>
            <a:ext cx="49377" cy="164592"/>
          </a:xfrm>
          <a:prstGeom prst="round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88059" y="3138220"/>
            <a:ext cx="181051" cy="98755"/>
          </a:xfrm>
          <a:prstGeom prst="ellipse">
            <a:avLst/>
          </a:prstGeom>
          <a:solidFill>
            <a:srgbClr val="3AA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911096" y="3263310"/>
            <a:ext cx="658368" cy="625449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17237" y="3121761"/>
            <a:ext cx="49377" cy="164592"/>
          </a:xfrm>
          <a:prstGeom prst="round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256739" y="3138220"/>
            <a:ext cx="181051" cy="98755"/>
          </a:xfrm>
          <a:prstGeom prst="ellipse">
            <a:avLst/>
          </a:prstGeom>
          <a:solidFill>
            <a:srgbClr val="3AA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779776" y="3263310"/>
            <a:ext cx="658368" cy="625449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085917" y="3121761"/>
            <a:ext cx="49377" cy="164592"/>
          </a:xfrm>
          <a:prstGeom prst="round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125419" y="3138220"/>
            <a:ext cx="181051" cy="98755"/>
          </a:xfrm>
          <a:prstGeom prst="ellipse">
            <a:avLst/>
          </a:prstGeom>
          <a:solidFill>
            <a:srgbClr val="3AA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48455" y="3263310"/>
            <a:ext cx="658368" cy="625449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954596" y="3121761"/>
            <a:ext cx="49377" cy="164592"/>
          </a:xfrm>
          <a:prstGeom prst="round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994098" y="3138220"/>
            <a:ext cx="181051" cy="98755"/>
          </a:xfrm>
          <a:prstGeom prst="ellipse">
            <a:avLst/>
          </a:prstGeom>
          <a:solidFill>
            <a:srgbClr val="3AA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17136" y="3263310"/>
            <a:ext cx="658368" cy="625449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823277" y="3121761"/>
            <a:ext cx="49377" cy="164592"/>
          </a:xfrm>
          <a:prstGeom prst="round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62779" y="3138220"/>
            <a:ext cx="181051" cy="98755"/>
          </a:xfrm>
          <a:prstGeom prst="ellipse">
            <a:avLst/>
          </a:prstGeom>
          <a:solidFill>
            <a:srgbClr val="3AA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385816" y="3263310"/>
            <a:ext cx="658368" cy="625449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691957" y="3121761"/>
            <a:ext cx="49377" cy="164592"/>
          </a:xfrm>
          <a:prstGeom prst="round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731459" y="3138220"/>
            <a:ext cx="181051" cy="98755"/>
          </a:xfrm>
          <a:prstGeom prst="ellipse">
            <a:avLst/>
          </a:prstGeom>
          <a:solidFill>
            <a:srgbClr val="3AA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54495" y="3263310"/>
            <a:ext cx="658368" cy="625449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60636" y="3121761"/>
            <a:ext cx="49377" cy="164592"/>
          </a:xfrm>
          <a:prstGeom prst="round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00138" y="3138220"/>
            <a:ext cx="181051" cy="98755"/>
          </a:xfrm>
          <a:prstGeom prst="ellipse">
            <a:avLst/>
          </a:prstGeom>
          <a:solidFill>
            <a:srgbClr val="3AA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23175" y="3263310"/>
            <a:ext cx="658368" cy="625449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429316" y="3121761"/>
            <a:ext cx="49377" cy="164592"/>
          </a:xfrm>
          <a:prstGeom prst="round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468818" y="3138220"/>
            <a:ext cx="181051" cy="98755"/>
          </a:xfrm>
          <a:prstGeom prst="ellipse">
            <a:avLst/>
          </a:prstGeom>
          <a:solidFill>
            <a:srgbClr val="3AA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286000" y="4562856"/>
            <a:ext cx="2743200" cy="932688"/>
          </a:xfrm>
          <a:prstGeom prst="ellipse">
            <a:avLst/>
          </a:prstGeom>
          <a:solidFill>
            <a:srgbClr val="E8EDF2"/>
          </a:solidFill>
          <a:ln w="19050">
            <a:solidFill>
              <a:srgbClr val="EFE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40880" y="4562856"/>
            <a:ext cx="2743200" cy="932688"/>
          </a:xfrm>
          <a:prstGeom prst="ellipse">
            <a:avLst/>
          </a:prstGeom>
          <a:solidFill>
            <a:srgbClr val="E8EDF2"/>
          </a:solidFill>
          <a:ln w="19050">
            <a:solidFill>
              <a:srgbClr val="EFE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" y="568756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600">
                <a:solidFill>
                  <a:srgbClr val="6B5E50"/>
                </a:solidFill>
                <a:latin typeface="Segoe UI Semibold"/>
              </a:rPr>
              <a:t>Đĩa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568756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600">
                <a:solidFill>
                  <a:srgbClr val="6B5E50"/>
                </a:solidFill>
                <a:latin typeface="Segoe UI Semibold"/>
              </a:rPr>
              <a:t>Đĩa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>
                <a:solidFill>
                  <a:srgbClr val="A0917F"/>
                </a:solidFill>
                <a:latin typeface="Segoe UI"/>
              </a:rPr>
              <a:t>Toán 3  ·  Bài 25: Phép chia hết, phép chia có dư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50" spc="120">
                <a:solidFill>
                  <a:srgbClr val="A0917F"/>
                </a:solidFill>
                <a:latin typeface="Bahnschrift SemiBold Condensed"/>
              </a:rPr>
              <a:t>3 / 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F9F0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RB"/>
          <p:cNvSpPr/>
          <p:nvPr/>
        </p:nvSpPr>
        <p:spPr>
          <a:xfrm>
            <a:off x="8778240" y="-1828800"/>
            <a:ext cx="6217920" cy="6217920"/>
          </a:xfrm>
          <a:prstGeom prst="ellipse">
            <a:avLst/>
          </a:prstGeom>
          <a:gradFill rotWithShape="1">
            <a:gsLst>
              <a:gs pos="0">
                <a:srgbClr val="1FA971">
                  <a:alpha val="18000"/>
                </a:srgbClr>
              </a:gs>
              <a:gs pos="55000">
                <a:srgbClr val="1FA971">
                  <a:alpha val="6300"/>
                </a:srgbClr>
              </a:gs>
              <a:gs pos="100000">
                <a:srgbClr val="1FA97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777240" y="65836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spc="240">
                <a:solidFill>
                  <a:srgbClr val="1FA971"/>
                </a:solidFill>
                <a:latin typeface="Segoe UI Semibold"/>
              </a:rPr>
              <a:t>KHÁM PHÁ 1</a:t>
            </a:r>
          </a:p>
        </p:txBody>
      </p:sp>
      <p:sp>
        <p:nvSpPr>
          <p:cNvPr id="5" name="RULE"/>
          <p:cNvSpPr/>
          <p:nvPr/>
        </p:nvSpPr>
        <p:spPr>
          <a:xfrm>
            <a:off x="777240" y="950976"/>
            <a:ext cx="1371600" cy="63500"/>
          </a:xfrm>
          <a:prstGeom prst="rect">
            <a:avLst/>
          </a:prstGeom>
          <a:solidFill>
            <a:srgbClr val="1FA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37015" y="603504"/>
            <a:ext cx="2377440" cy="402336"/>
          </a:xfrm>
          <a:prstGeom prst="roundRect">
            <a:avLst>
              <a:gd name="adj" fmla="val 45000"/>
            </a:avLst>
          </a:prstGeom>
          <a:solidFill>
            <a:srgbClr val="1FA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7015" y="71323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spc="180">
                <a:solidFill>
                  <a:srgbClr val="FFFFFF"/>
                </a:solidFill>
                <a:latin typeface="Segoe UI Semibold"/>
              </a:rPr>
              <a:t>KHÁM PHÁ</a:t>
            </a:r>
          </a:p>
        </p:txBody>
      </p:sp>
      <p:sp>
        <p:nvSpPr>
          <p:cNvPr id="8" name="HEADING"/>
          <p:cNvSpPr txBox="1"/>
          <p:nvPr/>
        </p:nvSpPr>
        <p:spPr>
          <a:xfrm>
            <a:off x="777240" y="102412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4000"/>
              </a:lnSpc>
            </a:pPr>
            <a:r>
              <a:rPr sz="4000">
                <a:solidFill>
                  <a:srgbClr val="241C14"/>
                </a:solidFill>
                <a:latin typeface="Segoe UI Black"/>
              </a:rPr>
              <a:t>Mỗi đĩa 4 quả — không thừa quả nào</a:t>
            </a:r>
          </a:p>
        </p:txBody>
      </p:sp>
      <p:sp>
        <p:nvSpPr>
          <p:cNvPr id="9" name="Oval 8"/>
          <p:cNvSpPr/>
          <p:nvPr/>
        </p:nvSpPr>
        <p:spPr>
          <a:xfrm>
            <a:off x="1188720" y="3037637"/>
            <a:ext cx="3108960" cy="1057046"/>
          </a:xfrm>
          <a:prstGeom prst="ellipse">
            <a:avLst/>
          </a:prstGeom>
          <a:solidFill>
            <a:srgbClr val="E8EDF2"/>
          </a:solidFill>
          <a:ln w="19050">
            <a:solidFill>
              <a:srgbClr val="EFE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88720" y="4317797"/>
            <a:ext cx="3108960" cy="1057046"/>
          </a:xfrm>
          <a:prstGeom prst="ellipse">
            <a:avLst/>
          </a:prstGeom>
          <a:solidFill>
            <a:srgbClr val="E8EDF2"/>
          </a:solidFill>
          <a:ln w="19050">
            <a:solidFill>
              <a:srgbClr val="EFE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17320" y="3149193"/>
            <a:ext cx="548640" cy="521208"/>
          </a:xfrm>
          <a:prstGeom prst="ellipse">
            <a:avLst/>
          </a:prstGeom>
          <a:solidFill>
            <a:srgbClr val="1FA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72437" y="3031236"/>
            <a:ext cx="41148" cy="137160"/>
          </a:xfrm>
          <a:prstGeom prst="round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05356" y="3044952"/>
            <a:ext cx="150876" cy="82296"/>
          </a:xfrm>
          <a:prstGeom prst="ellipse">
            <a:avLst/>
          </a:prstGeom>
          <a:solidFill>
            <a:srgbClr val="3AA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30552" y="3149193"/>
            <a:ext cx="548640" cy="521208"/>
          </a:xfrm>
          <a:prstGeom prst="ellipse">
            <a:avLst/>
          </a:prstGeom>
          <a:solidFill>
            <a:srgbClr val="1FA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385669" y="3031236"/>
            <a:ext cx="41148" cy="137160"/>
          </a:xfrm>
          <a:prstGeom prst="round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18588" y="3044952"/>
            <a:ext cx="150876" cy="82296"/>
          </a:xfrm>
          <a:prstGeom prst="ellipse">
            <a:avLst/>
          </a:prstGeom>
          <a:solidFill>
            <a:srgbClr val="3AA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843784" y="3149193"/>
            <a:ext cx="548640" cy="521208"/>
          </a:xfrm>
          <a:prstGeom prst="ellipse">
            <a:avLst/>
          </a:prstGeom>
          <a:solidFill>
            <a:srgbClr val="1FA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098901" y="3031236"/>
            <a:ext cx="41148" cy="137160"/>
          </a:xfrm>
          <a:prstGeom prst="round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131820" y="3044952"/>
            <a:ext cx="150876" cy="82296"/>
          </a:xfrm>
          <a:prstGeom prst="ellipse">
            <a:avLst/>
          </a:prstGeom>
          <a:solidFill>
            <a:srgbClr val="3AA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557015" y="3149193"/>
            <a:ext cx="548640" cy="521208"/>
          </a:xfrm>
          <a:prstGeom prst="ellipse">
            <a:avLst/>
          </a:prstGeom>
          <a:solidFill>
            <a:srgbClr val="1FA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812132" y="3031236"/>
            <a:ext cx="41148" cy="137160"/>
          </a:xfrm>
          <a:prstGeom prst="round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845051" y="3044952"/>
            <a:ext cx="150876" cy="82296"/>
          </a:xfrm>
          <a:prstGeom prst="ellipse">
            <a:avLst/>
          </a:prstGeom>
          <a:solidFill>
            <a:srgbClr val="3AA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17320" y="4429353"/>
            <a:ext cx="548640" cy="521208"/>
          </a:xfrm>
          <a:prstGeom prst="ellipse">
            <a:avLst/>
          </a:prstGeom>
          <a:solidFill>
            <a:srgbClr val="1FA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672437" y="4311396"/>
            <a:ext cx="41148" cy="137160"/>
          </a:xfrm>
          <a:prstGeom prst="round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705356" y="4325112"/>
            <a:ext cx="150876" cy="82296"/>
          </a:xfrm>
          <a:prstGeom prst="ellipse">
            <a:avLst/>
          </a:prstGeom>
          <a:solidFill>
            <a:srgbClr val="3AA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130552" y="4429353"/>
            <a:ext cx="548640" cy="521208"/>
          </a:xfrm>
          <a:prstGeom prst="ellipse">
            <a:avLst/>
          </a:prstGeom>
          <a:solidFill>
            <a:srgbClr val="1FA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385669" y="4311396"/>
            <a:ext cx="41148" cy="137160"/>
          </a:xfrm>
          <a:prstGeom prst="round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418588" y="4325112"/>
            <a:ext cx="150876" cy="82296"/>
          </a:xfrm>
          <a:prstGeom prst="ellipse">
            <a:avLst/>
          </a:prstGeom>
          <a:solidFill>
            <a:srgbClr val="3AA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843784" y="4429353"/>
            <a:ext cx="548640" cy="521208"/>
          </a:xfrm>
          <a:prstGeom prst="ellipse">
            <a:avLst/>
          </a:prstGeom>
          <a:solidFill>
            <a:srgbClr val="1FA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098901" y="4311396"/>
            <a:ext cx="41148" cy="137160"/>
          </a:xfrm>
          <a:prstGeom prst="round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131820" y="4325112"/>
            <a:ext cx="150876" cy="82296"/>
          </a:xfrm>
          <a:prstGeom prst="ellipse">
            <a:avLst/>
          </a:prstGeom>
          <a:solidFill>
            <a:srgbClr val="3AA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557015" y="4429353"/>
            <a:ext cx="548640" cy="521208"/>
          </a:xfrm>
          <a:prstGeom prst="ellipse">
            <a:avLst/>
          </a:prstGeom>
          <a:solidFill>
            <a:srgbClr val="1FA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812132" y="4311396"/>
            <a:ext cx="41148" cy="137160"/>
          </a:xfrm>
          <a:prstGeom prst="round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5051" y="4325112"/>
            <a:ext cx="150876" cy="82296"/>
          </a:xfrm>
          <a:prstGeom prst="ellipse">
            <a:avLst/>
          </a:prstGeom>
          <a:solidFill>
            <a:srgbClr val="3AA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88720" y="55321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00">
                <a:solidFill>
                  <a:srgbClr val="6B5E50"/>
                </a:solidFill>
                <a:latin typeface="Segoe UI"/>
              </a:rPr>
              <a:t>8 quả  ·  2 đĩa  ·  mỗi đĩa 4 quả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92040" y="2606040"/>
            <a:ext cx="3200400" cy="3017520"/>
          </a:xfrm>
          <a:prstGeom prst="roundRect">
            <a:avLst>
              <a:gd name="adj" fmla="val 6000"/>
            </a:avLst>
          </a:prstGeom>
          <a:solidFill>
            <a:srgbClr val="FFF3E0"/>
          </a:solidFill>
          <a:ln w="12700">
            <a:solidFill>
              <a:srgbClr val="EFE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92040" y="2880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spc="180">
                <a:solidFill>
                  <a:srgbClr val="A0917F"/>
                </a:solidFill>
                <a:latin typeface="Segoe UI Semibold"/>
              </a:rPr>
              <a:t>ĐẶT TÍNH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23560" y="3383280"/>
            <a:ext cx="1133856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3200">
                <a:solidFill>
                  <a:srgbClr val="241C14"/>
                </a:solidFill>
                <a:latin typeface="Bahnschrift SemiBold Condensed"/>
              </a:rPr>
              <a:t>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48856" y="3383280"/>
            <a:ext cx="25603" cy="914400"/>
          </a:xfrm>
          <a:prstGeom prst="rect">
            <a:avLst/>
          </a:prstGeom>
          <a:solidFill>
            <a:srgbClr val="A091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95160" y="3383280"/>
            <a:ext cx="1133856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>
                <a:solidFill>
                  <a:srgbClr val="241C14"/>
                </a:solidFill>
                <a:latin typeface="Bahnschrift SemiBold Condensed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3560" y="3840480"/>
            <a:ext cx="1133856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3200">
                <a:solidFill>
                  <a:srgbClr val="6B5E50"/>
                </a:solidFill>
                <a:latin typeface="Bahnschrift SemiBold Condensed"/>
              </a:rPr>
              <a:t>−8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5160" y="3840480"/>
            <a:ext cx="1133856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>
                <a:solidFill>
                  <a:srgbClr val="1FA971"/>
                </a:solidFill>
                <a:latin typeface="Bahnschrift SemiBold Condensed"/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15000" y="4297680"/>
            <a:ext cx="1133856" cy="25603"/>
          </a:xfrm>
          <a:prstGeom prst="rect">
            <a:avLst/>
          </a:prstGeom>
          <a:solidFill>
            <a:srgbClr val="A091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23560" y="4343400"/>
            <a:ext cx="1133856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3200">
                <a:solidFill>
                  <a:srgbClr val="A0917F"/>
                </a:solidFill>
                <a:latin typeface="Bahnschrift SemiBold Condensed"/>
              </a:rPr>
              <a:t>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2040" y="5029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>
                <a:solidFill>
                  <a:srgbClr val="1FA971"/>
                </a:solidFill>
                <a:latin typeface="Segoe UI Semibold"/>
              </a:rPr>
              <a:t>số dư bằng 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66760" y="2606040"/>
            <a:ext cx="304495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A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29718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400" spc="-100">
                <a:solidFill>
                  <a:srgbClr val="241C14"/>
                </a:solidFill>
                <a:latin typeface="Segoe UI Black"/>
              </a:rPr>
              <a:t>8 : 2 = 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732520" y="3657600"/>
            <a:ext cx="640080" cy="50800"/>
          </a:xfrm>
          <a:prstGeom prst="rect">
            <a:avLst/>
          </a:prstGeom>
          <a:solidFill>
            <a:srgbClr val="1FA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32520" y="388620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500">
                <a:solidFill>
                  <a:srgbClr val="6B5E50"/>
                </a:solidFill>
                <a:latin typeface="Segoe UI"/>
              </a:rPr>
              <a:t>Chia xong không còn thừa quả nào.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32520" y="48920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spc="60">
                <a:solidFill>
                  <a:srgbClr val="1FA971"/>
                </a:solidFill>
                <a:latin typeface="Segoe UI Black"/>
              </a:rPr>
              <a:t>PHÉP CHIA HẾT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>
                <a:solidFill>
                  <a:srgbClr val="A0917F"/>
                </a:solidFill>
                <a:latin typeface="Segoe UI"/>
              </a:rPr>
              <a:t>Toán 3  ·  Bài 25: Phép chia hết, phép chia có dư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50" spc="120">
                <a:solidFill>
                  <a:srgbClr val="A0917F"/>
                </a:solidFill>
                <a:latin typeface="Bahnschrift SemiBold Condensed"/>
              </a:rPr>
              <a:t>4 / 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F9F0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RB"/>
          <p:cNvSpPr/>
          <p:nvPr/>
        </p:nvSpPr>
        <p:spPr>
          <a:xfrm>
            <a:off x="8778240" y="-1828800"/>
            <a:ext cx="6217920" cy="6217920"/>
          </a:xfrm>
          <a:prstGeom prst="ellipse">
            <a:avLst/>
          </a:prstGeom>
          <a:gradFill rotWithShape="1">
            <a:gsLst>
              <a:gs pos="0">
                <a:srgbClr val="FF6B35">
                  <a:alpha val="20000"/>
                </a:srgbClr>
              </a:gs>
              <a:gs pos="55000">
                <a:srgbClr val="FF6B35">
                  <a:alpha val="7000"/>
                </a:srgbClr>
              </a:gs>
              <a:gs pos="100000">
                <a:srgbClr val="FF6B3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777240" y="65836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spc="240">
                <a:solidFill>
                  <a:srgbClr val="FF6B35"/>
                </a:solidFill>
                <a:latin typeface="Segoe UI Semibold"/>
              </a:rPr>
              <a:t>KHÁM PHÁ 2</a:t>
            </a:r>
          </a:p>
        </p:txBody>
      </p:sp>
      <p:sp>
        <p:nvSpPr>
          <p:cNvPr id="5" name="RULE"/>
          <p:cNvSpPr/>
          <p:nvPr/>
        </p:nvSpPr>
        <p:spPr>
          <a:xfrm>
            <a:off x="777240" y="950976"/>
            <a:ext cx="1371600" cy="635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37015" y="603504"/>
            <a:ext cx="2377440" cy="402336"/>
          </a:xfrm>
          <a:prstGeom prst="roundRect">
            <a:avLst>
              <a:gd name="adj" fmla="val 45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7015" y="71323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spc="180">
                <a:solidFill>
                  <a:srgbClr val="FFFFFF"/>
                </a:solidFill>
                <a:latin typeface="Segoe UI Semibold"/>
              </a:rPr>
              <a:t>KHÁM PHÁ</a:t>
            </a:r>
          </a:p>
        </p:txBody>
      </p:sp>
      <p:sp>
        <p:nvSpPr>
          <p:cNvPr id="8" name="HEADING"/>
          <p:cNvSpPr txBox="1"/>
          <p:nvPr/>
        </p:nvSpPr>
        <p:spPr>
          <a:xfrm>
            <a:off x="777240" y="102412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4000"/>
              </a:lnSpc>
            </a:pPr>
            <a:r>
              <a:rPr sz="4000">
                <a:solidFill>
                  <a:srgbClr val="241C14"/>
                </a:solidFill>
                <a:latin typeface="Segoe UI Black"/>
              </a:rPr>
              <a:t>Thêm 1 quả nữa — thừa ra 1 quả</a:t>
            </a:r>
          </a:p>
        </p:txBody>
      </p:sp>
      <p:sp>
        <p:nvSpPr>
          <p:cNvPr id="9" name="Oval 8"/>
          <p:cNvSpPr/>
          <p:nvPr/>
        </p:nvSpPr>
        <p:spPr>
          <a:xfrm>
            <a:off x="1188720" y="3037637"/>
            <a:ext cx="3108960" cy="1057046"/>
          </a:xfrm>
          <a:prstGeom prst="ellipse">
            <a:avLst/>
          </a:prstGeom>
          <a:solidFill>
            <a:srgbClr val="E8EDF2"/>
          </a:solidFill>
          <a:ln w="19050">
            <a:solidFill>
              <a:srgbClr val="EFE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88720" y="4317797"/>
            <a:ext cx="3108960" cy="1057046"/>
          </a:xfrm>
          <a:prstGeom prst="ellipse">
            <a:avLst/>
          </a:prstGeom>
          <a:solidFill>
            <a:srgbClr val="E8EDF2"/>
          </a:solidFill>
          <a:ln w="19050">
            <a:solidFill>
              <a:srgbClr val="EFE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17320" y="3149193"/>
            <a:ext cx="548640" cy="521208"/>
          </a:xfrm>
          <a:prstGeom prst="ellipse">
            <a:avLst/>
          </a:prstGeom>
          <a:solidFill>
            <a:srgbClr val="1FA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72437" y="3031236"/>
            <a:ext cx="41148" cy="137160"/>
          </a:xfrm>
          <a:prstGeom prst="round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05356" y="3044952"/>
            <a:ext cx="150876" cy="82296"/>
          </a:xfrm>
          <a:prstGeom prst="ellipse">
            <a:avLst/>
          </a:prstGeom>
          <a:solidFill>
            <a:srgbClr val="3AA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30552" y="3149193"/>
            <a:ext cx="548640" cy="521208"/>
          </a:xfrm>
          <a:prstGeom prst="ellipse">
            <a:avLst/>
          </a:prstGeom>
          <a:solidFill>
            <a:srgbClr val="1FA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385669" y="3031236"/>
            <a:ext cx="41148" cy="137160"/>
          </a:xfrm>
          <a:prstGeom prst="round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18588" y="3044952"/>
            <a:ext cx="150876" cy="82296"/>
          </a:xfrm>
          <a:prstGeom prst="ellipse">
            <a:avLst/>
          </a:prstGeom>
          <a:solidFill>
            <a:srgbClr val="3AA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843784" y="3149193"/>
            <a:ext cx="548640" cy="521208"/>
          </a:xfrm>
          <a:prstGeom prst="ellipse">
            <a:avLst/>
          </a:prstGeom>
          <a:solidFill>
            <a:srgbClr val="1FA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098901" y="3031236"/>
            <a:ext cx="41148" cy="137160"/>
          </a:xfrm>
          <a:prstGeom prst="round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131820" y="3044952"/>
            <a:ext cx="150876" cy="82296"/>
          </a:xfrm>
          <a:prstGeom prst="ellipse">
            <a:avLst/>
          </a:prstGeom>
          <a:solidFill>
            <a:srgbClr val="3AA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557015" y="3149193"/>
            <a:ext cx="548640" cy="521208"/>
          </a:xfrm>
          <a:prstGeom prst="ellipse">
            <a:avLst/>
          </a:prstGeom>
          <a:solidFill>
            <a:srgbClr val="1FA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812132" y="3031236"/>
            <a:ext cx="41148" cy="137160"/>
          </a:xfrm>
          <a:prstGeom prst="round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845051" y="3044952"/>
            <a:ext cx="150876" cy="82296"/>
          </a:xfrm>
          <a:prstGeom prst="ellipse">
            <a:avLst/>
          </a:prstGeom>
          <a:solidFill>
            <a:srgbClr val="3AA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17320" y="4429353"/>
            <a:ext cx="548640" cy="521208"/>
          </a:xfrm>
          <a:prstGeom prst="ellipse">
            <a:avLst/>
          </a:prstGeom>
          <a:solidFill>
            <a:srgbClr val="1FA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672437" y="4311396"/>
            <a:ext cx="41148" cy="137160"/>
          </a:xfrm>
          <a:prstGeom prst="round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705356" y="4325112"/>
            <a:ext cx="150876" cy="82296"/>
          </a:xfrm>
          <a:prstGeom prst="ellipse">
            <a:avLst/>
          </a:prstGeom>
          <a:solidFill>
            <a:srgbClr val="3AA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130552" y="4429353"/>
            <a:ext cx="548640" cy="521208"/>
          </a:xfrm>
          <a:prstGeom prst="ellipse">
            <a:avLst/>
          </a:prstGeom>
          <a:solidFill>
            <a:srgbClr val="1FA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385669" y="4311396"/>
            <a:ext cx="41148" cy="137160"/>
          </a:xfrm>
          <a:prstGeom prst="round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418588" y="4325112"/>
            <a:ext cx="150876" cy="82296"/>
          </a:xfrm>
          <a:prstGeom prst="ellipse">
            <a:avLst/>
          </a:prstGeom>
          <a:solidFill>
            <a:srgbClr val="3AA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843784" y="4429353"/>
            <a:ext cx="548640" cy="521208"/>
          </a:xfrm>
          <a:prstGeom prst="ellipse">
            <a:avLst/>
          </a:prstGeom>
          <a:solidFill>
            <a:srgbClr val="1FA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098901" y="4311396"/>
            <a:ext cx="41148" cy="137160"/>
          </a:xfrm>
          <a:prstGeom prst="round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131820" y="4325112"/>
            <a:ext cx="150876" cy="82296"/>
          </a:xfrm>
          <a:prstGeom prst="ellipse">
            <a:avLst/>
          </a:prstGeom>
          <a:solidFill>
            <a:srgbClr val="3AA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557015" y="4429353"/>
            <a:ext cx="548640" cy="521208"/>
          </a:xfrm>
          <a:prstGeom prst="ellipse">
            <a:avLst/>
          </a:prstGeom>
          <a:solidFill>
            <a:srgbClr val="1FA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812132" y="4311396"/>
            <a:ext cx="41148" cy="137160"/>
          </a:xfrm>
          <a:prstGeom prst="round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5051" y="4325112"/>
            <a:ext cx="150876" cy="82296"/>
          </a:xfrm>
          <a:prstGeom prst="ellipse">
            <a:avLst/>
          </a:prstGeom>
          <a:solidFill>
            <a:srgbClr val="3AA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234440" y="5440680"/>
            <a:ext cx="3017520" cy="640080"/>
          </a:xfrm>
          <a:prstGeom prst="roundRect">
            <a:avLst>
              <a:gd name="adj" fmla="val 25000"/>
            </a:avLst>
          </a:prstGeom>
          <a:solidFill>
            <a:srgbClr val="FFF3E0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545336" y="5560283"/>
            <a:ext cx="475488" cy="451713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766437" y="5458053"/>
            <a:ext cx="35661" cy="118872"/>
          </a:xfrm>
          <a:prstGeom prst="round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794967" y="5469940"/>
            <a:ext cx="130759" cy="71323"/>
          </a:xfrm>
          <a:prstGeom prst="ellipse">
            <a:avLst/>
          </a:prstGeom>
          <a:solidFill>
            <a:srgbClr val="3AA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48840" y="5632704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>
                <a:solidFill>
                  <a:srgbClr val="FF6B35"/>
                </a:solidFill>
                <a:latin typeface="Segoe UI Semibold"/>
              </a:rPr>
              <a:t>thừa 1 quả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92040" y="2606040"/>
            <a:ext cx="3200400" cy="3017520"/>
          </a:xfrm>
          <a:prstGeom prst="roundRect">
            <a:avLst>
              <a:gd name="adj" fmla="val 6000"/>
            </a:avLst>
          </a:prstGeom>
          <a:solidFill>
            <a:srgbClr val="FFF3E0"/>
          </a:solidFill>
          <a:ln w="12700">
            <a:solidFill>
              <a:srgbClr val="EFE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92040" y="2880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spc="180">
                <a:solidFill>
                  <a:srgbClr val="A0917F"/>
                </a:solidFill>
                <a:latin typeface="Segoe UI Semibold"/>
              </a:rPr>
              <a:t>ĐẶT TÍNH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23560" y="3383280"/>
            <a:ext cx="1133856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3200">
                <a:solidFill>
                  <a:srgbClr val="241C14"/>
                </a:solidFill>
                <a:latin typeface="Bahnschrift SemiBold Condensed"/>
              </a:rPr>
              <a:t>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48856" y="3383280"/>
            <a:ext cx="25603" cy="914400"/>
          </a:xfrm>
          <a:prstGeom prst="rect">
            <a:avLst/>
          </a:prstGeom>
          <a:solidFill>
            <a:srgbClr val="A091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95160" y="3383280"/>
            <a:ext cx="1133856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>
                <a:solidFill>
                  <a:srgbClr val="241C14"/>
                </a:solidFill>
                <a:latin typeface="Bahnschrift SemiBold Condensed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3560" y="3840480"/>
            <a:ext cx="1133856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3200">
                <a:solidFill>
                  <a:srgbClr val="6B5E50"/>
                </a:solidFill>
                <a:latin typeface="Bahnschrift SemiBold Condensed"/>
              </a:rPr>
              <a:t>−8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60" y="3840480"/>
            <a:ext cx="1133856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>
                <a:solidFill>
                  <a:srgbClr val="1FA971"/>
                </a:solidFill>
                <a:latin typeface="Bahnschrift SemiBold Condensed"/>
              </a:rPr>
              <a:t>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15000" y="4297680"/>
            <a:ext cx="1133856" cy="25603"/>
          </a:xfrm>
          <a:prstGeom prst="rect">
            <a:avLst/>
          </a:prstGeom>
          <a:solidFill>
            <a:srgbClr val="A091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23560" y="4343400"/>
            <a:ext cx="1133856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3200">
                <a:solidFill>
                  <a:srgbClr val="FF6B35"/>
                </a:solidFill>
                <a:latin typeface="Bahnschrift SemiBold Condensed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92040" y="5029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>
                <a:solidFill>
                  <a:srgbClr val="FF6B35"/>
                </a:solidFill>
                <a:latin typeface="Segoe UI Semibold"/>
              </a:rPr>
              <a:t>số dư bằng 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66760" y="2606040"/>
            <a:ext cx="304495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32520" y="297180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spc="-100">
                <a:solidFill>
                  <a:srgbClr val="241C14"/>
                </a:solidFill>
                <a:latin typeface="Segoe UI Black"/>
              </a:rPr>
              <a:t>9 : 2 = 4 (dư 1)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32520" y="3657600"/>
            <a:ext cx="64008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32520" y="388620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500">
                <a:solidFill>
                  <a:srgbClr val="6B5E50"/>
                </a:solidFill>
                <a:latin typeface="Segoe UI"/>
              </a:rPr>
              <a:t>Mỗi đĩa vẫn 4 quả, nhưng còn thừa lại 1 quả.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32520" y="489204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spc="60">
                <a:solidFill>
                  <a:srgbClr val="FF6B35"/>
                </a:solidFill>
                <a:latin typeface="Segoe UI Black"/>
              </a:rPr>
              <a:t>PHÉP CHIA CÓ DƯ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>
                <a:solidFill>
                  <a:srgbClr val="A0917F"/>
                </a:solidFill>
                <a:latin typeface="Segoe UI"/>
              </a:rPr>
              <a:t>Toán 3  ·  Bài 25: Phép chia hết, phép chia có dư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50" spc="120">
                <a:solidFill>
                  <a:srgbClr val="A0917F"/>
                </a:solidFill>
                <a:latin typeface="Bahnschrift SemiBold Condensed"/>
              </a:rPr>
              <a:t>5 / 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F9F0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RB"/>
          <p:cNvSpPr/>
          <p:nvPr/>
        </p:nvSpPr>
        <p:spPr>
          <a:xfrm>
            <a:off x="4937760" y="-2011680"/>
            <a:ext cx="5852160" cy="5852160"/>
          </a:xfrm>
          <a:prstGeom prst="ellipse">
            <a:avLst/>
          </a:prstGeom>
          <a:gradFill rotWithShape="1">
            <a:gsLst>
              <a:gs pos="0">
                <a:srgbClr val="FFB800">
                  <a:alpha val="16000"/>
                </a:srgbClr>
              </a:gs>
              <a:gs pos="55000">
                <a:srgbClr val="FFB800">
                  <a:alpha val="5600"/>
                </a:srgbClr>
              </a:gs>
              <a:gs pos="100000">
                <a:srgbClr val="FFB8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777240" y="65836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spc="240">
                <a:solidFill>
                  <a:srgbClr val="2E7FE8"/>
                </a:solidFill>
                <a:latin typeface="Segoe UI Semibold"/>
              </a:rPr>
              <a:t>SO SÁNH</a:t>
            </a:r>
          </a:p>
        </p:txBody>
      </p:sp>
      <p:sp>
        <p:nvSpPr>
          <p:cNvPr id="5" name="RULE"/>
          <p:cNvSpPr/>
          <p:nvPr/>
        </p:nvSpPr>
        <p:spPr>
          <a:xfrm>
            <a:off x="777240" y="950976"/>
            <a:ext cx="1371600" cy="635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ADING"/>
          <p:cNvSpPr txBox="1"/>
          <p:nvPr/>
        </p:nvSpPr>
        <p:spPr>
          <a:xfrm>
            <a:off x="777240" y="102412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4000"/>
              </a:lnSpc>
            </a:pPr>
            <a:r>
              <a:rPr sz="4000">
                <a:solidFill>
                  <a:srgbClr val="241C14"/>
                </a:solidFill>
                <a:latin typeface="Segoe UI Black"/>
              </a:rPr>
              <a:t>Hai phép chia khác nhau chỗ nào?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14600"/>
            <a:ext cx="5135727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A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834640"/>
            <a:ext cx="4221327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000" spc="-120">
                <a:solidFill>
                  <a:srgbClr val="241C14"/>
                </a:solidFill>
                <a:latin typeface="Segoe UI Black"/>
              </a:rPr>
              <a:t>8 : 2 =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611880"/>
            <a:ext cx="4221327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spc="120">
                <a:solidFill>
                  <a:srgbClr val="1FA971"/>
                </a:solidFill>
                <a:latin typeface="Segoe UI Black"/>
              </a:rPr>
              <a:t>PHÉP CHIA HẾT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" y="4069080"/>
            <a:ext cx="640080" cy="50800"/>
          </a:xfrm>
          <a:prstGeom prst="rect">
            <a:avLst/>
          </a:prstGeom>
          <a:solidFill>
            <a:srgbClr val="1FA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34440" y="4370832"/>
            <a:ext cx="128016" cy="128016"/>
          </a:xfrm>
          <a:prstGeom prst="ellipse">
            <a:avLst/>
          </a:prstGeom>
          <a:solidFill>
            <a:srgbClr val="1FA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4297680"/>
            <a:ext cx="3855567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>
                <a:solidFill>
                  <a:srgbClr val="6B5E50"/>
                </a:solidFill>
                <a:latin typeface="Segoe UI"/>
              </a:rPr>
              <a:t>Chia hết, không thừa gì</a:t>
            </a:r>
          </a:p>
        </p:txBody>
      </p:sp>
      <p:sp>
        <p:nvSpPr>
          <p:cNvPr id="13" name="Oval 12"/>
          <p:cNvSpPr/>
          <p:nvPr/>
        </p:nvSpPr>
        <p:spPr>
          <a:xfrm>
            <a:off x="1234440" y="4754880"/>
            <a:ext cx="128016" cy="128016"/>
          </a:xfrm>
          <a:prstGeom prst="ellipse">
            <a:avLst/>
          </a:prstGeom>
          <a:solidFill>
            <a:srgbClr val="1FA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4681728"/>
            <a:ext cx="3855567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>
                <a:solidFill>
                  <a:srgbClr val="6B5E50"/>
                </a:solidFill>
                <a:latin typeface="Segoe UI"/>
              </a:rPr>
              <a:t>Số dư bằng 0</a:t>
            </a:r>
          </a:p>
        </p:txBody>
      </p:sp>
      <p:sp>
        <p:nvSpPr>
          <p:cNvPr id="15" name="Oval 14"/>
          <p:cNvSpPr/>
          <p:nvPr/>
        </p:nvSpPr>
        <p:spPr>
          <a:xfrm>
            <a:off x="1234440" y="5138928"/>
            <a:ext cx="128016" cy="128016"/>
          </a:xfrm>
          <a:prstGeom prst="ellipse">
            <a:avLst/>
          </a:prstGeom>
          <a:solidFill>
            <a:srgbClr val="1FA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5065776"/>
            <a:ext cx="3855567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>
                <a:solidFill>
                  <a:srgbClr val="6B5E50"/>
                </a:solidFill>
                <a:latin typeface="Segoe UI"/>
              </a:rPr>
              <a:t>Viết gọn: 8 : 2 = 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8727" y="2514600"/>
            <a:ext cx="5135727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35927" y="2834640"/>
            <a:ext cx="4221327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000" spc="-120">
                <a:solidFill>
                  <a:srgbClr val="241C14"/>
                </a:solidFill>
                <a:latin typeface="Segoe UI Black"/>
              </a:rPr>
              <a:t>9 : 2 = 4 (dư 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5927" y="3611880"/>
            <a:ext cx="4221327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spc="120">
                <a:solidFill>
                  <a:srgbClr val="FF6B35"/>
                </a:solidFill>
                <a:latin typeface="Segoe UI Black"/>
              </a:rPr>
              <a:t>PHÉP CHIA CÓ DƯ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35927" y="4069080"/>
            <a:ext cx="64008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35927" y="4370832"/>
            <a:ext cx="128016" cy="12801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55967" y="4297680"/>
            <a:ext cx="3855567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>
                <a:solidFill>
                  <a:srgbClr val="6B5E50"/>
                </a:solidFill>
                <a:latin typeface="Segoe UI"/>
              </a:rPr>
              <a:t>Chia xong vẫn thừa lại</a:t>
            </a:r>
          </a:p>
        </p:txBody>
      </p:sp>
      <p:sp>
        <p:nvSpPr>
          <p:cNvPr id="23" name="Oval 22"/>
          <p:cNvSpPr/>
          <p:nvPr/>
        </p:nvSpPr>
        <p:spPr>
          <a:xfrm>
            <a:off x="6735927" y="4754880"/>
            <a:ext cx="128016" cy="12801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55967" y="4681728"/>
            <a:ext cx="3855567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>
                <a:solidFill>
                  <a:srgbClr val="6B5E50"/>
                </a:solidFill>
                <a:latin typeface="Segoe UI"/>
              </a:rPr>
              <a:t>Số dư khác 0</a:t>
            </a:r>
          </a:p>
        </p:txBody>
      </p:sp>
      <p:sp>
        <p:nvSpPr>
          <p:cNvPr id="25" name="Oval 24"/>
          <p:cNvSpPr/>
          <p:nvPr/>
        </p:nvSpPr>
        <p:spPr>
          <a:xfrm>
            <a:off x="6735927" y="5138928"/>
            <a:ext cx="128016" cy="12801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55967" y="5065776"/>
            <a:ext cx="3855567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>
                <a:solidFill>
                  <a:srgbClr val="6B5E50"/>
                </a:solidFill>
                <a:latin typeface="Segoe UI"/>
              </a:rPr>
              <a:t>Viết: 9 : 2 = 4 (dư 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>
                <a:solidFill>
                  <a:srgbClr val="A0917F"/>
                </a:solidFill>
                <a:latin typeface="Segoe UI"/>
              </a:rPr>
              <a:t>Toán 3  ·  Bài 25: Phép chia hết, phép chia có dư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50" spc="120">
                <a:solidFill>
                  <a:srgbClr val="A0917F"/>
                </a:solidFill>
                <a:latin typeface="Bahnschrift SemiBold Condensed"/>
              </a:rPr>
              <a:t>6 / 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F9F0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RB"/>
          <p:cNvSpPr/>
          <p:nvPr/>
        </p:nvSpPr>
        <p:spPr>
          <a:xfrm>
            <a:off x="3108960" y="548640"/>
            <a:ext cx="6766560" cy="6766560"/>
          </a:xfrm>
          <a:prstGeom prst="ellipse">
            <a:avLst/>
          </a:prstGeom>
          <a:gradFill rotWithShape="1">
            <a:gsLst>
              <a:gs pos="0">
                <a:srgbClr val="FFB800">
                  <a:alpha val="26000"/>
                </a:srgbClr>
              </a:gs>
              <a:gs pos="55000">
                <a:srgbClr val="FFB800">
                  <a:alpha val="9100"/>
                </a:srgbClr>
              </a:gs>
              <a:gs pos="100000">
                <a:srgbClr val="FFB8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777240" y="65836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spc="240">
                <a:solidFill>
                  <a:srgbClr val="7B5CFF"/>
                </a:solidFill>
                <a:latin typeface="Segoe UI Semibold"/>
              </a:rPr>
              <a:t>GHI NHỚ</a:t>
            </a:r>
          </a:p>
        </p:txBody>
      </p:sp>
      <p:sp>
        <p:nvSpPr>
          <p:cNvPr id="5" name="RULE"/>
          <p:cNvSpPr/>
          <p:nvPr/>
        </p:nvSpPr>
        <p:spPr>
          <a:xfrm>
            <a:off x="777240" y="950976"/>
            <a:ext cx="1371600" cy="63500"/>
          </a:xfrm>
          <a:prstGeom prst="rect">
            <a:avLst/>
          </a:prstGeom>
          <a:solidFill>
            <a:srgbClr val="7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ADING"/>
          <p:cNvSpPr txBox="1"/>
          <p:nvPr/>
        </p:nvSpPr>
        <p:spPr>
          <a:xfrm>
            <a:off x="777240" y="1920240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5400" spc="-150">
                <a:solidFill>
                  <a:srgbClr val="241C14"/>
                </a:solidFill>
                <a:latin typeface="Segoe UI Black"/>
              </a:rPr>
              <a:t>Số dư luôn bé hơn số chia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063240"/>
            <a:ext cx="2011680" cy="76200"/>
          </a:xfrm>
          <a:prstGeom prst="rect">
            <a:avLst/>
          </a:prstGeom>
          <a:solidFill>
            <a:srgbClr val="7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3566160"/>
            <a:ext cx="339333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A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886200"/>
            <a:ext cx="266181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700" spc="-80">
                <a:solidFill>
                  <a:srgbClr val="241C14"/>
                </a:solidFill>
                <a:latin typeface="Segoe UI Black"/>
              </a:rPr>
              <a:t>9 : 2 = 4 (dư 1)</a:t>
            </a:r>
          </a:p>
        </p:txBody>
      </p:sp>
      <p:sp>
        <p:nvSpPr>
          <p:cNvPr id="10" name="Oval 9"/>
          <p:cNvSpPr/>
          <p:nvPr/>
        </p:nvSpPr>
        <p:spPr>
          <a:xfrm>
            <a:off x="1143000" y="4572000"/>
            <a:ext cx="329184" cy="329184"/>
          </a:xfrm>
          <a:prstGeom prst="ellipse">
            <a:avLst/>
          </a:prstGeom>
          <a:solidFill>
            <a:srgbClr val="1FA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61772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4626864"/>
            <a:ext cx="220461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>
                <a:solidFill>
                  <a:srgbClr val="1FA971"/>
                </a:solidFill>
                <a:latin typeface="Segoe UI Semibold"/>
              </a:rPr>
              <a:t>1 bé hơn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9178" y="3566160"/>
            <a:ext cx="339333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A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64938" y="3886200"/>
            <a:ext cx="266181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700" spc="-80">
                <a:solidFill>
                  <a:srgbClr val="241C14"/>
                </a:solidFill>
                <a:latin typeface="Segoe UI Black"/>
              </a:rPr>
              <a:t>19 : 5 = 3 (dư 4)</a:t>
            </a:r>
          </a:p>
        </p:txBody>
      </p:sp>
      <p:sp>
        <p:nvSpPr>
          <p:cNvPr id="15" name="Oval 14"/>
          <p:cNvSpPr/>
          <p:nvPr/>
        </p:nvSpPr>
        <p:spPr>
          <a:xfrm>
            <a:off x="4764938" y="4572000"/>
            <a:ext cx="329184" cy="329184"/>
          </a:xfrm>
          <a:prstGeom prst="ellipse">
            <a:avLst/>
          </a:prstGeom>
          <a:solidFill>
            <a:srgbClr val="1FA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64938" y="461772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0426" y="4626864"/>
            <a:ext cx="220461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>
                <a:solidFill>
                  <a:srgbClr val="1FA971"/>
                </a:solidFill>
                <a:latin typeface="Segoe UI Semibold"/>
              </a:rPr>
              <a:t>4 bé hơn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1116" y="3566160"/>
            <a:ext cx="339333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6876" y="3886200"/>
            <a:ext cx="266181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700" spc="-80">
                <a:solidFill>
                  <a:srgbClr val="241C14"/>
                </a:solidFill>
                <a:latin typeface="Segoe UI Black"/>
              </a:rPr>
              <a:t>19 : 5 = 2 (dư 9)</a:t>
            </a:r>
          </a:p>
        </p:txBody>
      </p:sp>
      <p:sp>
        <p:nvSpPr>
          <p:cNvPr id="20" name="Oval 19"/>
          <p:cNvSpPr/>
          <p:nvPr/>
        </p:nvSpPr>
        <p:spPr>
          <a:xfrm>
            <a:off x="8386876" y="4572000"/>
            <a:ext cx="329184" cy="32918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6876" y="461772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Segoe UI Semibold"/>
              </a:rPr>
              <a:t>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2364" y="4626864"/>
            <a:ext cx="220461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>
                <a:solidFill>
                  <a:srgbClr val="FF6B35"/>
                </a:solidFill>
                <a:latin typeface="Segoe UI Semibold"/>
              </a:rPr>
              <a:t>9 lớn hơn 5 — sai rồi!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62356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>
                <a:solidFill>
                  <a:srgbClr val="6B5E50"/>
                </a:solidFill>
                <a:latin typeface="Segoe UI Semibold"/>
              </a:rPr>
              <a:t>Số bị chia  =  thương  ×  số chia  +  số dư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>
                <a:solidFill>
                  <a:srgbClr val="A0917F"/>
                </a:solidFill>
                <a:latin typeface="Segoe UI"/>
              </a:rPr>
              <a:t>Toán 3  ·  Bài 25: Phép chia hết, phép chia có dư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50" spc="120">
                <a:solidFill>
                  <a:srgbClr val="A0917F"/>
                </a:solidFill>
                <a:latin typeface="Bahnschrift SemiBold Condensed"/>
              </a:rPr>
              <a:t>7 / 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F9F0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RB"/>
          <p:cNvSpPr/>
          <p:nvPr/>
        </p:nvSpPr>
        <p:spPr>
          <a:xfrm>
            <a:off x="9509760" y="4023360"/>
            <a:ext cx="5303520" cy="5303520"/>
          </a:xfrm>
          <a:prstGeom prst="ellipse">
            <a:avLst/>
          </a:prstGeom>
          <a:gradFill rotWithShape="1">
            <a:gsLst>
              <a:gs pos="0">
                <a:srgbClr val="2E7FE8">
                  <a:alpha val="14000"/>
                </a:srgbClr>
              </a:gs>
              <a:gs pos="55000">
                <a:srgbClr val="2E7FE8">
                  <a:alpha val="4900"/>
                </a:srgbClr>
              </a:gs>
              <a:gs pos="100000">
                <a:srgbClr val="2E7FE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777240" y="65836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spc="240">
                <a:solidFill>
                  <a:srgbClr val="2E7FE8"/>
                </a:solidFill>
                <a:latin typeface="Segoe UI Semibold"/>
              </a:rPr>
              <a:t>SGK TRANG 74  ·  BÀI 2</a:t>
            </a:r>
          </a:p>
        </p:txBody>
      </p:sp>
      <p:sp>
        <p:nvSpPr>
          <p:cNvPr id="5" name="RULE"/>
          <p:cNvSpPr/>
          <p:nvPr/>
        </p:nvSpPr>
        <p:spPr>
          <a:xfrm>
            <a:off x="777240" y="950976"/>
            <a:ext cx="1371600" cy="635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37015" y="603504"/>
            <a:ext cx="2377440" cy="402336"/>
          </a:xfrm>
          <a:prstGeom prst="roundRect">
            <a:avLst>
              <a:gd name="adj" fmla="val 45000"/>
            </a:avLst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7015" y="71323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spc="180">
                <a:solidFill>
                  <a:srgbClr val="FFFFFF"/>
                </a:solidFill>
                <a:latin typeface="Segoe UI Semibold"/>
              </a:rPr>
              <a:t>LUYỆN TẬP</a:t>
            </a:r>
          </a:p>
        </p:txBody>
      </p:sp>
      <p:sp>
        <p:nvSpPr>
          <p:cNvPr id="8" name="HEADING"/>
          <p:cNvSpPr txBox="1"/>
          <p:nvPr/>
        </p:nvSpPr>
        <p:spPr>
          <a:xfrm>
            <a:off x="777240" y="102412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4000"/>
              </a:lnSpc>
            </a:pPr>
            <a:r>
              <a:rPr sz="4000">
                <a:solidFill>
                  <a:srgbClr val="241C14"/>
                </a:solidFill>
                <a:latin typeface="Segoe UI Black"/>
              </a:rPr>
              <a:t>Nối phép chia với số dư của nó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606040"/>
            <a:ext cx="1658569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FE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165856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800" spc="-80">
                <a:solidFill>
                  <a:srgbClr val="241C14"/>
                </a:solidFill>
                <a:latin typeface="Segoe UI Black"/>
              </a:rPr>
              <a:t>17 :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72969" y="2606040"/>
            <a:ext cx="1658569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FE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2969" y="2971800"/>
            <a:ext cx="165856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800" spc="-80">
                <a:solidFill>
                  <a:srgbClr val="241C14"/>
                </a:solidFill>
                <a:latin typeface="Segoe UI Black"/>
              </a:rPr>
              <a:t>41 : 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8698" y="2606040"/>
            <a:ext cx="1658569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FE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8698" y="2971800"/>
            <a:ext cx="165856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800" spc="-80">
                <a:solidFill>
                  <a:srgbClr val="241C14"/>
                </a:solidFill>
                <a:latin typeface="Segoe UI Black"/>
              </a:rPr>
              <a:t>19 : 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4427" y="2606040"/>
            <a:ext cx="1658569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FE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4427" y="2971800"/>
            <a:ext cx="165856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800" spc="-80">
                <a:solidFill>
                  <a:srgbClr val="241C14"/>
                </a:solidFill>
                <a:latin typeface="Segoe UI Black"/>
              </a:rPr>
              <a:t>16 : 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60156" y="2606040"/>
            <a:ext cx="1658569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FE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0156" y="2971800"/>
            <a:ext cx="165856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800" spc="-80">
                <a:solidFill>
                  <a:srgbClr val="241C14"/>
                </a:solidFill>
                <a:latin typeface="Segoe UI Black"/>
              </a:rPr>
              <a:t>34 : 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55885" y="2606040"/>
            <a:ext cx="1658569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FE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55885" y="2971800"/>
            <a:ext cx="165856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800" spc="-80">
                <a:solidFill>
                  <a:srgbClr val="241C14"/>
                </a:solidFill>
                <a:latin typeface="Segoe UI Black"/>
              </a:rPr>
              <a:t>19 :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06908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spc="220">
                <a:solidFill>
                  <a:srgbClr val="A0917F"/>
                </a:solidFill>
                <a:latin typeface="Segoe UI Semibold"/>
              </a:rPr>
              <a:t>SỐ DƯ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64127" y="4526280"/>
            <a:ext cx="1371600" cy="1005840"/>
          </a:xfrm>
          <a:prstGeom prst="roundRect">
            <a:avLst>
              <a:gd name="adj" fmla="val 25000"/>
            </a:avLst>
          </a:prstGeom>
          <a:solidFill>
            <a:srgbClr val="FFF3E0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64127" y="48006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400">
                <a:solidFill>
                  <a:srgbClr val="FFB800"/>
                </a:solidFill>
                <a:latin typeface="Segoe UI Black"/>
              </a:rPr>
              <a:t>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10047" y="4526280"/>
            <a:ext cx="1371600" cy="1005840"/>
          </a:xfrm>
          <a:prstGeom prst="roundRect">
            <a:avLst>
              <a:gd name="adj" fmla="val 25000"/>
            </a:avLst>
          </a:prstGeom>
          <a:solidFill>
            <a:srgbClr val="FFF3E0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10047" y="48006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400">
                <a:solidFill>
                  <a:srgbClr val="FFB800"/>
                </a:solidFill>
                <a:latin typeface="Segoe UI Black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55967" y="4526280"/>
            <a:ext cx="1371600" cy="1005840"/>
          </a:xfrm>
          <a:prstGeom prst="roundRect">
            <a:avLst>
              <a:gd name="adj" fmla="val 25000"/>
            </a:avLst>
          </a:prstGeom>
          <a:solidFill>
            <a:srgbClr val="FFF3E0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55967" y="48006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400">
                <a:solidFill>
                  <a:srgbClr val="FFB800"/>
                </a:solidFill>
                <a:latin typeface="Segoe UI Black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76072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>
                <a:solidFill>
                  <a:srgbClr val="6B5E50"/>
                </a:solidFill>
                <a:latin typeface="Segoe UI"/>
              </a:rPr>
              <a:t>Gợi ý: chia thử rồi xem còn thừa mấy đơn vị.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>
                <a:solidFill>
                  <a:srgbClr val="A0917F"/>
                </a:solidFill>
                <a:latin typeface="Segoe UI"/>
              </a:rPr>
              <a:t>Toán 3  ·  Bài 25: Phép chia hết, phép chia có dư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50" spc="120">
                <a:solidFill>
                  <a:srgbClr val="A0917F"/>
                </a:solidFill>
                <a:latin typeface="Bahnschrift SemiBold Condensed"/>
              </a:rPr>
              <a:t>8 / 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F9F0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RB"/>
          <p:cNvSpPr/>
          <p:nvPr/>
        </p:nvSpPr>
        <p:spPr>
          <a:xfrm>
            <a:off x="-2011680" y="3840480"/>
            <a:ext cx="5120640" cy="5120640"/>
          </a:xfrm>
          <a:prstGeom prst="ellipse">
            <a:avLst/>
          </a:prstGeom>
          <a:gradFill rotWithShape="1">
            <a:gsLst>
              <a:gs pos="0">
                <a:srgbClr val="1FA971">
                  <a:alpha val="16000"/>
                </a:srgbClr>
              </a:gs>
              <a:gs pos="55000">
                <a:srgbClr val="1FA971">
                  <a:alpha val="5600"/>
                </a:srgbClr>
              </a:gs>
              <a:gs pos="100000">
                <a:srgbClr val="1FA97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777240" y="65836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spc="240">
                <a:solidFill>
                  <a:srgbClr val="1FA971"/>
                </a:solidFill>
                <a:latin typeface="Segoe UI Semibold"/>
              </a:rPr>
              <a:t>SGK TRANG 74  ·  BÀI 2</a:t>
            </a:r>
          </a:p>
        </p:txBody>
      </p:sp>
      <p:sp>
        <p:nvSpPr>
          <p:cNvPr id="5" name="RULE"/>
          <p:cNvSpPr/>
          <p:nvPr/>
        </p:nvSpPr>
        <p:spPr>
          <a:xfrm>
            <a:off x="777240" y="950976"/>
            <a:ext cx="1371600" cy="63500"/>
          </a:xfrm>
          <a:prstGeom prst="rect">
            <a:avLst/>
          </a:prstGeom>
          <a:solidFill>
            <a:srgbClr val="1FA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37015" y="603504"/>
            <a:ext cx="2377440" cy="402336"/>
          </a:xfrm>
          <a:prstGeom prst="roundRect">
            <a:avLst>
              <a:gd name="adj" fmla="val 45000"/>
            </a:avLst>
          </a:prstGeom>
          <a:solidFill>
            <a:srgbClr val="1FA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7015" y="71323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spc="180">
                <a:solidFill>
                  <a:srgbClr val="FFFFFF"/>
                </a:solidFill>
                <a:latin typeface="Segoe UI Semibold"/>
              </a:rPr>
              <a:t>ĐÁP ÁN</a:t>
            </a:r>
          </a:p>
        </p:txBody>
      </p:sp>
      <p:sp>
        <p:nvSpPr>
          <p:cNvPr id="8" name="HEADING"/>
          <p:cNvSpPr txBox="1"/>
          <p:nvPr/>
        </p:nvSpPr>
        <p:spPr>
          <a:xfrm>
            <a:off x="777240" y="102412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4000"/>
              </a:lnSpc>
            </a:pPr>
            <a:r>
              <a:rPr sz="4000">
                <a:solidFill>
                  <a:srgbClr val="241C14"/>
                </a:solidFill>
                <a:latin typeface="Segoe UI Black"/>
              </a:rPr>
              <a:t>Cùng kiểm tra nào!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606040"/>
            <a:ext cx="1658569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A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80360"/>
            <a:ext cx="1658569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400" spc="-80">
                <a:solidFill>
                  <a:srgbClr val="241C14"/>
                </a:solidFill>
                <a:latin typeface="Segoe UI Black"/>
              </a:rPr>
              <a:t>17 :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74810" y="3456432"/>
            <a:ext cx="663427" cy="25400"/>
          </a:xfrm>
          <a:prstGeom prst="rect">
            <a:avLst/>
          </a:prstGeom>
          <a:solidFill>
            <a:srgbClr val="EFE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639312"/>
            <a:ext cx="165856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00">
                <a:solidFill>
                  <a:srgbClr val="6B5E50"/>
                </a:solidFill>
                <a:latin typeface="Segoe UI"/>
              </a:rPr>
              <a:t>thương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23360"/>
            <a:ext cx="1658569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600">
                <a:solidFill>
                  <a:srgbClr val="FF6B35"/>
                </a:solidFill>
                <a:latin typeface="Segoe UI Black"/>
              </a:rPr>
              <a:t>dư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72969" y="2606040"/>
            <a:ext cx="1658569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A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72969" y="2880360"/>
            <a:ext cx="1658569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400" spc="-80">
                <a:solidFill>
                  <a:srgbClr val="241C14"/>
                </a:solidFill>
                <a:latin typeface="Segoe UI Black"/>
              </a:rPr>
              <a:t>41 : 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70539" y="3456432"/>
            <a:ext cx="663427" cy="25400"/>
          </a:xfrm>
          <a:prstGeom prst="rect">
            <a:avLst/>
          </a:prstGeom>
          <a:solidFill>
            <a:srgbClr val="EFE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72969" y="3639312"/>
            <a:ext cx="165856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00">
                <a:solidFill>
                  <a:srgbClr val="6B5E50"/>
                </a:solidFill>
                <a:latin typeface="Segoe UI"/>
              </a:rPr>
              <a:t>thương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2969" y="4023360"/>
            <a:ext cx="1658569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600">
                <a:solidFill>
                  <a:srgbClr val="FF6B35"/>
                </a:solidFill>
                <a:latin typeface="Segoe UI Black"/>
              </a:rPr>
              <a:t>dư 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68698" y="2606040"/>
            <a:ext cx="1658569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A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8698" y="2880360"/>
            <a:ext cx="1658569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400" spc="-80">
                <a:solidFill>
                  <a:srgbClr val="241C14"/>
                </a:solidFill>
                <a:latin typeface="Segoe UI Black"/>
              </a:rPr>
              <a:t>19 : 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66268" y="3456432"/>
            <a:ext cx="663427" cy="25400"/>
          </a:xfrm>
          <a:prstGeom prst="rect">
            <a:avLst/>
          </a:prstGeom>
          <a:solidFill>
            <a:srgbClr val="EFE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68698" y="3639312"/>
            <a:ext cx="165856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00">
                <a:solidFill>
                  <a:srgbClr val="6B5E50"/>
                </a:solidFill>
                <a:latin typeface="Segoe UI"/>
              </a:rPr>
              <a:t>thương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8698" y="4023360"/>
            <a:ext cx="1658569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600">
                <a:solidFill>
                  <a:srgbClr val="FF6B35"/>
                </a:solidFill>
                <a:latin typeface="Segoe UI Black"/>
              </a:rPr>
              <a:t>dư 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4427" y="2606040"/>
            <a:ext cx="1658569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A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64427" y="2880360"/>
            <a:ext cx="1658569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400" spc="-80">
                <a:solidFill>
                  <a:srgbClr val="241C14"/>
                </a:solidFill>
                <a:latin typeface="Segoe UI Black"/>
              </a:rPr>
              <a:t>16 : 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61997" y="3456432"/>
            <a:ext cx="663427" cy="25400"/>
          </a:xfrm>
          <a:prstGeom prst="rect">
            <a:avLst/>
          </a:prstGeom>
          <a:solidFill>
            <a:srgbClr val="EFE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64427" y="3639312"/>
            <a:ext cx="165856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00">
                <a:solidFill>
                  <a:srgbClr val="6B5E50"/>
                </a:solidFill>
                <a:latin typeface="Segoe UI"/>
              </a:rPr>
              <a:t>thương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64427" y="4023360"/>
            <a:ext cx="1658569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600">
                <a:solidFill>
                  <a:srgbClr val="FF6B35"/>
                </a:solidFill>
                <a:latin typeface="Segoe UI Black"/>
              </a:rPr>
              <a:t>dư 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60156" y="2606040"/>
            <a:ext cx="1658569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A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0156" y="2880360"/>
            <a:ext cx="1658569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400" spc="-80">
                <a:solidFill>
                  <a:srgbClr val="241C14"/>
                </a:solidFill>
                <a:latin typeface="Segoe UI Black"/>
              </a:rPr>
              <a:t>34 : 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57726" y="3456432"/>
            <a:ext cx="663427" cy="25400"/>
          </a:xfrm>
          <a:prstGeom prst="rect">
            <a:avLst/>
          </a:prstGeom>
          <a:solidFill>
            <a:srgbClr val="EFE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0156" y="3639312"/>
            <a:ext cx="165856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00">
                <a:solidFill>
                  <a:srgbClr val="6B5E50"/>
                </a:solidFill>
                <a:latin typeface="Segoe UI"/>
              </a:rPr>
              <a:t>thương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60156" y="4023360"/>
            <a:ext cx="1658569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600">
                <a:solidFill>
                  <a:srgbClr val="FF6B35"/>
                </a:solidFill>
                <a:latin typeface="Segoe UI Black"/>
              </a:rPr>
              <a:t>dư 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55885" y="2606040"/>
            <a:ext cx="1658569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A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55885" y="2880360"/>
            <a:ext cx="1658569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400" spc="-80">
                <a:solidFill>
                  <a:srgbClr val="241C14"/>
                </a:solidFill>
                <a:latin typeface="Segoe UI Black"/>
              </a:rPr>
              <a:t>19 : 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53455" y="3456432"/>
            <a:ext cx="663427" cy="25400"/>
          </a:xfrm>
          <a:prstGeom prst="rect">
            <a:avLst/>
          </a:prstGeom>
          <a:solidFill>
            <a:srgbClr val="EFE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55885" y="3639312"/>
            <a:ext cx="165856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00">
                <a:solidFill>
                  <a:srgbClr val="6B5E50"/>
                </a:solidFill>
                <a:latin typeface="Segoe UI"/>
              </a:rPr>
              <a:t>thương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55885" y="4023360"/>
            <a:ext cx="1658569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600">
                <a:solidFill>
                  <a:srgbClr val="FF6B35"/>
                </a:solidFill>
                <a:latin typeface="Segoe UI Black"/>
              </a:rPr>
              <a:t>dư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25780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800">
                <a:solidFill>
                  <a:srgbClr val="6B5E50"/>
                </a:solidFill>
                <a:latin typeface="Segoe UI Semibold"/>
              </a:rPr>
              <a:t>Để ý: số dư ở cả sáu phép chia đều bé hơn số chia.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>
                <a:solidFill>
                  <a:srgbClr val="A0917F"/>
                </a:solidFill>
                <a:latin typeface="Segoe UI"/>
              </a:rPr>
              <a:t>Toán 3  ·  Bài 25: Phép chia hết, phép chia có dư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50" spc="120">
                <a:solidFill>
                  <a:srgbClr val="A0917F"/>
                </a:solidFill>
                <a:latin typeface="Bahnschrift SemiBold Condensed"/>
              </a:rPr>
              <a:t>9 / 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F9F0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RB"/>
          <p:cNvSpPr/>
          <p:nvPr/>
        </p:nvSpPr>
        <p:spPr>
          <a:xfrm>
            <a:off x="8961120" y="-2011680"/>
            <a:ext cx="5852160" cy="5852160"/>
          </a:xfrm>
          <a:prstGeom prst="ellipse">
            <a:avLst/>
          </a:prstGeom>
          <a:gradFill rotWithShape="1">
            <a:gsLst>
              <a:gs pos="0">
                <a:srgbClr val="2E7FE8">
                  <a:alpha val="16000"/>
                </a:srgbClr>
              </a:gs>
              <a:gs pos="55000">
                <a:srgbClr val="2E7FE8">
                  <a:alpha val="5600"/>
                </a:srgbClr>
              </a:gs>
              <a:gs pos="100000">
                <a:srgbClr val="2E7FE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777240" y="65836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spc="240">
                <a:solidFill>
                  <a:srgbClr val="2E7FE8"/>
                </a:solidFill>
                <a:latin typeface="Segoe UI Semibold"/>
              </a:rPr>
              <a:t>SGK TRANG 74  ·  BÀI 3</a:t>
            </a:r>
          </a:p>
        </p:txBody>
      </p:sp>
      <p:sp>
        <p:nvSpPr>
          <p:cNvPr id="5" name="RULE"/>
          <p:cNvSpPr/>
          <p:nvPr/>
        </p:nvSpPr>
        <p:spPr>
          <a:xfrm>
            <a:off x="777240" y="950976"/>
            <a:ext cx="1371600" cy="635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37015" y="603504"/>
            <a:ext cx="2377440" cy="402336"/>
          </a:xfrm>
          <a:prstGeom prst="roundRect">
            <a:avLst>
              <a:gd name="adj" fmla="val 45000"/>
            </a:avLst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7015" y="71323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spc="180">
                <a:solidFill>
                  <a:srgbClr val="FFFFFF"/>
                </a:solidFill>
                <a:latin typeface="Segoe UI Semibold"/>
              </a:rPr>
              <a:t>VẬN DỤNG</a:t>
            </a:r>
          </a:p>
        </p:txBody>
      </p:sp>
      <p:sp>
        <p:nvSpPr>
          <p:cNvPr id="8" name="HEADING"/>
          <p:cNvSpPr txBox="1"/>
          <p:nvPr/>
        </p:nvSpPr>
        <p:spPr>
          <a:xfrm>
            <a:off x="777240" y="102412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4000"/>
              </a:lnSpc>
            </a:pPr>
            <a:r>
              <a:rPr sz="4000">
                <a:solidFill>
                  <a:srgbClr val="241C14"/>
                </a:solidFill>
                <a:latin typeface="Segoe UI Black"/>
              </a:rPr>
              <a:t>Có 56 con cá, mỗi rổ đựng 8 con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>
                <a:solidFill>
                  <a:srgbClr val="6B5E50"/>
                </a:solidFill>
                <a:latin typeface="Segoe UI Light"/>
              </a:rPr>
              <a:t>Hỏi xếp được tất cả bao nhiêu rổ cá?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017520"/>
            <a:ext cx="1325880" cy="1143000"/>
          </a:xfrm>
          <a:prstGeom prst="roundRect">
            <a:avLst>
              <a:gd name="adj" fmla="val 20000"/>
            </a:avLst>
          </a:prstGeom>
          <a:solidFill>
            <a:srgbClr val="FFF3E0"/>
          </a:solidFill>
          <a:ln w="25400">
            <a:solidFill>
              <a:srgbClr val="2E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18688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000">
                <a:solidFill>
                  <a:srgbClr val="2E7FE8"/>
                </a:solidFill>
                <a:latin typeface="Segoe UI Black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75887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>
                <a:solidFill>
                  <a:srgbClr val="6B5E50"/>
                </a:solidFill>
                <a:latin typeface="Segoe UI"/>
              </a:rPr>
              <a:t>con cá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224528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>
                <a:solidFill>
                  <a:srgbClr val="A0917F"/>
                </a:solidFill>
                <a:latin typeface="Segoe UI Semibold"/>
              </a:rPr>
              <a:t>rổ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13432" y="3017520"/>
            <a:ext cx="1325880" cy="1143000"/>
          </a:xfrm>
          <a:prstGeom prst="roundRect">
            <a:avLst>
              <a:gd name="adj" fmla="val 20000"/>
            </a:avLst>
          </a:prstGeom>
          <a:solidFill>
            <a:srgbClr val="FFF3E0"/>
          </a:solidFill>
          <a:ln w="25400">
            <a:solidFill>
              <a:srgbClr val="2E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13432" y="3218688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000">
                <a:solidFill>
                  <a:srgbClr val="2E7FE8"/>
                </a:solidFill>
                <a:latin typeface="Segoe UI Black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13432" y="3675887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>
                <a:solidFill>
                  <a:srgbClr val="6B5E50"/>
                </a:solidFill>
                <a:latin typeface="Segoe UI"/>
              </a:rPr>
              <a:t>con cá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13432" y="4224528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>
                <a:solidFill>
                  <a:srgbClr val="A0917F"/>
                </a:solidFill>
                <a:latin typeface="Segoe UI Semibold"/>
              </a:rPr>
              <a:t>rổ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9624" y="3017520"/>
            <a:ext cx="1325880" cy="1143000"/>
          </a:xfrm>
          <a:prstGeom prst="roundRect">
            <a:avLst>
              <a:gd name="adj" fmla="val 20000"/>
            </a:avLst>
          </a:prstGeom>
          <a:solidFill>
            <a:srgbClr val="FFF3E0"/>
          </a:solidFill>
          <a:ln w="25400">
            <a:solidFill>
              <a:srgbClr val="2E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9624" y="3218688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000">
                <a:solidFill>
                  <a:srgbClr val="2E7FE8"/>
                </a:solidFill>
                <a:latin typeface="Segoe UI Black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9624" y="3675887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>
                <a:solidFill>
                  <a:srgbClr val="6B5E50"/>
                </a:solidFill>
                <a:latin typeface="Segoe UI"/>
              </a:rPr>
              <a:t>con cá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9624" y="4224528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>
                <a:solidFill>
                  <a:srgbClr val="A0917F"/>
                </a:solidFill>
                <a:latin typeface="Segoe UI Semibold"/>
              </a:rPr>
              <a:t>rổ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85816" y="3017520"/>
            <a:ext cx="1325880" cy="1143000"/>
          </a:xfrm>
          <a:prstGeom prst="roundRect">
            <a:avLst>
              <a:gd name="adj" fmla="val 20000"/>
            </a:avLst>
          </a:prstGeom>
          <a:solidFill>
            <a:srgbClr val="FFF3E0"/>
          </a:solidFill>
          <a:ln w="25400">
            <a:solidFill>
              <a:srgbClr val="2E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85816" y="3218688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000">
                <a:solidFill>
                  <a:srgbClr val="2E7FE8"/>
                </a:solidFill>
                <a:latin typeface="Segoe UI Black"/>
              </a:rP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85816" y="3675887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>
                <a:solidFill>
                  <a:srgbClr val="6B5E50"/>
                </a:solidFill>
                <a:latin typeface="Segoe UI"/>
              </a:rPr>
              <a:t>con cá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85816" y="4224528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>
                <a:solidFill>
                  <a:srgbClr val="A0917F"/>
                </a:solidFill>
                <a:latin typeface="Segoe UI Semibold"/>
              </a:rPr>
              <a:t>rổ 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22008" y="3017520"/>
            <a:ext cx="1325880" cy="1143000"/>
          </a:xfrm>
          <a:prstGeom prst="roundRect">
            <a:avLst>
              <a:gd name="adj" fmla="val 20000"/>
            </a:avLst>
          </a:prstGeom>
          <a:solidFill>
            <a:srgbClr val="FFF3E0"/>
          </a:solidFill>
          <a:ln w="25400">
            <a:solidFill>
              <a:srgbClr val="2E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22008" y="3218688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000">
                <a:solidFill>
                  <a:srgbClr val="2E7FE8"/>
                </a:solidFill>
                <a:latin typeface="Segoe UI Black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2008" y="3675887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>
                <a:solidFill>
                  <a:srgbClr val="6B5E50"/>
                </a:solidFill>
                <a:latin typeface="Segoe UI"/>
              </a:rPr>
              <a:t>con cá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8" y="4224528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>
                <a:solidFill>
                  <a:srgbClr val="A0917F"/>
                </a:solidFill>
                <a:latin typeface="Segoe UI Semibold"/>
              </a:rPr>
              <a:t>rổ 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58200" y="3017520"/>
            <a:ext cx="1325880" cy="1143000"/>
          </a:xfrm>
          <a:prstGeom prst="roundRect">
            <a:avLst>
              <a:gd name="adj" fmla="val 20000"/>
            </a:avLst>
          </a:prstGeom>
          <a:solidFill>
            <a:srgbClr val="FFF3E0"/>
          </a:solidFill>
          <a:ln w="25400">
            <a:solidFill>
              <a:srgbClr val="2E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3218688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000">
                <a:solidFill>
                  <a:srgbClr val="2E7FE8"/>
                </a:solidFill>
                <a:latin typeface="Segoe UI Black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3675887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>
                <a:solidFill>
                  <a:srgbClr val="6B5E50"/>
                </a:solidFill>
                <a:latin typeface="Segoe UI"/>
              </a:rPr>
              <a:t>con cá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224528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>
                <a:solidFill>
                  <a:srgbClr val="A0917F"/>
                </a:solidFill>
                <a:latin typeface="Segoe UI Semibold"/>
              </a:rPr>
              <a:t>rổ 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94392" y="3017520"/>
            <a:ext cx="1325880" cy="1143000"/>
          </a:xfrm>
          <a:prstGeom prst="roundRect">
            <a:avLst>
              <a:gd name="adj" fmla="val 20000"/>
            </a:avLst>
          </a:prstGeom>
          <a:solidFill>
            <a:srgbClr val="FFF3E0"/>
          </a:solidFill>
          <a:ln w="25400">
            <a:solidFill>
              <a:srgbClr val="2E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94392" y="3218688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000">
                <a:solidFill>
                  <a:srgbClr val="2E7FE8"/>
                </a:solidFill>
                <a:latin typeface="Segoe UI Black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94392" y="3675887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>
                <a:solidFill>
                  <a:srgbClr val="6B5E50"/>
                </a:solidFill>
                <a:latin typeface="Segoe UI"/>
              </a:rPr>
              <a:t>con cá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94392" y="4224528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>
                <a:solidFill>
                  <a:srgbClr val="A0917F"/>
                </a:solidFill>
                <a:latin typeface="Segoe UI Semibold"/>
              </a:rPr>
              <a:t>rổ 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4892040"/>
            <a:ext cx="58521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A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4440" y="5138928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400" spc="-100">
                <a:solidFill>
                  <a:srgbClr val="241C14"/>
                </a:solidFill>
                <a:latin typeface="Segoe UI Black"/>
              </a:rPr>
              <a:t>56 : 8 = 7 (rổ)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03720" y="4892040"/>
            <a:ext cx="4510735" cy="1143000"/>
          </a:xfrm>
          <a:prstGeom prst="roundRect">
            <a:avLst>
              <a:gd name="adj" fmla="val 6000"/>
            </a:avLst>
          </a:prstGeom>
          <a:solidFill>
            <a:srgbClr val="FFF3E0"/>
          </a:solidFill>
          <a:ln w="12700">
            <a:solidFill>
              <a:srgbClr val="EFE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0" y="512064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>
                <a:solidFill>
                  <a:srgbClr val="6B5E50"/>
                </a:solidFill>
                <a:latin typeface="Segoe UI"/>
              </a:rPr>
              <a:t>Chia hết — không thừa con cá nào.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>
                <a:solidFill>
                  <a:srgbClr val="A0917F"/>
                </a:solidFill>
                <a:latin typeface="Segoe UI"/>
              </a:rPr>
              <a:t>Toán 3  ·  Bài 25: Phép chia hết, phép chia có dư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50" spc="120">
                <a:solidFill>
                  <a:srgbClr val="A0917F"/>
                </a:solidFill>
                <a:latin typeface="Bahnschrift SemiBold Condensed"/>
              </a:rPr>
              <a:t>10 / 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F9F0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RB"/>
          <p:cNvSpPr/>
          <p:nvPr/>
        </p:nvSpPr>
        <p:spPr>
          <a:xfrm>
            <a:off x="-2377440" y="-1280160"/>
            <a:ext cx="5669280" cy="5669280"/>
          </a:xfrm>
          <a:prstGeom prst="ellipse">
            <a:avLst/>
          </a:prstGeom>
          <a:gradFill rotWithShape="1">
            <a:gsLst>
              <a:gs pos="0">
                <a:srgbClr val="7B5CFF">
                  <a:alpha val="14000"/>
                </a:srgbClr>
              </a:gs>
              <a:gs pos="55000">
                <a:srgbClr val="7B5CFF">
                  <a:alpha val="4900"/>
                </a:srgbClr>
              </a:gs>
              <a:gs pos="100000">
                <a:srgbClr val="7B5C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777240" y="65836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spc="240">
                <a:solidFill>
                  <a:srgbClr val="7B5CFF"/>
                </a:solidFill>
                <a:latin typeface="Segoe UI Semibold"/>
              </a:rPr>
              <a:t>BÀI TOÁN THÊM</a:t>
            </a:r>
          </a:p>
        </p:txBody>
      </p:sp>
      <p:sp>
        <p:nvSpPr>
          <p:cNvPr id="5" name="RULE"/>
          <p:cNvSpPr/>
          <p:nvPr/>
        </p:nvSpPr>
        <p:spPr>
          <a:xfrm>
            <a:off x="777240" y="950976"/>
            <a:ext cx="1371600" cy="63500"/>
          </a:xfrm>
          <a:prstGeom prst="rect">
            <a:avLst/>
          </a:prstGeom>
          <a:solidFill>
            <a:srgbClr val="7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37015" y="603504"/>
            <a:ext cx="2377440" cy="402336"/>
          </a:xfrm>
          <a:prstGeom prst="roundRect">
            <a:avLst>
              <a:gd name="adj" fmla="val 45000"/>
            </a:avLst>
          </a:prstGeom>
          <a:solidFill>
            <a:srgbClr val="7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37015" y="71323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spc="180">
                <a:solidFill>
                  <a:srgbClr val="FFFFFF"/>
                </a:solidFill>
                <a:latin typeface="Segoe UI Semibold"/>
              </a:rPr>
              <a:t>VẬN DỤNG</a:t>
            </a:r>
          </a:p>
        </p:txBody>
      </p:sp>
      <p:sp>
        <p:nvSpPr>
          <p:cNvPr id="8" name="HEADING"/>
          <p:cNvSpPr txBox="1"/>
          <p:nvPr/>
        </p:nvSpPr>
        <p:spPr>
          <a:xfrm>
            <a:off x="777240" y="102412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4000"/>
              </a:lnSpc>
            </a:pPr>
            <a:r>
              <a:rPr sz="4000">
                <a:solidFill>
                  <a:srgbClr val="241C14"/>
                </a:solidFill>
                <a:latin typeface="Segoe UI Black"/>
              </a:rPr>
              <a:t>14 người, mỗi thuyền chở được 4 người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8778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>
                <a:solidFill>
                  <a:srgbClr val="6B5E50"/>
                </a:solidFill>
                <a:latin typeface="Segoe UI Light"/>
              </a:rPr>
              <a:t>Cần ít nhất bao nhiêu chuyến để chở hết mọi người?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017520"/>
            <a:ext cx="2377440" cy="13716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2E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" y="3364992"/>
            <a:ext cx="329184" cy="329184"/>
          </a:xfrm>
          <a:prstGeom prst="ellipse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72768" y="3364992"/>
            <a:ext cx="329184" cy="329184"/>
          </a:xfrm>
          <a:prstGeom prst="ellipse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048256" y="3364992"/>
            <a:ext cx="329184" cy="329184"/>
          </a:xfrm>
          <a:prstGeom prst="ellipse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523744" y="3364992"/>
            <a:ext cx="329184" cy="329184"/>
          </a:xfrm>
          <a:prstGeom prst="ellipse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88620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50">
                <a:solidFill>
                  <a:srgbClr val="6B5E50"/>
                </a:solidFill>
                <a:latin typeface="Segoe UI Semibold"/>
              </a:rPr>
              <a:t>chuyến 1  ·  4 người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3017520"/>
            <a:ext cx="2377440" cy="13716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2E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840480" y="3364992"/>
            <a:ext cx="329184" cy="329184"/>
          </a:xfrm>
          <a:prstGeom prst="ellipse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15968" y="3364992"/>
            <a:ext cx="329184" cy="329184"/>
          </a:xfrm>
          <a:prstGeom prst="ellipse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91456" y="3364992"/>
            <a:ext cx="329184" cy="329184"/>
          </a:xfrm>
          <a:prstGeom prst="ellipse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66944" y="3364992"/>
            <a:ext cx="329184" cy="329184"/>
          </a:xfrm>
          <a:prstGeom prst="ellipse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388620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50">
                <a:solidFill>
                  <a:srgbClr val="6B5E50"/>
                </a:solidFill>
                <a:latin typeface="Segoe UI Semibold"/>
              </a:rPr>
              <a:t>chuyến 2  ·  4 người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017520"/>
            <a:ext cx="2377440" cy="13716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2E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83680" y="3364992"/>
            <a:ext cx="329184" cy="329184"/>
          </a:xfrm>
          <a:prstGeom prst="ellipse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059168" y="3364992"/>
            <a:ext cx="329184" cy="329184"/>
          </a:xfrm>
          <a:prstGeom prst="ellipse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34656" y="3364992"/>
            <a:ext cx="329184" cy="329184"/>
          </a:xfrm>
          <a:prstGeom prst="ellipse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10144" y="3364992"/>
            <a:ext cx="329184" cy="329184"/>
          </a:xfrm>
          <a:prstGeom prst="ellipse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388620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50">
                <a:solidFill>
                  <a:srgbClr val="6B5E50"/>
                </a:solidFill>
                <a:latin typeface="Segoe UI Semibold"/>
              </a:rPr>
              <a:t>chuyến 3  ·  4 người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06840" y="3017520"/>
            <a:ext cx="2377440" cy="13716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326880" y="3364992"/>
            <a:ext cx="329184" cy="32918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02368" y="3364992"/>
            <a:ext cx="329184" cy="32918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6840" y="388620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50">
                <a:solidFill>
                  <a:srgbClr val="6B5E50"/>
                </a:solidFill>
                <a:latin typeface="Segoe UI Semibold"/>
              </a:rPr>
              <a:t>chuyến 4  ·  2 người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754880"/>
            <a:ext cx="51206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4440" y="502920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spc="-100">
                <a:solidFill>
                  <a:srgbClr val="241C14"/>
                </a:solidFill>
                <a:latin typeface="Segoe UI Black"/>
              </a:rPr>
              <a:t>14 : 4 = 3 (dư 2)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4754880"/>
            <a:ext cx="5242255" cy="1234440"/>
          </a:xfrm>
          <a:prstGeom prst="roundRect">
            <a:avLst>
              <a:gd name="adj" fmla="val 6000"/>
            </a:avLst>
          </a:prstGeom>
          <a:solidFill>
            <a:srgbClr val="FFF3E0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4956048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600">
                <a:solidFill>
                  <a:srgbClr val="6B5E50"/>
                </a:solidFill>
                <a:latin typeface="Segoe UI"/>
              </a:rPr>
              <a:t>Còn thừa 2 người nên phải thêm một chuyến nữa.</a:t>
            </a:r>
          </a:p>
          <a:p>
            <a:pPr algn="l">
              <a:lnSpc>
                <a:spcPct val="130000"/>
              </a:lnSpc>
            </a:pPr>
            <a:r>
              <a:rPr sz="1900">
                <a:solidFill>
                  <a:srgbClr val="FF6B35"/>
                </a:solidFill>
                <a:latin typeface="Segoe UI Black"/>
              </a:rPr>
              <a:t>Vậy cần 4 chuyến.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>
                <a:solidFill>
                  <a:srgbClr val="A0917F"/>
                </a:solidFill>
                <a:latin typeface="Segoe UI"/>
              </a:rPr>
              <a:t>Toán 3  ·  Bài 25: Phép chia hết, phép chia có dư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50" spc="120">
                <a:solidFill>
                  <a:srgbClr val="A0917F"/>
                </a:solidFill>
                <a:latin typeface="Bahnschrift SemiBold Condensed"/>
              </a:rPr>
              <a:t>11 / 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F9F0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RB"/>
          <p:cNvSpPr/>
          <p:nvPr/>
        </p:nvSpPr>
        <p:spPr>
          <a:xfrm>
            <a:off x="2743200" y="457200"/>
            <a:ext cx="7315200" cy="7315200"/>
          </a:xfrm>
          <a:prstGeom prst="ellipse">
            <a:avLst/>
          </a:prstGeom>
          <a:gradFill rotWithShape="1">
            <a:gsLst>
              <a:gs pos="0">
                <a:srgbClr val="FFB800">
                  <a:alpha val="24000"/>
                </a:srgbClr>
              </a:gs>
              <a:gs pos="55000">
                <a:srgbClr val="FFB800">
                  <a:alpha val="8400"/>
                </a:srgbClr>
              </a:gs>
              <a:gs pos="100000">
                <a:srgbClr val="FFB8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RB2"/>
          <p:cNvSpPr/>
          <p:nvPr/>
        </p:nvSpPr>
        <p:spPr>
          <a:xfrm>
            <a:off x="9692640" y="4206240"/>
            <a:ext cx="4572000" cy="4572000"/>
          </a:xfrm>
          <a:prstGeom prst="ellipse">
            <a:avLst/>
          </a:prstGeom>
          <a:gradFill rotWithShape="1">
            <a:gsLst>
              <a:gs pos="0">
                <a:srgbClr val="1FA971">
                  <a:alpha val="14000"/>
                </a:srgbClr>
              </a:gs>
              <a:gs pos="55000">
                <a:srgbClr val="1FA971">
                  <a:alpha val="4900"/>
                </a:srgbClr>
              </a:gs>
              <a:gs pos="100000">
                <a:srgbClr val="1FA97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KICKER"/>
          <p:cNvSpPr txBox="1"/>
          <p:nvPr/>
        </p:nvSpPr>
        <p:spPr>
          <a:xfrm>
            <a:off x="777240" y="123444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spc="240">
                <a:solidFill>
                  <a:srgbClr val="2E7FE8"/>
                </a:solidFill>
                <a:latin typeface="Segoe UI Semibold"/>
              </a:rPr>
              <a:t>CỦNG CỐ BÀI HỌC</a:t>
            </a:r>
          </a:p>
        </p:txBody>
      </p:sp>
      <p:sp>
        <p:nvSpPr>
          <p:cNvPr id="6" name="RULE"/>
          <p:cNvSpPr/>
          <p:nvPr/>
        </p:nvSpPr>
        <p:spPr>
          <a:xfrm>
            <a:off x="777240" y="1755648"/>
            <a:ext cx="1371600" cy="635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ADING"/>
          <p:cNvSpPr txBox="1"/>
          <p:nvPr/>
        </p:nvSpPr>
        <p:spPr>
          <a:xfrm>
            <a:off x="777240" y="2103120"/>
            <a:ext cx="1060704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200" spc="-150">
                <a:solidFill>
                  <a:srgbClr val="241C14"/>
                </a:solidFill>
                <a:latin typeface="Segoe UI Black"/>
              </a:rPr>
              <a:t>Ba điều cần nhớ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20440"/>
            <a:ext cx="339333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A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8720" y="3840480"/>
            <a:ext cx="548640" cy="50800"/>
          </a:xfrm>
          <a:prstGeom prst="rect">
            <a:avLst/>
          </a:prstGeom>
          <a:solidFill>
            <a:srgbClr val="1FA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069080"/>
            <a:ext cx="257037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spc="-50">
                <a:solidFill>
                  <a:srgbClr val="241C14"/>
                </a:solidFill>
                <a:latin typeface="Segoe UI Black"/>
              </a:rPr>
              <a:t>Chia hết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0"/>
            <a:ext cx="257037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>
                <a:solidFill>
                  <a:srgbClr val="6B5E50"/>
                </a:solidFill>
                <a:latin typeface="Segoe UI"/>
              </a:rPr>
              <a:t>Chia xong không thừa gì cả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3520440"/>
            <a:ext cx="339333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10658" y="3840480"/>
            <a:ext cx="54864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10658" y="4069080"/>
            <a:ext cx="257037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spc="-50">
                <a:solidFill>
                  <a:srgbClr val="241C14"/>
                </a:solidFill>
                <a:latin typeface="Segoe UI Black"/>
              </a:rPr>
              <a:t>Chia có dư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0658" y="4572000"/>
            <a:ext cx="257037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>
                <a:solidFill>
                  <a:srgbClr val="6B5E50"/>
                </a:solidFill>
                <a:latin typeface="Segoe UI"/>
              </a:rPr>
              <a:t>Chia xong vẫn còn thừa lại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1116" y="3520440"/>
            <a:ext cx="339333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7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32596" y="3840480"/>
            <a:ext cx="548640" cy="50800"/>
          </a:xfrm>
          <a:prstGeom prst="rect">
            <a:avLst/>
          </a:prstGeom>
          <a:solidFill>
            <a:srgbClr val="7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2596" y="4069080"/>
            <a:ext cx="257037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spc="-50">
                <a:solidFill>
                  <a:srgbClr val="241C14"/>
                </a:solidFill>
                <a:latin typeface="Segoe UI Black"/>
              </a:rPr>
              <a:t>Số dư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596" y="4572000"/>
            <a:ext cx="257037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>
                <a:solidFill>
                  <a:srgbClr val="6B5E50"/>
                </a:solidFill>
                <a:latin typeface="Segoe UI"/>
              </a:rPr>
              <a:t>Bao giờ cũng bé hơn số chia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8640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200">
                <a:solidFill>
                  <a:srgbClr val="2E7FE8"/>
                </a:solidFill>
                <a:latin typeface="Segoe UI Black"/>
              </a:rPr>
              <a:t>Về nhà làm bài 1, 2, 3 trang 74 nhé!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