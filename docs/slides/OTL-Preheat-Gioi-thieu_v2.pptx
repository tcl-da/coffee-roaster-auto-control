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  <Relationship Id="rId18"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vi-V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vi-VN"/>
          </a:p>
        </p:txBody>
      </p:sp>
    </p:spTree>
  </p:cSld>
  <p:clrMap bg1="lt1" tx1="dk1" bg2="lt2" tx2="dk2" accent1="accent1" accent2="accent2" accent3="accent3" accent4="accent4" accent5="accent5" accent6="accent6" hlink="hlink" folHlink="folHlink"/>
  <p:hf/>
  <p:notesStyle>
    <a:lvl1pPr marL="0" algn="l">
      <a:defRPr sz="1200" lang="vi-V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Preheat là chế độ gia nhiệt giữa các mẻ, giúp máy tự đưa trống về đúng nhiệt nạp trước khi bắt đầu mẻ kế tiếp. Mục tiêu là giảm thao tác canh tay và tạo điều kiện nạp ổn định hơn.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Với cách sấy máy và hồi nhiệt thủ công, người vận hành phải trực bảng điều khiển trong khoảng hai mươi đến ba mươi phút. Cách làm phụ thuộc nhiều vào tay nghề, nên bảy người có thể tạo ra bảy đường sấy khác nhau. Khi hạ nhiệt từ hai trăm mười lăm xuống một trăm năm mươi độ C, dữ liệu thực tế từng ghi nhận mẻ đầu lệch điểm turning point với mức vọt lố đến mười lăm độ C.</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Between-batch preheat bắt đầu bằng một lệnh và tự chạy toàn bộ chu trình. Bộ điều khiển đọc BT, ET và RoR mỗi giây, sau đó điều tiết gas và damper qua tám trạng thái. Khi đạt yêu cầu, hệ thống giữ trống tại nhiệt nạp để chờ charge.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Bộ điều khiển được đánh giá theo bốn chỉ tiêu chính. Vọt lố nhiệt nạp không quá ba độ C; chu trình có tám trạng thái từ nguội đến giữ nhiệt; bảng bù trước chia thành mười hai vùng, mỗi vùng hai mươi lăm độ C; và dữ liệu CSV được ghi theo chu kỳ năm giây.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Chu trình chính gồm sáu bước. IDLE phân loại trạng thái nguội, nóng hoặc cần hạ nhiệt; PURGE thông gió buồng đốt; IGNITE đánh lửa và xác nhận có lửa; HEATING điều khiển gas theo sai lệch và RoR; HOLDING ghìm tại nhiệt nạp; PRECISION dùng điều khiển PI để tinh chỉnh trong dải cộng trừ hai độ C. Khi trống còn dư nhiệt, COOLING và COAST xử lý chuyển đổi từ mẻ rang đậm sang mẻ rang nhạt.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Chiến lược điều khiển được chia theo tỷ lệ sáu mươi trên bốn mươi. Trong ba phút đầu, pha RAMP ưu tiên tốc độ gia nhiệt, giữ damper thấp khi còn xa nhiệt nạp và chấp nhận sai lệch không quá năm độ C. Trong hai phút cuối, pha PRECISION tập trung giữ dao động trong dải cộng trừ hai độ C, dùng PI để khử sai lệch tĩnh và chốt nhiệt nạp trong phạm vi cộng trừ một độ C.</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Chuỗi truyền nhiệt có độ trễ tăng dần từ lệnh gas đến đầu dò BT. Lệnh gas có hiệu lực tức thì; ngọn lửa ổn định sau khoảng hai đến ba giây; buồng đốt và ET phản ánh sau năm đến mười giây; còn vỏ trống và BT cần khoảng mười lăm đến hai mươi giây. Vì vậy bộ điều khiển chờ mười lăm giây sau mỗi bước gas trước khi tác động tiếp.</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Sau mỗi lượt sấy, bộ điều khiển lưu mức gas cần thiết để giữ nhiệt ở từng vùng. Bảng bù trước bao phủ mười hai vùng từ không đến ba trăm độ C, mỗi vùng rộng hai mươi lăm độ C và được lưu thường trú. Máy đồng thời tự nhận dạng ba đặc tính: quán tính nhiệt sau khi khóa gas, tốc độ tổn thất nhiệt của trống và độ tăng nhiệt ứng với mỗi một phần trăm gas.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Hệ thống tự giám sát năm nhóm lỗi: mất tín hiệu BT hoặc ET, RoR vượt dải, mất lửa dù đang cấp gas, mất truyền thông HMI và lỗi thẻ nhớ. Lỗi thẻ nhớ làm mất log nhưng máy vẫn có thể chạy. Hai khóa cứng sẽ đóng gas khi chênh lệch ET trừ BT vượt một trăm sáu mươi độ C hoặc khi đánh lửa quá thời gian mà không xác nhận được lửa.</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So với vận hành thủ công, Preheat tự động loại bỏ yêu cầu phải trực máy suốt hai mươi đến ba mươi phút sấy. Vọt lố được giới hạn không quá ba độ C, nhiệt dư giữa các mẻ được tự bù và dữ liệu vận hành được ghi thành CSV theo chu kỳ năm giây. Đây là ba thay đổi trực tiếp cải thiện tính lặp lại và khả năng truy vết.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Preheat tự động hóa bước gia nhiệt và đưa máy về đúng nhiệt nạp trước mỗi mẻ. Tính năng hiện đang chạy thử có giám sát, áp dụng cho cả đầu đốt thường và đầu đốt premix. Thông tin liên hệ là otlpro.com@gmail.com.</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otl_preheat_gioi_thieu_beautify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otl_preheat_gioi_thieu_beautify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8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6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5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3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1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9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500" kern="1200">
          <a:solidFill>
            <a:schemeClr val="tx1"/>
          </a:solidFill>
          <a:latin typeface="+mn-lt"/>
          <a:ea typeface="+mn-ea"/>
          <a:cs typeface="+mn-cs"/>
        </a:defRPr>
      </a:lvl2pPr>
      <a:lvl3pPr marL="914400" algn="l" defTabSz="457200" rtl="0" eaLnBrk="1" latinLnBrk="0" hangingPunct="1">
        <a:defRPr sz="1400" kern="1200">
          <a:solidFill>
            <a:schemeClr val="tx1"/>
          </a:solidFill>
          <a:latin typeface="+mn-lt"/>
          <a:ea typeface="+mn-ea"/>
          <a:cs typeface="+mn-cs"/>
        </a:defRPr>
      </a:lvl3pPr>
      <a:lvl4pPr marL="1371600" algn="l" defTabSz="457200" rtl="0" eaLnBrk="1" latinLnBrk="0" hangingPunct="1">
        <a:defRPr sz="13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100" kern="1200">
          <a:solidFill>
            <a:schemeClr val="tx1"/>
          </a:solidFill>
          <a:latin typeface="+mn-lt"/>
          <a:ea typeface="+mn-ea"/>
          <a:cs typeface="+mn-cs"/>
        </a:defRPr>
      </a:lvl6pPr>
      <a:lvl7pPr marL="2743200" algn="l" defTabSz="457200" rtl="0" eaLnBrk="1" latinLnBrk="0" hangingPunct="1">
        <a:defRPr sz="1000" kern="1200">
          <a:solidFill>
            <a:schemeClr val="tx1"/>
          </a:solidFill>
          <a:latin typeface="+mn-lt"/>
          <a:ea typeface="+mn-ea"/>
          <a:cs typeface="+mn-cs"/>
        </a:defRPr>
      </a:lvl7pPr>
      <a:lvl8pPr marL="3200400" algn="l" defTabSz="457200" rtl="0" eaLnBrk="1" latinLnBrk="0" hangingPunct="1">
        <a:defRPr sz="9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6" name="Group 16"/>
          <p:cNvGrpSpPr/>
          <p:nvPr/>
        </p:nvGrpSpPr>
        <p:grpSpPr>
          <a:xfrm>
            <a:off x="0" y="0"/>
            <a:ext cx="12192000" cy="6858000"/>
            <a:chOff x="0" y="0"/>
            <a:chExt cx="12192000" cy="6858000"/>
          </a:xfrm>
        </p:grpSpPr>
        <p:sp>
          <p:nvSpPr>
            <p:cNvPr id="2" name="Freeform 2"/>
            <p:cNvSpPr/>
            <p:nvPr/>
          </p:nvSpPr>
          <p:spPr>
            <a:xfrm>
              <a:off x="7239000" y="0"/>
              <a:ext cx="4953000" cy="6858000"/>
            </a:xfrm>
            <a:custGeom>
              <a:avLst/>
              <a:gdLst/>
              <a:ahLst/>
              <a:cxnLst/>
              <a:rect l="l" t="t" r="r" b="b"/>
              <a:pathLst>
                <a:path w="4953000" h="6858000">
                  <a:moveTo>
                    <a:pt x="0" y="0"/>
                  </a:moveTo>
                  <a:lnTo>
                    <a:pt x="4953000" y="0"/>
                  </a:lnTo>
                  <a:lnTo>
                    <a:pt x="4953000" y="6858000"/>
                  </a:lnTo>
                  <a:lnTo>
                    <a:pt x="2857500" y="6858000"/>
                  </a:lnTo>
                  <a:close/>
                </a:path>
              </a:pathLst>
            </a:custGeom>
            <a:solidFill>
              <a:schemeClr val="lt2"/>
            </a:solidFill>
            <a:ln>
              <a:noFill/>
            </a:ln>
          </p:spPr>
        </p:sp>
        <p:sp>
          <p:nvSpPr>
            <p:cNvPr id="3" name="Freeform 3"/>
            <p:cNvSpPr/>
            <p:nvPr/>
          </p:nvSpPr>
          <p:spPr>
            <a:xfrm>
              <a:off x="0" y="5810250"/>
              <a:ext cx="12192000" cy="9525"/>
            </a:xfrm>
            <a:custGeom>
              <a:avLst/>
              <a:gdLst/>
              <a:ahLst/>
              <a:cxnLst/>
              <a:rect l="l" t="t" r="r" b="b"/>
              <a:pathLst>
                <a:path w="12192000" h="9525">
                  <a:moveTo>
                    <a:pt x="0" y="0"/>
                  </a:moveTo>
                  <a:lnTo>
                    <a:pt x="12192000" y="0"/>
                  </a:lnTo>
                </a:path>
              </a:pathLst>
            </a:custGeom>
            <a:noFill/>
            <a:ln w="9525">
              <a:solidFill>
                <a:srgbClr val="D9E4F2"/>
              </a:solidFill>
            </a:ln>
          </p:spPr>
        </p:sp>
        <p:sp>
          <p:nvSpPr>
            <p:cNvPr id="4" name="Freeform 4"/>
            <p:cNvSpPr/>
            <p:nvPr/>
          </p:nvSpPr>
          <p:spPr>
            <a:xfrm>
              <a:off x="7239000" y="1143000"/>
              <a:ext cx="2457450" cy="1828800"/>
            </a:xfrm>
            <a:custGeom>
              <a:avLst/>
              <a:gdLst/>
              <a:ahLst/>
              <a:cxnLst/>
              <a:rect l="l" t="t" r="r" b="b"/>
              <a:pathLst>
                <a:path w="2457450" h="1828800">
                  <a:moveTo>
                    <a:pt x="0" y="0"/>
                  </a:moveTo>
                  <a:cubicBezTo>
                    <a:pt x="1333500" y="285750"/>
                    <a:pt x="1476375" y="1333500"/>
                    <a:pt x="2457450" y="1828800"/>
                  </a:cubicBezTo>
                </a:path>
              </a:pathLst>
            </a:custGeom>
            <a:noFill/>
            <a:ln w="114300" cap="rnd">
              <a:gradFill>
                <a:gsLst>
                  <a:gs pos="0">
                    <a:schemeClr val="accent2"/>
                  </a:gs>
                  <a:gs pos="100000">
                    <a:srgbClr val="F59A73"/>
                  </a:gs>
                </a:gsLst>
                <a:lin ang="2700000" scaled="1"/>
              </a:gradFill>
            </a:ln>
          </p:spPr>
        </p:sp>
        <p:sp>
          <p:nvSpPr>
            <p:cNvPr id="5" name="Freeform 5"/>
            <p:cNvSpPr/>
            <p:nvPr/>
          </p:nvSpPr>
          <p:spPr>
            <a:xfrm>
              <a:off x="9696450" y="1809750"/>
              <a:ext cx="1543050" cy="1162050"/>
            </a:xfrm>
            <a:custGeom>
              <a:avLst/>
              <a:gdLst/>
              <a:ahLst/>
              <a:cxnLst/>
              <a:rect l="l" t="t" r="r" b="b"/>
              <a:pathLst>
                <a:path w="1543050" h="1162050">
                  <a:moveTo>
                    <a:pt x="1543050" y="0"/>
                  </a:moveTo>
                  <a:cubicBezTo>
                    <a:pt x="590550" y="142875"/>
                    <a:pt x="762000" y="914400"/>
                    <a:pt x="0" y="1162050"/>
                  </a:cubicBezTo>
                </a:path>
              </a:pathLst>
            </a:custGeom>
            <a:noFill/>
            <a:ln w="114300" cap="rnd">
              <a:gradFill>
                <a:gsLst>
                  <a:gs pos="0">
                    <a:schemeClr val="accent3"/>
                  </a:gs>
                  <a:gs pos="100000">
                    <a:srgbClr val="8FC5FF"/>
                  </a:gs>
                </a:gsLst>
                <a:lin ang="18900000" scaled="1"/>
              </a:gradFill>
            </a:ln>
          </p:spPr>
        </p:sp>
        <p:sp>
          <p:nvSpPr>
            <p:cNvPr id="6" name="Freeform 6"/>
            <p:cNvSpPr/>
            <p:nvPr/>
          </p:nvSpPr>
          <p:spPr>
            <a:xfrm>
              <a:off x="9191625" y="2971800"/>
              <a:ext cx="1381125" cy="1981200"/>
            </a:xfrm>
            <a:custGeom>
              <a:avLst/>
              <a:gdLst/>
              <a:ahLst/>
              <a:cxnLst/>
              <a:rect l="l" t="t" r="r" b="b"/>
              <a:pathLst>
                <a:path w="1381125" h="1981200">
                  <a:moveTo>
                    <a:pt x="504825" y="0"/>
                  </a:moveTo>
                  <a:cubicBezTo>
                    <a:pt x="0" y="704850"/>
                    <a:pt x="333375" y="1390650"/>
                    <a:pt x="1381125" y="1981200"/>
                  </a:cubicBezTo>
                </a:path>
              </a:pathLst>
            </a:custGeom>
            <a:noFill/>
            <a:ln w="47625" cap="rnd">
              <a:solidFill>
                <a:schemeClr val="accent1"/>
              </a:solidFill>
            </a:ln>
          </p:spPr>
        </p:sp>
        <p:sp>
          <p:nvSpPr>
            <p:cNvPr id="7" name="Ellipse 7"/>
            <p:cNvSpPr/>
            <p:nvPr/>
          </p:nvSpPr>
          <p:spPr>
            <a:xfrm>
              <a:off x="9029700" y="2305050"/>
              <a:ext cx="1333500" cy="1333500"/>
            </a:xfrm>
            <a:prstGeom prst="ellipse">
              <a:avLst/>
            </a:prstGeom>
            <a:solidFill>
              <a:srgbClr val="FFFFFF"/>
            </a:solidFill>
            <a:ln w="28575">
              <a:solidFill>
                <a:schemeClr val="accent1"/>
              </a:solidFill>
            </a:ln>
          </p:spPr>
        </p:sp>
        <p:sp>
          <p:nvSpPr>
            <p:cNvPr id="8" name="Ellipse 8"/>
            <p:cNvSpPr/>
            <p:nvPr/>
          </p:nvSpPr>
          <p:spPr>
            <a:xfrm>
              <a:off x="9286875" y="2562225"/>
              <a:ext cx="819150" cy="819150"/>
            </a:xfrm>
            <a:prstGeom prst="ellipse">
              <a:avLst/>
            </a:prstGeom>
            <a:solidFill>
              <a:schemeClr val="accent1"/>
            </a:solidFill>
            <a:ln>
              <a:noFill/>
            </a:ln>
          </p:spPr>
        </p:sp>
        <p:sp>
          <p:nvSpPr>
            <p:cNvPr id="9" name="Ellipse 9"/>
            <p:cNvSpPr/>
            <p:nvPr/>
          </p:nvSpPr>
          <p:spPr>
            <a:xfrm>
              <a:off x="9572625" y="2847975"/>
              <a:ext cx="247650" cy="247650"/>
            </a:xfrm>
            <a:prstGeom prst="ellipse">
              <a:avLst/>
            </a:prstGeom>
            <a:solidFill>
              <a:schemeClr val="lt1"/>
            </a:solidFill>
            <a:ln>
              <a:noFill/>
            </a:ln>
          </p:spPr>
        </p:sp>
        <p:sp>
          <p:nvSpPr>
            <p:cNvPr id="10" name="Ellipse 10"/>
            <p:cNvSpPr/>
            <p:nvPr/>
          </p:nvSpPr>
          <p:spPr>
            <a:xfrm>
              <a:off x="7400925" y="1104900"/>
              <a:ext cx="171450" cy="171450"/>
            </a:xfrm>
            <a:prstGeom prst="ellipse">
              <a:avLst/>
            </a:prstGeom>
            <a:solidFill>
              <a:schemeClr val="accent2"/>
            </a:solidFill>
            <a:ln>
              <a:noFill/>
            </a:ln>
          </p:spPr>
        </p:sp>
        <p:sp>
          <p:nvSpPr>
            <p:cNvPr id="11" name="Ellipse 11"/>
            <p:cNvSpPr/>
            <p:nvPr/>
          </p:nvSpPr>
          <p:spPr>
            <a:xfrm>
              <a:off x="11153775" y="1724025"/>
              <a:ext cx="171450" cy="171450"/>
            </a:xfrm>
            <a:prstGeom prst="ellipse">
              <a:avLst/>
            </a:prstGeom>
            <a:solidFill>
              <a:schemeClr val="accent3"/>
            </a:solidFill>
            <a:ln>
              <a:noFill/>
            </a:ln>
          </p:spPr>
        </p:sp>
        <p:sp>
          <p:nvSpPr>
            <p:cNvPr id="12" name="Ellipse 12"/>
            <p:cNvSpPr/>
            <p:nvPr/>
          </p:nvSpPr>
          <p:spPr>
            <a:xfrm>
              <a:off x="10487025" y="4867275"/>
              <a:ext cx="171450" cy="171450"/>
            </a:xfrm>
            <a:prstGeom prst="ellipse">
              <a:avLst/>
            </a:prstGeom>
            <a:solidFill>
              <a:schemeClr val="accent1"/>
            </a:solidFill>
            <a:ln>
              <a:noFill/>
            </a:ln>
          </p:spPr>
        </p:sp>
        <p:sp>
          <p:nvSpPr>
            <p:cNvPr id="13" name="TextBox 13"/>
            <p:cNvSpPr txBox="1"/>
            <p:nvPr/>
          </p:nvSpPr>
          <p:spPr>
            <a:xfrm>
              <a:off x="7480554" y="842010"/>
              <a:ext cx="460248" cy="234696"/>
            </a:xfrm>
            <a:prstGeom prst="rect">
              <a:avLst/>
            </a:prstGeom>
            <a:noFill/>
            <a:ln>
              <a:noFill/>
            </a:ln>
          </p:spPr>
          <p:txBody>
            <a:bodyPr wrap="none" lIns="0" tIns="0" rIns="0" bIns="0" anchor="t" anchorCtr="0">
              <a:spAutoFit/>
            </a:bodyPr>
            <a:lstStyle/>
            <a:p>
              <a:pPr algn="l"/>
              <a:r>
                <a:rPr lang="vi-VN" sz="1200" b="1" dirty="0">
                  <a:solidFill>
                    <a:schemeClr val="accent2"/>
                  </a:solidFill>
                  <a:latin typeface="+mn-lt"/>
                  <a:ea typeface="+mn-ea"/>
                  <a:cs typeface="+mn-cs"/>
                </a:rPr>
                <a:t>NHIỆT</a:t>
              </a:r>
            </a:p>
          </p:txBody>
        </p:sp>
        <p:sp>
          <p:nvSpPr>
            <p:cNvPr id="14" name="TextBox 14"/>
            <p:cNvSpPr txBox="1"/>
            <p:nvPr/>
          </p:nvSpPr>
          <p:spPr>
            <a:xfrm>
              <a:off x="10738104" y="1432560"/>
              <a:ext cx="863498" cy="234696"/>
            </a:xfrm>
            <a:prstGeom prst="rect">
              <a:avLst/>
            </a:prstGeom>
            <a:noFill/>
            <a:ln>
              <a:noFill/>
            </a:ln>
          </p:spPr>
          <p:txBody>
            <a:bodyPr wrap="none" lIns="0" tIns="0" rIns="0" bIns="0" anchor="t" anchorCtr="0">
              <a:spAutoFit/>
            </a:bodyPr>
            <a:lstStyle/>
            <a:p>
              <a:pPr algn="l"/>
              <a:r>
                <a:rPr lang="vi-VN" sz="1200" b="1" dirty="0">
                  <a:solidFill>
                    <a:schemeClr val="accent3"/>
                  </a:solidFill>
                  <a:latin typeface="+mn-lt"/>
                  <a:ea typeface="+mn-ea"/>
                  <a:cs typeface="+mn-cs"/>
                </a:rPr>
                <a:t>ĐIỀU KHIỂN</a:t>
              </a:r>
            </a:p>
          </p:txBody>
        </p:sp>
        <p:sp>
          <p:nvSpPr>
            <p:cNvPr id="15" name="TextBox 15"/>
            <p:cNvSpPr txBox="1"/>
            <p:nvPr/>
          </p:nvSpPr>
          <p:spPr>
            <a:xfrm>
              <a:off x="9899904" y="5175885"/>
              <a:ext cx="809732" cy="234696"/>
            </a:xfrm>
            <a:prstGeom prst="rect">
              <a:avLst/>
            </a:prstGeom>
            <a:noFill/>
            <a:ln>
              <a:noFill/>
            </a:ln>
          </p:spPr>
          <p:txBody>
            <a:bodyPr wrap="none" lIns="0" tIns="0" rIns="0" bIns="0" anchor="t" anchorCtr="0">
              <a:spAutoFit/>
            </a:bodyPr>
            <a:lstStyle/>
            <a:p>
              <a:pPr algn="l"/>
              <a:r>
                <a:rPr lang="vi-VN" sz="1200" b="1" dirty="0">
                  <a:solidFill>
                    <a:schemeClr val="accent1"/>
                  </a:solidFill>
                  <a:latin typeface="+mn-lt"/>
                  <a:ea typeface="+mn-ea"/>
                  <a:cs typeface="+mn-cs"/>
                </a:rPr>
                <a:t>NHIỆT NẠP</a:t>
              </a:r>
            </a:p>
          </p:txBody>
        </p:sp>
      </p:grpSp>
      <p:grpSp>
        <p:nvGrpSpPr>
          <p:cNvPr id="22" name="Group 22"/>
          <p:cNvGrpSpPr/>
          <p:nvPr/>
        </p:nvGrpSpPr>
        <p:grpSpPr>
          <a:xfrm>
            <a:off x="590550" y="749618"/>
            <a:ext cx="6331268" cy="3124200"/>
            <a:chOff x="590550" y="749618"/>
            <a:chExt cx="6331268" cy="3124200"/>
          </a:xfrm>
        </p:grpSpPr>
        <p:sp>
          <p:nvSpPr>
            <p:cNvPr id="17" name="TextBox 17"/>
            <p:cNvSpPr txBox="1"/>
            <p:nvPr/>
          </p:nvSpPr>
          <p:spPr>
            <a:xfrm>
              <a:off x="602742" y="749618"/>
              <a:ext cx="4118282" cy="264033"/>
            </a:xfrm>
            <a:prstGeom prst="rect">
              <a:avLst/>
            </a:prstGeom>
            <a:noFill/>
            <a:ln>
              <a:noFill/>
            </a:ln>
          </p:spPr>
          <p:txBody>
            <a:bodyPr wrap="none" lIns="0" tIns="0" rIns="0" bIns="0" anchor="t" anchorCtr="0">
              <a:spAutoFit/>
            </a:bodyPr>
            <a:lstStyle/>
            <a:p>
              <a:pPr algn="l"/>
              <a:r>
                <a:rPr lang="vi-VN" sz="1350" b="1" spc="112" dirty="0">
                  <a:solidFill>
                    <a:schemeClr val="accent2"/>
                  </a:solidFill>
                  <a:latin typeface="+mn-lt"/>
                  <a:ea typeface="+mn-ea"/>
                  <a:cs typeface="+mn-cs"/>
                </a:rPr>
                <a:t>TÍNH NĂNG MỚI · FIRMWARE OTL-06ALS</a:t>
              </a:r>
            </a:p>
          </p:txBody>
        </p:sp>
        <p:sp>
          <p:nvSpPr>
            <p:cNvPr id="18" name="TextBox 18"/>
            <p:cNvSpPr txBox="1"/>
            <p:nvPr/>
          </p:nvSpPr>
          <p:spPr>
            <a:xfrm>
              <a:off x="590550" y="1445895"/>
              <a:ext cx="4868144" cy="1619250"/>
            </a:xfrm>
            <a:prstGeom prst="rect">
              <a:avLst/>
            </a:prstGeom>
            <a:noFill/>
            <a:ln>
              <a:noFill/>
            </a:ln>
          </p:spPr>
          <p:txBody>
            <a:bodyPr wrap="none" lIns="0" tIns="0" rIns="0" bIns="0" anchor="t" anchorCtr="0">
              <a:spAutoFit/>
            </a:bodyPr>
            <a:lstStyle/>
            <a:p>
              <a:pPr algn="l"/>
              <a:r>
                <a:rPr lang="vi-VN" sz="8400" b="1" dirty="0">
                  <a:solidFill>
                    <a:schemeClr val="accent1"/>
                  </a:solidFill>
                  <a:latin typeface="+mj-lt"/>
                  <a:ea typeface="+mj-ea"/>
                  <a:cs typeface="+mj-cs"/>
                </a:rPr>
                <a:t>PREHEAT</a:t>
              </a:r>
            </a:p>
          </p:txBody>
        </p:sp>
        <p:sp>
          <p:nvSpPr>
            <p:cNvPr id="19" name="Rectangle 19"/>
            <p:cNvSpPr/>
            <p:nvPr/>
          </p:nvSpPr>
          <p:spPr>
            <a:xfrm>
              <a:off x="609600" y="2628900"/>
              <a:ext cx="1047750" cy="76200"/>
            </a:xfrm>
            <a:prstGeom prst="rect">
              <a:avLst/>
            </a:prstGeom>
            <a:solidFill>
              <a:schemeClr val="accent2"/>
            </a:solidFill>
            <a:ln>
              <a:noFill/>
            </a:ln>
          </p:spPr>
        </p:sp>
        <p:sp>
          <p:nvSpPr>
            <p:cNvPr id="20" name="Rectangle 20"/>
            <p:cNvSpPr/>
            <p:nvPr/>
          </p:nvSpPr>
          <p:spPr>
            <a:xfrm>
              <a:off x="1657350" y="2628900"/>
              <a:ext cx="876300" cy="76200"/>
            </a:xfrm>
            <a:prstGeom prst="rect">
              <a:avLst/>
            </a:prstGeom>
            <a:solidFill>
              <a:schemeClr val="accent3"/>
            </a:solidFill>
            <a:ln>
              <a:noFill/>
            </a:ln>
          </p:spPr>
        </p:sp>
        <p:sp>
          <p:nvSpPr>
            <p:cNvPr id="21" name="TextBox 21"/>
            <p:cNvSpPr txBox="1"/>
            <p:nvPr/>
          </p:nvSpPr>
          <p:spPr>
            <a:xfrm>
              <a:off x="598170" y="3043238"/>
              <a:ext cx="6323648" cy="830580"/>
            </a:xfrm>
            <a:prstGeom prst="rect">
              <a:avLst/>
            </a:prstGeom>
            <a:noFill/>
            <a:ln>
              <a:noFill/>
            </a:ln>
          </p:spPr>
          <p:txBody>
            <a:bodyPr wrap="none" lIns="0" tIns="0" rIns="0" bIns="0" anchor="t" anchorCtr="0">
              <a:spAutoFit/>
            </a:bodyPr>
            <a:lstStyle/>
            <a:p>
              <a:pPr algn="l">
                <a:lnSpc>
                  <a:spcPts val="3075"/>
                </a:lnSpc>
              </a:pPr>
              <a:r>
                <a:rPr lang="vi-VN" sz="2250" b="1" dirty="0">
                  <a:solidFill>
                    <a:schemeClr val="dk1"/>
                  </a:solidFill>
                  <a:latin typeface="+mn-lt"/>
                  <a:ea typeface="+mn-ea"/>
                  <a:cs typeface="+mn-cs"/>
                </a:rPr>
                <a:t>Between-batch preheat — tự chốt nhiệt nạp</a:t>
              </a:r>
              <a:br/>
              <a:r>
                <a:rPr lang="vi-VN" sz="2250" b="1" dirty="0">
                  <a:solidFill>
                    <a:schemeClr val="dk1"/>
                  </a:solidFill>
                  <a:latin typeface="+mn-lt"/>
                  <a:ea typeface="+mn-ea"/>
                  <a:cs typeface="+mn-cs"/>
                </a:rPr>
                <a:t xml:space="preserve"> trước mỗi mẻ</a:t>
              </a:r>
            </a:p>
          </p:txBody>
        </p:sp>
      </p:grpSp>
      <p:grpSp>
        <p:nvGrpSpPr>
          <p:cNvPr id="25" name="Group 25"/>
          <p:cNvGrpSpPr/>
          <p:nvPr/>
        </p:nvGrpSpPr>
        <p:grpSpPr>
          <a:xfrm>
            <a:off x="602742" y="6159818"/>
            <a:ext cx="4621972" cy="264033"/>
            <a:chOff x="602742" y="6159818"/>
            <a:chExt cx="4621972" cy="264033"/>
          </a:xfrm>
        </p:grpSpPr>
        <p:sp>
          <p:nvSpPr>
            <p:cNvPr id="23" name="TextBox 23"/>
            <p:cNvSpPr txBox="1"/>
            <p:nvPr/>
          </p:nvSpPr>
          <p:spPr>
            <a:xfrm>
              <a:off x="602742" y="6159818"/>
              <a:ext cx="779892" cy="264033"/>
            </a:xfrm>
            <a:prstGeom prst="rect">
              <a:avLst/>
            </a:prstGeom>
            <a:noFill/>
            <a:ln>
              <a:noFill/>
            </a:ln>
          </p:spPr>
          <p:txBody>
            <a:bodyPr wrap="none" lIns="0" tIns="0" rIns="0" bIns="0" anchor="t" anchorCtr="0">
              <a:spAutoFit/>
            </a:bodyPr>
            <a:lstStyle/>
            <a:p>
              <a:pPr algn="l"/>
              <a:r>
                <a:rPr lang="vi-VN" sz="1350" b="1" dirty="0">
                  <a:solidFill>
                    <a:schemeClr val="accent1"/>
                  </a:solidFill>
                  <a:latin typeface="+mn-lt"/>
                  <a:ea typeface="+mn-ea"/>
                  <a:cs typeface="+mn-cs"/>
                </a:rPr>
                <a:t>O TESLA</a:t>
              </a:r>
            </a:p>
          </p:txBody>
        </p:sp>
        <p:sp>
          <p:nvSpPr>
            <p:cNvPr id="24" name="TextBox 24"/>
            <p:cNvSpPr txBox="1"/>
            <p:nvPr/>
          </p:nvSpPr>
          <p:spPr>
            <a:xfrm>
              <a:off x="1517142" y="6159818"/>
              <a:ext cx="3707572" cy="264033"/>
            </a:xfrm>
            <a:prstGeom prst="rect">
              <a:avLst/>
            </a:prstGeom>
            <a:noFill/>
            <a:ln>
              <a:noFill/>
            </a:ln>
          </p:spPr>
          <p:txBody>
            <a:bodyPr wrap="none" lIns="0" tIns="0" rIns="0" bIns="0" anchor="t" anchorCtr="0">
              <a:spAutoFit/>
            </a:bodyPr>
            <a:lstStyle/>
            <a:p>
              <a:pPr algn="l" marL="145732" indent="-145732">
                <a:buClr>
                  <a:schemeClr val="dk1"/>
                </a:buClr>
                <a:buSzTx/>
                <a:buFontTx/>
                <a:buChar char="•"/>
              </a:pPr>
              <a:r>
                <a:rPr lang="vi-VN" sz="1350" dirty="0">
                  <a:solidFill>
                    <a:schemeClr val="dk1"/>
                  </a:solidFill>
                  <a:latin typeface="+mn-lt"/>
                  <a:ea typeface="+mn-ea"/>
                  <a:cs typeface="+mn-cs"/>
                </a:rPr>
                <a:t>Điều khiển &amp; Tự động hoá máy rang cà phê</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122" y="501968"/>
            <a:ext cx="5743317" cy="814577"/>
            <a:chOff x="595122" y="501968"/>
            <a:chExt cx="5743317" cy="814577"/>
          </a:xfrm>
        </p:grpSpPr>
        <p:sp>
          <p:nvSpPr>
            <p:cNvPr id="2" name="TextBox 2"/>
            <p:cNvSpPr txBox="1"/>
            <p:nvPr/>
          </p:nvSpPr>
          <p:spPr>
            <a:xfrm>
              <a:off x="602742" y="501968"/>
              <a:ext cx="1147298" cy="264033"/>
            </a:xfrm>
            <a:prstGeom prst="rect">
              <a:avLst/>
            </a:prstGeom>
            <a:noFill/>
            <a:ln>
              <a:noFill/>
            </a:ln>
          </p:spPr>
          <p:txBody>
            <a:bodyPr wrap="none" lIns="0" tIns="0" rIns="0" bIns="0" anchor="t" anchorCtr="0">
              <a:spAutoFit/>
            </a:bodyPr>
            <a:lstStyle/>
            <a:p>
              <a:pPr algn="l"/>
              <a:r>
                <a:rPr lang="vi-VN" sz="1350" b="1" spc="98" dirty="0">
                  <a:solidFill>
                    <a:schemeClr val="accent2"/>
                  </a:solidFill>
                  <a:latin typeface="+mn-lt"/>
                  <a:ea typeface="+mn-ea"/>
                  <a:cs typeface="+mn-cs"/>
                </a:rPr>
                <a:t>HIỆN TRẠNG</a:t>
              </a:r>
            </a:p>
          </p:txBody>
        </p:sp>
        <p:sp>
          <p:nvSpPr>
            <p:cNvPr id="3" name="TextBox 3"/>
            <p:cNvSpPr txBox="1"/>
            <p:nvPr/>
          </p:nvSpPr>
          <p:spPr>
            <a:xfrm>
              <a:off x="595122" y="759142"/>
              <a:ext cx="5743317" cy="557403"/>
            </a:xfrm>
            <a:prstGeom prst="rect">
              <a:avLst/>
            </a:prstGeom>
            <a:noFill/>
            <a:ln>
              <a:noFill/>
            </a:ln>
          </p:spPr>
          <p:txBody>
            <a:bodyPr wrap="none" lIns="0" tIns="0" rIns="0" bIns="0" anchor="t" anchorCtr="0">
              <a:spAutoFit/>
            </a:bodyPr>
            <a:lstStyle/>
            <a:p>
              <a:pPr algn="l"/>
              <a:r>
                <a:rPr lang="vi-VN" sz="2850" b="1" dirty="0">
                  <a:solidFill>
                    <a:schemeClr val="accent1"/>
                  </a:solidFill>
                  <a:latin typeface="+mj-lt"/>
                  <a:ea typeface="+mj-ea"/>
                  <a:cs typeface="+mj-cs"/>
                </a:rPr>
                <a:t>Sấy máy và hồi nhiệt bằng tay</a:t>
              </a:r>
            </a:p>
          </p:txBody>
        </p:sp>
      </p:grpSp>
      <p:grpSp>
        <p:nvGrpSpPr>
          <p:cNvPr id="10" name="Group 10"/>
          <p:cNvGrpSpPr/>
          <p:nvPr/>
        </p:nvGrpSpPr>
        <p:grpSpPr>
          <a:xfrm>
            <a:off x="609600" y="1666875"/>
            <a:ext cx="3143250" cy="3429000"/>
            <a:chOff x="609600" y="1666875"/>
            <a:chExt cx="3143250" cy="3429000"/>
          </a:xfrm>
        </p:grpSpPr>
        <p:sp>
          <p:nvSpPr>
            <p:cNvPr id="5" name="Rectangle 5"/>
            <p:cNvSpPr/>
            <p:nvPr/>
          </p:nvSpPr>
          <p:spPr>
            <a:xfrm>
              <a:off x="609600" y="1666875"/>
              <a:ext cx="3143250" cy="3429000"/>
            </a:xfrm>
            <a:prstGeom prst="roundRect">
              <a:avLst>
                <a:gd name="adj" fmla="val 3636"/>
              </a:avLst>
            </a:prstGeom>
            <a:solidFill>
              <a:srgbClr val="FFFFFF"/>
            </a:solidFill>
            <a:ln w="19050">
              <a:solidFill>
                <a:srgbClr val="D9E4F2"/>
              </a:solidFill>
            </a:ln>
          </p:spPr>
        </p:sp>
        <p:sp>
          <p:nvSpPr>
            <p:cNvPr id="6" name="Rectangle 6"/>
            <p:cNvSpPr/>
            <p:nvPr/>
          </p:nvSpPr>
          <p:spPr>
            <a:xfrm>
              <a:off x="609600" y="1666875"/>
              <a:ext cx="114300" cy="3429000"/>
            </a:xfrm>
            <a:prstGeom prst="rect">
              <a:avLst/>
            </a:prstGeom>
            <a:solidFill>
              <a:schemeClr val="accent2"/>
            </a:solidFill>
            <a:ln>
              <a:noFill/>
            </a:ln>
          </p:spPr>
        </p:sp>
        <p:sp>
          <p:nvSpPr>
            <p:cNvPr id="7" name="TextBox 7"/>
            <p:cNvSpPr txBox="1"/>
            <p:nvPr/>
          </p:nvSpPr>
          <p:spPr>
            <a:xfrm>
              <a:off x="895350" y="2164080"/>
              <a:ext cx="2417037" cy="990600"/>
            </a:xfrm>
            <a:prstGeom prst="rect">
              <a:avLst/>
            </a:prstGeom>
            <a:noFill/>
            <a:ln>
              <a:noFill/>
            </a:ln>
          </p:spPr>
          <p:txBody>
            <a:bodyPr wrap="none" lIns="0" tIns="0" rIns="0" bIns="0" anchor="t" anchorCtr="0">
              <a:spAutoFit/>
            </a:bodyPr>
            <a:lstStyle/>
            <a:p>
              <a:pPr algn="l"/>
              <a:r>
                <a:rPr lang="vi-VN" sz="5100" b="1" dirty="0">
                  <a:solidFill>
                    <a:schemeClr val="accent1"/>
                  </a:solidFill>
                  <a:latin typeface="+mn-lt"/>
                  <a:ea typeface="+mn-ea"/>
                  <a:cs typeface="+mn-cs"/>
                </a:rPr>
                <a:t>20–30′</a:t>
              </a:r>
            </a:p>
          </p:txBody>
        </p:sp>
        <p:sp>
          <p:nvSpPr>
            <p:cNvPr id="8" name="TextBox 8"/>
            <p:cNvSpPr txBox="1"/>
            <p:nvPr/>
          </p:nvSpPr>
          <p:spPr>
            <a:xfrm>
              <a:off x="907542" y="3026092"/>
              <a:ext cx="1455336" cy="264033"/>
            </a:xfrm>
            <a:prstGeom prst="rect">
              <a:avLst/>
            </a:prstGeom>
            <a:noFill/>
            <a:ln>
              <a:noFill/>
            </a:ln>
          </p:spPr>
          <p:txBody>
            <a:bodyPr wrap="none" lIns="0" tIns="0" rIns="0" bIns="0" anchor="t" anchorCtr="0">
              <a:spAutoFit/>
            </a:bodyPr>
            <a:lstStyle/>
            <a:p>
              <a:pPr algn="l"/>
              <a:r>
                <a:rPr lang="vi-VN" sz="1350" b="1" dirty="0">
                  <a:solidFill>
                    <a:schemeClr val="accent2"/>
                  </a:solidFill>
                  <a:latin typeface="+mn-lt"/>
                  <a:ea typeface="+mn-ea"/>
                  <a:cs typeface="+mn-cs"/>
                </a:rPr>
                <a:t>SẤY MÁY ĐẦU CA</a:t>
              </a:r>
            </a:p>
          </p:txBody>
        </p:sp>
        <p:sp>
          <p:nvSpPr>
            <p:cNvPr id="9" name="TextBox 9"/>
            <p:cNvSpPr txBox="1"/>
            <p:nvPr/>
          </p:nvSpPr>
          <p:spPr>
            <a:xfrm>
              <a:off x="906273" y="3551582"/>
              <a:ext cx="2800093" cy="617679"/>
            </a:xfrm>
            <a:prstGeom prst="rect">
              <a:avLst/>
            </a:prstGeom>
            <a:noFill/>
            <a:ln>
              <a:noFill/>
            </a:ln>
          </p:spPr>
          <p:txBody>
            <a:bodyPr wrap="none" lIns="0" tIns="0" rIns="0" bIns="0" anchor="t" anchorCtr="0">
              <a:spAutoFit/>
            </a:bodyPr>
            <a:lstStyle/>
            <a:p>
              <a:pPr algn="l">
                <a:lnSpc>
                  <a:spcPts val="2400"/>
                </a:lnSpc>
              </a:pPr>
              <a:r>
                <a:rPr lang="vi-VN" sz="1600" dirty="0">
                  <a:solidFill>
                    <a:schemeClr val="dk1"/>
                  </a:solidFill>
                  <a:latin typeface="+mn-lt"/>
                  <a:ea typeface="+mn-ea"/>
                  <a:cs typeface="+mn-cs"/>
                </a:rPr>
                <a:t>Thợ trực bảng điều khiển</a:t>
              </a:r>
              <a:br/>
              <a:r>
                <a:rPr lang="vi-VN" sz="1600" dirty="0">
                  <a:solidFill>
                    <a:schemeClr val="dk1"/>
                  </a:solidFill>
                  <a:latin typeface="+mn-lt"/>
                  <a:ea typeface="+mn-ea"/>
                  <a:cs typeface="+mn-cs"/>
                </a:rPr>
                <a:t xml:space="preserve"> tới khi trống đạt nhiệt nạp.</a:t>
              </a:r>
            </a:p>
          </p:txBody>
        </p:sp>
      </p:grpSp>
      <p:grpSp>
        <p:nvGrpSpPr>
          <p:cNvPr id="15" name="Group 15"/>
          <p:cNvGrpSpPr/>
          <p:nvPr/>
        </p:nvGrpSpPr>
        <p:grpSpPr>
          <a:xfrm>
            <a:off x="4095750" y="1952625"/>
            <a:ext cx="3143250" cy="3143250"/>
            <a:chOff x="4095750" y="1952625"/>
            <a:chExt cx="3143250" cy="3143250"/>
          </a:xfrm>
        </p:grpSpPr>
        <p:sp>
          <p:nvSpPr>
            <p:cNvPr id="11" name="Rectangle 11"/>
            <p:cNvSpPr/>
            <p:nvPr/>
          </p:nvSpPr>
          <p:spPr>
            <a:xfrm>
              <a:off x="4095750" y="1952625"/>
              <a:ext cx="3143250" cy="3143250"/>
            </a:xfrm>
            <a:prstGeom prst="roundRect">
              <a:avLst>
                <a:gd name="adj" fmla="val 3636"/>
              </a:avLst>
            </a:prstGeom>
            <a:solidFill>
              <a:schemeClr val="lt2"/>
            </a:solidFill>
            <a:ln>
              <a:noFill/>
            </a:ln>
          </p:spPr>
        </p:sp>
        <p:sp>
          <p:nvSpPr>
            <p:cNvPr id="12" name="TextBox 12"/>
            <p:cNvSpPr txBox="1"/>
            <p:nvPr/>
          </p:nvSpPr>
          <p:spPr>
            <a:xfrm>
              <a:off x="4381500" y="2354580"/>
              <a:ext cx="2056592" cy="990600"/>
            </a:xfrm>
            <a:prstGeom prst="rect">
              <a:avLst/>
            </a:prstGeom>
            <a:noFill/>
            <a:ln>
              <a:noFill/>
            </a:ln>
          </p:spPr>
          <p:txBody>
            <a:bodyPr wrap="none" lIns="0" tIns="0" rIns="0" bIns="0" anchor="t" anchorCtr="0">
              <a:spAutoFit/>
            </a:bodyPr>
            <a:lstStyle/>
            <a:p>
              <a:pPr algn="l"/>
              <a:r>
                <a:rPr lang="vi-VN" sz="5100" b="1" dirty="0">
                  <a:solidFill>
                    <a:schemeClr val="accent1"/>
                  </a:solidFill>
                  <a:latin typeface="+mn-lt"/>
                  <a:ea typeface="+mn-ea"/>
                  <a:cs typeface="+mn-cs"/>
                </a:rPr>
                <a:t>7 kiểu</a:t>
              </a:r>
            </a:p>
          </p:txBody>
        </p:sp>
        <p:sp>
          <p:nvSpPr>
            <p:cNvPr id="13" name="TextBox 13"/>
            <p:cNvSpPr txBox="1"/>
            <p:nvPr/>
          </p:nvSpPr>
          <p:spPr>
            <a:xfrm>
              <a:off x="4393692" y="3216592"/>
              <a:ext cx="1737611" cy="264033"/>
            </a:xfrm>
            <a:prstGeom prst="rect">
              <a:avLst/>
            </a:prstGeom>
            <a:noFill/>
            <a:ln>
              <a:noFill/>
            </a:ln>
          </p:spPr>
          <p:txBody>
            <a:bodyPr wrap="none" lIns="0" tIns="0" rIns="0" bIns="0" anchor="t" anchorCtr="0">
              <a:spAutoFit/>
            </a:bodyPr>
            <a:lstStyle/>
            <a:p>
              <a:pPr algn="l"/>
              <a:r>
                <a:rPr lang="vi-VN" sz="1350" b="1" dirty="0">
                  <a:solidFill>
                    <a:schemeClr val="accent3"/>
                  </a:solidFill>
                  <a:latin typeface="+mn-lt"/>
                  <a:ea typeface="+mn-ea"/>
                  <a:cs typeface="+mn-cs"/>
                </a:rPr>
                <a:t>ĐỒNG NHẤT GIỮA MẺ</a:t>
              </a:r>
            </a:p>
          </p:txBody>
        </p:sp>
        <p:sp>
          <p:nvSpPr>
            <p:cNvPr id="14" name="TextBox 14"/>
            <p:cNvSpPr txBox="1"/>
            <p:nvPr/>
          </p:nvSpPr>
          <p:spPr>
            <a:xfrm>
              <a:off x="4392423" y="3742082"/>
              <a:ext cx="2444493" cy="617679"/>
            </a:xfrm>
            <a:prstGeom prst="rect">
              <a:avLst/>
            </a:prstGeom>
            <a:noFill/>
            <a:ln>
              <a:noFill/>
            </a:ln>
          </p:spPr>
          <p:txBody>
            <a:bodyPr wrap="none" lIns="0" tIns="0" rIns="0" bIns="0" anchor="t" anchorCtr="0">
              <a:spAutoFit/>
            </a:bodyPr>
            <a:lstStyle/>
            <a:p>
              <a:pPr algn="l">
                <a:lnSpc>
                  <a:spcPts val="2400"/>
                </a:lnSpc>
              </a:pPr>
              <a:r>
                <a:rPr lang="vi-VN" sz="1600" dirty="0">
                  <a:solidFill>
                    <a:schemeClr val="dk1"/>
                  </a:solidFill>
                  <a:latin typeface="+mn-lt"/>
                  <a:ea typeface="+mn-ea"/>
                  <a:cs typeface="+mn-cs"/>
                </a:rPr>
                <a:t>Bảy thợ cho ra bảy đường</a:t>
              </a:r>
              <a:br/>
              <a:r>
                <a:rPr lang="vi-VN" sz="1600" dirty="0">
                  <a:solidFill>
                    <a:schemeClr val="dk1"/>
                  </a:solidFill>
                  <a:latin typeface="+mn-lt"/>
                  <a:ea typeface="+mn-ea"/>
                  <a:cs typeface="+mn-cs"/>
                </a:rPr>
                <a:t xml:space="preserve"> sấy khác nhau.</a:t>
              </a:r>
            </a:p>
          </p:txBody>
        </p:sp>
      </p:grpSp>
      <p:grpSp>
        <p:nvGrpSpPr>
          <p:cNvPr id="22" name="Group 22"/>
          <p:cNvGrpSpPr/>
          <p:nvPr/>
        </p:nvGrpSpPr>
        <p:grpSpPr>
          <a:xfrm>
            <a:off x="7581900" y="1381125"/>
            <a:ext cx="4173320" cy="3714750"/>
            <a:chOff x="7581900" y="1381125"/>
            <a:chExt cx="4173320" cy="3714750"/>
          </a:xfrm>
        </p:grpSpPr>
        <p:sp>
          <p:nvSpPr>
            <p:cNvPr id="16" name="Rectangle 16"/>
            <p:cNvSpPr/>
            <p:nvPr/>
          </p:nvSpPr>
          <p:spPr>
            <a:xfrm>
              <a:off x="7581900" y="1381125"/>
              <a:ext cx="4000500" cy="3714750"/>
            </a:xfrm>
            <a:prstGeom prst="roundRect">
              <a:avLst>
                <a:gd name="adj" fmla="val 3077"/>
              </a:avLst>
            </a:prstGeom>
            <a:solidFill>
              <a:schemeClr val="accent1"/>
            </a:solidFill>
            <a:ln>
              <a:noFill/>
            </a:ln>
          </p:spPr>
        </p:sp>
        <p:sp>
          <p:nvSpPr>
            <p:cNvPr id="17" name="Freeform 17"/>
            <p:cNvSpPr/>
            <p:nvPr/>
          </p:nvSpPr>
          <p:spPr>
            <a:xfrm>
              <a:off x="7886700" y="2076450"/>
              <a:ext cx="3333750" cy="2286000"/>
            </a:xfrm>
            <a:custGeom>
              <a:avLst/>
              <a:gdLst/>
              <a:ahLst/>
              <a:cxnLst/>
              <a:rect l="l" t="t" r="r" b="b"/>
              <a:pathLst>
                <a:path w="3333750" h="2286000">
                  <a:moveTo>
                    <a:pt x="0" y="2286000"/>
                  </a:moveTo>
                  <a:cubicBezTo>
                    <a:pt x="590550" y="2066925"/>
                    <a:pt x="990600" y="1371600"/>
                    <a:pt x="1428750" y="1562100"/>
                  </a:cubicBezTo>
                  <a:cubicBezTo>
                    <a:pt x="1962150" y="1790700"/>
                    <a:pt x="2381250" y="171450"/>
                    <a:pt x="3333750" y="0"/>
                  </a:cubicBezTo>
                </a:path>
              </a:pathLst>
            </a:custGeom>
            <a:noFill/>
            <a:ln w="66675" cap="rnd">
              <a:solidFill>
                <a:schemeClr val="accent2"/>
              </a:solidFill>
            </a:ln>
          </p:spPr>
        </p:sp>
        <p:sp>
          <p:nvSpPr>
            <p:cNvPr id="18" name="Line 18"/>
            <p:cNvSpPr/>
            <p:nvPr/>
          </p:nvSpPr>
          <p:spPr>
            <a:xfrm>
              <a:off x="7886700" y="3190875"/>
              <a:ext cx="3333750" cy="9525"/>
            </a:xfrm>
            <a:custGeom>
              <a:avLst/>
              <a:gdLst/>
              <a:ahLst/>
              <a:cxnLst/>
              <a:rect l="l" t="t" r="r" b="b"/>
              <a:pathLst>
                <a:path w="3333750" h="9525">
                  <a:moveTo>
                    <a:pt x="0" y="0"/>
                  </a:moveTo>
                  <a:lnTo>
                    <a:pt x="3333750" y="0"/>
                  </a:lnTo>
                </a:path>
              </a:pathLst>
            </a:custGeom>
            <a:noFill/>
            <a:ln w="19050">
              <a:solidFill>
                <a:srgbClr val="FFFFFF"/>
              </a:solidFill>
              <a:prstDash val="lgDash"/>
            </a:ln>
          </p:spPr>
        </p:sp>
        <p:sp>
          <p:nvSpPr>
            <p:cNvPr id="19" name="TextBox 19"/>
            <p:cNvSpPr txBox="1"/>
            <p:nvPr/>
          </p:nvSpPr>
          <p:spPr>
            <a:xfrm>
              <a:off x="7867650" y="1773555"/>
              <a:ext cx="2132762" cy="990600"/>
            </a:xfrm>
            <a:prstGeom prst="rect">
              <a:avLst/>
            </a:prstGeom>
            <a:noFill/>
            <a:ln>
              <a:noFill/>
            </a:ln>
          </p:spPr>
          <p:txBody>
            <a:bodyPr wrap="none" lIns="0" tIns="0" rIns="0" bIns="0" anchor="t" anchorCtr="0">
              <a:spAutoFit/>
            </a:bodyPr>
            <a:lstStyle/>
            <a:p>
              <a:pPr algn="l"/>
              <a:r>
                <a:rPr lang="vi-VN" sz="5100" b="1" dirty="0">
                  <a:solidFill>
                    <a:srgbClr val="FFFFFF"/>
                  </a:solidFill>
                  <a:latin typeface="+mn-lt"/>
                  <a:ea typeface="+mn-ea"/>
                  <a:cs typeface="+mn-cs"/>
                </a:rPr>
                <a:t>+15°C</a:t>
              </a:r>
            </a:p>
          </p:txBody>
        </p:sp>
        <p:sp>
          <p:nvSpPr>
            <p:cNvPr id="20" name="TextBox 20"/>
            <p:cNvSpPr txBox="1"/>
            <p:nvPr/>
          </p:nvSpPr>
          <p:spPr>
            <a:xfrm>
              <a:off x="7879842" y="2635568"/>
              <a:ext cx="1475499" cy="264033"/>
            </a:xfrm>
            <a:prstGeom prst="rect">
              <a:avLst/>
            </a:prstGeom>
            <a:noFill/>
            <a:ln>
              <a:noFill/>
            </a:ln>
          </p:spPr>
          <p:txBody>
            <a:bodyPr wrap="none" lIns="0" tIns="0" rIns="0" bIns="0" anchor="t" anchorCtr="0">
              <a:spAutoFit/>
            </a:bodyPr>
            <a:lstStyle/>
            <a:p>
              <a:pPr algn="l"/>
              <a:r>
                <a:rPr lang="vi-VN" sz="1350" b="1" dirty="0">
                  <a:solidFill>
                    <a:srgbClr val="F59A73"/>
                  </a:solidFill>
                  <a:latin typeface="+mn-lt"/>
                  <a:ea typeface="+mn-ea"/>
                  <a:cs typeface="+mn-cs"/>
                </a:rPr>
                <a:t>VỌT LỐ GHI NHẬN</a:t>
              </a:r>
            </a:p>
          </p:txBody>
        </p:sp>
        <p:sp>
          <p:nvSpPr>
            <p:cNvPr id="21" name="TextBox 21"/>
            <p:cNvSpPr txBox="1"/>
            <p:nvPr/>
          </p:nvSpPr>
          <p:spPr>
            <a:xfrm>
              <a:off x="7878573" y="4570757"/>
              <a:ext cx="3876647" cy="312879"/>
            </a:xfrm>
            <a:prstGeom prst="rect">
              <a:avLst/>
            </a:prstGeom>
            <a:noFill/>
            <a:ln>
              <a:noFill/>
            </a:ln>
          </p:spPr>
          <p:txBody>
            <a:bodyPr wrap="none" lIns="0" tIns="0" rIns="0" bIns="0" anchor="t" anchorCtr="0">
              <a:spAutoFit/>
            </a:bodyPr>
            <a:lstStyle/>
            <a:p>
              <a:pPr algn="l"/>
              <a:r>
                <a:rPr lang="vi-VN" sz="1600" dirty="0">
                  <a:solidFill>
                    <a:srgbClr val="FFFFFF"/>
                  </a:solidFill>
                  <a:latin typeface="+mn-lt"/>
                  <a:ea typeface="+mn-ea"/>
                  <a:cs typeface="+mn-cs"/>
                </a:rPr>
                <a:t>Hạ 215 → 150°C: mẻ đầu lệch điểm TP.</a:t>
              </a:r>
            </a:p>
          </p:txBody>
        </p:sp>
      </p:grpSp>
      <p:sp>
        <p:nvSpPr>
          <p:cNvPr id="23" name="TextBox 23"/>
          <p:cNvSpPr txBox="1"/>
          <p:nvPr/>
        </p:nvSpPr>
        <p:spPr>
          <a:xfrm>
            <a:off x="603885" y="6317456"/>
            <a:ext cx="1700900" cy="220028"/>
          </a:xfrm>
          <a:prstGeom prst="rect">
            <a:avLst/>
          </a:prstGeom>
          <a:noFill/>
          <a:ln>
            <a:noFill/>
          </a:ln>
        </p:spPr>
        <p:txBody>
          <a:bodyPr wrap="none" lIns="0" tIns="0" rIns="0" bIns="0" anchor="t" anchorCtr="0">
            <a:spAutoFit/>
          </a:bodyPr>
          <a:lstStyle/>
          <a:p>
            <a:pPr algn="l"/>
            <a:r>
              <a:rPr lang="vi-VN" sz="1120" b="1" dirty="0">
                <a:solidFill>
                  <a:schemeClr val="accent1"/>
                </a:solidFill>
                <a:latin typeface="+mn-lt"/>
                <a:ea typeface="+mn-ea"/>
                <a:cs typeface="+mn-cs"/>
              </a:rPr>
              <a:t>O TESLA · OTL-06ALS</a:t>
            </a:r>
          </a:p>
        </p:txBody>
      </p:sp>
      <p:sp>
        <p:nvSpPr>
          <p:cNvPr id="24" name="TextBox 24"/>
          <p:cNvSpPr txBox="1"/>
          <p:nvPr/>
        </p:nvSpPr>
        <p:spPr>
          <a:xfrm>
            <a:off x="11071591" y="6317456"/>
            <a:ext cx="516524" cy="220028"/>
          </a:xfrm>
          <a:prstGeom prst="rect">
            <a:avLst/>
          </a:prstGeom>
          <a:noFill/>
          <a:ln>
            <a:noFill/>
          </a:ln>
        </p:spPr>
        <p:txBody>
          <a:bodyPr wrap="none" lIns="0" tIns="0" rIns="0" bIns="0" anchor="t" anchorCtr="0">
            <a:spAutoFit/>
          </a:bodyPr>
          <a:lstStyle/>
          <a:p>
            <a:pPr algn="r"/>
            <a:r>
              <a:rPr lang="vi-VN" sz="1120" dirty="0">
                <a:solidFill>
                  <a:schemeClr val="dk1"/>
                </a:solidFill>
                <a:latin typeface="+mn-lt"/>
                <a:ea typeface="+mn-ea"/>
                <a:cs typeface="+mn-cs"/>
              </a:rPr>
              <a:t>02 / 11</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122" y="501968"/>
            <a:ext cx="8052099" cy="814577"/>
            <a:chOff x="595122" y="501968"/>
            <a:chExt cx="8052099" cy="814577"/>
          </a:xfrm>
        </p:grpSpPr>
        <p:sp>
          <p:nvSpPr>
            <p:cNvPr id="2" name="TextBox 2"/>
            <p:cNvSpPr txBox="1"/>
            <p:nvPr/>
          </p:nvSpPr>
          <p:spPr>
            <a:xfrm>
              <a:off x="602742" y="501968"/>
              <a:ext cx="2611196" cy="264033"/>
            </a:xfrm>
            <a:prstGeom prst="rect">
              <a:avLst/>
            </a:prstGeom>
            <a:noFill/>
            <a:ln>
              <a:noFill/>
            </a:ln>
          </p:spPr>
          <p:txBody>
            <a:bodyPr wrap="none" lIns="0" tIns="0" rIns="0" bIns="0" anchor="t" anchorCtr="0">
              <a:spAutoFit/>
            </a:bodyPr>
            <a:lstStyle/>
            <a:p>
              <a:pPr algn="l"/>
              <a:r>
                <a:rPr lang="vi-VN" sz="1350" b="1" spc="98" dirty="0">
                  <a:solidFill>
                    <a:schemeClr val="accent2"/>
                  </a:solidFill>
                  <a:latin typeface="+mn-lt"/>
                  <a:ea typeface="+mn-ea"/>
                  <a:cs typeface="+mn-cs"/>
                </a:rPr>
                <a:t>BETWEEN-BATCH PREHEAT</a:t>
              </a:r>
            </a:p>
          </p:txBody>
        </p:sp>
        <p:sp>
          <p:nvSpPr>
            <p:cNvPr id="3" name="TextBox 3"/>
            <p:cNvSpPr txBox="1"/>
            <p:nvPr/>
          </p:nvSpPr>
          <p:spPr>
            <a:xfrm>
              <a:off x="595122" y="759142"/>
              <a:ext cx="8052099" cy="557403"/>
            </a:xfrm>
            <a:prstGeom prst="rect">
              <a:avLst/>
            </a:prstGeom>
            <a:noFill/>
            <a:ln>
              <a:noFill/>
            </a:ln>
          </p:spPr>
          <p:txBody>
            <a:bodyPr wrap="none" lIns="0" tIns="0" rIns="0" bIns="0" anchor="t" anchorCtr="0">
              <a:spAutoFit/>
            </a:bodyPr>
            <a:lstStyle/>
            <a:p>
              <a:pPr algn="l"/>
              <a:r>
                <a:rPr lang="vi-VN" sz="2850" b="1" dirty="0">
                  <a:solidFill>
                    <a:schemeClr val="accent1"/>
                  </a:solidFill>
                  <a:latin typeface="+mn-lt"/>
                  <a:ea typeface="+mn-ea"/>
                  <a:cs typeface="+mn-cs"/>
                </a:rPr>
                <a:t>Một lệnh. Một chu trình. Một nhiệt nạp.</a:t>
              </a:r>
            </a:p>
          </p:txBody>
        </p:sp>
      </p:grpSp>
      <p:grpSp>
        <p:nvGrpSpPr>
          <p:cNvPr id="11" name="Group 11"/>
          <p:cNvGrpSpPr/>
          <p:nvPr/>
        </p:nvGrpSpPr>
        <p:grpSpPr>
          <a:xfrm>
            <a:off x="609600" y="1695450"/>
            <a:ext cx="3034799" cy="3143250"/>
            <a:chOff x="609600" y="1695450"/>
            <a:chExt cx="3034799" cy="3143250"/>
          </a:xfrm>
        </p:grpSpPr>
        <p:sp>
          <p:nvSpPr>
            <p:cNvPr id="5" name="Rectangle 5"/>
            <p:cNvSpPr/>
            <p:nvPr/>
          </p:nvSpPr>
          <p:spPr>
            <a:xfrm>
              <a:off x="609600" y="1695450"/>
              <a:ext cx="2381250" cy="3143250"/>
            </a:xfrm>
            <a:prstGeom prst="roundRect">
              <a:avLst>
                <a:gd name="adj" fmla="val 5600"/>
              </a:avLst>
            </a:prstGeom>
            <a:solidFill>
              <a:schemeClr val="accent1"/>
            </a:solidFill>
            <a:ln>
              <a:noFill/>
            </a:ln>
          </p:spPr>
        </p:sp>
        <p:sp>
          <p:nvSpPr>
            <p:cNvPr id="6" name="Ellipse 6"/>
            <p:cNvSpPr/>
            <p:nvPr/>
          </p:nvSpPr>
          <p:spPr>
            <a:xfrm>
              <a:off x="895350" y="2000250"/>
              <a:ext cx="419100" cy="419100"/>
            </a:xfrm>
            <a:prstGeom prst="ellipse">
              <a:avLst/>
            </a:prstGeom>
            <a:solidFill>
              <a:schemeClr val="accent2"/>
            </a:solidFill>
            <a:ln>
              <a:noFill/>
            </a:ln>
          </p:spPr>
        </p:sp>
        <p:sp>
          <p:nvSpPr>
            <p:cNvPr id="7" name="TextBox 7"/>
            <p:cNvSpPr txBox="1"/>
            <p:nvPr/>
          </p:nvSpPr>
          <p:spPr>
            <a:xfrm>
              <a:off x="1459230" y="2124075"/>
              <a:ext cx="631317" cy="293370"/>
            </a:xfrm>
            <a:prstGeom prst="rect">
              <a:avLst/>
            </a:prstGeom>
            <a:noFill/>
            <a:ln>
              <a:noFill/>
            </a:ln>
          </p:spPr>
          <p:txBody>
            <a:bodyPr wrap="none" lIns="0" tIns="0" rIns="0" bIns="0" anchor="t" anchorCtr="0">
              <a:spAutoFit/>
            </a:bodyPr>
            <a:lstStyle/>
            <a:p>
              <a:pPr algn="l"/>
              <a:r>
                <a:rPr lang="vi-VN" sz="1500" b="1" dirty="0">
                  <a:solidFill>
                    <a:srgbClr val="FFFFFF"/>
                  </a:solidFill>
                  <a:latin typeface="+mn-lt"/>
                  <a:ea typeface="+mn-ea"/>
                  <a:cs typeface="+mn-cs"/>
                </a:rPr>
                <a:t>START</a:t>
              </a:r>
            </a:p>
          </p:txBody>
        </p:sp>
        <p:sp>
          <p:nvSpPr>
            <p:cNvPr id="8" name="TextBox 8"/>
            <p:cNvSpPr txBox="1"/>
            <p:nvPr/>
          </p:nvSpPr>
          <p:spPr>
            <a:xfrm>
              <a:off x="904875" y="2883694"/>
              <a:ext cx="2739524" cy="366712"/>
            </a:xfrm>
            <a:prstGeom prst="rect">
              <a:avLst/>
            </a:prstGeom>
            <a:noFill/>
            <a:ln>
              <a:noFill/>
            </a:ln>
          </p:spPr>
          <p:txBody>
            <a:bodyPr wrap="none" lIns="0" tIns="0" rIns="0" bIns="0" anchor="t" anchorCtr="0">
              <a:spAutoFit/>
            </a:bodyPr>
            <a:lstStyle/>
            <a:p>
              <a:pPr algn="l" marL="213093" indent="-213093">
                <a:buClr>
                  <a:srgbClr val="FFFFFF"/>
                </a:buClr>
                <a:buSzTx/>
                <a:buFontTx/>
                <a:buChar char="•"/>
              </a:pPr>
              <a:r>
                <a:rPr lang="vi-VN" sz="1880" b="1" dirty="0">
                  <a:solidFill>
                    <a:srgbClr val="FFFFFF"/>
                  </a:solidFill>
                  <a:latin typeface="+mn-lt"/>
                  <a:ea typeface="+mn-ea"/>
                  <a:cs typeface="+mn-cs"/>
                </a:rPr>
                <a:t>Một lệnh khởi động.</a:t>
              </a:r>
            </a:p>
          </p:txBody>
        </p:sp>
        <p:sp>
          <p:nvSpPr>
            <p:cNvPr id="9" name="TextBox 9"/>
            <p:cNvSpPr txBox="1"/>
            <p:nvPr/>
          </p:nvSpPr>
          <p:spPr>
            <a:xfrm>
              <a:off x="904875" y="3455194"/>
              <a:ext cx="2526746" cy="366712"/>
            </a:xfrm>
            <a:prstGeom prst="rect">
              <a:avLst/>
            </a:prstGeom>
            <a:noFill/>
            <a:ln>
              <a:noFill/>
            </a:ln>
          </p:spPr>
          <p:txBody>
            <a:bodyPr wrap="none" lIns="0" tIns="0" rIns="0" bIns="0" anchor="t" anchorCtr="0">
              <a:spAutoFit/>
            </a:bodyPr>
            <a:lstStyle/>
            <a:p>
              <a:pPr algn="l" marL="213093" indent="-213093">
                <a:buClr>
                  <a:srgbClr val="FFFFFF"/>
                </a:buClr>
                <a:buSzTx/>
                <a:buFontTx/>
                <a:buChar char="•"/>
              </a:pPr>
              <a:r>
                <a:rPr lang="vi-VN" sz="1880" b="1" dirty="0">
                  <a:solidFill>
                    <a:srgbClr val="FFFFFF"/>
                  </a:solidFill>
                  <a:latin typeface="+mn-lt"/>
                  <a:ea typeface="+mn-ea"/>
                  <a:cs typeface="+mn-cs"/>
                </a:rPr>
                <a:t>Toàn bộ chu trình</a:t>
              </a:r>
            </a:p>
          </p:txBody>
        </p:sp>
        <p:sp>
          <p:nvSpPr>
            <p:cNvPr id="10" name="TextBox 10"/>
            <p:cNvSpPr txBox="1"/>
            <p:nvPr/>
          </p:nvSpPr>
          <p:spPr>
            <a:xfrm>
              <a:off x="1114425" y="3798094"/>
              <a:ext cx="1121871" cy="366712"/>
            </a:xfrm>
            <a:prstGeom prst="rect">
              <a:avLst/>
            </a:prstGeom>
            <a:noFill/>
            <a:ln>
              <a:noFill/>
            </a:ln>
          </p:spPr>
          <p:txBody>
            <a:bodyPr wrap="none" lIns="0" tIns="0" rIns="0" bIns="0" anchor="t" anchorCtr="0">
              <a:spAutoFit/>
            </a:bodyPr>
            <a:lstStyle/>
            <a:p>
              <a:pPr algn="l"/>
              <a:r>
                <a:rPr lang="vi-VN" sz="1880" b="1" dirty="0">
                  <a:solidFill>
                    <a:srgbClr val="FFFFFF"/>
                  </a:solidFill>
                  <a:latin typeface="+mn-lt"/>
                  <a:ea typeface="+mn-ea"/>
                  <a:cs typeface="+mn-cs"/>
                </a:rPr>
                <a:t>tự động.</a:t>
              </a:r>
            </a:p>
          </p:txBody>
        </p:sp>
      </p:grpSp>
      <p:grpSp>
        <p:nvGrpSpPr>
          <p:cNvPr id="20" name="Group 20"/>
          <p:cNvGrpSpPr/>
          <p:nvPr/>
        </p:nvGrpSpPr>
        <p:grpSpPr>
          <a:xfrm>
            <a:off x="3771900" y="1557814"/>
            <a:ext cx="2724150" cy="2309336"/>
            <a:chOff x="3771900" y="1557814"/>
            <a:chExt cx="2724150" cy="2309336"/>
          </a:xfrm>
        </p:grpSpPr>
        <p:sp>
          <p:nvSpPr>
            <p:cNvPr id="12" name="TextBox 12"/>
            <p:cNvSpPr txBox="1"/>
            <p:nvPr/>
          </p:nvSpPr>
          <p:spPr>
            <a:xfrm>
              <a:off x="4163528" y="1557814"/>
              <a:ext cx="1121743" cy="249364"/>
            </a:xfrm>
            <a:prstGeom prst="rect">
              <a:avLst/>
            </a:prstGeom>
            <a:noFill/>
            <a:ln>
              <a:noFill/>
            </a:ln>
          </p:spPr>
          <p:txBody>
            <a:bodyPr wrap="none" lIns="0" tIns="0" rIns="0" bIns="0" anchor="t" anchorCtr="0">
              <a:spAutoFit/>
            </a:bodyPr>
            <a:lstStyle/>
            <a:p>
              <a:pPr algn="ctr"/>
              <a:r>
                <a:rPr lang="vi-VN" sz="1280" b="1" dirty="0">
                  <a:solidFill>
                    <a:schemeClr val="dk1"/>
                  </a:solidFill>
                  <a:latin typeface="+mn-lt"/>
                  <a:ea typeface="+mn-ea"/>
                  <a:cs typeface="+mn-cs"/>
                </a:rPr>
                <a:t>ĐỌC MỖI GIÂY</a:t>
              </a:r>
            </a:p>
          </p:txBody>
        </p:sp>
        <p:sp>
          <p:nvSpPr>
            <p:cNvPr id="13" name="Ellipse 13"/>
            <p:cNvSpPr/>
            <p:nvPr/>
          </p:nvSpPr>
          <p:spPr>
            <a:xfrm>
              <a:off x="4305300" y="1943100"/>
              <a:ext cx="838200" cy="838200"/>
            </a:xfrm>
            <a:prstGeom prst="ellipse">
              <a:avLst/>
            </a:prstGeom>
            <a:solidFill>
              <a:srgbClr val="FFFFFF"/>
            </a:solidFill>
            <a:ln w="28575">
              <a:solidFill>
                <a:schemeClr val="accent3"/>
              </a:solidFill>
            </a:ln>
          </p:spPr>
        </p:sp>
        <p:sp>
          <p:nvSpPr>
            <p:cNvPr id="14" name="TextBox 14"/>
            <p:cNvSpPr txBox="1"/>
            <p:nvPr/>
          </p:nvSpPr>
          <p:spPr>
            <a:xfrm>
              <a:off x="4567398" y="2253615"/>
              <a:ext cx="314005" cy="352044"/>
            </a:xfrm>
            <a:prstGeom prst="rect">
              <a:avLst/>
            </a:prstGeom>
            <a:noFill/>
            <a:ln>
              <a:noFill/>
            </a:ln>
          </p:spPr>
          <p:txBody>
            <a:bodyPr wrap="none" lIns="0" tIns="0" rIns="0" bIns="0" anchor="t" anchorCtr="0">
              <a:spAutoFit/>
            </a:bodyPr>
            <a:lstStyle/>
            <a:p>
              <a:pPr algn="ctr"/>
              <a:r>
                <a:rPr lang="vi-VN" sz="1800" b="1" dirty="0">
                  <a:solidFill>
                    <a:schemeClr val="accent1"/>
                  </a:solidFill>
                  <a:latin typeface="+mn-lt"/>
                  <a:ea typeface="+mn-ea"/>
                  <a:cs typeface="+mn-cs"/>
                </a:rPr>
                <a:t>BT</a:t>
              </a:r>
            </a:p>
          </p:txBody>
        </p:sp>
        <p:sp>
          <p:nvSpPr>
            <p:cNvPr id="15" name="Ellipse 15"/>
            <p:cNvSpPr/>
            <p:nvPr/>
          </p:nvSpPr>
          <p:spPr>
            <a:xfrm>
              <a:off x="3771900" y="3028950"/>
              <a:ext cx="838200" cy="838200"/>
            </a:xfrm>
            <a:prstGeom prst="ellipse">
              <a:avLst/>
            </a:prstGeom>
            <a:solidFill>
              <a:srgbClr val="FFFFFF"/>
            </a:solidFill>
            <a:ln w="28575">
              <a:solidFill>
                <a:schemeClr val="accent3"/>
              </a:solidFill>
            </a:ln>
          </p:spPr>
        </p:sp>
        <p:sp>
          <p:nvSpPr>
            <p:cNvPr id="16" name="TextBox 16"/>
            <p:cNvSpPr txBox="1"/>
            <p:nvPr/>
          </p:nvSpPr>
          <p:spPr>
            <a:xfrm>
              <a:off x="4033998" y="3339465"/>
              <a:ext cx="314005" cy="352044"/>
            </a:xfrm>
            <a:prstGeom prst="rect">
              <a:avLst/>
            </a:prstGeom>
            <a:noFill/>
            <a:ln>
              <a:noFill/>
            </a:ln>
          </p:spPr>
          <p:txBody>
            <a:bodyPr wrap="none" lIns="0" tIns="0" rIns="0" bIns="0" anchor="t" anchorCtr="0">
              <a:spAutoFit/>
            </a:bodyPr>
            <a:lstStyle/>
            <a:p>
              <a:pPr algn="ctr"/>
              <a:r>
                <a:rPr lang="vi-VN" sz="1800" b="1" dirty="0">
                  <a:solidFill>
                    <a:schemeClr val="accent1"/>
                  </a:solidFill>
                  <a:latin typeface="+mn-lt"/>
                  <a:ea typeface="+mn-ea"/>
                  <a:cs typeface="+mn-cs"/>
                </a:rPr>
                <a:t>ET</a:t>
              </a:r>
            </a:p>
          </p:txBody>
        </p:sp>
        <p:sp>
          <p:nvSpPr>
            <p:cNvPr id="17" name="Ellipse 17"/>
            <p:cNvSpPr/>
            <p:nvPr/>
          </p:nvSpPr>
          <p:spPr>
            <a:xfrm>
              <a:off x="4838700" y="3028950"/>
              <a:ext cx="838200" cy="838200"/>
            </a:xfrm>
            <a:prstGeom prst="ellipse">
              <a:avLst/>
            </a:prstGeom>
            <a:solidFill>
              <a:srgbClr val="FFFFFF"/>
            </a:solidFill>
            <a:ln w="28575">
              <a:solidFill>
                <a:schemeClr val="accent3"/>
              </a:solidFill>
            </a:ln>
          </p:spPr>
        </p:sp>
        <p:sp>
          <p:nvSpPr>
            <p:cNvPr id="18" name="TextBox 18"/>
            <p:cNvSpPr txBox="1"/>
            <p:nvPr/>
          </p:nvSpPr>
          <p:spPr>
            <a:xfrm>
              <a:off x="5030829" y="3339465"/>
              <a:ext cx="453942" cy="352044"/>
            </a:xfrm>
            <a:prstGeom prst="rect">
              <a:avLst/>
            </a:prstGeom>
            <a:noFill/>
            <a:ln>
              <a:noFill/>
            </a:ln>
          </p:spPr>
          <p:txBody>
            <a:bodyPr wrap="none" lIns="0" tIns="0" rIns="0" bIns="0" anchor="t" anchorCtr="0">
              <a:spAutoFit/>
            </a:bodyPr>
            <a:lstStyle/>
            <a:p>
              <a:pPr algn="ctr"/>
              <a:r>
                <a:rPr lang="vi-VN" sz="1800" b="1" dirty="0">
                  <a:solidFill>
                    <a:schemeClr val="accent1"/>
                  </a:solidFill>
                  <a:latin typeface="+mn-lt"/>
                  <a:ea typeface="+mn-ea"/>
                  <a:cs typeface="+mn-cs"/>
                </a:rPr>
                <a:t>RoR</a:t>
              </a:r>
            </a:p>
          </p:txBody>
        </p:sp>
        <p:sp>
          <p:nvSpPr>
            <p:cNvPr id="19" name="Line 19"/>
            <p:cNvSpPr/>
            <p:nvPr/>
          </p:nvSpPr>
          <p:spPr>
            <a:xfrm>
              <a:off x="5772150" y="2914650"/>
              <a:ext cx="723900" cy="1"/>
            </a:xfrm>
            <a:prstGeom prst="line">
              <a:avLst/>
            </a:prstGeom>
            <a:noFill/>
            <a:ln w="38100">
              <a:solidFill>
                <a:schemeClr val="accent3"/>
              </a:solidFill>
              <a:tailEnd type="triangle" w="lg" len="lg"/>
            </a:ln>
          </p:spPr>
        </p:sp>
      </p:grpSp>
      <p:grpSp>
        <p:nvGrpSpPr>
          <p:cNvPr id="25" name="Group 25"/>
          <p:cNvGrpSpPr/>
          <p:nvPr/>
        </p:nvGrpSpPr>
        <p:grpSpPr>
          <a:xfrm>
            <a:off x="6572250" y="1885950"/>
            <a:ext cx="2095500" cy="2095500"/>
            <a:chOff x="6572250" y="1885950"/>
            <a:chExt cx="2095500" cy="2095500"/>
          </a:xfrm>
        </p:grpSpPr>
        <p:sp>
          <p:nvSpPr>
            <p:cNvPr id="21" name="Rectangle 21"/>
            <p:cNvSpPr/>
            <p:nvPr/>
          </p:nvSpPr>
          <p:spPr>
            <a:xfrm>
              <a:off x="6572250" y="1885950"/>
              <a:ext cx="2095500" cy="2095500"/>
            </a:xfrm>
            <a:prstGeom prst="roundRect">
              <a:avLst>
                <a:gd name="adj" fmla="val 50000"/>
              </a:avLst>
            </a:prstGeom>
            <a:solidFill>
              <a:schemeClr val="lt2"/>
            </a:solidFill>
            <a:ln w="28575">
              <a:solidFill>
                <a:schemeClr val="accent1"/>
              </a:solidFill>
            </a:ln>
          </p:spPr>
        </p:sp>
        <p:sp>
          <p:nvSpPr>
            <p:cNvPr id="22" name="TextBox 22"/>
            <p:cNvSpPr txBox="1"/>
            <p:nvPr/>
          </p:nvSpPr>
          <p:spPr>
            <a:xfrm>
              <a:off x="7468367" y="2408872"/>
              <a:ext cx="303266" cy="674751"/>
            </a:xfrm>
            <a:prstGeom prst="rect">
              <a:avLst/>
            </a:prstGeom>
            <a:noFill/>
            <a:ln>
              <a:noFill/>
            </a:ln>
          </p:spPr>
          <p:txBody>
            <a:bodyPr wrap="none" lIns="0" tIns="0" rIns="0" bIns="0" anchor="t" anchorCtr="0">
              <a:spAutoFit/>
            </a:bodyPr>
            <a:lstStyle/>
            <a:p>
              <a:pPr algn="ctr"/>
              <a:r>
                <a:rPr lang="vi-VN" sz="3450" b="1" dirty="0">
                  <a:solidFill>
                    <a:schemeClr val="accent1"/>
                  </a:solidFill>
                  <a:latin typeface="+mn-lt"/>
                  <a:ea typeface="+mn-ea"/>
                  <a:cs typeface="+mn-cs"/>
                </a:rPr>
                <a:t>8</a:t>
              </a:r>
            </a:p>
          </p:txBody>
        </p:sp>
        <p:sp>
          <p:nvSpPr>
            <p:cNvPr id="23" name="TextBox 23"/>
            <p:cNvSpPr txBox="1"/>
            <p:nvPr/>
          </p:nvSpPr>
          <p:spPr>
            <a:xfrm>
              <a:off x="7109079" y="2968942"/>
              <a:ext cx="1021842" cy="264033"/>
            </a:xfrm>
            <a:prstGeom prst="rect">
              <a:avLst/>
            </a:prstGeom>
            <a:noFill/>
            <a:ln>
              <a:noFill/>
            </a:ln>
          </p:spPr>
          <p:txBody>
            <a:bodyPr wrap="none" lIns="0" tIns="0" rIns="0" bIns="0" anchor="t" anchorCtr="0">
              <a:spAutoFit/>
            </a:bodyPr>
            <a:lstStyle/>
            <a:p>
              <a:pPr algn="ctr"/>
              <a:r>
                <a:rPr lang="vi-VN" sz="1350" b="1" dirty="0">
                  <a:solidFill>
                    <a:schemeClr val="dk1"/>
                  </a:solidFill>
                  <a:latin typeface="+mn-lt"/>
                  <a:ea typeface="+mn-ea"/>
                  <a:cs typeface="+mn-cs"/>
                </a:rPr>
                <a:t>TRẠNG THÁI</a:t>
              </a:r>
            </a:p>
          </p:txBody>
        </p:sp>
        <p:sp>
          <p:nvSpPr>
            <p:cNvPr id="24" name="TextBox 24"/>
            <p:cNvSpPr txBox="1"/>
            <p:nvPr/>
          </p:nvSpPr>
          <p:spPr>
            <a:xfrm>
              <a:off x="7089038" y="3299460"/>
              <a:ext cx="1061923" cy="234696"/>
            </a:xfrm>
            <a:prstGeom prst="rect">
              <a:avLst/>
            </a:prstGeom>
            <a:noFill/>
            <a:ln>
              <a:noFill/>
            </a:ln>
          </p:spPr>
          <p:txBody>
            <a:bodyPr wrap="none" lIns="0" tIns="0" rIns="0" bIns="0" anchor="t" anchorCtr="0">
              <a:spAutoFit/>
            </a:bodyPr>
            <a:lstStyle/>
            <a:p>
              <a:pPr algn="ctr"/>
              <a:r>
                <a:rPr lang="vi-VN" sz="1200" dirty="0">
                  <a:solidFill>
                    <a:schemeClr val="dk1"/>
                  </a:solidFill>
                  <a:latin typeface="+mn-lt"/>
                  <a:ea typeface="+mn-ea"/>
                  <a:cs typeface="+mn-cs"/>
                </a:rPr>
                <a:t>BỘ ĐIỀU KHIỂN</a:t>
              </a:r>
            </a:p>
          </p:txBody>
        </p:sp>
      </p:grpSp>
      <p:grpSp>
        <p:nvGrpSpPr>
          <p:cNvPr id="36" name="Group 36"/>
          <p:cNvGrpSpPr/>
          <p:nvPr/>
        </p:nvGrpSpPr>
        <p:grpSpPr>
          <a:xfrm>
            <a:off x="8667750" y="1790700"/>
            <a:ext cx="2914650" cy="2590800"/>
            <a:chOff x="8667750" y="1790700"/>
            <a:chExt cx="2914650" cy="2590800"/>
          </a:xfrm>
        </p:grpSpPr>
        <p:sp>
          <p:nvSpPr>
            <p:cNvPr id="26" name="Line 26"/>
            <p:cNvSpPr/>
            <p:nvPr/>
          </p:nvSpPr>
          <p:spPr>
            <a:xfrm>
              <a:off x="8667750" y="2933700"/>
              <a:ext cx="685800" cy="1"/>
            </a:xfrm>
            <a:prstGeom prst="line">
              <a:avLst/>
            </a:prstGeom>
            <a:noFill/>
            <a:ln w="38100">
              <a:solidFill>
                <a:schemeClr val="accent2"/>
              </a:solidFill>
              <a:tailEnd type="triangle" w="lg" len="lg"/>
            </a:ln>
          </p:spPr>
        </p:sp>
        <p:sp>
          <p:nvSpPr>
            <p:cNvPr id="27" name="Rectangle 27"/>
            <p:cNvSpPr/>
            <p:nvPr/>
          </p:nvSpPr>
          <p:spPr>
            <a:xfrm>
              <a:off x="9467850" y="1790700"/>
              <a:ext cx="2114550" cy="1200150"/>
            </a:xfrm>
            <a:prstGeom prst="roundRect">
              <a:avLst>
                <a:gd name="adj" fmla="val 9524"/>
              </a:avLst>
            </a:prstGeom>
            <a:solidFill>
              <a:srgbClr val="FFF0ED"/>
            </a:solidFill>
            <a:ln w="19050">
              <a:solidFill>
                <a:schemeClr val="accent2"/>
              </a:solidFill>
            </a:ln>
          </p:spPr>
        </p:sp>
        <p:sp>
          <p:nvSpPr>
            <p:cNvPr id="28" name="Freeform 28"/>
            <p:cNvSpPr/>
            <p:nvPr/>
          </p:nvSpPr>
          <p:spPr>
            <a:xfrm>
              <a:off x="9763919" y="2065338"/>
              <a:ext cx="188913" cy="256382"/>
            </a:xfrm>
            <a:custGeom>
              <a:avLst/>
              <a:gdLst/>
              <a:ahLst/>
              <a:cxnLst/>
              <a:rect l="l" t="t" r="r" b="b"/>
              <a:pathLst>
                <a:path w="188913" h="256382">
                  <a:moveTo>
                    <a:pt x="94456" y="120648"/>
                  </a:moveTo>
                  <a:cubicBezTo>
                    <a:pt x="125937" y="76010"/>
                    <a:pt x="96710" y="15086"/>
                    <a:pt x="80963" y="0"/>
                  </a:cubicBezTo>
                  <a:cubicBezTo>
                    <a:pt x="80963" y="45811"/>
                    <a:pt x="50804" y="71504"/>
                    <a:pt x="31481" y="90489"/>
                  </a:cubicBezTo>
                  <a:cubicBezTo>
                    <a:pt x="12185" y="109489"/>
                    <a:pt x="0" y="134938"/>
                    <a:pt x="0" y="165893"/>
                  </a:cubicBezTo>
                  <a:cubicBezTo>
                    <a:pt x="0" y="215874"/>
                    <a:pt x="42290" y="256382"/>
                    <a:pt x="94456" y="256382"/>
                  </a:cubicBezTo>
                  <a:cubicBezTo>
                    <a:pt x="146623" y="256382"/>
                    <a:pt x="188913" y="215874"/>
                    <a:pt x="188913" y="165893"/>
                  </a:cubicBezTo>
                  <a:cubicBezTo>
                    <a:pt x="188913" y="142791"/>
                    <a:pt x="172289" y="106479"/>
                    <a:pt x="157432" y="90489"/>
                  </a:cubicBezTo>
                  <a:cubicBezTo>
                    <a:pt x="129311" y="135734"/>
                    <a:pt x="113483" y="135734"/>
                    <a:pt x="94456" y="120648"/>
                  </a:cubicBezTo>
                </a:path>
              </a:pathLst>
            </a:custGeom>
            <a:noFill/>
            <a:ln w="26988">
              <a:solidFill>
                <a:schemeClr val="accent2"/>
              </a:solidFill>
            </a:ln>
          </p:spPr>
        </p:sp>
        <p:sp>
          <p:nvSpPr>
            <p:cNvPr id="29" name="TextBox 29"/>
            <p:cNvSpPr txBox="1"/>
            <p:nvPr/>
          </p:nvSpPr>
          <p:spPr>
            <a:xfrm>
              <a:off x="10125837" y="2118836"/>
              <a:ext cx="441387" cy="337376"/>
            </a:xfrm>
            <a:prstGeom prst="rect">
              <a:avLst/>
            </a:prstGeom>
            <a:noFill/>
            <a:ln>
              <a:noFill/>
            </a:ln>
          </p:spPr>
          <p:txBody>
            <a:bodyPr wrap="none" lIns="0" tIns="0" rIns="0" bIns="0" anchor="t" anchorCtr="0">
              <a:spAutoFit/>
            </a:bodyPr>
            <a:lstStyle/>
            <a:p>
              <a:pPr algn="l"/>
              <a:r>
                <a:rPr lang="vi-VN" sz="1720" b="1" dirty="0">
                  <a:solidFill>
                    <a:schemeClr val="accent1"/>
                  </a:solidFill>
                  <a:latin typeface="+mn-lt"/>
                  <a:ea typeface="+mn-ea"/>
                  <a:cs typeface="+mn-cs"/>
                </a:rPr>
                <a:t>GAS</a:t>
              </a:r>
            </a:p>
          </p:txBody>
        </p:sp>
        <p:sp>
          <p:nvSpPr>
            <p:cNvPr id="30" name="Rectangle 30"/>
            <p:cNvSpPr/>
            <p:nvPr/>
          </p:nvSpPr>
          <p:spPr>
            <a:xfrm>
              <a:off x="9467850" y="3181350"/>
              <a:ext cx="2114550" cy="1200150"/>
            </a:xfrm>
            <a:prstGeom prst="roundRect">
              <a:avLst>
                <a:gd name="adj" fmla="val 9524"/>
              </a:avLst>
            </a:prstGeom>
            <a:solidFill>
              <a:schemeClr val="lt2"/>
            </a:solidFill>
            <a:ln w="19050">
              <a:solidFill>
                <a:schemeClr val="accent3"/>
              </a:solidFill>
            </a:ln>
          </p:spPr>
        </p:sp>
        <p:grpSp>
          <p:nvGrpSpPr>
            <p:cNvPr id="34" name="Group 34"/>
            <p:cNvGrpSpPr/>
            <p:nvPr/>
          </p:nvGrpSpPr>
          <p:grpSpPr>
            <a:xfrm>
              <a:off x="9736931" y="3466632"/>
              <a:ext cx="245281" cy="248587"/>
              <a:chOff x="9736931" y="3466632"/>
              <a:chExt cx="245281" cy="248587"/>
            </a:xfrm>
          </p:grpSpPr>
          <p:sp>
            <p:nvSpPr>
              <p:cNvPr id="31" name="Freeform 31"/>
              <p:cNvSpPr/>
              <p:nvPr/>
            </p:nvSpPr>
            <p:spPr>
              <a:xfrm>
                <a:off x="9763919" y="3466632"/>
                <a:ext cx="150824" cy="70651"/>
              </a:xfrm>
              <a:custGeom>
                <a:avLst/>
                <a:gdLst/>
                <a:ahLst/>
                <a:cxnLst/>
                <a:rect l="l" t="t" r="r" b="b"/>
                <a:pathLst>
                  <a:path w="150824" h="70651">
                    <a:moveTo>
                      <a:pt x="0" y="70318"/>
                    </a:moveTo>
                    <a:lnTo>
                      <a:pt x="114697" y="70318"/>
                    </a:lnTo>
                    <a:cubicBezTo>
                      <a:pt x="132100" y="70651"/>
                      <a:pt x="146899" y="57689"/>
                      <a:pt x="148862" y="40394"/>
                    </a:cubicBezTo>
                    <a:cubicBezTo>
                      <a:pt x="150824" y="23098"/>
                      <a:pt x="139306" y="7149"/>
                      <a:pt x="122271" y="3575"/>
                    </a:cubicBezTo>
                    <a:cubicBezTo>
                      <a:pt x="105235" y="0"/>
                      <a:pt x="88277" y="9973"/>
                      <a:pt x="83122" y="26599"/>
                    </a:cubicBezTo>
                  </a:path>
                </a:pathLst>
              </a:custGeom>
              <a:noFill/>
              <a:ln w="26988">
                <a:solidFill>
                  <a:schemeClr val="accent3"/>
                </a:solidFill>
              </a:ln>
            </p:spPr>
          </p:sp>
          <p:sp>
            <p:nvSpPr>
              <p:cNvPr id="32" name="Freeform 32"/>
              <p:cNvSpPr/>
              <p:nvPr/>
            </p:nvSpPr>
            <p:spPr>
              <a:xfrm>
                <a:off x="9736931" y="3590592"/>
                <a:ext cx="245281" cy="70651"/>
              </a:xfrm>
              <a:custGeom>
                <a:avLst/>
                <a:gdLst/>
                <a:ahLst/>
                <a:cxnLst/>
                <a:rect l="l" t="t" r="r" b="b"/>
                <a:pathLst>
                  <a:path w="245281" h="70651">
                    <a:moveTo>
                      <a:pt x="0" y="333"/>
                    </a:moveTo>
                    <a:lnTo>
                      <a:pt x="209154" y="333"/>
                    </a:lnTo>
                    <a:cubicBezTo>
                      <a:pt x="226557" y="0"/>
                      <a:pt x="241356" y="12963"/>
                      <a:pt x="243318" y="30258"/>
                    </a:cubicBezTo>
                    <a:cubicBezTo>
                      <a:pt x="245281" y="47553"/>
                      <a:pt x="233762" y="63502"/>
                      <a:pt x="216727" y="67077"/>
                    </a:cubicBezTo>
                    <a:cubicBezTo>
                      <a:pt x="199692" y="70651"/>
                      <a:pt x="182734" y="60678"/>
                      <a:pt x="177578" y="44053"/>
                    </a:cubicBezTo>
                  </a:path>
                </a:pathLst>
              </a:custGeom>
              <a:noFill/>
              <a:ln w="26988">
                <a:solidFill>
                  <a:schemeClr val="accent3"/>
                </a:solidFill>
              </a:ln>
            </p:spPr>
          </p:sp>
          <p:sp>
            <p:nvSpPr>
              <p:cNvPr id="33" name="Freeform 33"/>
              <p:cNvSpPr/>
              <p:nvPr/>
            </p:nvSpPr>
            <p:spPr>
              <a:xfrm>
                <a:off x="9750425" y="3644568"/>
                <a:ext cx="110343" cy="70651"/>
              </a:xfrm>
              <a:custGeom>
                <a:avLst/>
                <a:gdLst/>
                <a:ahLst/>
                <a:cxnLst/>
                <a:rect l="l" t="t" r="r" b="b"/>
                <a:pathLst>
                  <a:path w="110343" h="70651">
                    <a:moveTo>
                      <a:pt x="0" y="333"/>
                    </a:moveTo>
                    <a:lnTo>
                      <a:pt x="74216" y="333"/>
                    </a:lnTo>
                    <a:cubicBezTo>
                      <a:pt x="91619" y="0"/>
                      <a:pt x="106418" y="12963"/>
                      <a:pt x="108381" y="30258"/>
                    </a:cubicBezTo>
                    <a:cubicBezTo>
                      <a:pt x="110343" y="47553"/>
                      <a:pt x="98824" y="63502"/>
                      <a:pt x="81789" y="67077"/>
                    </a:cubicBezTo>
                    <a:cubicBezTo>
                      <a:pt x="64754" y="70651"/>
                      <a:pt x="47796" y="60678"/>
                      <a:pt x="42640" y="44053"/>
                    </a:cubicBezTo>
                  </a:path>
                </a:pathLst>
              </a:custGeom>
              <a:noFill/>
              <a:ln w="26988">
                <a:solidFill>
                  <a:schemeClr val="accent3"/>
                </a:solidFill>
              </a:ln>
            </p:spPr>
          </p:sp>
        </p:grpSp>
        <p:sp>
          <p:nvSpPr>
            <p:cNvPr id="35" name="TextBox 35"/>
            <p:cNvSpPr txBox="1"/>
            <p:nvPr/>
          </p:nvSpPr>
          <p:spPr>
            <a:xfrm>
              <a:off x="10125837" y="3509486"/>
              <a:ext cx="916625" cy="337376"/>
            </a:xfrm>
            <a:prstGeom prst="rect">
              <a:avLst/>
            </a:prstGeom>
            <a:noFill/>
            <a:ln>
              <a:noFill/>
            </a:ln>
          </p:spPr>
          <p:txBody>
            <a:bodyPr wrap="none" lIns="0" tIns="0" rIns="0" bIns="0" anchor="t" anchorCtr="0">
              <a:spAutoFit/>
            </a:bodyPr>
            <a:lstStyle/>
            <a:p>
              <a:pPr algn="l"/>
              <a:r>
                <a:rPr lang="vi-VN" sz="1720" b="1" dirty="0">
                  <a:solidFill>
                    <a:schemeClr val="accent1"/>
                  </a:solidFill>
                  <a:latin typeface="+mn-lt"/>
                  <a:ea typeface="+mn-ea"/>
                  <a:cs typeface="+mn-cs"/>
                </a:rPr>
                <a:t>DAMPER</a:t>
              </a:r>
            </a:p>
          </p:txBody>
        </p:sp>
      </p:grpSp>
      <p:grpSp>
        <p:nvGrpSpPr>
          <p:cNvPr id="39" name="Group 39"/>
          <p:cNvGrpSpPr/>
          <p:nvPr/>
        </p:nvGrpSpPr>
        <p:grpSpPr>
          <a:xfrm>
            <a:off x="3668523" y="5189882"/>
            <a:ext cx="8644539" cy="617679"/>
            <a:chOff x="3668523" y="5189882"/>
            <a:chExt cx="8644539" cy="617679"/>
          </a:xfrm>
        </p:grpSpPr>
        <p:sp>
          <p:nvSpPr>
            <p:cNvPr id="37" name="TextBox 37"/>
            <p:cNvSpPr txBox="1"/>
            <p:nvPr/>
          </p:nvSpPr>
          <p:spPr>
            <a:xfrm>
              <a:off x="3668523" y="5189882"/>
              <a:ext cx="8644539" cy="312879"/>
            </a:xfrm>
            <a:prstGeom prst="rect">
              <a:avLst/>
            </a:prstGeom>
            <a:noFill/>
            <a:ln>
              <a:noFill/>
            </a:ln>
          </p:spPr>
          <p:txBody>
            <a:bodyPr wrap="none" lIns="0" tIns="0" rIns="0" bIns="0" anchor="t" anchorCtr="0">
              <a:spAutoFit/>
            </a:bodyPr>
            <a:lstStyle/>
            <a:p>
              <a:pPr algn="l"/>
              <a:r>
                <a:rPr lang="vi-VN" sz="1600" dirty="0">
                  <a:solidFill>
                    <a:schemeClr val="dk1"/>
                  </a:solidFill>
                  <a:latin typeface="+mn-lt"/>
                  <a:ea typeface="+mn-ea"/>
                  <a:cs typeface="+mn-cs"/>
                </a:rPr>
                <a:t>Bộ điều khiển đọc BT, ET và RoR mỗi giây, điều tiết gas và damper qua 8 trạng thái,</a:t>
              </a:r>
            </a:p>
          </p:txBody>
        </p:sp>
        <p:sp>
          <p:nvSpPr>
            <p:cNvPr id="38" name="TextBox 38"/>
            <p:cNvSpPr txBox="1"/>
            <p:nvPr/>
          </p:nvSpPr>
          <p:spPr>
            <a:xfrm>
              <a:off x="3668523" y="5494682"/>
              <a:ext cx="3677917" cy="312879"/>
            </a:xfrm>
            <a:prstGeom prst="rect">
              <a:avLst/>
            </a:prstGeom>
            <a:noFill/>
            <a:ln>
              <a:noFill/>
            </a:ln>
          </p:spPr>
          <p:txBody>
            <a:bodyPr wrap="none" lIns="0" tIns="0" rIns="0" bIns="0" anchor="t" anchorCtr="0">
              <a:spAutoFit/>
            </a:bodyPr>
            <a:lstStyle/>
            <a:p>
              <a:pPr algn="l"/>
              <a:r>
                <a:rPr lang="vi-VN" sz="1600" dirty="0">
                  <a:solidFill>
                    <a:schemeClr val="dk1"/>
                  </a:solidFill>
                  <a:latin typeface="+mn-lt"/>
                  <a:ea typeface="+mn-ea"/>
                  <a:cs typeface="+mn-cs"/>
                </a:rPr>
                <a:t>giữ trống tại nhiệt nạp chờ charge.</a:t>
              </a:r>
            </a:p>
          </p:txBody>
        </p:sp>
      </p:grpSp>
      <p:sp>
        <p:nvSpPr>
          <p:cNvPr id="40" name="TextBox 40"/>
          <p:cNvSpPr txBox="1"/>
          <p:nvPr/>
        </p:nvSpPr>
        <p:spPr>
          <a:xfrm>
            <a:off x="603885" y="6317456"/>
            <a:ext cx="1700900" cy="220028"/>
          </a:xfrm>
          <a:prstGeom prst="rect">
            <a:avLst/>
          </a:prstGeom>
          <a:noFill/>
          <a:ln>
            <a:noFill/>
          </a:ln>
        </p:spPr>
        <p:txBody>
          <a:bodyPr wrap="none" lIns="0" tIns="0" rIns="0" bIns="0" anchor="t" anchorCtr="0">
            <a:spAutoFit/>
          </a:bodyPr>
          <a:lstStyle/>
          <a:p>
            <a:pPr algn="l"/>
            <a:r>
              <a:rPr lang="vi-VN" sz="1120" b="1" dirty="0">
                <a:solidFill>
                  <a:schemeClr val="accent1"/>
                </a:solidFill>
                <a:latin typeface="+mn-lt"/>
                <a:ea typeface="+mn-ea"/>
                <a:cs typeface="+mn-cs"/>
              </a:rPr>
              <a:t>O TESLA · OTL-06ALS</a:t>
            </a:r>
          </a:p>
        </p:txBody>
      </p:sp>
      <p:sp>
        <p:nvSpPr>
          <p:cNvPr id="41" name="TextBox 41"/>
          <p:cNvSpPr txBox="1"/>
          <p:nvPr/>
        </p:nvSpPr>
        <p:spPr>
          <a:xfrm>
            <a:off x="11071591" y="6317456"/>
            <a:ext cx="516524" cy="220028"/>
          </a:xfrm>
          <a:prstGeom prst="rect">
            <a:avLst/>
          </a:prstGeom>
          <a:noFill/>
          <a:ln>
            <a:noFill/>
          </a:ln>
        </p:spPr>
        <p:txBody>
          <a:bodyPr wrap="none" lIns="0" tIns="0" rIns="0" bIns="0" anchor="t" anchorCtr="0">
            <a:spAutoFit/>
          </a:bodyPr>
          <a:lstStyle/>
          <a:p>
            <a:pPr algn="r"/>
            <a:r>
              <a:rPr lang="vi-VN" sz="1120" dirty="0">
                <a:solidFill>
                  <a:schemeClr val="dk1"/>
                </a:solidFill>
                <a:latin typeface="+mn-lt"/>
                <a:ea typeface="+mn-ea"/>
                <a:cs typeface="+mn-cs"/>
              </a:rPr>
              <a:t>03 / 11</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childTnLst>
                                </p:cTn>
                              </p:par>
                            </p:childTnLst>
                          </p:cTn>
                        </p:par>
                        <p:par>
                          <p:cTn id="8" fill="hold">
                            <p:stCondLst>
                              <p:cond delay="350"/>
                            </p:stCondLst>
                            <p:childTnLst>
                              <p:par>
                                <p:cTn xmlns:p="http://schemas.openxmlformats.org/presentationml/2006/main" id="9" presetID="22" presetClass="entr" presetSubtype="4" fill="hold" grpId="0" nodeType="afterEffect">
                                  <p:stCondLst>
                                    <p:cond delay="120"/>
                                  </p:stCondLst>
                                  <p:childTnLst>
                                    <p:set>
                                      <p:cBhvr>
                                        <p:cTn id="10" dur="1" fill="hold">
                                          <p:stCondLst>
                                            <p:cond delay="0"/>
                                          </p:stCondLst>
                                        </p:cTn>
                                        <p:tgtEl>
                                          <p:spTgt spid="20"/>
                                        </p:tgtEl>
                                        <p:attrNameLst>
                                          <p:attrName>style.visibility</p:attrName>
                                        </p:attrNameLst>
                                      </p:cBhvr>
                                      <p:to>
                                        <p:strVal val="visible"/>
                                      </p:to>
                                    </p:set>
                                    <p:animEffect transition="in" filter="wipe(down)">
                                      <p:cBhvr>
                                        <p:cTn id="11" dur="400"/>
                                        <p:tgtEl>
                                          <p:spTgt spid="20"/>
                                        </p:tgtEl>
                                      </p:cBhvr>
                                    </p:animEffect>
                                  </p:childTnLst>
                                </p:cTn>
                              </p:par>
                            </p:childTnLst>
                          </p:cTn>
                        </p:par>
                        <p:par>
                          <p:cTn id="12" fill="hold">
                            <p:stCondLst>
                              <p:cond delay="870"/>
                            </p:stCondLst>
                            <p:childTnLst>
                              <p:par>
                                <p:cTn xmlns:p="http://schemas.openxmlformats.org/presentationml/2006/main" id="13" presetID="10" presetClass="entr" presetSubtype="0" fill="hold" grpId="0" nodeType="afterEffect">
                                  <p:stCondLst>
                                    <p:cond delay="12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350"/>
                                        <p:tgtEl>
                                          <p:spTgt spid="25"/>
                                        </p:tgtEl>
                                      </p:cBhvr>
                                    </p:animEffect>
                                  </p:childTnLst>
                                </p:cTn>
                              </p:par>
                            </p:childTnLst>
                          </p:cTn>
                        </p:par>
                        <p:par>
                          <p:cTn id="16" fill="hold">
                            <p:stCondLst>
                              <p:cond delay="1340"/>
                            </p:stCondLst>
                            <p:childTnLst>
                              <p:par>
                                <p:cTn xmlns:p="http://schemas.openxmlformats.org/presentationml/2006/main" id="17" presetID="22" presetClass="entr" presetSubtype="4" fill="hold" grpId="0" nodeType="afterEffect">
                                  <p:stCondLst>
                                    <p:cond delay="120"/>
                                  </p:stCondLst>
                                  <p:childTnLst>
                                    <p:set>
                                      <p:cBhvr>
                                        <p:cTn id="18" dur="1" fill="hold">
                                          <p:stCondLst>
                                            <p:cond delay="0"/>
                                          </p:stCondLst>
                                        </p:cTn>
                                        <p:tgtEl>
                                          <p:spTgt spid="36"/>
                                        </p:tgtEl>
                                        <p:attrNameLst>
                                          <p:attrName>style.visibility</p:attrName>
                                        </p:attrNameLst>
                                      </p:cBhvr>
                                      <p:to>
                                        <p:strVal val="visible"/>
                                      </p:to>
                                    </p:set>
                                    <p:animEffect transition="in" filter="wipe(down)">
                                      <p:cBhvr>
                                        <p:cTn id="19" dur="400"/>
                                        <p:tgtEl>
                                          <p:spTgt spid="36"/>
                                        </p:tgtEl>
                                      </p:cBhvr>
                                    </p:animEffect>
                                  </p:childTnLst>
                                </p:cTn>
                              </p:par>
                            </p:childTnLst>
                          </p:cTn>
                        </p:par>
                        <p:par>
                          <p:cTn id="20" fill="hold">
                            <p:stCondLst>
                              <p:cond delay="1860"/>
                            </p:stCondLst>
                            <p:childTnLst>
                              <p:par>
                                <p:cTn xmlns:p="http://schemas.openxmlformats.org/presentationml/2006/main" id="21" presetID="10" presetClass="entr" presetSubtype="0" fill="hold" grpId="0" nodeType="afterEffect">
                                  <p:stCondLst>
                                    <p:cond delay="120"/>
                                  </p:stCondLst>
                                  <p:childTnLst>
                                    <p:set>
                                      <p:cBhvr>
                                        <p:cTn id="22" dur="1" fill="hold">
                                          <p:stCondLst>
                                            <p:cond delay="0"/>
                                          </p:stCondLst>
                                        </p:cTn>
                                        <p:tgtEl>
                                          <p:spTgt spid="39"/>
                                        </p:tgtEl>
                                        <p:attrNameLst>
                                          <p:attrName>style.visibility</p:attrName>
                                        </p:attrNameLst>
                                      </p:cBhvr>
                                      <p:to>
                                        <p:strVal val="visible"/>
                                      </p:to>
                                    </p:set>
                                    <p:animEffect transition="in" filter="fade">
                                      <p:cBhvr>
                                        <p:cTn id="23" dur="3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122" y="501968"/>
            <a:ext cx="3627854" cy="814577"/>
            <a:chOff x="595122" y="501968"/>
            <a:chExt cx="3627854" cy="814577"/>
          </a:xfrm>
        </p:grpSpPr>
        <p:sp>
          <p:nvSpPr>
            <p:cNvPr id="2" name="TextBox 2"/>
            <p:cNvSpPr txBox="1"/>
            <p:nvPr/>
          </p:nvSpPr>
          <p:spPr>
            <a:xfrm>
              <a:off x="602742" y="501968"/>
              <a:ext cx="1920319" cy="264033"/>
            </a:xfrm>
            <a:prstGeom prst="rect">
              <a:avLst/>
            </a:prstGeom>
            <a:noFill/>
            <a:ln>
              <a:noFill/>
            </a:ln>
          </p:spPr>
          <p:txBody>
            <a:bodyPr wrap="none" lIns="0" tIns="0" rIns="0" bIns="0" anchor="t" anchorCtr="0">
              <a:spAutoFit/>
            </a:bodyPr>
            <a:lstStyle/>
            <a:p>
              <a:pPr algn="l"/>
              <a:r>
                <a:rPr lang="vi-VN" sz="1350" b="1" spc="98" dirty="0">
                  <a:solidFill>
                    <a:schemeClr val="accent2"/>
                  </a:solidFill>
                  <a:latin typeface="+mn-lt"/>
                  <a:ea typeface="+mn-ea"/>
                  <a:cs typeface="+mn-cs"/>
                </a:rPr>
                <a:t>CHỈ TIÊU KỸ THUẬT</a:t>
              </a:r>
            </a:p>
          </p:txBody>
        </p:sp>
        <p:sp>
          <p:nvSpPr>
            <p:cNvPr id="3" name="TextBox 3"/>
            <p:cNvSpPr txBox="1"/>
            <p:nvPr/>
          </p:nvSpPr>
          <p:spPr>
            <a:xfrm>
              <a:off x="595122" y="759142"/>
              <a:ext cx="3627854" cy="557403"/>
            </a:xfrm>
            <a:prstGeom prst="rect">
              <a:avLst/>
            </a:prstGeom>
            <a:noFill/>
            <a:ln>
              <a:noFill/>
            </a:ln>
          </p:spPr>
          <p:txBody>
            <a:bodyPr wrap="none" lIns="0" tIns="0" rIns="0" bIns="0" anchor="t" anchorCtr="0">
              <a:spAutoFit/>
            </a:bodyPr>
            <a:lstStyle/>
            <a:p>
              <a:pPr algn="l"/>
              <a:r>
                <a:rPr lang="vi-VN" sz="2850" b="1" dirty="0">
                  <a:solidFill>
                    <a:schemeClr val="accent1"/>
                  </a:solidFill>
                  <a:latin typeface="+mn-lt"/>
                  <a:ea typeface="+mn-ea"/>
                  <a:cs typeface="+mn-cs"/>
                </a:rPr>
                <a:t>Bốn chỉ tiêu chính</a:t>
              </a:r>
            </a:p>
          </p:txBody>
        </p:sp>
      </p:grpSp>
      <p:grpSp>
        <p:nvGrpSpPr>
          <p:cNvPr id="28" name="Group 28"/>
          <p:cNvGrpSpPr/>
          <p:nvPr/>
        </p:nvGrpSpPr>
        <p:grpSpPr>
          <a:xfrm>
            <a:off x="826054" y="2132648"/>
            <a:ext cx="10607645" cy="2500503"/>
            <a:chOff x="826054" y="2132648"/>
            <a:chExt cx="10607645" cy="2500503"/>
          </a:xfrm>
        </p:grpSpPr>
        <p:sp>
          <p:nvSpPr>
            <p:cNvPr id="5" name="Line 5"/>
            <p:cNvSpPr/>
            <p:nvPr/>
          </p:nvSpPr>
          <p:spPr>
            <a:xfrm>
              <a:off x="1333500" y="3524250"/>
              <a:ext cx="9525000" cy="9525"/>
            </a:xfrm>
            <a:custGeom>
              <a:avLst/>
              <a:gdLst/>
              <a:ahLst/>
              <a:cxnLst/>
              <a:rect l="l" t="t" r="r" b="b"/>
              <a:pathLst>
                <a:path w="9525000" h="9525">
                  <a:moveTo>
                    <a:pt x="0" y="0"/>
                  </a:moveTo>
                  <a:lnTo>
                    <a:pt x="9525000" y="0"/>
                  </a:lnTo>
                </a:path>
              </a:pathLst>
            </a:custGeom>
            <a:noFill/>
            <a:ln w="47625">
              <a:solidFill>
                <a:srgbClr val="CAD8EA"/>
              </a:solidFill>
            </a:ln>
          </p:spPr>
        </p:sp>
        <p:grpSp>
          <p:nvGrpSpPr>
            <p:cNvPr id="10" name="Group 10"/>
            <p:cNvGrpSpPr/>
            <p:nvPr/>
          </p:nvGrpSpPr>
          <p:grpSpPr>
            <a:xfrm>
              <a:off x="826054" y="2132648"/>
              <a:ext cx="1586393" cy="2157603"/>
              <a:chOff x="826054" y="2132648"/>
              <a:chExt cx="1586393" cy="2157603"/>
            </a:xfrm>
          </p:grpSpPr>
          <p:sp>
            <p:nvSpPr>
              <p:cNvPr id="6" name="Ellipse 6"/>
              <p:cNvSpPr/>
              <p:nvPr/>
            </p:nvSpPr>
            <p:spPr>
              <a:xfrm>
                <a:off x="1390650" y="3295650"/>
                <a:ext cx="457200" cy="457200"/>
              </a:xfrm>
              <a:prstGeom prst="ellipse">
                <a:avLst/>
              </a:prstGeom>
              <a:solidFill>
                <a:schemeClr val="accent2"/>
              </a:solidFill>
              <a:ln>
                <a:noFill/>
              </a:ln>
            </p:spPr>
          </p:sp>
          <p:sp>
            <p:nvSpPr>
              <p:cNvPr id="7" name="Ellipse 7"/>
              <p:cNvSpPr/>
              <p:nvPr/>
            </p:nvSpPr>
            <p:spPr>
              <a:xfrm>
                <a:off x="1533525" y="3438525"/>
                <a:ext cx="171450" cy="171450"/>
              </a:xfrm>
              <a:prstGeom prst="ellipse">
                <a:avLst/>
              </a:prstGeom>
              <a:solidFill>
                <a:srgbClr val="FFFFFF"/>
              </a:solidFill>
              <a:ln>
                <a:noFill/>
              </a:ln>
            </p:spPr>
          </p:sp>
          <p:sp>
            <p:nvSpPr>
              <p:cNvPr id="8" name="TextBox 8"/>
              <p:cNvSpPr txBox="1"/>
              <p:nvPr/>
            </p:nvSpPr>
            <p:spPr>
              <a:xfrm>
                <a:off x="925596" y="2132648"/>
                <a:ext cx="1387309" cy="962025"/>
              </a:xfrm>
              <a:prstGeom prst="rect">
                <a:avLst/>
              </a:prstGeom>
              <a:noFill/>
              <a:ln>
                <a:noFill/>
              </a:ln>
            </p:spPr>
            <p:txBody>
              <a:bodyPr wrap="none" lIns="0" tIns="0" rIns="0" bIns="0" anchor="t" anchorCtr="0">
                <a:spAutoFit/>
              </a:bodyPr>
              <a:lstStyle/>
              <a:p>
                <a:pPr algn="ctr"/>
                <a:r>
                  <a:rPr lang="vi-VN" sz="4950" b="1" dirty="0">
                    <a:solidFill>
                      <a:schemeClr val="accent1"/>
                    </a:solidFill>
                    <a:latin typeface="+mn-lt"/>
                    <a:ea typeface="+mn-ea"/>
                    <a:cs typeface="+mn-cs"/>
                  </a:rPr>
                  <a:t>≤ 3</a:t>
                </a:r>
                <a:r>
                  <a:rPr lang="vi-VN" sz="2250" b="1" dirty="0">
                    <a:solidFill>
                      <a:schemeClr val="accent1"/>
                    </a:solidFill>
                    <a:latin typeface="+mn-lt"/>
                    <a:ea typeface="+mn-ea"/>
                    <a:cs typeface="+mn-cs"/>
                  </a:rPr>
                  <a:t>°C</a:t>
                </a:r>
              </a:p>
            </p:txBody>
          </p:sp>
          <p:sp>
            <p:nvSpPr>
              <p:cNvPr id="9" name="TextBox 9"/>
              <p:cNvSpPr txBox="1"/>
              <p:nvPr/>
            </p:nvSpPr>
            <p:spPr>
              <a:xfrm>
                <a:off x="826054" y="4026218"/>
                <a:ext cx="1586393" cy="264033"/>
              </a:xfrm>
              <a:prstGeom prst="rect">
                <a:avLst/>
              </a:prstGeom>
              <a:noFill/>
              <a:ln>
                <a:noFill/>
              </a:ln>
            </p:spPr>
            <p:txBody>
              <a:bodyPr wrap="none" lIns="0" tIns="0" rIns="0" bIns="0" anchor="t" anchorCtr="0">
                <a:spAutoFit/>
              </a:bodyPr>
              <a:lstStyle/>
              <a:p>
                <a:pPr algn="ctr"/>
                <a:r>
                  <a:rPr lang="vi-VN" sz="1350" b="1" dirty="0">
                    <a:solidFill>
                      <a:schemeClr val="accent2"/>
                    </a:solidFill>
                    <a:latin typeface="+mn-lt"/>
                    <a:ea typeface="+mn-ea"/>
                    <a:cs typeface="+mn-cs"/>
                  </a:rPr>
                  <a:t>VỌT LỐ NHIỆT NẠP</a:t>
                </a:r>
              </a:p>
            </p:txBody>
          </p:sp>
        </p:grpSp>
        <p:grpSp>
          <p:nvGrpSpPr>
            <p:cNvPr id="16" name="Group 16"/>
            <p:cNvGrpSpPr/>
            <p:nvPr/>
          </p:nvGrpSpPr>
          <p:grpSpPr>
            <a:xfrm>
              <a:off x="3867768" y="2132648"/>
              <a:ext cx="1446563" cy="2500503"/>
              <a:chOff x="3867768" y="2132648"/>
              <a:chExt cx="1446563" cy="2500503"/>
            </a:xfrm>
          </p:grpSpPr>
          <p:sp>
            <p:nvSpPr>
              <p:cNvPr id="11" name="Ellipse 11"/>
              <p:cNvSpPr/>
              <p:nvPr/>
            </p:nvSpPr>
            <p:spPr>
              <a:xfrm>
                <a:off x="4362450" y="3295650"/>
                <a:ext cx="457200" cy="457200"/>
              </a:xfrm>
              <a:prstGeom prst="ellipse">
                <a:avLst/>
              </a:prstGeom>
              <a:solidFill>
                <a:schemeClr val="accent3"/>
              </a:solidFill>
              <a:ln>
                <a:noFill/>
              </a:ln>
            </p:spPr>
          </p:sp>
          <p:sp>
            <p:nvSpPr>
              <p:cNvPr id="12" name="Ellipse 12"/>
              <p:cNvSpPr/>
              <p:nvPr/>
            </p:nvSpPr>
            <p:spPr>
              <a:xfrm>
                <a:off x="4505325" y="3438525"/>
                <a:ext cx="171450" cy="171450"/>
              </a:xfrm>
              <a:prstGeom prst="ellipse">
                <a:avLst/>
              </a:prstGeom>
              <a:solidFill>
                <a:srgbClr val="FFFFFF"/>
              </a:solidFill>
              <a:ln>
                <a:noFill/>
              </a:ln>
            </p:spPr>
          </p:sp>
          <p:sp>
            <p:nvSpPr>
              <p:cNvPr id="13" name="TextBox 13"/>
              <p:cNvSpPr txBox="1"/>
              <p:nvPr/>
            </p:nvSpPr>
            <p:spPr>
              <a:xfrm>
                <a:off x="4379586" y="2132648"/>
                <a:ext cx="422928" cy="962025"/>
              </a:xfrm>
              <a:prstGeom prst="rect">
                <a:avLst/>
              </a:prstGeom>
              <a:noFill/>
              <a:ln>
                <a:noFill/>
              </a:ln>
            </p:spPr>
            <p:txBody>
              <a:bodyPr wrap="none" lIns="0" tIns="0" rIns="0" bIns="0" anchor="t" anchorCtr="0">
                <a:spAutoFit/>
              </a:bodyPr>
              <a:lstStyle/>
              <a:p>
                <a:pPr algn="ctr"/>
                <a:r>
                  <a:rPr lang="vi-VN" sz="4950" b="1" dirty="0">
                    <a:solidFill>
                      <a:schemeClr val="accent1"/>
                    </a:solidFill>
                    <a:latin typeface="+mn-lt"/>
                    <a:ea typeface="+mn-ea"/>
                    <a:cs typeface="+mn-cs"/>
                  </a:rPr>
                  <a:t>8</a:t>
                </a:r>
              </a:p>
            </p:txBody>
          </p:sp>
          <p:sp>
            <p:nvSpPr>
              <p:cNvPr id="14" name="TextBox 14"/>
              <p:cNvSpPr txBox="1"/>
              <p:nvPr/>
            </p:nvSpPr>
            <p:spPr>
              <a:xfrm>
                <a:off x="4080129" y="4026218"/>
                <a:ext cx="1021842" cy="264033"/>
              </a:xfrm>
              <a:prstGeom prst="rect">
                <a:avLst/>
              </a:prstGeom>
              <a:noFill/>
              <a:ln>
                <a:noFill/>
              </a:ln>
            </p:spPr>
            <p:txBody>
              <a:bodyPr wrap="none" lIns="0" tIns="0" rIns="0" bIns="0" anchor="t" anchorCtr="0">
                <a:spAutoFit/>
              </a:bodyPr>
              <a:lstStyle/>
              <a:p>
                <a:pPr algn="ctr"/>
                <a:r>
                  <a:rPr lang="vi-VN" sz="1350" b="1" dirty="0">
                    <a:solidFill>
                      <a:schemeClr val="accent3"/>
                    </a:solidFill>
                    <a:latin typeface="+mn-lt"/>
                    <a:ea typeface="+mn-ea"/>
                    <a:cs typeface="+mn-cs"/>
                  </a:rPr>
                  <a:t>TRẠNG THÁI</a:t>
                </a:r>
              </a:p>
            </p:txBody>
          </p:sp>
          <p:sp>
            <p:nvSpPr>
              <p:cNvPr id="15" name="TextBox 15"/>
              <p:cNvSpPr txBox="1"/>
              <p:nvPr/>
            </p:nvSpPr>
            <p:spPr>
              <a:xfrm>
                <a:off x="3867768" y="4369118"/>
                <a:ext cx="1446563" cy="264033"/>
              </a:xfrm>
              <a:prstGeom prst="rect">
                <a:avLst/>
              </a:prstGeom>
              <a:noFill/>
              <a:ln>
                <a:noFill/>
              </a:ln>
            </p:spPr>
            <p:txBody>
              <a:bodyPr wrap="none" lIns="0" tIns="0" rIns="0" bIns="0" anchor="t" anchorCtr="0">
                <a:spAutoFit/>
              </a:bodyPr>
              <a:lstStyle/>
              <a:p>
                <a:pPr algn="ctr"/>
                <a:r>
                  <a:rPr lang="vi-VN" sz="1350" dirty="0">
                    <a:solidFill>
                      <a:schemeClr val="dk1"/>
                    </a:solidFill>
                    <a:latin typeface="+mn-lt"/>
                    <a:ea typeface="+mn-ea"/>
                    <a:cs typeface="+mn-cs"/>
                  </a:rPr>
                  <a:t>Nguội → giữ nhiệt</a:t>
                </a:r>
              </a:p>
            </p:txBody>
          </p:sp>
        </p:grpSp>
        <p:grpSp>
          <p:nvGrpSpPr>
            <p:cNvPr id="22" name="Group 22"/>
            <p:cNvGrpSpPr/>
            <p:nvPr/>
          </p:nvGrpSpPr>
          <p:grpSpPr>
            <a:xfrm>
              <a:off x="6716701" y="2132648"/>
              <a:ext cx="1692297" cy="2500503"/>
              <a:chOff x="6716701" y="2132648"/>
              <a:chExt cx="1692297" cy="2500503"/>
            </a:xfrm>
          </p:grpSpPr>
          <p:sp>
            <p:nvSpPr>
              <p:cNvPr id="17" name="Ellipse 17"/>
              <p:cNvSpPr/>
              <p:nvPr/>
            </p:nvSpPr>
            <p:spPr>
              <a:xfrm>
                <a:off x="7334250" y="3295650"/>
                <a:ext cx="457200" cy="457200"/>
              </a:xfrm>
              <a:prstGeom prst="ellipse">
                <a:avLst/>
              </a:prstGeom>
              <a:solidFill>
                <a:schemeClr val="accent1"/>
              </a:solidFill>
              <a:ln>
                <a:noFill/>
              </a:ln>
            </p:spPr>
          </p:sp>
          <p:sp>
            <p:nvSpPr>
              <p:cNvPr id="18" name="Ellipse 18"/>
              <p:cNvSpPr/>
              <p:nvPr/>
            </p:nvSpPr>
            <p:spPr>
              <a:xfrm>
                <a:off x="7477125" y="3438525"/>
                <a:ext cx="171450" cy="171450"/>
              </a:xfrm>
              <a:prstGeom prst="ellipse">
                <a:avLst/>
              </a:prstGeom>
              <a:solidFill>
                <a:srgbClr val="FFFFFF"/>
              </a:solidFill>
              <a:ln>
                <a:noFill/>
              </a:ln>
            </p:spPr>
          </p:sp>
          <p:sp>
            <p:nvSpPr>
              <p:cNvPr id="19" name="TextBox 19"/>
              <p:cNvSpPr txBox="1"/>
              <p:nvPr/>
            </p:nvSpPr>
            <p:spPr>
              <a:xfrm>
                <a:off x="7158972" y="2132648"/>
                <a:ext cx="807756" cy="962025"/>
              </a:xfrm>
              <a:prstGeom prst="rect">
                <a:avLst/>
              </a:prstGeom>
              <a:noFill/>
              <a:ln>
                <a:noFill/>
              </a:ln>
            </p:spPr>
            <p:txBody>
              <a:bodyPr wrap="none" lIns="0" tIns="0" rIns="0" bIns="0" anchor="t" anchorCtr="0">
                <a:spAutoFit/>
              </a:bodyPr>
              <a:lstStyle/>
              <a:p>
                <a:pPr algn="ctr"/>
                <a:r>
                  <a:rPr lang="vi-VN" sz="4950" b="1" dirty="0">
                    <a:solidFill>
                      <a:schemeClr val="accent1"/>
                    </a:solidFill>
                    <a:latin typeface="+mn-lt"/>
                    <a:ea typeface="+mn-ea"/>
                    <a:cs typeface="+mn-cs"/>
                  </a:rPr>
                  <a:t>12</a:t>
                </a:r>
              </a:p>
            </p:txBody>
          </p:sp>
          <p:sp>
            <p:nvSpPr>
              <p:cNvPr id="20" name="TextBox 20"/>
              <p:cNvSpPr txBox="1"/>
              <p:nvPr/>
            </p:nvSpPr>
            <p:spPr>
              <a:xfrm>
                <a:off x="7334204" y="4026218"/>
                <a:ext cx="457291" cy="264033"/>
              </a:xfrm>
              <a:prstGeom prst="rect">
                <a:avLst/>
              </a:prstGeom>
              <a:noFill/>
              <a:ln>
                <a:noFill/>
              </a:ln>
            </p:spPr>
            <p:txBody>
              <a:bodyPr wrap="none" lIns="0" tIns="0" rIns="0" bIns="0" anchor="t" anchorCtr="0">
                <a:spAutoFit/>
              </a:bodyPr>
              <a:lstStyle/>
              <a:p>
                <a:pPr algn="ctr"/>
                <a:r>
                  <a:rPr lang="vi-VN" sz="1350" b="1" dirty="0">
                    <a:solidFill>
                      <a:schemeClr val="accent1"/>
                    </a:solidFill>
                    <a:latin typeface="+mn-lt"/>
                    <a:ea typeface="+mn-ea"/>
                    <a:cs typeface="+mn-cs"/>
                  </a:rPr>
                  <a:t>VÙNG</a:t>
                </a:r>
              </a:p>
            </p:txBody>
          </p:sp>
          <p:sp>
            <p:nvSpPr>
              <p:cNvPr id="21" name="TextBox 21"/>
              <p:cNvSpPr txBox="1"/>
              <p:nvPr/>
            </p:nvSpPr>
            <p:spPr>
              <a:xfrm>
                <a:off x="6716701" y="4369118"/>
                <a:ext cx="1692297" cy="264033"/>
              </a:xfrm>
              <a:prstGeom prst="rect">
                <a:avLst/>
              </a:prstGeom>
              <a:noFill/>
              <a:ln>
                <a:noFill/>
              </a:ln>
            </p:spPr>
            <p:txBody>
              <a:bodyPr wrap="none" lIns="0" tIns="0" rIns="0" bIns="0" anchor="t" anchorCtr="0">
                <a:spAutoFit/>
              </a:bodyPr>
              <a:lstStyle/>
              <a:p>
                <a:pPr algn="ctr"/>
                <a:r>
                  <a:rPr lang="vi-VN" sz="1350" dirty="0">
                    <a:solidFill>
                      <a:schemeClr val="dk1"/>
                    </a:solidFill>
                    <a:latin typeface="+mn-lt"/>
                    <a:ea typeface="+mn-ea"/>
                    <a:cs typeface="+mn-cs"/>
                  </a:rPr>
                  <a:t>Bảng bù trước 25°C</a:t>
                </a:r>
              </a:p>
            </p:txBody>
          </p:sp>
        </p:grpSp>
        <p:grpSp>
          <p:nvGrpSpPr>
            <p:cNvPr id="27" name="Group 27"/>
            <p:cNvGrpSpPr/>
            <p:nvPr/>
          </p:nvGrpSpPr>
          <p:grpSpPr>
            <a:xfrm>
              <a:off x="9635600" y="2132648"/>
              <a:ext cx="1798099" cy="2157603"/>
              <a:chOff x="9635600" y="2132648"/>
              <a:chExt cx="1798099" cy="2157603"/>
            </a:xfrm>
          </p:grpSpPr>
          <p:sp>
            <p:nvSpPr>
              <p:cNvPr id="23" name="Ellipse 23"/>
              <p:cNvSpPr/>
              <p:nvPr/>
            </p:nvSpPr>
            <p:spPr>
              <a:xfrm>
                <a:off x="10306050" y="3295650"/>
                <a:ext cx="457200" cy="457200"/>
              </a:xfrm>
              <a:prstGeom prst="ellipse">
                <a:avLst/>
              </a:prstGeom>
              <a:solidFill>
                <a:schemeClr val="accent3"/>
              </a:solidFill>
              <a:ln>
                <a:noFill/>
              </a:ln>
            </p:spPr>
          </p:sp>
          <p:sp>
            <p:nvSpPr>
              <p:cNvPr id="24" name="Ellipse 24"/>
              <p:cNvSpPr/>
              <p:nvPr/>
            </p:nvSpPr>
            <p:spPr>
              <a:xfrm>
                <a:off x="10448925" y="3438525"/>
                <a:ext cx="171450" cy="171450"/>
              </a:xfrm>
              <a:prstGeom prst="ellipse">
                <a:avLst/>
              </a:prstGeom>
              <a:solidFill>
                <a:srgbClr val="FFFFFF"/>
              </a:solidFill>
              <a:ln>
                <a:noFill/>
              </a:ln>
            </p:spPr>
          </p:sp>
          <p:sp>
            <p:nvSpPr>
              <p:cNvPr id="25" name="TextBox 25"/>
              <p:cNvSpPr txBox="1"/>
              <p:nvPr/>
            </p:nvSpPr>
            <p:spPr>
              <a:xfrm>
                <a:off x="9945139" y="2132648"/>
                <a:ext cx="1179023" cy="962025"/>
              </a:xfrm>
              <a:prstGeom prst="rect">
                <a:avLst/>
              </a:prstGeom>
              <a:noFill/>
              <a:ln>
                <a:noFill/>
              </a:ln>
            </p:spPr>
            <p:txBody>
              <a:bodyPr wrap="none" lIns="0" tIns="0" rIns="0" bIns="0" anchor="t" anchorCtr="0">
                <a:spAutoFit/>
              </a:bodyPr>
              <a:lstStyle/>
              <a:p>
                <a:pPr algn="ctr"/>
                <a:r>
                  <a:rPr lang="vi-VN" sz="4950" b="1" dirty="0">
                    <a:solidFill>
                      <a:schemeClr val="accent1"/>
                    </a:solidFill>
                    <a:latin typeface="+mn-lt"/>
                    <a:ea typeface="+mn-ea"/>
                    <a:cs typeface="+mn-cs"/>
                  </a:rPr>
                  <a:t>5</a:t>
                </a:r>
                <a:r>
                  <a:rPr lang="vi-VN" sz="2250" b="1" dirty="0">
                    <a:solidFill>
                      <a:schemeClr val="accent1"/>
                    </a:solidFill>
                    <a:latin typeface="+mn-lt"/>
                    <a:ea typeface="+mn-ea"/>
                    <a:cs typeface="+mn-cs"/>
                  </a:rPr>
                  <a:t xml:space="preserve"> GIÂY</a:t>
                </a:r>
              </a:p>
            </p:txBody>
          </p:sp>
          <p:sp>
            <p:nvSpPr>
              <p:cNvPr id="26" name="TextBox 26"/>
              <p:cNvSpPr txBox="1"/>
              <p:nvPr/>
            </p:nvSpPr>
            <p:spPr>
              <a:xfrm>
                <a:off x="9635600" y="4026218"/>
                <a:ext cx="1798099" cy="264033"/>
              </a:xfrm>
              <a:prstGeom prst="rect">
                <a:avLst/>
              </a:prstGeom>
              <a:noFill/>
              <a:ln>
                <a:noFill/>
              </a:ln>
            </p:spPr>
            <p:txBody>
              <a:bodyPr wrap="none" lIns="0" tIns="0" rIns="0" bIns="0" anchor="t" anchorCtr="0">
                <a:spAutoFit/>
              </a:bodyPr>
              <a:lstStyle/>
              <a:p>
                <a:pPr algn="ctr"/>
                <a:r>
                  <a:rPr lang="vi-VN" sz="1350" b="1" dirty="0">
                    <a:solidFill>
                      <a:schemeClr val="accent3"/>
                    </a:solidFill>
                    <a:latin typeface="+mn-lt"/>
                    <a:ea typeface="+mn-ea"/>
                    <a:cs typeface="+mn-cs"/>
                  </a:rPr>
                  <a:t>CHU KỲ GHI LOG CSV</a:t>
                </a:r>
              </a:p>
            </p:txBody>
          </p:sp>
        </p:grpSp>
      </p:grpSp>
      <p:sp>
        <p:nvSpPr>
          <p:cNvPr id="29" name="TextBox 29"/>
          <p:cNvSpPr txBox="1"/>
          <p:nvPr/>
        </p:nvSpPr>
        <p:spPr>
          <a:xfrm>
            <a:off x="603885" y="6317456"/>
            <a:ext cx="1700900" cy="220028"/>
          </a:xfrm>
          <a:prstGeom prst="rect">
            <a:avLst/>
          </a:prstGeom>
          <a:noFill/>
          <a:ln>
            <a:noFill/>
          </a:ln>
        </p:spPr>
        <p:txBody>
          <a:bodyPr wrap="none" lIns="0" tIns="0" rIns="0" bIns="0" anchor="t" anchorCtr="0">
            <a:spAutoFit/>
          </a:bodyPr>
          <a:lstStyle/>
          <a:p>
            <a:pPr algn="l"/>
            <a:r>
              <a:rPr lang="vi-VN" sz="1120" b="1" dirty="0">
                <a:solidFill>
                  <a:schemeClr val="accent1"/>
                </a:solidFill>
                <a:latin typeface="+mn-lt"/>
                <a:ea typeface="+mn-ea"/>
                <a:cs typeface="+mn-cs"/>
              </a:rPr>
              <a:t>O TESLA · OTL-06ALS</a:t>
            </a:r>
          </a:p>
        </p:txBody>
      </p:sp>
      <p:sp>
        <p:nvSpPr>
          <p:cNvPr id="30" name="TextBox 30"/>
          <p:cNvSpPr txBox="1"/>
          <p:nvPr/>
        </p:nvSpPr>
        <p:spPr>
          <a:xfrm>
            <a:off x="11071591" y="6317456"/>
            <a:ext cx="516524" cy="220028"/>
          </a:xfrm>
          <a:prstGeom prst="rect">
            <a:avLst/>
          </a:prstGeom>
          <a:noFill/>
          <a:ln>
            <a:noFill/>
          </a:ln>
        </p:spPr>
        <p:txBody>
          <a:bodyPr wrap="none" lIns="0" tIns="0" rIns="0" bIns="0" anchor="t" anchorCtr="0">
            <a:spAutoFit/>
          </a:bodyPr>
          <a:lstStyle/>
          <a:p>
            <a:pPr algn="r"/>
            <a:r>
              <a:rPr lang="vi-VN" sz="1120" dirty="0">
                <a:solidFill>
                  <a:schemeClr val="dk1"/>
                </a:solidFill>
                <a:latin typeface="+mn-lt"/>
                <a:ea typeface="+mn-ea"/>
                <a:cs typeface="+mn-cs"/>
              </a:rPr>
              <a:t>04 / 11</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122" y="501968"/>
            <a:ext cx="5078837" cy="814577"/>
            <a:chOff x="595122" y="501968"/>
            <a:chExt cx="5078837" cy="814577"/>
          </a:xfrm>
        </p:grpSpPr>
        <p:sp>
          <p:nvSpPr>
            <p:cNvPr id="2" name="TextBox 2"/>
            <p:cNvSpPr txBox="1"/>
            <p:nvPr/>
          </p:nvSpPr>
          <p:spPr>
            <a:xfrm>
              <a:off x="602742" y="501968"/>
              <a:ext cx="2095558" cy="264033"/>
            </a:xfrm>
            <a:prstGeom prst="rect">
              <a:avLst/>
            </a:prstGeom>
            <a:noFill/>
            <a:ln>
              <a:noFill/>
            </a:ln>
          </p:spPr>
          <p:txBody>
            <a:bodyPr wrap="none" lIns="0" tIns="0" rIns="0" bIns="0" anchor="t" anchorCtr="0">
              <a:spAutoFit/>
            </a:bodyPr>
            <a:lstStyle/>
            <a:p>
              <a:pPr algn="l"/>
              <a:r>
                <a:rPr lang="vi-VN" sz="1350" b="1" spc="98" dirty="0">
                  <a:solidFill>
                    <a:schemeClr val="accent2"/>
                  </a:solidFill>
                  <a:latin typeface="+mn-lt"/>
                  <a:ea typeface="+mn-ea"/>
                  <a:cs typeface="+mn-cs"/>
                </a:rPr>
                <a:t>NGUYÊN LÝ VẬN HÀNH</a:t>
              </a:r>
            </a:p>
          </p:txBody>
        </p:sp>
        <p:sp>
          <p:nvSpPr>
            <p:cNvPr id="3" name="TextBox 3"/>
            <p:cNvSpPr txBox="1"/>
            <p:nvPr/>
          </p:nvSpPr>
          <p:spPr>
            <a:xfrm>
              <a:off x="595122" y="759142"/>
              <a:ext cx="5078837" cy="557403"/>
            </a:xfrm>
            <a:prstGeom prst="rect">
              <a:avLst/>
            </a:prstGeom>
            <a:noFill/>
            <a:ln>
              <a:noFill/>
            </a:ln>
          </p:spPr>
          <p:txBody>
            <a:bodyPr wrap="none" lIns="0" tIns="0" rIns="0" bIns="0" anchor="t" anchorCtr="0">
              <a:spAutoFit/>
            </a:bodyPr>
            <a:lstStyle/>
            <a:p>
              <a:pPr algn="l"/>
              <a:r>
                <a:rPr lang="vi-VN" sz="2850" b="1" dirty="0">
                  <a:solidFill>
                    <a:schemeClr val="accent1"/>
                  </a:solidFill>
                  <a:latin typeface="+mn-lt"/>
                  <a:ea typeface="+mn-ea"/>
                  <a:cs typeface="+mn-cs"/>
                </a:rPr>
                <a:t>Trình tự sáu bước tự động</a:t>
              </a:r>
            </a:p>
          </p:txBody>
        </p:sp>
      </p:grpSp>
      <p:grpSp>
        <p:nvGrpSpPr>
          <p:cNvPr id="36" name="Group 36"/>
          <p:cNvGrpSpPr/>
          <p:nvPr/>
        </p:nvGrpSpPr>
        <p:grpSpPr>
          <a:xfrm>
            <a:off x="524021" y="2209800"/>
            <a:ext cx="10903255" cy="1451801"/>
            <a:chOff x="524021" y="2209800"/>
            <a:chExt cx="10903255" cy="1451801"/>
          </a:xfrm>
        </p:grpSpPr>
        <p:sp>
          <p:nvSpPr>
            <p:cNvPr id="5" name="Line 5"/>
            <p:cNvSpPr/>
            <p:nvPr/>
          </p:nvSpPr>
          <p:spPr>
            <a:xfrm>
              <a:off x="1447800" y="2724150"/>
              <a:ext cx="9258300" cy="1"/>
            </a:xfrm>
            <a:prstGeom prst="line">
              <a:avLst/>
            </a:prstGeom>
            <a:noFill/>
            <a:ln w="47625">
              <a:solidFill>
                <a:schemeClr val="accent3"/>
              </a:solidFill>
              <a:tailEnd type="triangle" w="lg" len="lg"/>
            </a:ln>
          </p:spPr>
        </p:sp>
        <p:grpSp>
          <p:nvGrpSpPr>
            <p:cNvPr id="10" name="Group 10"/>
            <p:cNvGrpSpPr/>
            <p:nvPr/>
          </p:nvGrpSpPr>
          <p:grpSpPr>
            <a:xfrm>
              <a:off x="524021" y="2209800"/>
              <a:ext cx="1847557" cy="1451801"/>
              <a:chOff x="524021" y="2209800"/>
              <a:chExt cx="1847557" cy="1451801"/>
            </a:xfrm>
          </p:grpSpPr>
          <p:sp>
            <p:nvSpPr>
              <p:cNvPr id="6" name="Ellipse 6"/>
              <p:cNvSpPr/>
              <p:nvPr/>
            </p:nvSpPr>
            <p:spPr>
              <a:xfrm>
                <a:off x="933450" y="2209800"/>
                <a:ext cx="1028700" cy="1028700"/>
              </a:xfrm>
              <a:prstGeom prst="ellipse">
                <a:avLst/>
              </a:prstGeom>
              <a:solidFill>
                <a:schemeClr val="accent1"/>
              </a:solidFill>
              <a:ln>
                <a:noFill/>
              </a:ln>
            </p:spPr>
          </p:sp>
          <p:sp>
            <p:nvSpPr>
              <p:cNvPr id="7" name="TextBox 7"/>
              <p:cNvSpPr txBox="1"/>
              <p:nvPr/>
            </p:nvSpPr>
            <p:spPr>
              <a:xfrm>
                <a:off x="1039865" y="2491264"/>
                <a:ext cx="815870" cy="249364"/>
              </a:xfrm>
              <a:prstGeom prst="rect">
                <a:avLst/>
              </a:prstGeom>
              <a:noFill/>
              <a:ln>
                <a:noFill/>
              </a:ln>
            </p:spPr>
            <p:txBody>
              <a:bodyPr wrap="none" lIns="0" tIns="0" rIns="0" bIns="0" anchor="t" anchorCtr="0">
                <a:spAutoFit/>
              </a:bodyPr>
              <a:lstStyle/>
              <a:p>
                <a:pPr algn="ctr"/>
                <a:r>
                  <a:rPr lang="vi-VN" sz="1280" b="1" dirty="0">
                    <a:solidFill>
                      <a:srgbClr val="FFFFFF"/>
                    </a:solidFill>
                    <a:latin typeface="+mn-lt"/>
                    <a:ea typeface="+mn-ea"/>
                    <a:cs typeface="+mn-cs"/>
                  </a:rPr>
                  <a:t>01 · IDLE</a:t>
                </a:r>
              </a:p>
            </p:txBody>
          </p:sp>
          <p:sp>
            <p:nvSpPr>
              <p:cNvPr id="8" name="TextBox 8"/>
              <p:cNvSpPr txBox="1"/>
              <p:nvPr/>
            </p:nvSpPr>
            <p:spPr>
              <a:xfrm>
                <a:off x="1100061" y="2785110"/>
                <a:ext cx="695477" cy="234696"/>
              </a:xfrm>
              <a:prstGeom prst="rect">
                <a:avLst/>
              </a:prstGeom>
              <a:noFill/>
              <a:ln>
                <a:noFill/>
              </a:ln>
            </p:spPr>
            <p:txBody>
              <a:bodyPr wrap="none" lIns="0" tIns="0" rIns="0" bIns="0" anchor="t" anchorCtr="0">
                <a:spAutoFit/>
              </a:bodyPr>
              <a:lstStyle/>
              <a:p>
                <a:pPr algn="ctr"/>
                <a:r>
                  <a:rPr lang="vi-VN" sz="1200" dirty="0">
                    <a:solidFill>
                      <a:srgbClr val="FFFFFF"/>
                    </a:solidFill>
                    <a:latin typeface="+mn-lt"/>
                    <a:ea typeface="+mn-ea"/>
                    <a:cs typeface="+mn-cs"/>
                  </a:rPr>
                  <a:t>Phân loại</a:t>
                </a:r>
              </a:p>
            </p:txBody>
          </p:sp>
          <p:sp>
            <p:nvSpPr>
              <p:cNvPr id="9" name="TextBox 9"/>
              <p:cNvSpPr txBox="1"/>
              <p:nvPr/>
            </p:nvSpPr>
            <p:spPr>
              <a:xfrm>
                <a:off x="524021" y="3397568"/>
                <a:ext cx="1847557" cy="264033"/>
              </a:xfrm>
              <a:prstGeom prst="rect">
                <a:avLst/>
              </a:prstGeom>
              <a:noFill/>
              <a:ln>
                <a:noFill/>
              </a:ln>
            </p:spPr>
            <p:txBody>
              <a:bodyPr wrap="none" lIns="0" tIns="0" rIns="0" bIns="0" anchor="t" anchorCtr="0">
                <a:spAutoFit/>
              </a:bodyPr>
              <a:lstStyle/>
              <a:p>
                <a:pPr algn="ctr"/>
                <a:r>
                  <a:rPr lang="vi-VN" sz="1350" dirty="0">
                    <a:solidFill>
                      <a:schemeClr val="dk1"/>
                    </a:solidFill>
                    <a:latin typeface="+mn-lt"/>
                    <a:ea typeface="+mn-ea"/>
                    <a:cs typeface="+mn-cs"/>
                  </a:rPr>
                  <a:t>Nguội · nóng · cần hạ</a:t>
                </a:r>
              </a:p>
            </p:txBody>
          </p:sp>
        </p:grpSp>
        <p:grpSp>
          <p:nvGrpSpPr>
            <p:cNvPr id="15" name="Group 15"/>
            <p:cNvGrpSpPr/>
            <p:nvPr/>
          </p:nvGrpSpPr>
          <p:grpSpPr>
            <a:xfrm>
              <a:off x="2535066" y="2209800"/>
              <a:ext cx="1483069" cy="1451801"/>
              <a:chOff x="2535066" y="2209800"/>
              <a:chExt cx="1483069" cy="1451801"/>
            </a:xfrm>
          </p:grpSpPr>
          <p:sp>
            <p:nvSpPr>
              <p:cNvPr id="11" name="Ellipse 11"/>
              <p:cNvSpPr/>
              <p:nvPr/>
            </p:nvSpPr>
            <p:spPr>
              <a:xfrm>
                <a:off x="2762250" y="2209800"/>
                <a:ext cx="1028700" cy="1028700"/>
              </a:xfrm>
              <a:prstGeom prst="ellipse">
                <a:avLst/>
              </a:prstGeom>
              <a:solidFill>
                <a:schemeClr val="lt2"/>
              </a:solidFill>
              <a:ln w="28575">
                <a:solidFill>
                  <a:schemeClr val="accent3"/>
                </a:solidFill>
              </a:ln>
            </p:spPr>
          </p:sp>
          <p:sp>
            <p:nvSpPr>
              <p:cNvPr id="12" name="TextBox 12"/>
              <p:cNvSpPr txBox="1"/>
              <p:nvPr/>
            </p:nvSpPr>
            <p:spPr>
              <a:xfrm>
                <a:off x="2792197" y="2491264"/>
                <a:ext cx="968807" cy="249364"/>
              </a:xfrm>
              <a:prstGeom prst="rect">
                <a:avLst/>
              </a:prstGeom>
              <a:noFill/>
              <a:ln>
                <a:noFill/>
              </a:ln>
            </p:spPr>
            <p:txBody>
              <a:bodyPr wrap="none" lIns="0" tIns="0" rIns="0" bIns="0" anchor="t" anchorCtr="0">
                <a:spAutoFit/>
              </a:bodyPr>
              <a:lstStyle/>
              <a:p>
                <a:pPr algn="ctr"/>
                <a:r>
                  <a:rPr lang="vi-VN" sz="1280" b="1" dirty="0">
                    <a:solidFill>
                      <a:schemeClr val="accent1"/>
                    </a:solidFill>
                    <a:latin typeface="+mn-lt"/>
                    <a:ea typeface="+mn-ea"/>
                    <a:cs typeface="+mn-cs"/>
                  </a:rPr>
                  <a:t>02 · PURGE</a:t>
                </a:r>
              </a:p>
            </p:txBody>
          </p:sp>
          <p:sp>
            <p:nvSpPr>
              <p:cNvPr id="13" name="TextBox 13"/>
              <p:cNvSpPr txBox="1"/>
              <p:nvPr/>
            </p:nvSpPr>
            <p:spPr>
              <a:xfrm>
                <a:off x="2908525" y="2785110"/>
                <a:ext cx="736149" cy="234696"/>
              </a:xfrm>
              <a:prstGeom prst="rect">
                <a:avLst/>
              </a:prstGeom>
              <a:noFill/>
              <a:ln>
                <a:noFill/>
              </a:ln>
            </p:spPr>
            <p:txBody>
              <a:bodyPr wrap="none" lIns="0" tIns="0" rIns="0" bIns="0" anchor="t" anchorCtr="0">
                <a:spAutoFit/>
              </a:bodyPr>
              <a:lstStyle/>
              <a:p>
                <a:pPr algn="ctr"/>
                <a:r>
                  <a:rPr lang="vi-VN" sz="1200" dirty="0">
                    <a:solidFill>
                      <a:schemeClr val="dk1"/>
                    </a:solidFill>
                    <a:latin typeface="+mn-lt"/>
                    <a:ea typeface="+mn-ea"/>
                    <a:cs typeface="+mn-cs"/>
                  </a:rPr>
                  <a:t>Thông gió</a:t>
                </a:r>
              </a:p>
            </p:txBody>
          </p:sp>
          <p:sp>
            <p:nvSpPr>
              <p:cNvPr id="14" name="TextBox 14"/>
              <p:cNvSpPr txBox="1"/>
              <p:nvPr/>
            </p:nvSpPr>
            <p:spPr>
              <a:xfrm>
                <a:off x="2535066" y="3397568"/>
                <a:ext cx="1483069" cy="264033"/>
              </a:xfrm>
              <a:prstGeom prst="rect">
                <a:avLst/>
              </a:prstGeom>
              <a:noFill/>
              <a:ln>
                <a:noFill/>
              </a:ln>
            </p:spPr>
            <p:txBody>
              <a:bodyPr wrap="none" lIns="0" tIns="0" rIns="0" bIns="0" anchor="t" anchorCtr="0">
                <a:spAutoFit/>
              </a:bodyPr>
              <a:lstStyle/>
              <a:p>
                <a:pPr algn="ctr"/>
                <a:r>
                  <a:rPr lang="vi-VN" sz="1350" dirty="0">
                    <a:solidFill>
                      <a:schemeClr val="dk1"/>
                    </a:solidFill>
                    <a:latin typeface="+mn-lt"/>
                    <a:ea typeface="+mn-ea"/>
                    <a:cs typeface="+mn-cs"/>
                  </a:rPr>
                  <a:t>Xả khí buồng đốt</a:t>
                </a:r>
              </a:p>
            </p:txBody>
          </p:sp>
        </p:grpSp>
        <p:grpSp>
          <p:nvGrpSpPr>
            <p:cNvPr id="20" name="Group 20"/>
            <p:cNvGrpSpPr/>
            <p:nvPr/>
          </p:nvGrpSpPr>
          <p:grpSpPr>
            <a:xfrm>
              <a:off x="4436638" y="2209800"/>
              <a:ext cx="1337524" cy="1451801"/>
              <a:chOff x="4436638" y="2209800"/>
              <a:chExt cx="1337524" cy="1451801"/>
            </a:xfrm>
          </p:grpSpPr>
          <p:sp>
            <p:nvSpPr>
              <p:cNvPr id="16" name="Ellipse 16"/>
              <p:cNvSpPr/>
              <p:nvPr/>
            </p:nvSpPr>
            <p:spPr>
              <a:xfrm>
                <a:off x="4591050" y="2209800"/>
                <a:ext cx="1028700" cy="1028700"/>
              </a:xfrm>
              <a:prstGeom prst="ellipse">
                <a:avLst/>
              </a:prstGeom>
              <a:solidFill>
                <a:srgbClr val="FFF0ED"/>
              </a:solidFill>
              <a:ln w="28575">
                <a:solidFill>
                  <a:schemeClr val="accent2"/>
                </a:solidFill>
              </a:ln>
            </p:spPr>
          </p:sp>
          <p:sp>
            <p:nvSpPr>
              <p:cNvPr id="17" name="TextBox 17"/>
              <p:cNvSpPr txBox="1"/>
              <p:nvPr/>
            </p:nvSpPr>
            <p:spPr>
              <a:xfrm>
                <a:off x="4616217" y="2491264"/>
                <a:ext cx="978365" cy="249364"/>
              </a:xfrm>
              <a:prstGeom prst="rect">
                <a:avLst/>
              </a:prstGeom>
              <a:noFill/>
              <a:ln>
                <a:noFill/>
              </a:ln>
            </p:spPr>
            <p:txBody>
              <a:bodyPr wrap="none" lIns="0" tIns="0" rIns="0" bIns="0" anchor="t" anchorCtr="0">
                <a:spAutoFit/>
              </a:bodyPr>
              <a:lstStyle/>
              <a:p>
                <a:pPr algn="ctr"/>
                <a:r>
                  <a:rPr lang="vi-VN" sz="1280" b="1" dirty="0">
                    <a:solidFill>
                      <a:schemeClr val="accent1"/>
                    </a:solidFill>
                    <a:latin typeface="+mn-lt"/>
                    <a:ea typeface="+mn-ea"/>
                    <a:cs typeface="+mn-cs"/>
                  </a:rPr>
                  <a:t>03 · IGNITE</a:t>
                </a:r>
              </a:p>
            </p:txBody>
          </p:sp>
          <p:sp>
            <p:nvSpPr>
              <p:cNvPr id="18" name="TextBox 18"/>
              <p:cNvSpPr txBox="1"/>
              <p:nvPr/>
            </p:nvSpPr>
            <p:spPr>
              <a:xfrm>
                <a:off x="4781746" y="2785110"/>
                <a:ext cx="647308" cy="234696"/>
              </a:xfrm>
              <a:prstGeom prst="rect">
                <a:avLst/>
              </a:prstGeom>
              <a:noFill/>
              <a:ln>
                <a:noFill/>
              </a:ln>
            </p:spPr>
            <p:txBody>
              <a:bodyPr wrap="none" lIns="0" tIns="0" rIns="0" bIns="0" anchor="t" anchorCtr="0">
                <a:spAutoFit/>
              </a:bodyPr>
              <a:lstStyle/>
              <a:p>
                <a:pPr algn="ctr"/>
                <a:r>
                  <a:rPr lang="vi-VN" sz="1200" dirty="0">
                    <a:solidFill>
                      <a:schemeClr val="accent2"/>
                    </a:solidFill>
                    <a:latin typeface="+mn-lt"/>
                    <a:ea typeface="+mn-ea"/>
                    <a:cs typeface="+mn-cs"/>
                  </a:rPr>
                  <a:t>Đánh lửa</a:t>
                </a:r>
              </a:p>
            </p:txBody>
          </p:sp>
          <p:sp>
            <p:nvSpPr>
              <p:cNvPr id="19" name="TextBox 19"/>
              <p:cNvSpPr txBox="1"/>
              <p:nvPr/>
            </p:nvSpPr>
            <p:spPr>
              <a:xfrm>
                <a:off x="4436638" y="3397568"/>
                <a:ext cx="1337524" cy="264033"/>
              </a:xfrm>
              <a:prstGeom prst="rect">
                <a:avLst/>
              </a:prstGeom>
              <a:noFill/>
              <a:ln>
                <a:noFill/>
              </a:ln>
            </p:spPr>
            <p:txBody>
              <a:bodyPr wrap="none" lIns="0" tIns="0" rIns="0" bIns="0" anchor="t" anchorCtr="0">
                <a:spAutoFit/>
              </a:bodyPr>
              <a:lstStyle/>
              <a:p>
                <a:pPr algn="ctr"/>
                <a:r>
                  <a:rPr lang="vi-VN" sz="1350" dirty="0">
                    <a:solidFill>
                      <a:schemeClr val="dk1"/>
                    </a:solidFill>
                    <a:latin typeface="+mn-lt"/>
                    <a:ea typeface="+mn-ea"/>
                    <a:cs typeface="+mn-cs"/>
                  </a:rPr>
                  <a:t>Xác nhận có lửa</a:t>
                </a:r>
              </a:p>
            </p:txBody>
          </p:sp>
        </p:grpSp>
        <p:grpSp>
          <p:nvGrpSpPr>
            <p:cNvPr id="25" name="Group 25"/>
            <p:cNvGrpSpPr/>
            <p:nvPr/>
          </p:nvGrpSpPr>
          <p:grpSpPr>
            <a:xfrm>
              <a:off x="5877599" y="2209800"/>
              <a:ext cx="2113202" cy="1451801"/>
              <a:chOff x="5877599" y="2209800"/>
              <a:chExt cx="2113202" cy="1451801"/>
            </a:xfrm>
          </p:grpSpPr>
          <p:sp>
            <p:nvSpPr>
              <p:cNvPr id="21" name="Ellipse 21"/>
              <p:cNvSpPr/>
              <p:nvPr/>
            </p:nvSpPr>
            <p:spPr>
              <a:xfrm>
                <a:off x="6419850" y="2209800"/>
                <a:ext cx="1028700" cy="1028700"/>
              </a:xfrm>
              <a:prstGeom prst="ellipse">
                <a:avLst/>
              </a:prstGeom>
              <a:solidFill>
                <a:schemeClr val="accent2"/>
              </a:solidFill>
              <a:ln>
                <a:noFill/>
              </a:ln>
            </p:spPr>
          </p:sp>
          <p:sp>
            <p:nvSpPr>
              <p:cNvPr id="22" name="TextBox 22"/>
              <p:cNvSpPr txBox="1"/>
              <p:nvPr/>
            </p:nvSpPr>
            <p:spPr>
              <a:xfrm>
                <a:off x="6368549" y="2491264"/>
                <a:ext cx="1131302" cy="249364"/>
              </a:xfrm>
              <a:prstGeom prst="rect">
                <a:avLst/>
              </a:prstGeom>
              <a:noFill/>
              <a:ln>
                <a:noFill/>
              </a:ln>
            </p:spPr>
            <p:txBody>
              <a:bodyPr wrap="none" lIns="0" tIns="0" rIns="0" bIns="0" anchor="t" anchorCtr="0">
                <a:spAutoFit/>
              </a:bodyPr>
              <a:lstStyle/>
              <a:p>
                <a:pPr algn="ctr"/>
                <a:r>
                  <a:rPr lang="vi-VN" sz="1280" b="1" dirty="0">
                    <a:solidFill>
                      <a:srgbClr val="FFFFFF"/>
                    </a:solidFill>
                    <a:latin typeface="+mn-lt"/>
                    <a:ea typeface="+mn-ea"/>
                    <a:cs typeface="+mn-cs"/>
                  </a:rPr>
                  <a:t>04 · HEATING</a:t>
                </a:r>
              </a:p>
            </p:txBody>
          </p:sp>
          <p:sp>
            <p:nvSpPr>
              <p:cNvPr id="23" name="TextBox 23"/>
              <p:cNvSpPr txBox="1"/>
              <p:nvPr/>
            </p:nvSpPr>
            <p:spPr>
              <a:xfrm>
                <a:off x="6586461" y="2785110"/>
                <a:ext cx="695477" cy="234696"/>
              </a:xfrm>
              <a:prstGeom prst="rect">
                <a:avLst/>
              </a:prstGeom>
              <a:noFill/>
              <a:ln>
                <a:noFill/>
              </a:ln>
            </p:spPr>
            <p:txBody>
              <a:bodyPr wrap="none" lIns="0" tIns="0" rIns="0" bIns="0" anchor="t" anchorCtr="0">
                <a:spAutoFit/>
              </a:bodyPr>
              <a:lstStyle/>
              <a:p>
                <a:pPr algn="ctr"/>
                <a:r>
                  <a:rPr lang="vi-VN" sz="1200" dirty="0">
                    <a:solidFill>
                      <a:srgbClr val="FFFFFF"/>
                    </a:solidFill>
                    <a:latin typeface="+mn-lt"/>
                    <a:ea typeface="+mn-ea"/>
                    <a:cs typeface="+mn-cs"/>
                  </a:rPr>
                  <a:t>Gia nhiệt</a:t>
                </a:r>
              </a:p>
            </p:txBody>
          </p:sp>
          <p:sp>
            <p:nvSpPr>
              <p:cNvPr id="24" name="TextBox 24"/>
              <p:cNvSpPr txBox="1"/>
              <p:nvPr/>
            </p:nvSpPr>
            <p:spPr>
              <a:xfrm>
                <a:off x="5877599" y="3397568"/>
                <a:ext cx="2113202" cy="264033"/>
              </a:xfrm>
              <a:prstGeom prst="rect">
                <a:avLst/>
              </a:prstGeom>
              <a:noFill/>
              <a:ln>
                <a:noFill/>
              </a:ln>
            </p:spPr>
            <p:txBody>
              <a:bodyPr wrap="none" lIns="0" tIns="0" rIns="0" bIns="0" anchor="t" anchorCtr="0">
                <a:spAutoFit/>
              </a:bodyPr>
              <a:lstStyle/>
              <a:p>
                <a:pPr algn="ctr"/>
                <a:r>
                  <a:rPr lang="vi-VN" sz="1350" dirty="0">
                    <a:solidFill>
                      <a:schemeClr val="dk1"/>
                    </a:solidFill>
                    <a:latin typeface="+mn-lt"/>
                    <a:ea typeface="+mn-ea"/>
                    <a:cs typeface="+mn-cs"/>
                  </a:rPr>
                  <a:t>Gas theo sai lệch và RoR</a:t>
                </a:r>
              </a:p>
            </p:txBody>
          </p:sp>
        </p:grpSp>
        <p:grpSp>
          <p:nvGrpSpPr>
            <p:cNvPr id="30" name="Group 30"/>
            <p:cNvGrpSpPr/>
            <p:nvPr/>
          </p:nvGrpSpPr>
          <p:grpSpPr>
            <a:xfrm>
              <a:off x="7948921" y="2209800"/>
              <a:ext cx="1628158" cy="1451801"/>
              <a:chOff x="7948921" y="2209800"/>
              <a:chExt cx="1628158" cy="1451801"/>
            </a:xfrm>
          </p:grpSpPr>
          <p:sp>
            <p:nvSpPr>
              <p:cNvPr id="26" name="Ellipse 26"/>
              <p:cNvSpPr/>
              <p:nvPr/>
            </p:nvSpPr>
            <p:spPr>
              <a:xfrm>
                <a:off x="8248650" y="2209800"/>
                <a:ext cx="1028700" cy="1028700"/>
              </a:xfrm>
              <a:prstGeom prst="ellipse">
                <a:avLst/>
              </a:prstGeom>
              <a:solidFill>
                <a:schemeClr val="accent3"/>
              </a:solidFill>
              <a:ln>
                <a:noFill/>
              </a:ln>
            </p:spPr>
          </p:sp>
          <p:sp>
            <p:nvSpPr>
              <p:cNvPr id="27" name="TextBox 27"/>
              <p:cNvSpPr txBox="1"/>
              <p:nvPr/>
            </p:nvSpPr>
            <p:spPr>
              <a:xfrm>
                <a:off x="8178232" y="2491264"/>
                <a:ext cx="1169536" cy="249364"/>
              </a:xfrm>
              <a:prstGeom prst="rect">
                <a:avLst/>
              </a:prstGeom>
              <a:noFill/>
              <a:ln>
                <a:noFill/>
              </a:ln>
            </p:spPr>
            <p:txBody>
              <a:bodyPr wrap="none" lIns="0" tIns="0" rIns="0" bIns="0" anchor="t" anchorCtr="0">
                <a:spAutoFit/>
              </a:bodyPr>
              <a:lstStyle/>
              <a:p>
                <a:pPr algn="ctr"/>
                <a:r>
                  <a:rPr lang="vi-VN" sz="1280" b="1" dirty="0">
                    <a:solidFill>
                      <a:srgbClr val="FFFFFF"/>
                    </a:solidFill>
                    <a:latin typeface="+mn-lt"/>
                    <a:ea typeface="+mn-ea"/>
                    <a:cs typeface="+mn-cs"/>
                  </a:rPr>
                  <a:t>05 · HOLDING</a:t>
                </a:r>
              </a:p>
            </p:txBody>
          </p:sp>
          <p:sp>
            <p:nvSpPr>
              <p:cNvPr id="28" name="TextBox 28"/>
              <p:cNvSpPr txBox="1"/>
              <p:nvPr/>
            </p:nvSpPr>
            <p:spPr>
              <a:xfrm>
                <a:off x="8415261" y="2785110"/>
                <a:ext cx="695477" cy="234696"/>
              </a:xfrm>
              <a:prstGeom prst="rect">
                <a:avLst/>
              </a:prstGeom>
              <a:noFill/>
              <a:ln>
                <a:noFill/>
              </a:ln>
            </p:spPr>
            <p:txBody>
              <a:bodyPr wrap="none" lIns="0" tIns="0" rIns="0" bIns="0" anchor="t" anchorCtr="0">
                <a:spAutoFit/>
              </a:bodyPr>
              <a:lstStyle/>
              <a:p>
                <a:pPr algn="ctr"/>
                <a:r>
                  <a:rPr lang="vi-VN" sz="1200" dirty="0">
                    <a:solidFill>
                      <a:srgbClr val="FFFFFF"/>
                    </a:solidFill>
                    <a:latin typeface="+mn-lt"/>
                    <a:ea typeface="+mn-ea"/>
                    <a:cs typeface="+mn-cs"/>
                  </a:rPr>
                  <a:t>Giữ nhiệt</a:t>
                </a:r>
              </a:p>
            </p:txBody>
          </p:sp>
          <p:sp>
            <p:nvSpPr>
              <p:cNvPr id="29" name="TextBox 29"/>
              <p:cNvSpPr txBox="1"/>
              <p:nvPr/>
            </p:nvSpPr>
            <p:spPr>
              <a:xfrm>
                <a:off x="7948921" y="3397568"/>
                <a:ext cx="1628158" cy="264033"/>
              </a:xfrm>
              <a:prstGeom prst="rect">
                <a:avLst/>
              </a:prstGeom>
              <a:noFill/>
              <a:ln>
                <a:noFill/>
              </a:ln>
            </p:spPr>
            <p:txBody>
              <a:bodyPr wrap="none" lIns="0" tIns="0" rIns="0" bIns="0" anchor="t" anchorCtr="0">
                <a:spAutoFit/>
              </a:bodyPr>
              <a:lstStyle/>
              <a:p>
                <a:pPr algn="ctr"/>
                <a:r>
                  <a:rPr lang="vi-VN" sz="1350" dirty="0">
                    <a:solidFill>
                      <a:schemeClr val="dk1"/>
                    </a:solidFill>
                    <a:latin typeface="+mn-lt"/>
                    <a:ea typeface="+mn-ea"/>
                    <a:cs typeface="+mn-cs"/>
                  </a:rPr>
                  <a:t>Ghìm tại nhiệt nạp</a:t>
                </a:r>
              </a:p>
            </p:txBody>
          </p:sp>
        </p:grpSp>
        <p:grpSp>
          <p:nvGrpSpPr>
            <p:cNvPr id="35" name="Group 35"/>
            <p:cNvGrpSpPr/>
            <p:nvPr/>
          </p:nvGrpSpPr>
          <p:grpSpPr>
            <a:xfrm>
              <a:off x="9756324" y="2209800"/>
              <a:ext cx="1670952" cy="1451801"/>
              <a:chOff x="9756324" y="2209800"/>
              <a:chExt cx="1670952" cy="1451801"/>
            </a:xfrm>
          </p:grpSpPr>
          <p:sp>
            <p:nvSpPr>
              <p:cNvPr id="31" name="Ellipse 31"/>
              <p:cNvSpPr/>
              <p:nvPr/>
            </p:nvSpPr>
            <p:spPr>
              <a:xfrm>
                <a:off x="10077450" y="2209800"/>
                <a:ext cx="1028700" cy="1028700"/>
              </a:xfrm>
              <a:prstGeom prst="ellipse">
                <a:avLst/>
              </a:prstGeom>
              <a:solidFill>
                <a:schemeClr val="accent1"/>
              </a:solidFill>
              <a:ln>
                <a:noFill/>
              </a:ln>
            </p:spPr>
          </p:sp>
          <p:sp>
            <p:nvSpPr>
              <p:cNvPr id="32" name="TextBox 32"/>
              <p:cNvSpPr txBox="1"/>
              <p:nvPr/>
            </p:nvSpPr>
            <p:spPr>
              <a:xfrm>
                <a:off x="9967387" y="2499360"/>
                <a:ext cx="1248827" cy="234696"/>
              </a:xfrm>
              <a:prstGeom prst="rect">
                <a:avLst/>
              </a:prstGeom>
              <a:noFill/>
              <a:ln>
                <a:noFill/>
              </a:ln>
            </p:spPr>
            <p:txBody>
              <a:bodyPr wrap="none" lIns="0" tIns="0" rIns="0" bIns="0" anchor="t" anchorCtr="0">
                <a:spAutoFit/>
              </a:bodyPr>
              <a:lstStyle/>
              <a:p>
                <a:pPr algn="ctr"/>
                <a:r>
                  <a:rPr lang="vi-VN" sz="1200" b="1" dirty="0">
                    <a:solidFill>
                      <a:srgbClr val="FFFFFF"/>
                    </a:solidFill>
                    <a:latin typeface="+mn-lt"/>
                    <a:ea typeface="+mn-ea"/>
                    <a:cs typeface="+mn-cs"/>
                  </a:rPr>
                  <a:t>06 · PRECISION</a:t>
                </a:r>
              </a:p>
            </p:txBody>
          </p:sp>
          <p:sp>
            <p:nvSpPr>
              <p:cNvPr id="33" name="TextBox 33"/>
              <p:cNvSpPr txBox="1"/>
              <p:nvPr/>
            </p:nvSpPr>
            <p:spPr>
              <a:xfrm>
                <a:off x="10179304" y="2785110"/>
                <a:ext cx="824992" cy="234696"/>
              </a:xfrm>
              <a:prstGeom prst="rect">
                <a:avLst/>
              </a:prstGeom>
              <a:noFill/>
              <a:ln>
                <a:noFill/>
              </a:ln>
            </p:spPr>
            <p:txBody>
              <a:bodyPr wrap="none" lIns="0" tIns="0" rIns="0" bIns="0" anchor="t" anchorCtr="0">
                <a:spAutoFit/>
              </a:bodyPr>
              <a:lstStyle/>
              <a:p>
                <a:pPr algn="ctr"/>
                <a:r>
                  <a:rPr lang="vi-VN" sz="1200" dirty="0">
                    <a:solidFill>
                      <a:srgbClr val="FFFFFF"/>
                    </a:solidFill>
                    <a:latin typeface="+mn-lt"/>
                    <a:ea typeface="+mn-ea"/>
                    <a:cs typeface="+mn-cs"/>
                  </a:rPr>
                  <a:t>Tinh chỉnh</a:t>
                </a:r>
              </a:p>
            </p:txBody>
          </p:sp>
          <p:sp>
            <p:nvSpPr>
              <p:cNvPr id="34" name="TextBox 34"/>
              <p:cNvSpPr txBox="1"/>
              <p:nvPr/>
            </p:nvSpPr>
            <p:spPr>
              <a:xfrm>
                <a:off x="9756324" y="3397568"/>
                <a:ext cx="1670952" cy="264033"/>
              </a:xfrm>
              <a:prstGeom prst="rect">
                <a:avLst/>
              </a:prstGeom>
              <a:noFill/>
              <a:ln>
                <a:noFill/>
              </a:ln>
            </p:spPr>
            <p:txBody>
              <a:bodyPr wrap="none" lIns="0" tIns="0" rIns="0" bIns="0" anchor="t" anchorCtr="0">
                <a:spAutoFit/>
              </a:bodyPr>
              <a:lstStyle/>
              <a:p>
                <a:pPr algn="ctr"/>
                <a:r>
                  <a:rPr lang="vi-VN" sz="1350" dirty="0">
                    <a:solidFill>
                      <a:schemeClr val="dk1"/>
                    </a:solidFill>
                    <a:latin typeface="+mn-lt"/>
                    <a:ea typeface="+mn-ea"/>
                    <a:cs typeface="+mn-cs"/>
                  </a:rPr>
                  <a:t>Điều khiển PI, ±2°C</a:t>
                </a:r>
              </a:p>
            </p:txBody>
          </p:sp>
        </p:grpSp>
      </p:grpSp>
      <p:grpSp>
        <p:nvGrpSpPr>
          <p:cNvPr id="40" name="Group 40"/>
          <p:cNvGrpSpPr/>
          <p:nvPr/>
        </p:nvGrpSpPr>
        <p:grpSpPr>
          <a:xfrm>
            <a:off x="1524000" y="4333875"/>
            <a:ext cx="9144000" cy="1047750"/>
            <a:chOff x="1524000" y="4333875"/>
            <a:chExt cx="9144000" cy="1047750"/>
          </a:xfrm>
        </p:grpSpPr>
        <p:sp>
          <p:nvSpPr>
            <p:cNvPr id="37" name="Rectangle 37"/>
            <p:cNvSpPr/>
            <p:nvPr/>
          </p:nvSpPr>
          <p:spPr>
            <a:xfrm>
              <a:off x="1524000" y="4333875"/>
              <a:ext cx="9144000" cy="1047750"/>
            </a:xfrm>
            <a:prstGeom prst="roundRect">
              <a:avLst>
                <a:gd name="adj" fmla="val 12727"/>
              </a:avLst>
            </a:prstGeom>
            <a:solidFill>
              <a:schemeClr val="lt2"/>
            </a:solidFill>
            <a:ln>
              <a:noFill/>
            </a:ln>
          </p:spPr>
        </p:sp>
        <p:sp>
          <p:nvSpPr>
            <p:cNvPr id="38" name="TextBox 38"/>
            <p:cNvSpPr txBox="1"/>
            <p:nvPr/>
          </p:nvSpPr>
          <p:spPr>
            <a:xfrm>
              <a:off x="1859280" y="4600575"/>
              <a:ext cx="1938252" cy="293370"/>
            </a:xfrm>
            <a:prstGeom prst="rect">
              <a:avLst/>
            </a:prstGeom>
            <a:noFill/>
            <a:ln>
              <a:noFill/>
            </a:ln>
          </p:spPr>
          <p:txBody>
            <a:bodyPr wrap="none" lIns="0" tIns="0" rIns="0" bIns="0" anchor="t" anchorCtr="0">
              <a:spAutoFit/>
            </a:bodyPr>
            <a:lstStyle/>
            <a:p>
              <a:pPr algn="l"/>
              <a:r>
                <a:rPr lang="vi-VN" sz="1500" b="1" dirty="0">
                  <a:solidFill>
                    <a:schemeClr val="accent2"/>
                  </a:solidFill>
                  <a:latin typeface="+mn-lt"/>
                  <a:ea typeface="+mn-ea"/>
                  <a:cs typeface="+mn-cs"/>
                </a:rPr>
                <a:t>COOLING và COAST</a:t>
              </a:r>
            </a:p>
          </p:txBody>
        </p:sp>
        <p:sp>
          <p:nvSpPr>
            <p:cNvPr id="39" name="TextBox 39"/>
            <p:cNvSpPr txBox="1"/>
            <p:nvPr/>
          </p:nvSpPr>
          <p:spPr>
            <a:xfrm>
              <a:off x="1858773" y="4923182"/>
              <a:ext cx="6402626" cy="312879"/>
            </a:xfrm>
            <a:prstGeom prst="rect">
              <a:avLst/>
            </a:prstGeom>
            <a:noFill/>
            <a:ln>
              <a:noFill/>
            </a:ln>
          </p:spPr>
          <p:txBody>
            <a:bodyPr wrap="none" lIns="0" tIns="0" rIns="0" bIns="0" anchor="t" anchorCtr="0">
              <a:spAutoFit/>
            </a:bodyPr>
            <a:lstStyle/>
            <a:p>
              <a:pPr algn="l"/>
              <a:r>
                <a:rPr lang="vi-VN" sz="1600" dirty="0">
                  <a:solidFill>
                    <a:schemeClr val="dk1"/>
                  </a:solidFill>
                  <a:latin typeface="+mn-lt"/>
                  <a:ea typeface="+mn-ea"/>
                  <a:cs typeface="+mn-cs"/>
                </a:rPr>
                <a:t>xử lý trống còn dư nhiệt khi đổi từ mẻ rang đậm sang mẻ nhạt.</a:t>
              </a:r>
            </a:p>
          </p:txBody>
        </p:sp>
      </p:grpSp>
      <p:sp>
        <p:nvSpPr>
          <p:cNvPr id="41" name="TextBox 41"/>
          <p:cNvSpPr txBox="1"/>
          <p:nvPr/>
        </p:nvSpPr>
        <p:spPr>
          <a:xfrm>
            <a:off x="603885" y="6317456"/>
            <a:ext cx="1700900" cy="220028"/>
          </a:xfrm>
          <a:prstGeom prst="rect">
            <a:avLst/>
          </a:prstGeom>
          <a:noFill/>
          <a:ln>
            <a:noFill/>
          </a:ln>
        </p:spPr>
        <p:txBody>
          <a:bodyPr wrap="none" lIns="0" tIns="0" rIns="0" bIns="0" anchor="t" anchorCtr="0">
            <a:spAutoFit/>
          </a:bodyPr>
          <a:lstStyle/>
          <a:p>
            <a:pPr algn="l"/>
            <a:r>
              <a:rPr lang="vi-VN" sz="1120" b="1" dirty="0">
                <a:solidFill>
                  <a:schemeClr val="accent1"/>
                </a:solidFill>
                <a:latin typeface="+mn-lt"/>
                <a:ea typeface="+mn-ea"/>
                <a:cs typeface="+mn-cs"/>
              </a:rPr>
              <a:t>O TESLA · OTL-06ALS</a:t>
            </a:r>
          </a:p>
        </p:txBody>
      </p:sp>
      <p:sp>
        <p:nvSpPr>
          <p:cNvPr id="42" name="TextBox 42"/>
          <p:cNvSpPr txBox="1"/>
          <p:nvPr/>
        </p:nvSpPr>
        <p:spPr>
          <a:xfrm>
            <a:off x="11071591" y="6317456"/>
            <a:ext cx="516524" cy="220028"/>
          </a:xfrm>
          <a:prstGeom prst="rect">
            <a:avLst/>
          </a:prstGeom>
          <a:noFill/>
          <a:ln>
            <a:noFill/>
          </a:ln>
        </p:spPr>
        <p:txBody>
          <a:bodyPr wrap="none" lIns="0" tIns="0" rIns="0" bIns="0" anchor="t" anchorCtr="0">
            <a:spAutoFit/>
          </a:bodyPr>
          <a:lstStyle/>
          <a:p>
            <a:pPr algn="r"/>
            <a:r>
              <a:rPr lang="vi-VN" sz="1120" dirty="0">
                <a:solidFill>
                  <a:schemeClr val="dk1"/>
                </a:solidFill>
                <a:latin typeface="+mn-lt"/>
                <a:ea typeface="+mn-ea"/>
                <a:cs typeface="+mn-cs"/>
              </a:rPr>
              <a:t>05 / 11</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122" y="501968"/>
            <a:ext cx="3425669" cy="814577"/>
            <a:chOff x="595122" y="501968"/>
            <a:chExt cx="3425669" cy="814577"/>
          </a:xfrm>
        </p:grpSpPr>
        <p:sp>
          <p:nvSpPr>
            <p:cNvPr id="2" name="TextBox 2"/>
            <p:cNvSpPr txBox="1"/>
            <p:nvPr/>
          </p:nvSpPr>
          <p:spPr>
            <a:xfrm>
              <a:off x="602742" y="501968"/>
              <a:ext cx="2318840" cy="264033"/>
            </a:xfrm>
            <a:prstGeom prst="rect">
              <a:avLst/>
            </a:prstGeom>
            <a:noFill/>
            <a:ln>
              <a:noFill/>
            </a:ln>
          </p:spPr>
          <p:txBody>
            <a:bodyPr wrap="none" lIns="0" tIns="0" rIns="0" bIns="0" anchor="t" anchorCtr="0">
              <a:spAutoFit/>
            </a:bodyPr>
            <a:lstStyle/>
            <a:p>
              <a:pPr algn="l"/>
              <a:r>
                <a:rPr lang="vi-VN" sz="1350" b="1" spc="98" dirty="0">
                  <a:solidFill>
                    <a:schemeClr val="accent2"/>
                  </a:solidFill>
                  <a:latin typeface="+mn-lt"/>
                  <a:ea typeface="+mn-ea"/>
                  <a:cs typeface="+mn-cs"/>
                </a:rPr>
                <a:t>CHIẾN LƯỢC ĐIỀU KHIỂN</a:t>
              </a:r>
            </a:p>
          </p:txBody>
        </p:sp>
        <p:sp>
          <p:nvSpPr>
            <p:cNvPr id="3" name="TextBox 3"/>
            <p:cNvSpPr txBox="1"/>
            <p:nvPr/>
          </p:nvSpPr>
          <p:spPr>
            <a:xfrm>
              <a:off x="595122" y="759142"/>
              <a:ext cx="3425669" cy="557403"/>
            </a:xfrm>
            <a:prstGeom prst="rect">
              <a:avLst/>
            </a:prstGeom>
            <a:noFill/>
            <a:ln>
              <a:noFill/>
            </a:ln>
          </p:spPr>
          <p:txBody>
            <a:bodyPr wrap="none" lIns="0" tIns="0" rIns="0" bIns="0" anchor="t" anchorCtr="0">
              <a:spAutoFit/>
            </a:bodyPr>
            <a:lstStyle/>
            <a:p>
              <a:pPr algn="l"/>
              <a:r>
                <a:rPr lang="vi-VN" sz="2850" b="1" dirty="0">
                  <a:solidFill>
                    <a:schemeClr val="accent1"/>
                  </a:solidFill>
                  <a:latin typeface="+mn-lt"/>
                  <a:ea typeface="+mn-ea"/>
                  <a:cs typeface="+mn-cs"/>
                </a:rPr>
                <a:t>Hai pha điều khiển</a:t>
              </a:r>
            </a:p>
          </p:txBody>
        </p:sp>
      </p:grpSp>
      <p:grpSp>
        <p:nvGrpSpPr>
          <p:cNvPr id="9" name="Group 9"/>
          <p:cNvGrpSpPr/>
          <p:nvPr/>
        </p:nvGrpSpPr>
        <p:grpSpPr>
          <a:xfrm>
            <a:off x="609600" y="1733550"/>
            <a:ext cx="10972800" cy="555498"/>
            <a:chOff x="609600" y="1733550"/>
            <a:chExt cx="10972800" cy="555498"/>
          </a:xfrm>
        </p:grpSpPr>
        <p:sp>
          <p:nvSpPr>
            <p:cNvPr id="5" name="Rectangle 5"/>
            <p:cNvSpPr/>
            <p:nvPr/>
          </p:nvSpPr>
          <p:spPr>
            <a:xfrm>
              <a:off x="609600" y="1733550"/>
              <a:ext cx="6581775" cy="514350"/>
            </a:xfrm>
            <a:prstGeom prst="rect">
              <a:avLst/>
            </a:prstGeom>
            <a:solidFill>
              <a:schemeClr val="accent2"/>
            </a:solidFill>
            <a:ln>
              <a:noFill/>
            </a:ln>
          </p:spPr>
        </p:sp>
        <p:sp>
          <p:nvSpPr>
            <p:cNvPr id="6" name="Rectangle 6"/>
            <p:cNvSpPr/>
            <p:nvPr/>
          </p:nvSpPr>
          <p:spPr>
            <a:xfrm>
              <a:off x="7191375" y="1733550"/>
              <a:ext cx="4391025" cy="514350"/>
            </a:xfrm>
            <a:prstGeom prst="rect">
              <a:avLst/>
            </a:prstGeom>
            <a:solidFill>
              <a:schemeClr val="accent3"/>
            </a:solidFill>
            <a:ln>
              <a:noFill/>
            </a:ln>
          </p:spPr>
        </p:sp>
        <p:sp>
          <p:nvSpPr>
            <p:cNvPr id="7" name="TextBox 7"/>
            <p:cNvSpPr txBox="1"/>
            <p:nvPr/>
          </p:nvSpPr>
          <p:spPr>
            <a:xfrm>
              <a:off x="903732" y="1878330"/>
              <a:ext cx="570485" cy="410718"/>
            </a:xfrm>
            <a:prstGeom prst="rect">
              <a:avLst/>
            </a:prstGeom>
            <a:noFill/>
            <a:ln>
              <a:noFill/>
            </a:ln>
          </p:spPr>
          <p:txBody>
            <a:bodyPr wrap="none" lIns="0" tIns="0" rIns="0" bIns="0" anchor="t" anchorCtr="0">
              <a:spAutoFit/>
            </a:bodyPr>
            <a:lstStyle/>
            <a:p>
              <a:pPr algn="l"/>
              <a:r>
                <a:rPr lang="vi-VN" sz="2100" b="1" dirty="0">
                  <a:solidFill>
                    <a:srgbClr val="FFFFFF"/>
                  </a:solidFill>
                  <a:latin typeface="+mn-lt"/>
                  <a:ea typeface="+mn-ea"/>
                  <a:cs typeface="+mn-cs"/>
                </a:rPr>
                <a:t>60%</a:t>
              </a:r>
            </a:p>
          </p:txBody>
        </p:sp>
        <p:sp>
          <p:nvSpPr>
            <p:cNvPr id="8" name="TextBox 8"/>
            <p:cNvSpPr txBox="1"/>
            <p:nvPr/>
          </p:nvSpPr>
          <p:spPr>
            <a:xfrm>
              <a:off x="10717783" y="1878330"/>
              <a:ext cx="570485" cy="410718"/>
            </a:xfrm>
            <a:prstGeom prst="rect">
              <a:avLst/>
            </a:prstGeom>
            <a:noFill/>
            <a:ln>
              <a:noFill/>
            </a:ln>
          </p:spPr>
          <p:txBody>
            <a:bodyPr wrap="none" lIns="0" tIns="0" rIns="0" bIns="0" anchor="t" anchorCtr="0">
              <a:spAutoFit/>
            </a:bodyPr>
            <a:lstStyle/>
            <a:p>
              <a:pPr algn="r"/>
              <a:r>
                <a:rPr lang="vi-VN" sz="2100" b="1" dirty="0">
                  <a:solidFill>
                    <a:srgbClr val="FFFFFF"/>
                  </a:solidFill>
                  <a:latin typeface="+mn-lt"/>
                  <a:ea typeface="+mn-ea"/>
                  <a:cs typeface="+mn-cs"/>
                </a:rPr>
                <a:t>40%</a:t>
              </a:r>
            </a:p>
          </p:txBody>
        </p:sp>
      </p:grpSp>
      <p:grpSp>
        <p:nvGrpSpPr>
          <p:cNvPr id="15" name="Group 15"/>
          <p:cNvGrpSpPr/>
          <p:nvPr/>
        </p:nvGrpSpPr>
        <p:grpSpPr>
          <a:xfrm>
            <a:off x="601218" y="2905125"/>
            <a:ext cx="4732782" cy="1944814"/>
            <a:chOff x="601218" y="2905125"/>
            <a:chExt cx="4732782" cy="1944814"/>
          </a:xfrm>
        </p:grpSpPr>
        <p:sp>
          <p:nvSpPr>
            <p:cNvPr id="10" name="TextBox 10"/>
            <p:cNvSpPr txBox="1"/>
            <p:nvPr/>
          </p:nvSpPr>
          <p:spPr>
            <a:xfrm>
              <a:off x="601980" y="2905125"/>
              <a:ext cx="1930679" cy="293370"/>
            </a:xfrm>
            <a:prstGeom prst="rect">
              <a:avLst/>
            </a:prstGeom>
            <a:noFill/>
            <a:ln>
              <a:noFill/>
            </a:ln>
          </p:spPr>
          <p:txBody>
            <a:bodyPr wrap="none" lIns="0" tIns="0" rIns="0" bIns="0" anchor="t" anchorCtr="0">
              <a:spAutoFit/>
            </a:bodyPr>
            <a:lstStyle/>
            <a:p>
              <a:pPr algn="l"/>
              <a:r>
                <a:rPr lang="vi-VN" sz="1500" b="1" dirty="0">
                  <a:solidFill>
                    <a:schemeClr val="accent2"/>
                  </a:solidFill>
                  <a:latin typeface="+mn-lt"/>
                  <a:ea typeface="+mn-ea"/>
                  <a:cs typeface="+mn-cs"/>
                </a:rPr>
                <a:t>RAMP · 3 PHÚT ĐẦU</a:t>
              </a:r>
            </a:p>
          </p:txBody>
        </p:sp>
        <p:sp>
          <p:nvSpPr>
            <p:cNvPr id="11" name="Line 11"/>
            <p:cNvSpPr/>
            <p:nvPr/>
          </p:nvSpPr>
          <p:spPr>
            <a:xfrm>
              <a:off x="609600" y="3257550"/>
              <a:ext cx="4724400" cy="9525"/>
            </a:xfrm>
            <a:custGeom>
              <a:avLst/>
              <a:gdLst/>
              <a:ahLst/>
              <a:cxnLst/>
              <a:rect l="l" t="t" r="r" b="b"/>
              <a:pathLst>
                <a:path w="4724400" h="9525">
                  <a:moveTo>
                    <a:pt x="0" y="0"/>
                  </a:moveTo>
                  <a:lnTo>
                    <a:pt x="4724400" y="0"/>
                  </a:lnTo>
                </a:path>
              </a:pathLst>
            </a:custGeom>
            <a:noFill/>
            <a:ln w="28575">
              <a:solidFill>
                <a:schemeClr val="accent2"/>
              </a:solidFill>
            </a:ln>
          </p:spPr>
        </p:sp>
        <p:sp>
          <p:nvSpPr>
            <p:cNvPr id="12" name="TextBox 12"/>
            <p:cNvSpPr txBox="1"/>
            <p:nvPr/>
          </p:nvSpPr>
          <p:spPr>
            <a:xfrm>
              <a:off x="601218" y="3574732"/>
              <a:ext cx="2701320" cy="322707"/>
            </a:xfrm>
            <a:prstGeom prst="rect">
              <a:avLst/>
            </a:prstGeom>
            <a:noFill/>
            <a:ln>
              <a:noFill/>
            </a:ln>
          </p:spPr>
          <p:txBody>
            <a:bodyPr wrap="none" lIns="0" tIns="0" rIns="0" bIns="0" anchor="t" anchorCtr="0">
              <a:spAutoFit/>
            </a:bodyPr>
            <a:lstStyle/>
            <a:p>
              <a:pPr algn="l"/>
              <a:r>
                <a:rPr lang="vi-VN" sz="1650" dirty="0">
                  <a:solidFill>
                    <a:schemeClr val="accent1"/>
                  </a:solidFill>
                  <a:latin typeface="+mn-lt"/>
                  <a:ea typeface="+mn-ea"/>
                  <a:cs typeface="+mn-cs"/>
                </a:rPr>
                <a:t>— Ưu tiên tốc độ gia nhiệt</a:t>
              </a:r>
            </a:p>
          </p:txBody>
        </p:sp>
        <p:sp>
          <p:nvSpPr>
            <p:cNvPr id="13" name="TextBox 13"/>
            <p:cNvSpPr txBox="1"/>
            <p:nvPr/>
          </p:nvSpPr>
          <p:spPr>
            <a:xfrm>
              <a:off x="601218" y="4050982"/>
              <a:ext cx="3723164" cy="322707"/>
            </a:xfrm>
            <a:prstGeom prst="rect">
              <a:avLst/>
            </a:prstGeom>
            <a:noFill/>
            <a:ln>
              <a:noFill/>
            </a:ln>
          </p:spPr>
          <p:txBody>
            <a:bodyPr wrap="none" lIns="0" tIns="0" rIns="0" bIns="0" anchor="t" anchorCtr="0">
              <a:spAutoFit/>
            </a:bodyPr>
            <a:lstStyle/>
            <a:p>
              <a:pPr algn="l"/>
              <a:r>
                <a:rPr lang="vi-VN" sz="1650" dirty="0">
                  <a:solidFill>
                    <a:schemeClr val="accent1"/>
                  </a:solidFill>
                  <a:latin typeface="+mn-lt"/>
                  <a:ea typeface="+mn-ea"/>
                  <a:cs typeface="+mn-cs"/>
                </a:rPr>
                <a:t>— Damper thấp khi còn xa nhiệt nạp</a:t>
              </a:r>
            </a:p>
          </p:txBody>
        </p:sp>
        <p:sp>
          <p:nvSpPr>
            <p:cNvPr id="14" name="TextBox 14"/>
            <p:cNvSpPr txBox="1"/>
            <p:nvPr/>
          </p:nvSpPr>
          <p:spPr>
            <a:xfrm>
              <a:off x="601218" y="4527232"/>
              <a:ext cx="2768208" cy="322707"/>
            </a:xfrm>
            <a:prstGeom prst="rect">
              <a:avLst/>
            </a:prstGeom>
            <a:noFill/>
            <a:ln>
              <a:noFill/>
            </a:ln>
          </p:spPr>
          <p:txBody>
            <a:bodyPr wrap="none" lIns="0" tIns="0" rIns="0" bIns="0" anchor="t" anchorCtr="0">
              <a:spAutoFit/>
            </a:bodyPr>
            <a:lstStyle/>
            <a:p>
              <a:pPr algn="l"/>
              <a:r>
                <a:rPr lang="vi-VN" sz="1650" dirty="0">
                  <a:solidFill>
                    <a:schemeClr val="accent1"/>
                  </a:solidFill>
                  <a:latin typeface="+mn-lt"/>
                  <a:ea typeface="+mn-ea"/>
                  <a:cs typeface="+mn-cs"/>
                </a:rPr>
                <a:t>— Chấp nhận sai lệch ≤ 5°C</a:t>
              </a:r>
            </a:p>
          </p:txBody>
        </p:sp>
      </p:grpSp>
      <p:grpSp>
        <p:nvGrpSpPr>
          <p:cNvPr id="21" name="Group 21"/>
          <p:cNvGrpSpPr/>
          <p:nvPr/>
        </p:nvGrpSpPr>
        <p:grpSpPr>
          <a:xfrm>
            <a:off x="6468618" y="2905125"/>
            <a:ext cx="5113782" cy="1944814"/>
            <a:chOff x="6468618" y="2905125"/>
            <a:chExt cx="5113782" cy="1944814"/>
          </a:xfrm>
        </p:grpSpPr>
        <p:sp>
          <p:nvSpPr>
            <p:cNvPr id="16" name="TextBox 16"/>
            <p:cNvSpPr txBox="1"/>
            <p:nvPr/>
          </p:nvSpPr>
          <p:spPr>
            <a:xfrm>
              <a:off x="6469380" y="2905125"/>
              <a:ext cx="2501951" cy="293370"/>
            </a:xfrm>
            <a:prstGeom prst="rect">
              <a:avLst/>
            </a:prstGeom>
            <a:noFill/>
            <a:ln>
              <a:noFill/>
            </a:ln>
          </p:spPr>
          <p:txBody>
            <a:bodyPr wrap="none" lIns="0" tIns="0" rIns="0" bIns="0" anchor="t" anchorCtr="0">
              <a:spAutoFit/>
            </a:bodyPr>
            <a:lstStyle/>
            <a:p>
              <a:pPr algn="l"/>
              <a:r>
                <a:rPr lang="vi-VN" sz="1500" b="1" dirty="0">
                  <a:solidFill>
                    <a:schemeClr val="accent3"/>
                  </a:solidFill>
                  <a:latin typeface="+mn-lt"/>
                  <a:ea typeface="+mn-ea"/>
                  <a:cs typeface="+mn-cs"/>
                </a:rPr>
                <a:t>PRECISION · 2 PHÚT CUỐI</a:t>
              </a:r>
            </a:p>
          </p:txBody>
        </p:sp>
        <p:sp>
          <p:nvSpPr>
            <p:cNvPr id="17" name="Line 17"/>
            <p:cNvSpPr/>
            <p:nvPr/>
          </p:nvSpPr>
          <p:spPr>
            <a:xfrm>
              <a:off x="6477000" y="3257550"/>
              <a:ext cx="5105400" cy="9525"/>
            </a:xfrm>
            <a:custGeom>
              <a:avLst/>
              <a:gdLst/>
              <a:ahLst/>
              <a:cxnLst/>
              <a:rect l="l" t="t" r="r" b="b"/>
              <a:pathLst>
                <a:path w="5105400" h="9525">
                  <a:moveTo>
                    <a:pt x="0" y="0"/>
                  </a:moveTo>
                  <a:lnTo>
                    <a:pt x="5105400" y="0"/>
                  </a:lnTo>
                </a:path>
              </a:pathLst>
            </a:custGeom>
            <a:noFill/>
            <a:ln w="28575">
              <a:solidFill>
                <a:schemeClr val="accent3"/>
              </a:solidFill>
            </a:ln>
          </p:spPr>
        </p:sp>
        <p:sp>
          <p:nvSpPr>
            <p:cNvPr id="18" name="TextBox 18"/>
            <p:cNvSpPr txBox="1"/>
            <p:nvPr/>
          </p:nvSpPr>
          <p:spPr>
            <a:xfrm>
              <a:off x="6468618" y="3574732"/>
              <a:ext cx="2757023" cy="322707"/>
            </a:xfrm>
            <a:prstGeom prst="rect">
              <a:avLst/>
            </a:prstGeom>
            <a:noFill/>
            <a:ln>
              <a:noFill/>
            </a:ln>
          </p:spPr>
          <p:txBody>
            <a:bodyPr wrap="none" lIns="0" tIns="0" rIns="0" bIns="0" anchor="t" anchorCtr="0">
              <a:spAutoFit/>
            </a:bodyPr>
            <a:lstStyle/>
            <a:p>
              <a:pPr algn="l"/>
              <a:r>
                <a:rPr lang="vi-VN" sz="1650" dirty="0">
                  <a:solidFill>
                    <a:schemeClr val="accent1"/>
                  </a:solidFill>
                  <a:latin typeface="+mn-lt"/>
                  <a:ea typeface="+mn-ea"/>
                  <a:cs typeface="+mn-cs"/>
                </a:rPr>
                <a:t>— Dao động trong dải ±2°C</a:t>
              </a:r>
            </a:p>
          </p:txBody>
        </p:sp>
        <p:sp>
          <p:nvSpPr>
            <p:cNvPr id="19" name="TextBox 19"/>
            <p:cNvSpPr txBox="1"/>
            <p:nvPr/>
          </p:nvSpPr>
          <p:spPr>
            <a:xfrm>
              <a:off x="6468618" y="4050982"/>
              <a:ext cx="3404785" cy="322707"/>
            </a:xfrm>
            <a:prstGeom prst="rect">
              <a:avLst/>
            </a:prstGeom>
            <a:noFill/>
            <a:ln>
              <a:noFill/>
            </a:ln>
          </p:spPr>
          <p:txBody>
            <a:bodyPr wrap="none" lIns="0" tIns="0" rIns="0" bIns="0" anchor="t" anchorCtr="0">
              <a:spAutoFit/>
            </a:bodyPr>
            <a:lstStyle/>
            <a:p>
              <a:pPr algn="l"/>
              <a:r>
                <a:rPr lang="vi-VN" sz="1650" dirty="0">
                  <a:solidFill>
                    <a:schemeClr val="accent1"/>
                  </a:solidFill>
                  <a:latin typeface="+mn-lt"/>
                  <a:ea typeface="+mn-ea"/>
                  <a:cs typeface="+mn-cs"/>
                </a:rPr>
                <a:t>— Điều khiển PI khử sai lệch tĩnh</a:t>
              </a:r>
            </a:p>
          </p:txBody>
        </p:sp>
        <p:sp>
          <p:nvSpPr>
            <p:cNvPr id="20" name="TextBox 20"/>
            <p:cNvSpPr txBox="1"/>
            <p:nvPr/>
          </p:nvSpPr>
          <p:spPr>
            <a:xfrm>
              <a:off x="6468618" y="4527232"/>
              <a:ext cx="2324554" cy="322707"/>
            </a:xfrm>
            <a:prstGeom prst="rect">
              <a:avLst/>
            </a:prstGeom>
            <a:noFill/>
            <a:ln>
              <a:noFill/>
            </a:ln>
          </p:spPr>
          <p:txBody>
            <a:bodyPr wrap="none" lIns="0" tIns="0" rIns="0" bIns="0" anchor="t" anchorCtr="0">
              <a:spAutoFit/>
            </a:bodyPr>
            <a:lstStyle/>
            <a:p>
              <a:pPr algn="l"/>
              <a:r>
                <a:rPr lang="vi-VN" sz="1650" dirty="0">
                  <a:solidFill>
                    <a:schemeClr val="accent1"/>
                  </a:solidFill>
                  <a:latin typeface="+mn-lt"/>
                  <a:ea typeface="+mn-ea"/>
                  <a:cs typeface="+mn-cs"/>
                </a:rPr>
                <a:t>— Chốt nhiệt nạp ±1°C</a:t>
              </a:r>
            </a:p>
          </p:txBody>
        </p:sp>
      </p:grpSp>
      <p:sp>
        <p:nvSpPr>
          <p:cNvPr id="22" name="TextBox 22"/>
          <p:cNvSpPr txBox="1"/>
          <p:nvPr/>
        </p:nvSpPr>
        <p:spPr>
          <a:xfrm>
            <a:off x="603885" y="6317456"/>
            <a:ext cx="1700900" cy="220028"/>
          </a:xfrm>
          <a:prstGeom prst="rect">
            <a:avLst/>
          </a:prstGeom>
          <a:noFill/>
          <a:ln>
            <a:noFill/>
          </a:ln>
        </p:spPr>
        <p:txBody>
          <a:bodyPr wrap="none" lIns="0" tIns="0" rIns="0" bIns="0" anchor="t" anchorCtr="0">
            <a:spAutoFit/>
          </a:bodyPr>
          <a:lstStyle/>
          <a:p>
            <a:pPr algn="l"/>
            <a:r>
              <a:rPr lang="vi-VN" sz="1120" b="1" dirty="0">
                <a:solidFill>
                  <a:schemeClr val="accent1"/>
                </a:solidFill>
                <a:latin typeface="+mn-lt"/>
                <a:ea typeface="+mn-ea"/>
                <a:cs typeface="+mn-cs"/>
              </a:rPr>
              <a:t>O TESLA · OTL-06ALS</a:t>
            </a:r>
          </a:p>
        </p:txBody>
      </p:sp>
      <p:sp>
        <p:nvSpPr>
          <p:cNvPr id="23" name="TextBox 23"/>
          <p:cNvSpPr txBox="1"/>
          <p:nvPr/>
        </p:nvSpPr>
        <p:spPr>
          <a:xfrm>
            <a:off x="11071591" y="6317456"/>
            <a:ext cx="516524" cy="220028"/>
          </a:xfrm>
          <a:prstGeom prst="rect">
            <a:avLst/>
          </a:prstGeom>
          <a:noFill/>
          <a:ln>
            <a:noFill/>
          </a:ln>
        </p:spPr>
        <p:txBody>
          <a:bodyPr wrap="none" lIns="0" tIns="0" rIns="0" bIns="0" anchor="t" anchorCtr="0">
            <a:spAutoFit/>
          </a:bodyPr>
          <a:lstStyle/>
          <a:p>
            <a:pPr algn="r"/>
            <a:r>
              <a:rPr lang="vi-VN" sz="1120" dirty="0">
                <a:solidFill>
                  <a:schemeClr val="dk1"/>
                </a:solidFill>
                <a:latin typeface="+mn-lt"/>
                <a:ea typeface="+mn-ea"/>
                <a:cs typeface="+mn-cs"/>
              </a:rPr>
              <a:t>06 / 11</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450"/>
                                        <p:tgtEl>
                                          <p:spTgt spid="9"/>
                                        </p:tgtEl>
                                      </p:cBhvr>
                                    </p:animEffect>
                                  </p:childTnLst>
                                </p:cTn>
                              </p:par>
                            </p:childTnLst>
                          </p:cTn>
                        </p:par>
                        <p:par>
                          <p:cTn id="8" fill="hold">
                            <p:stCondLst>
                              <p:cond delay="450"/>
                            </p:stCondLst>
                            <p:childTnLst>
                              <p:par>
                                <p:cTn xmlns:p="http://schemas.openxmlformats.org/presentationml/2006/main" id="9" presetID="10" presetClass="entr" presetSubtype="0" fill="hold" grpId="0" nodeType="afterEffect">
                                  <p:stCondLst>
                                    <p:cond delay="12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350"/>
                                        <p:tgtEl>
                                          <p:spTgt spid="15"/>
                                        </p:tgtEl>
                                      </p:cBhvr>
                                    </p:animEffect>
                                  </p:childTnLst>
                                </p:cTn>
                              </p:par>
                            </p:childTnLst>
                          </p:cTn>
                        </p:par>
                        <p:par>
                          <p:cTn id="12" fill="hold">
                            <p:stCondLst>
                              <p:cond delay="920"/>
                            </p:stCondLst>
                            <p:childTnLst>
                              <p:par>
                                <p:cTn xmlns:p="http://schemas.openxmlformats.org/presentationml/2006/main" id="13" presetID="10" presetClass="entr" presetSubtype="0" fill="hold" grpId="0" nodeType="afterEffect">
                                  <p:stCondLst>
                                    <p:cond delay="12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122" y="501968"/>
            <a:ext cx="5641783" cy="814577"/>
            <a:chOff x="595122" y="501968"/>
            <a:chExt cx="5641783" cy="814577"/>
          </a:xfrm>
        </p:grpSpPr>
        <p:sp>
          <p:nvSpPr>
            <p:cNvPr id="2" name="TextBox 2"/>
            <p:cNvSpPr txBox="1"/>
            <p:nvPr/>
          </p:nvSpPr>
          <p:spPr>
            <a:xfrm>
              <a:off x="602742" y="501968"/>
              <a:ext cx="2045152" cy="264033"/>
            </a:xfrm>
            <a:prstGeom prst="rect">
              <a:avLst/>
            </a:prstGeom>
            <a:noFill/>
            <a:ln>
              <a:noFill/>
            </a:ln>
          </p:spPr>
          <p:txBody>
            <a:bodyPr wrap="none" lIns="0" tIns="0" rIns="0" bIns="0" anchor="t" anchorCtr="0">
              <a:spAutoFit/>
            </a:bodyPr>
            <a:lstStyle/>
            <a:p>
              <a:pPr algn="l"/>
              <a:r>
                <a:rPr lang="vi-VN" sz="1350" b="1" spc="98" dirty="0">
                  <a:solidFill>
                    <a:schemeClr val="accent2"/>
                  </a:solidFill>
                  <a:latin typeface="+mn-lt"/>
                  <a:ea typeface="+mn-ea"/>
                  <a:cs typeface="+mn-cs"/>
                </a:rPr>
                <a:t>ĐẶC TÍNH ĐỐI TƯỢNG</a:t>
              </a:r>
            </a:p>
          </p:txBody>
        </p:sp>
        <p:sp>
          <p:nvSpPr>
            <p:cNvPr id="3" name="TextBox 3"/>
            <p:cNvSpPr txBox="1"/>
            <p:nvPr/>
          </p:nvSpPr>
          <p:spPr>
            <a:xfrm>
              <a:off x="595122" y="759142"/>
              <a:ext cx="5641783" cy="557403"/>
            </a:xfrm>
            <a:prstGeom prst="rect">
              <a:avLst/>
            </a:prstGeom>
            <a:noFill/>
            <a:ln>
              <a:noFill/>
            </a:ln>
          </p:spPr>
          <p:txBody>
            <a:bodyPr wrap="none" lIns="0" tIns="0" rIns="0" bIns="0" anchor="t" anchorCtr="0">
              <a:spAutoFit/>
            </a:bodyPr>
            <a:lstStyle/>
            <a:p>
              <a:pPr algn="l"/>
              <a:r>
                <a:rPr lang="vi-VN" sz="2850" b="1" dirty="0">
                  <a:solidFill>
                    <a:schemeClr val="accent1"/>
                  </a:solidFill>
                  <a:latin typeface="+mn-lt"/>
                  <a:ea typeface="+mn-ea"/>
                  <a:cs typeface="+mn-cs"/>
                </a:rPr>
                <a:t>Trễ trong chuỗi truyền nhiệt</a:t>
              </a:r>
            </a:p>
          </p:txBody>
        </p:sp>
      </p:grpSp>
      <p:grpSp>
        <p:nvGrpSpPr>
          <p:cNvPr id="28" name="Group 28"/>
          <p:cNvGrpSpPr/>
          <p:nvPr/>
        </p:nvGrpSpPr>
        <p:grpSpPr>
          <a:xfrm>
            <a:off x="609600" y="1866900"/>
            <a:ext cx="10972800" cy="2278189"/>
            <a:chOff x="609600" y="1866900"/>
            <a:chExt cx="10972800" cy="2278189"/>
          </a:xfrm>
        </p:grpSpPr>
        <p:grpSp>
          <p:nvGrpSpPr>
            <p:cNvPr id="9" name="Group 9"/>
            <p:cNvGrpSpPr/>
            <p:nvPr/>
          </p:nvGrpSpPr>
          <p:grpSpPr>
            <a:xfrm>
              <a:off x="609600" y="1866900"/>
              <a:ext cx="2095500" cy="2278189"/>
              <a:chOff x="609600" y="1866900"/>
              <a:chExt cx="2095500" cy="2278189"/>
            </a:xfrm>
          </p:grpSpPr>
          <p:sp>
            <p:nvSpPr>
              <p:cNvPr id="5" name="Rectangle 5"/>
              <p:cNvSpPr/>
              <p:nvPr/>
            </p:nvSpPr>
            <p:spPr>
              <a:xfrm>
                <a:off x="609600" y="1866900"/>
                <a:ext cx="2095500" cy="1714500"/>
              </a:xfrm>
              <a:prstGeom prst="roundRect">
                <a:avLst>
                  <a:gd name="adj" fmla="val 7778"/>
                </a:avLst>
              </a:prstGeom>
              <a:solidFill>
                <a:schemeClr val="accent1"/>
              </a:solidFill>
              <a:ln>
                <a:noFill/>
              </a:ln>
            </p:spPr>
          </p:sp>
          <p:sp>
            <p:nvSpPr>
              <p:cNvPr id="6" name="TextBox 6"/>
              <p:cNvSpPr txBox="1"/>
              <p:nvPr/>
            </p:nvSpPr>
            <p:spPr>
              <a:xfrm>
                <a:off x="1254275" y="2189798"/>
                <a:ext cx="806150" cy="381381"/>
              </a:xfrm>
              <a:prstGeom prst="rect">
                <a:avLst/>
              </a:prstGeom>
              <a:noFill/>
              <a:ln>
                <a:noFill/>
              </a:ln>
            </p:spPr>
            <p:txBody>
              <a:bodyPr wrap="none" lIns="0" tIns="0" rIns="0" bIns="0" anchor="t" anchorCtr="0">
                <a:spAutoFit/>
              </a:bodyPr>
              <a:lstStyle/>
              <a:p>
                <a:pPr algn="ctr"/>
                <a:r>
                  <a:rPr lang="vi-VN" sz="1950" b="1" dirty="0">
                    <a:solidFill>
                      <a:srgbClr val="FFFFFF"/>
                    </a:solidFill>
                    <a:latin typeface="+mn-lt"/>
                    <a:ea typeface="+mn-ea"/>
                    <a:cs typeface="+mn-cs"/>
                  </a:rPr>
                  <a:t>GAS %</a:t>
                </a:r>
              </a:p>
            </p:txBody>
          </p:sp>
          <p:sp>
            <p:nvSpPr>
              <p:cNvPr id="7" name="TextBox 7"/>
              <p:cNvSpPr txBox="1"/>
              <p:nvPr/>
            </p:nvSpPr>
            <p:spPr>
              <a:xfrm>
                <a:off x="1146856" y="2815114"/>
                <a:ext cx="1020989" cy="249364"/>
              </a:xfrm>
              <a:prstGeom prst="rect">
                <a:avLst/>
              </a:prstGeom>
              <a:noFill/>
              <a:ln>
                <a:noFill/>
              </a:ln>
            </p:spPr>
            <p:txBody>
              <a:bodyPr wrap="none" lIns="0" tIns="0" rIns="0" bIns="0" anchor="t" anchorCtr="0">
                <a:spAutoFit/>
              </a:bodyPr>
              <a:lstStyle/>
              <a:p>
                <a:pPr algn="ctr"/>
                <a:r>
                  <a:rPr lang="vi-VN" sz="1280" dirty="0">
                    <a:solidFill>
                      <a:srgbClr val="FFFFFF"/>
                    </a:solidFill>
                    <a:latin typeface="+mn-lt"/>
                    <a:ea typeface="+mn-ea"/>
                    <a:cs typeface="+mn-cs"/>
                  </a:rPr>
                  <a:t>tín hiệu đặt</a:t>
                </a:r>
              </a:p>
            </p:txBody>
          </p:sp>
          <p:sp>
            <p:nvSpPr>
              <p:cNvPr id="8" name="TextBox 8"/>
              <p:cNvSpPr txBox="1"/>
              <p:nvPr/>
            </p:nvSpPr>
            <p:spPr>
              <a:xfrm>
                <a:off x="1205393" y="3822382"/>
                <a:ext cx="903915" cy="322707"/>
              </a:xfrm>
              <a:prstGeom prst="rect">
                <a:avLst/>
              </a:prstGeom>
              <a:noFill/>
              <a:ln>
                <a:noFill/>
              </a:ln>
            </p:spPr>
            <p:txBody>
              <a:bodyPr wrap="none" lIns="0" tIns="0" rIns="0" bIns="0" anchor="t" anchorCtr="0">
                <a:spAutoFit/>
              </a:bodyPr>
              <a:lstStyle/>
              <a:p>
                <a:pPr algn="ctr"/>
                <a:r>
                  <a:rPr lang="vi-VN" sz="1650" b="1" dirty="0">
                    <a:solidFill>
                      <a:schemeClr val="accent2"/>
                    </a:solidFill>
                    <a:latin typeface="+mn-lt"/>
                    <a:ea typeface="+mn-ea"/>
                    <a:cs typeface="+mn-cs"/>
                  </a:rPr>
                  <a:t>TỨC THÌ</a:t>
                </a:r>
              </a:p>
            </p:txBody>
          </p:sp>
        </p:grpSp>
        <p:sp>
          <p:nvSpPr>
            <p:cNvPr id="10" name="Line 10"/>
            <p:cNvSpPr/>
            <p:nvPr/>
          </p:nvSpPr>
          <p:spPr>
            <a:xfrm>
              <a:off x="2705100" y="2724150"/>
              <a:ext cx="590550" cy="1"/>
            </a:xfrm>
            <a:prstGeom prst="line">
              <a:avLst/>
            </a:prstGeom>
            <a:noFill/>
            <a:ln w="38100">
              <a:solidFill>
                <a:schemeClr val="accent1"/>
              </a:solidFill>
              <a:tailEnd type="triangle" w="lg" len="lg"/>
            </a:ln>
          </p:spPr>
        </p:sp>
        <p:grpSp>
          <p:nvGrpSpPr>
            <p:cNvPr id="15" name="Group 15"/>
            <p:cNvGrpSpPr/>
            <p:nvPr/>
          </p:nvGrpSpPr>
          <p:grpSpPr>
            <a:xfrm>
              <a:off x="3371850" y="1866900"/>
              <a:ext cx="2095500" cy="2278189"/>
              <a:chOff x="3371850" y="1866900"/>
              <a:chExt cx="2095500" cy="2278189"/>
            </a:xfrm>
          </p:grpSpPr>
          <p:sp>
            <p:nvSpPr>
              <p:cNvPr id="11" name="Rectangle 11"/>
              <p:cNvSpPr/>
              <p:nvPr/>
            </p:nvSpPr>
            <p:spPr>
              <a:xfrm>
                <a:off x="3371850" y="1866900"/>
                <a:ext cx="2095500" cy="1714500"/>
              </a:xfrm>
              <a:prstGeom prst="roundRect">
                <a:avLst>
                  <a:gd name="adj" fmla="val 7778"/>
                </a:avLst>
              </a:prstGeom>
              <a:solidFill>
                <a:srgbClr val="FFF0ED"/>
              </a:solidFill>
              <a:ln w="19050">
                <a:solidFill>
                  <a:schemeClr val="accent2"/>
                </a:solidFill>
              </a:ln>
            </p:spPr>
          </p:sp>
          <p:sp>
            <p:nvSpPr>
              <p:cNvPr id="12" name="TextBox 12"/>
              <p:cNvSpPr txBox="1"/>
              <p:nvPr/>
            </p:nvSpPr>
            <p:spPr>
              <a:xfrm>
                <a:off x="3926556" y="2205990"/>
                <a:ext cx="986089" cy="352044"/>
              </a:xfrm>
              <a:prstGeom prst="rect">
                <a:avLst/>
              </a:prstGeom>
              <a:noFill/>
              <a:ln>
                <a:noFill/>
              </a:ln>
            </p:spPr>
            <p:txBody>
              <a:bodyPr wrap="none" lIns="0" tIns="0" rIns="0" bIns="0" anchor="t" anchorCtr="0">
                <a:spAutoFit/>
              </a:bodyPr>
              <a:lstStyle/>
              <a:p>
                <a:pPr algn="ctr"/>
                <a:r>
                  <a:rPr lang="vi-VN" sz="1800" b="1" dirty="0">
                    <a:solidFill>
                      <a:schemeClr val="accent1"/>
                    </a:solidFill>
                    <a:latin typeface="+mn-lt"/>
                    <a:ea typeface="+mn-ea"/>
                    <a:cs typeface="+mn-cs"/>
                  </a:rPr>
                  <a:t>ĐẦU ĐỐT</a:t>
                </a:r>
              </a:p>
            </p:txBody>
          </p:sp>
          <p:sp>
            <p:nvSpPr>
              <p:cNvPr id="13" name="TextBox 13"/>
              <p:cNvSpPr txBox="1"/>
              <p:nvPr/>
            </p:nvSpPr>
            <p:spPr>
              <a:xfrm>
                <a:off x="3741100" y="2815114"/>
                <a:ext cx="1357000" cy="249364"/>
              </a:xfrm>
              <a:prstGeom prst="rect">
                <a:avLst/>
              </a:prstGeom>
              <a:noFill/>
              <a:ln>
                <a:noFill/>
              </a:ln>
            </p:spPr>
            <p:txBody>
              <a:bodyPr wrap="none" lIns="0" tIns="0" rIns="0" bIns="0" anchor="t" anchorCtr="0">
                <a:spAutoFit/>
              </a:bodyPr>
              <a:lstStyle/>
              <a:p>
                <a:pPr algn="ctr"/>
                <a:r>
                  <a:rPr lang="vi-VN" sz="1280" dirty="0">
                    <a:solidFill>
                      <a:schemeClr val="dk1"/>
                    </a:solidFill>
                    <a:latin typeface="+mn-lt"/>
                    <a:ea typeface="+mn-ea"/>
                    <a:cs typeface="+mn-cs"/>
                  </a:rPr>
                  <a:t>ngọn lửa ổn định</a:t>
                </a:r>
              </a:p>
            </p:txBody>
          </p:sp>
          <p:sp>
            <p:nvSpPr>
              <p:cNvPr id="14" name="TextBox 14"/>
              <p:cNvSpPr txBox="1"/>
              <p:nvPr/>
            </p:nvSpPr>
            <p:spPr>
              <a:xfrm>
                <a:off x="3930678" y="3822382"/>
                <a:ext cx="977844" cy="322707"/>
              </a:xfrm>
              <a:prstGeom prst="rect">
                <a:avLst/>
              </a:prstGeom>
              <a:noFill/>
              <a:ln>
                <a:noFill/>
              </a:ln>
            </p:spPr>
            <p:txBody>
              <a:bodyPr wrap="none" lIns="0" tIns="0" rIns="0" bIns="0" anchor="t" anchorCtr="0">
                <a:spAutoFit/>
              </a:bodyPr>
              <a:lstStyle/>
              <a:p>
                <a:pPr algn="ctr"/>
                <a:r>
                  <a:rPr lang="vi-VN" sz="1650" b="1" dirty="0">
                    <a:solidFill>
                      <a:schemeClr val="accent2"/>
                    </a:solidFill>
                    <a:latin typeface="+mn-lt"/>
                    <a:ea typeface="+mn-ea"/>
                    <a:cs typeface="+mn-cs"/>
                  </a:rPr>
                  <a:t>2–3 GIÂY</a:t>
                </a:r>
              </a:p>
            </p:txBody>
          </p:sp>
        </p:grpSp>
        <p:sp>
          <p:nvSpPr>
            <p:cNvPr id="16" name="Line 16"/>
            <p:cNvSpPr/>
            <p:nvPr/>
          </p:nvSpPr>
          <p:spPr>
            <a:xfrm>
              <a:off x="5467350" y="2724150"/>
              <a:ext cx="590550" cy="1"/>
            </a:xfrm>
            <a:prstGeom prst="line">
              <a:avLst/>
            </a:prstGeom>
            <a:noFill/>
            <a:ln w="38100">
              <a:solidFill>
                <a:schemeClr val="accent1"/>
              </a:solidFill>
              <a:tailEnd type="triangle" w="lg" len="lg"/>
            </a:ln>
          </p:spPr>
        </p:sp>
        <p:grpSp>
          <p:nvGrpSpPr>
            <p:cNvPr id="21" name="Group 21"/>
            <p:cNvGrpSpPr/>
            <p:nvPr/>
          </p:nvGrpSpPr>
          <p:grpSpPr>
            <a:xfrm>
              <a:off x="6134100" y="1866900"/>
              <a:ext cx="2381250" cy="2278189"/>
              <a:chOff x="6134100" y="1866900"/>
              <a:chExt cx="2381250" cy="2278189"/>
            </a:xfrm>
          </p:grpSpPr>
          <p:sp>
            <p:nvSpPr>
              <p:cNvPr id="17" name="Rectangle 17"/>
              <p:cNvSpPr/>
              <p:nvPr/>
            </p:nvSpPr>
            <p:spPr>
              <a:xfrm>
                <a:off x="6134100" y="1866900"/>
                <a:ext cx="2381250" cy="1714500"/>
              </a:xfrm>
              <a:prstGeom prst="roundRect">
                <a:avLst>
                  <a:gd name="adj" fmla="val 7778"/>
                </a:avLst>
              </a:prstGeom>
              <a:solidFill>
                <a:schemeClr val="lt2"/>
              </a:solidFill>
              <a:ln w="19050">
                <a:solidFill>
                  <a:schemeClr val="accent3"/>
                </a:solidFill>
              </a:ln>
            </p:spPr>
          </p:sp>
          <p:sp>
            <p:nvSpPr>
              <p:cNvPr id="18" name="TextBox 18"/>
              <p:cNvSpPr txBox="1"/>
              <p:nvPr/>
            </p:nvSpPr>
            <p:spPr>
              <a:xfrm>
                <a:off x="6683822" y="2205990"/>
                <a:ext cx="1281806" cy="352044"/>
              </a:xfrm>
              <a:prstGeom prst="rect">
                <a:avLst/>
              </a:prstGeom>
              <a:noFill/>
              <a:ln>
                <a:noFill/>
              </a:ln>
            </p:spPr>
            <p:txBody>
              <a:bodyPr wrap="none" lIns="0" tIns="0" rIns="0" bIns="0" anchor="t" anchorCtr="0">
                <a:spAutoFit/>
              </a:bodyPr>
              <a:lstStyle/>
              <a:p>
                <a:pPr algn="ctr"/>
                <a:r>
                  <a:rPr lang="vi-VN" sz="1800" b="1" dirty="0">
                    <a:solidFill>
                      <a:schemeClr val="accent1"/>
                    </a:solidFill>
                    <a:latin typeface="+mn-lt"/>
                    <a:ea typeface="+mn-ea"/>
                    <a:cs typeface="+mn-cs"/>
                  </a:rPr>
                  <a:t>BUỒNG ĐỐT</a:t>
                </a:r>
              </a:p>
            </p:txBody>
          </p:sp>
          <p:sp>
            <p:nvSpPr>
              <p:cNvPr id="19" name="TextBox 19"/>
              <p:cNvSpPr txBox="1"/>
              <p:nvPr/>
            </p:nvSpPr>
            <p:spPr>
              <a:xfrm>
                <a:off x="6471427" y="2815114"/>
                <a:ext cx="1706597" cy="249364"/>
              </a:xfrm>
              <a:prstGeom prst="rect">
                <a:avLst/>
              </a:prstGeom>
              <a:noFill/>
              <a:ln>
                <a:noFill/>
              </a:ln>
            </p:spPr>
            <p:txBody>
              <a:bodyPr wrap="none" lIns="0" tIns="0" rIns="0" bIns="0" anchor="t" anchorCtr="0">
                <a:spAutoFit/>
              </a:bodyPr>
              <a:lstStyle/>
              <a:p>
                <a:pPr algn="ctr"/>
                <a:r>
                  <a:rPr lang="vi-VN" sz="1280" dirty="0">
                    <a:solidFill>
                      <a:schemeClr val="dk1"/>
                    </a:solidFill>
                    <a:latin typeface="+mn-lt"/>
                    <a:ea typeface="+mn-ea"/>
                    <a:cs typeface="+mn-cs"/>
                  </a:rPr>
                  <a:t>khí nóng · đầu dò ET</a:t>
                </a:r>
              </a:p>
            </p:txBody>
          </p:sp>
          <p:sp>
            <p:nvSpPr>
              <p:cNvPr id="20" name="TextBox 20"/>
              <p:cNvSpPr txBox="1"/>
              <p:nvPr/>
            </p:nvSpPr>
            <p:spPr>
              <a:xfrm>
                <a:off x="6768034" y="3822382"/>
                <a:ext cx="1113381" cy="322707"/>
              </a:xfrm>
              <a:prstGeom prst="rect">
                <a:avLst/>
              </a:prstGeom>
              <a:noFill/>
              <a:ln>
                <a:noFill/>
              </a:ln>
            </p:spPr>
            <p:txBody>
              <a:bodyPr wrap="none" lIns="0" tIns="0" rIns="0" bIns="0" anchor="t" anchorCtr="0">
                <a:spAutoFit/>
              </a:bodyPr>
              <a:lstStyle/>
              <a:p>
                <a:pPr algn="ctr"/>
                <a:r>
                  <a:rPr lang="vi-VN" sz="1650" b="1" dirty="0">
                    <a:solidFill>
                      <a:schemeClr val="accent3"/>
                    </a:solidFill>
                    <a:latin typeface="+mn-lt"/>
                    <a:ea typeface="+mn-ea"/>
                    <a:cs typeface="+mn-cs"/>
                  </a:rPr>
                  <a:t>5–10 GIÂY</a:t>
                </a:r>
              </a:p>
            </p:txBody>
          </p:sp>
        </p:grpSp>
        <p:sp>
          <p:nvSpPr>
            <p:cNvPr id="22" name="Line 22"/>
            <p:cNvSpPr/>
            <p:nvPr/>
          </p:nvSpPr>
          <p:spPr>
            <a:xfrm>
              <a:off x="8515350" y="2724150"/>
              <a:ext cx="590550" cy="1"/>
            </a:xfrm>
            <a:prstGeom prst="line">
              <a:avLst/>
            </a:prstGeom>
            <a:noFill/>
            <a:ln w="38100">
              <a:solidFill>
                <a:schemeClr val="accent1"/>
              </a:solidFill>
              <a:tailEnd type="triangle" w="lg" len="lg"/>
            </a:ln>
          </p:spPr>
        </p:sp>
        <p:grpSp>
          <p:nvGrpSpPr>
            <p:cNvPr id="27" name="Group 27"/>
            <p:cNvGrpSpPr/>
            <p:nvPr/>
          </p:nvGrpSpPr>
          <p:grpSpPr>
            <a:xfrm>
              <a:off x="9182100" y="1866900"/>
              <a:ext cx="2400300" cy="2278189"/>
              <a:chOff x="9182100" y="1866900"/>
              <a:chExt cx="2400300" cy="2278189"/>
            </a:xfrm>
          </p:grpSpPr>
          <p:sp>
            <p:nvSpPr>
              <p:cNvPr id="23" name="Rectangle 23"/>
              <p:cNvSpPr/>
              <p:nvPr/>
            </p:nvSpPr>
            <p:spPr>
              <a:xfrm>
                <a:off x="9182100" y="1866900"/>
                <a:ext cx="2400300" cy="1714500"/>
              </a:xfrm>
              <a:prstGeom prst="roundRect">
                <a:avLst>
                  <a:gd name="adj" fmla="val 7778"/>
                </a:avLst>
              </a:prstGeom>
              <a:solidFill>
                <a:srgbClr val="FFFFFF"/>
              </a:solidFill>
              <a:ln w="28575">
                <a:solidFill>
                  <a:schemeClr val="accent1"/>
                </a:solidFill>
              </a:ln>
            </p:spPr>
          </p:sp>
          <p:sp>
            <p:nvSpPr>
              <p:cNvPr id="24" name="TextBox 24"/>
              <p:cNvSpPr txBox="1"/>
              <p:nvPr/>
            </p:nvSpPr>
            <p:spPr>
              <a:xfrm>
                <a:off x="9667418" y="2205990"/>
                <a:ext cx="1429664" cy="352044"/>
              </a:xfrm>
              <a:prstGeom prst="rect">
                <a:avLst/>
              </a:prstGeom>
              <a:noFill/>
              <a:ln>
                <a:noFill/>
              </a:ln>
            </p:spPr>
            <p:txBody>
              <a:bodyPr wrap="none" lIns="0" tIns="0" rIns="0" bIns="0" anchor="t" anchorCtr="0">
                <a:spAutoFit/>
              </a:bodyPr>
              <a:lstStyle/>
              <a:p>
                <a:pPr algn="ctr"/>
                <a:r>
                  <a:rPr lang="vi-VN" sz="1800" b="1" dirty="0">
                    <a:solidFill>
                      <a:schemeClr val="accent1"/>
                    </a:solidFill>
                    <a:latin typeface="+mn-lt"/>
                    <a:ea typeface="+mn-ea"/>
                    <a:cs typeface="+mn-cs"/>
                  </a:rPr>
                  <a:t>TRỐNG RANG</a:t>
                </a:r>
              </a:p>
            </p:txBody>
          </p:sp>
          <p:sp>
            <p:nvSpPr>
              <p:cNvPr id="25" name="TextBox 25"/>
              <p:cNvSpPr txBox="1"/>
              <p:nvPr/>
            </p:nvSpPr>
            <p:spPr>
              <a:xfrm>
                <a:off x="9528952" y="2815114"/>
                <a:ext cx="1706597" cy="249364"/>
              </a:xfrm>
              <a:prstGeom prst="rect">
                <a:avLst/>
              </a:prstGeom>
              <a:noFill/>
              <a:ln>
                <a:noFill/>
              </a:ln>
            </p:spPr>
            <p:txBody>
              <a:bodyPr wrap="none" lIns="0" tIns="0" rIns="0" bIns="0" anchor="t" anchorCtr="0">
                <a:spAutoFit/>
              </a:bodyPr>
              <a:lstStyle/>
              <a:p>
                <a:pPr algn="ctr"/>
                <a:r>
                  <a:rPr lang="vi-VN" sz="1280" dirty="0">
                    <a:solidFill>
                      <a:schemeClr val="dk1"/>
                    </a:solidFill>
                    <a:latin typeface="+mn-lt"/>
                    <a:ea typeface="+mn-ea"/>
                    <a:cs typeface="+mn-cs"/>
                  </a:rPr>
                  <a:t>vỏ trống · đầu dò BT</a:t>
                </a:r>
              </a:p>
            </p:txBody>
          </p:sp>
          <p:sp>
            <p:nvSpPr>
              <p:cNvPr id="26" name="TextBox 26"/>
              <p:cNvSpPr txBox="1"/>
              <p:nvPr/>
            </p:nvSpPr>
            <p:spPr>
              <a:xfrm>
                <a:off x="9757791" y="3822382"/>
                <a:ext cx="1248918" cy="322707"/>
              </a:xfrm>
              <a:prstGeom prst="rect">
                <a:avLst/>
              </a:prstGeom>
              <a:noFill/>
              <a:ln>
                <a:noFill/>
              </a:ln>
            </p:spPr>
            <p:txBody>
              <a:bodyPr wrap="none" lIns="0" tIns="0" rIns="0" bIns="0" anchor="t" anchorCtr="0">
                <a:spAutoFit/>
              </a:bodyPr>
              <a:lstStyle/>
              <a:p>
                <a:pPr algn="ctr"/>
                <a:r>
                  <a:rPr lang="vi-VN" sz="1650" b="1" dirty="0">
                    <a:solidFill>
                      <a:schemeClr val="accent1"/>
                    </a:solidFill>
                    <a:latin typeface="+mn-lt"/>
                    <a:ea typeface="+mn-ea"/>
                    <a:cs typeface="+mn-cs"/>
                  </a:rPr>
                  <a:t>15–20 GIÂY</a:t>
                </a:r>
              </a:p>
            </p:txBody>
          </p:sp>
        </p:grpSp>
      </p:grpSp>
      <p:grpSp>
        <p:nvGrpSpPr>
          <p:cNvPr id="32" name="Group 32"/>
          <p:cNvGrpSpPr/>
          <p:nvPr/>
        </p:nvGrpSpPr>
        <p:grpSpPr>
          <a:xfrm>
            <a:off x="1219200" y="4933950"/>
            <a:ext cx="9753600" cy="762000"/>
            <a:chOff x="1219200" y="4933950"/>
            <a:chExt cx="9753600" cy="762000"/>
          </a:xfrm>
        </p:grpSpPr>
        <p:sp>
          <p:nvSpPr>
            <p:cNvPr id="29" name="Rectangle 29"/>
            <p:cNvSpPr/>
            <p:nvPr/>
          </p:nvSpPr>
          <p:spPr>
            <a:xfrm>
              <a:off x="1219200" y="4933950"/>
              <a:ext cx="9753600" cy="762000"/>
            </a:xfrm>
            <a:prstGeom prst="roundRect">
              <a:avLst>
                <a:gd name="adj" fmla="val 15000"/>
              </a:avLst>
            </a:prstGeom>
            <a:solidFill>
              <a:schemeClr val="accent1"/>
            </a:solidFill>
            <a:ln>
              <a:noFill/>
            </a:ln>
          </p:spPr>
        </p:sp>
        <p:sp>
          <p:nvSpPr>
            <p:cNvPr id="30" name="TextBox 30"/>
            <p:cNvSpPr txBox="1"/>
            <p:nvPr/>
          </p:nvSpPr>
          <p:spPr>
            <a:xfrm>
              <a:off x="1516380" y="5086350"/>
              <a:ext cx="3334102" cy="293370"/>
            </a:xfrm>
            <a:prstGeom prst="rect">
              <a:avLst/>
            </a:prstGeom>
            <a:noFill/>
            <a:ln>
              <a:noFill/>
            </a:ln>
          </p:spPr>
          <p:txBody>
            <a:bodyPr wrap="none" lIns="0" tIns="0" rIns="0" bIns="0" anchor="t" anchorCtr="0">
              <a:spAutoFit/>
            </a:bodyPr>
            <a:lstStyle/>
            <a:p>
              <a:pPr algn="l"/>
              <a:r>
                <a:rPr lang="vi-VN" sz="1500" dirty="0">
                  <a:solidFill>
                    <a:srgbClr val="FFFFFF"/>
                  </a:solidFill>
                  <a:latin typeface="+mn-lt"/>
                  <a:ea typeface="+mn-ea"/>
                  <a:cs typeface="+mn-cs"/>
                </a:rPr>
                <a:t>Chuỗi trễ này chi phối cả mẻ rang.</a:t>
              </a:r>
            </a:p>
          </p:txBody>
        </p:sp>
        <p:sp>
          <p:nvSpPr>
            <p:cNvPr id="31" name="TextBox 31"/>
            <p:cNvSpPr txBox="1"/>
            <p:nvPr/>
          </p:nvSpPr>
          <p:spPr>
            <a:xfrm>
              <a:off x="1516380" y="5362575"/>
              <a:ext cx="6574585" cy="293370"/>
            </a:xfrm>
            <a:prstGeom prst="rect">
              <a:avLst/>
            </a:prstGeom>
            <a:noFill/>
            <a:ln>
              <a:noFill/>
            </a:ln>
          </p:spPr>
          <p:txBody>
            <a:bodyPr wrap="none" lIns="0" tIns="0" rIns="0" bIns="0" anchor="t" anchorCtr="0">
              <a:spAutoFit/>
            </a:bodyPr>
            <a:lstStyle/>
            <a:p>
              <a:pPr algn="l"/>
              <a:r>
                <a:rPr lang="vi-VN" sz="1500" b="1" dirty="0">
                  <a:solidFill>
                    <a:srgbClr val="FFFFFF"/>
                  </a:solidFill>
                  <a:latin typeface="+mn-lt"/>
                  <a:ea typeface="+mn-ea"/>
                  <a:cs typeface="+mn-cs"/>
                </a:rPr>
                <a:t>Bộ điều khiển chờ 15 giây sau mỗi bước gas rồi mới tác động tiếp.</a:t>
              </a:r>
            </a:p>
          </p:txBody>
        </p:sp>
      </p:grpSp>
      <p:sp>
        <p:nvSpPr>
          <p:cNvPr id="33" name="TextBox 33"/>
          <p:cNvSpPr txBox="1"/>
          <p:nvPr/>
        </p:nvSpPr>
        <p:spPr>
          <a:xfrm>
            <a:off x="603885" y="6317456"/>
            <a:ext cx="1700900" cy="220028"/>
          </a:xfrm>
          <a:prstGeom prst="rect">
            <a:avLst/>
          </a:prstGeom>
          <a:noFill/>
          <a:ln>
            <a:noFill/>
          </a:ln>
        </p:spPr>
        <p:txBody>
          <a:bodyPr wrap="none" lIns="0" tIns="0" rIns="0" bIns="0" anchor="t" anchorCtr="0">
            <a:spAutoFit/>
          </a:bodyPr>
          <a:lstStyle/>
          <a:p>
            <a:pPr algn="l"/>
            <a:r>
              <a:rPr lang="vi-VN" sz="1120" b="1" dirty="0">
                <a:solidFill>
                  <a:schemeClr val="accent1"/>
                </a:solidFill>
                <a:latin typeface="+mn-lt"/>
                <a:ea typeface="+mn-ea"/>
                <a:cs typeface="+mn-cs"/>
              </a:rPr>
              <a:t>O TESLA · OTL-06ALS</a:t>
            </a:r>
          </a:p>
        </p:txBody>
      </p:sp>
      <p:sp>
        <p:nvSpPr>
          <p:cNvPr id="34" name="TextBox 34"/>
          <p:cNvSpPr txBox="1"/>
          <p:nvPr/>
        </p:nvSpPr>
        <p:spPr>
          <a:xfrm>
            <a:off x="11071591" y="6317456"/>
            <a:ext cx="516524" cy="220028"/>
          </a:xfrm>
          <a:prstGeom prst="rect">
            <a:avLst/>
          </a:prstGeom>
          <a:noFill/>
          <a:ln>
            <a:noFill/>
          </a:ln>
        </p:spPr>
        <p:txBody>
          <a:bodyPr wrap="none" lIns="0" tIns="0" rIns="0" bIns="0" anchor="t" anchorCtr="0">
            <a:spAutoFit/>
          </a:bodyPr>
          <a:lstStyle/>
          <a:p>
            <a:pPr algn="r"/>
            <a:r>
              <a:rPr lang="vi-VN" sz="1120" dirty="0">
                <a:solidFill>
                  <a:schemeClr val="dk1"/>
                </a:solidFill>
                <a:latin typeface="+mn-lt"/>
                <a:ea typeface="+mn-ea"/>
                <a:cs typeface="+mn-cs"/>
              </a:rPr>
              <a:t>07 / 11</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5122" y="501968"/>
            <a:ext cx="6621213" cy="1076493"/>
            <a:chOff x="595122" y="501968"/>
            <a:chExt cx="6621213" cy="1076493"/>
          </a:xfrm>
        </p:grpSpPr>
        <p:sp>
          <p:nvSpPr>
            <p:cNvPr id="2" name="TextBox 2"/>
            <p:cNvSpPr txBox="1"/>
            <p:nvPr/>
          </p:nvSpPr>
          <p:spPr>
            <a:xfrm>
              <a:off x="602742" y="501968"/>
              <a:ext cx="1471392" cy="264033"/>
            </a:xfrm>
            <a:prstGeom prst="rect">
              <a:avLst/>
            </a:prstGeom>
            <a:noFill/>
            <a:ln>
              <a:noFill/>
            </a:ln>
          </p:spPr>
          <p:txBody>
            <a:bodyPr wrap="none" lIns="0" tIns="0" rIns="0" bIns="0" anchor="t" anchorCtr="0">
              <a:spAutoFit/>
            </a:bodyPr>
            <a:lstStyle/>
            <a:p>
              <a:pPr algn="l"/>
              <a:r>
                <a:rPr lang="vi-VN" sz="1350" b="1" spc="98" dirty="0">
                  <a:solidFill>
                    <a:schemeClr val="accent2"/>
                  </a:solidFill>
                  <a:latin typeface="+mn-lt"/>
                  <a:ea typeface="+mn-ea"/>
                  <a:cs typeface="+mn-cs"/>
                </a:rPr>
                <a:t>TỰ HIỆU CHỈNH</a:t>
              </a:r>
            </a:p>
          </p:txBody>
        </p:sp>
        <p:sp>
          <p:nvSpPr>
            <p:cNvPr id="3" name="TextBox 3"/>
            <p:cNvSpPr txBox="1"/>
            <p:nvPr/>
          </p:nvSpPr>
          <p:spPr>
            <a:xfrm>
              <a:off x="595122" y="759142"/>
              <a:ext cx="4413627" cy="557403"/>
            </a:xfrm>
            <a:prstGeom prst="rect">
              <a:avLst/>
            </a:prstGeom>
            <a:noFill/>
            <a:ln>
              <a:noFill/>
            </a:ln>
          </p:spPr>
          <p:txBody>
            <a:bodyPr wrap="none" lIns="0" tIns="0" rIns="0" bIns="0" anchor="t" anchorCtr="0">
              <a:spAutoFit/>
            </a:bodyPr>
            <a:lstStyle/>
            <a:p>
              <a:pPr algn="l"/>
              <a:r>
                <a:rPr lang="vi-VN" sz="2850" b="1" dirty="0">
                  <a:solidFill>
                    <a:schemeClr val="accent1"/>
                  </a:solidFill>
                  <a:latin typeface="+mn-lt"/>
                  <a:ea typeface="+mn-ea"/>
                  <a:cs typeface="+mn-cs"/>
                </a:rPr>
                <a:t>Bù trước và thích nghi</a:t>
              </a:r>
            </a:p>
          </p:txBody>
        </p:sp>
        <p:sp>
          <p:nvSpPr>
            <p:cNvPr id="4" name="TextBox 4"/>
            <p:cNvSpPr txBox="1"/>
            <p:nvPr/>
          </p:nvSpPr>
          <p:spPr>
            <a:xfrm>
              <a:off x="601473" y="1265582"/>
              <a:ext cx="6614862" cy="312879"/>
            </a:xfrm>
            <a:prstGeom prst="rect">
              <a:avLst/>
            </a:prstGeom>
            <a:noFill/>
            <a:ln>
              <a:noFill/>
            </a:ln>
          </p:spPr>
          <p:txBody>
            <a:bodyPr wrap="none" lIns="0" tIns="0" rIns="0" bIns="0" anchor="t" anchorCtr="0">
              <a:spAutoFit/>
            </a:bodyPr>
            <a:lstStyle/>
            <a:p>
              <a:pPr algn="l"/>
              <a:r>
                <a:rPr lang="vi-VN" sz="1600" dirty="0">
                  <a:solidFill>
                    <a:schemeClr val="dk1"/>
                  </a:solidFill>
                  <a:latin typeface="+mn-lt"/>
                  <a:ea typeface="+mn-ea"/>
                  <a:cs typeface="+mn-cs"/>
                </a:rPr>
                <a:t>Mỗi lượt sấy, bộ điều khiển lưu mức gas giữ nhiệt của từng vùng.</a:t>
              </a:r>
            </a:p>
          </p:txBody>
        </p:sp>
      </p:grpSp>
      <p:grpSp>
        <p:nvGrpSpPr>
          <p:cNvPr id="31" name="Group 31"/>
          <p:cNvGrpSpPr/>
          <p:nvPr/>
        </p:nvGrpSpPr>
        <p:grpSpPr>
          <a:xfrm>
            <a:off x="603123" y="1872139"/>
            <a:ext cx="10979277" cy="918686"/>
            <a:chOff x="603123" y="1872139"/>
            <a:chExt cx="10979277" cy="918686"/>
          </a:xfrm>
        </p:grpSpPr>
        <p:sp>
          <p:nvSpPr>
            <p:cNvPr id="6" name="TextBox 6"/>
            <p:cNvSpPr txBox="1"/>
            <p:nvPr/>
          </p:nvSpPr>
          <p:spPr>
            <a:xfrm>
              <a:off x="603123" y="1872139"/>
              <a:ext cx="2937864" cy="249364"/>
            </a:xfrm>
            <a:prstGeom prst="rect">
              <a:avLst/>
            </a:prstGeom>
            <a:noFill/>
            <a:ln>
              <a:noFill/>
            </a:ln>
          </p:spPr>
          <p:txBody>
            <a:bodyPr wrap="none" lIns="0" tIns="0" rIns="0" bIns="0" anchor="t" anchorCtr="0">
              <a:spAutoFit/>
            </a:bodyPr>
            <a:lstStyle/>
            <a:p>
              <a:pPr algn="l"/>
              <a:r>
                <a:rPr lang="vi-VN" sz="1280" b="1" dirty="0">
                  <a:solidFill>
                    <a:schemeClr val="accent3"/>
                  </a:solidFill>
                  <a:latin typeface="+mn-lt"/>
                  <a:ea typeface="+mn-ea"/>
                  <a:cs typeface="+mn-cs"/>
                </a:rPr>
                <a:t>12 VÙNG × 25°C · LƯU THƯỜNG TRÚ</a:t>
              </a:r>
            </a:p>
          </p:txBody>
        </p:sp>
        <p:sp>
          <p:nvSpPr>
            <p:cNvPr id="7" name="Rectangle 7"/>
            <p:cNvSpPr/>
            <p:nvPr/>
          </p:nvSpPr>
          <p:spPr>
            <a:xfrm>
              <a:off x="609600" y="2238375"/>
              <a:ext cx="914400" cy="552450"/>
            </a:xfrm>
            <a:prstGeom prst="rect">
              <a:avLst/>
            </a:prstGeom>
            <a:solidFill>
              <a:srgbClr val="DCEAFF"/>
            </a:solidFill>
            <a:ln>
              <a:noFill/>
            </a:ln>
          </p:spPr>
        </p:sp>
        <p:sp>
          <p:nvSpPr>
            <p:cNvPr id="8" name="Rectangle 8"/>
            <p:cNvSpPr/>
            <p:nvPr/>
          </p:nvSpPr>
          <p:spPr>
            <a:xfrm>
              <a:off x="1524000" y="2238375"/>
              <a:ext cx="914400" cy="552450"/>
            </a:xfrm>
            <a:prstGeom prst="rect">
              <a:avLst/>
            </a:prstGeom>
            <a:solidFill>
              <a:srgbClr val="CFE2FB"/>
            </a:solidFill>
            <a:ln>
              <a:noFill/>
            </a:ln>
          </p:spPr>
        </p:sp>
        <p:sp>
          <p:nvSpPr>
            <p:cNvPr id="9" name="Rectangle 9"/>
            <p:cNvSpPr/>
            <p:nvPr/>
          </p:nvSpPr>
          <p:spPr>
            <a:xfrm>
              <a:off x="2438400" y="2238375"/>
              <a:ext cx="914400" cy="552450"/>
            </a:xfrm>
            <a:prstGeom prst="rect">
              <a:avLst/>
            </a:prstGeom>
            <a:solidFill>
              <a:srgbClr val="BDD8F8"/>
            </a:solidFill>
            <a:ln>
              <a:noFill/>
            </a:ln>
          </p:spPr>
        </p:sp>
        <p:sp>
          <p:nvSpPr>
            <p:cNvPr id="10" name="Rectangle 10"/>
            <p:cNvSpPr/>
            <p:nvPr/>
          </p:nvSpPr>
          <p:spPr>
            <a:xfrm>
              <a:off x="3352800" y="2238375"/>
              <a:ext cx="914400" cy="552450"/>
            </a:xfrm>
            <a:prstGeom prst="rect">
              <a:avLst/>
            </a:prstGeom>
            <a:solidFill>
              <a:srgbClr val="AACDF5"/>
            </a:solidFill>
            <a:ln>
              <a:noFill/>
            </a:ln>
          </p:spPr>
        </p:sp>
        <p:sp>
          <p:nvSpPr>
            <p:cNvPr id="11" name="Rectangle 11"/>
            <p:cNvSpPr/>
            <p:nvPr/>
          </p:nvSpPr>
          <p:spPr>
            <a:xfrm>
              <a:off x="4267200" y="2238375"/>
              <a:ext cx="914400" cy="552450"/>
            </a:xfrm>
            <a:prstGeom prst="rect">
              <a:avLst/>
            </a:prstGeom>
            <a:solidFill>
              <a:srgbClr val="96C0F1"/>
            </a:solidFill>
            <a:ln>
              <a:noFill/>
            </a:ln>
          </p:spPr>
        </p:sp>
        <p:sp>
          <p:nvSpPr>
            <p:cNvPr id="12" name="Rectangle 12"/>
            <p:cNvSpPr/>
            <p:nvPr/>
          </p:nvSpPr>
          <p:spPr>
            <a:xfrm>
              <a:off x="5181600" y="2238375"/>
              <a:ext cx="914400" cy="552450"/>
            </a:xfrm>
            <a:prstGeom prst="rect">
              <a:avLst/>
            </a:prstGeom>
            <a:solidFill>
              <a:srgbClr val="7EAEEA"/>
            </a:solidFill>
            <a:ln>
              <a:noFill/>
            </a:ln>
          </p:spPr>
        </p:sp>
        <p:sp>
          <p:nvSpPr>
            <p:cNvPr id="13" name="Rectangle 13"/>
            <p:cNvSpPr/>
            <p:nvPr/>
          </p:nvSpPr>
          <p:spPr>
            <a:xfrm>
              <a:off x="6096000" y="2238375"/>
              <a:ext cx="914400" cy="552450"/>
            </a:xfrm>
            <a:prstGeom prst="rect">
              <a:avLst/>
            </a:prstGeom>
            <a:solidFill>
              <a:srgbClr val="F6B4A5"/>
            </a:solidFill>
            <a:ln>
              <a:noFill/>
            </a:ln>
          </p:spPr>
        </p:sp>
        <p:sp>
          <p:nvSpPr>
            <p:cNvPr id="14" name="Rectangle 14"/>
            <p:cNvSpPr/>
            <p:nvPr/>
          </p:nvSpPr>
          <p:spPr>
            <a:xfrm>
              <a:off x="7010400" y="2238375"/>
              <a:ext cx="914400" cy="552450"/>
            </a:xfrm>
            <a:prstGeom prst="rect">
              <a:avLst/>
            </a:prstGeom>
            <a:solidFill>
              <a:srgbClr val="F09B89"/>
            </a:solidFill>
            <a:ln>
              <a:noFill/>
            </a:ln>
          </p:spPr>
        </p:sp>
        <p:sp>
          <p:nvSpPr>
            <p:cNvPr id="15" name="Rectangle 15"/>
            <p:cNvSpPr/>
            <p:nvPr/>
          </p:nvSpPr>
          <p:spPr>
            <a:xfrm>
              <a:off x="7924800" y="2238375"/>
              <a:ext cx="914400" cy="552450"/>
            </a:xfrm>
            <a:prstGeom prst="rect">
              <a:avLst/>
            </a:prstGeom>
            <a:solidFill>
              <a:srgbClr val="EC826F"/>
            </a:solidFill>
            <a:ln>
              <a:noFill/>
            </a:ln>
          </p:spPr>
        </p:sp>
        <p:sp>
          <p:nvSpPr>
            <p:cNvPr id="16" name="Rectangle 16"/>
            <p:cNvSpPr/>
            <p:nvPr/>
          </p:nvSpPr>
          <p:spPr>
            <a:xfrm>
              <a:off x="8839200" y="2238375"/>
              <a:ext cx="914400" cy="552450"/>
            </a:xfrm>
            <a:prstGeom prst="rect">
              <a:avLst/>
            </a:prstGeom>
            <a:solidFill>
              <a:srgbClr val="E96958"/>
            </a:solidFill>
            <a:ln>
              <a:noFill/>
            </a:ln>
          </p:spPr>
        </p:sp>
        <p:sp>
          <p:nvSpPr>
            <p:cNvPr id="17" name="Rectangle 17"/>
            <p:cNvSpPr/>
            <p:nvPr/>
          </p:nvSpPr>
          <p:spPr>
            <a:xfrm>
              <a:off x="9753600" y="2238375"/>
              <a:ext cx="914400" cy="552450"/>
            </a:xfrm>
            <a:prstGeom prst="rect">
              <a:avLst/>
            </a:prstGeom>
            <a:solidFill>
              <a:srgbClr val="E65042"/>
            </a:solidFill>
            <a:ln>
              <a:noFill/>
            </a:ln>
          </p:spPr>
        </p:sp>
        <p:sp>
          <p:nvSpPr>
            <p:cNvPr id="18" name="Rectangle 18"/>
            <p:cNvSpPr/>
            <p:nvPr/>
          </p:nvSpPr>
          <p:spPr>
            <a:xfrm>
              <a:off x="10668000" y="2238375"/>
              <a:ext cx="914400" cy="552450"/>
            </a:xfrm>
            <a:prstGeom prst="rect">
              <a:avLst/>
            </a:prstGeom>
            <a:solidFill>
              <a:schemeClr val="accent2"/>
            </a:solidFill>
            <a:ln>
              <a:noFill/>
            </a:ln>
          </p:spPr>
        </p:sp>
        <p:sp>
          <p:nvSpPr>
            <p:cNvPr id="19" name="TextBox 19"/>
            <p:cNvSpPr txBox="1"/>
            <p:nvPr/>
          </p:nvSpPr>
          <p:spPr>
            <a:xfrm>
              <a:off x="802714" y="2467928"/>
              <a:ext cx="528173"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0–25°C</a:t>
              </a:r>
            </a:p>
          </p:txBody>
        </p:sp>
        <p:sp>
          <p:nvSpPr>
            <p:cNvPr id="20" name="TextBox 20"/>
            <p:cNvSpPr txBox="1"/>
            <p:nvPr/>
          </p:nvSpPr>
          <p:spPr>
            <a:xfrm>
              <a:off x="1673988" y="2467928"/>
              <a:ext cx="614423"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25–50°C</a:t>
              </a:r>
            </a:p>
          </p:txBody>
        </p:sp>
        <p:sp>
          <p:nvSpPr>
            <p:cNvPr id="21" name="TextBox 21"/>
            <p:cNvSpPr txBox="1"/>
            <p:nvPr/>
          </p:nvSpPr>
          <p:spPr>
            <a:xfrm>
              <a:off x="2588388" y="2467928"/>
              <a:ext cx="614423"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50–75°C</a:t>
              </a:r>
            </a:p>
          </p:txBody>
        </p:sp>
        <p:sp>
          <p:nvSpPr>
            <p:cNvPr id="22" name="TextBox 22"/>
            <p:cNvSpPr txBox="1"/>
            <p:nvPr/>
          </p:nvSpPr>
          <p:spPr>
            <a:xfrm>
              <a:off x="3459663" y="2467928"/>
              <a:ext cx="700674"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75–100°C</a:t>
              </a:r>
            </a:p>
          </p:txBody>
        </p:sp>
        <p:sp>
          <p:nvSpPr>
            <p:cNvPr id="23" name="TextBox 23"/>
            <p:cNvSpPr txBox="1"/>
            <p:nvPr/>
          </p:nvSpPr>
          <p:spPr>
            <a:xfrm>
              <a:off x="4330937" y="2467928"/>
              <a:ext cx="786925"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100–125°C</a:t>
              </a:r>
            </a:p>
          </p:txBody>
        </p:sp>
        <p:sp>
          <p:nvSpPr>
            <p:cNvPr id="24" name="TextBox 24"/>
            <p:cNvSpPr txBox="1"/>
            <p:nvPr/>
          </p:nvSpPr>
          <p:spPr>
            <a:xfrm>
              <a:off x="5245337" y="2467928"/>
              <a:ext cx="786925"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125–150°C</a:t>
              </a:r>
            </a:p>
          </p:txBody>
        </p:sp>
        <p:sp>
          <p:nvSpPr>
            <p:cNvPr id="25" name="TextBox 25"/>
            <p:cNvSpPr txBox="1"/>
            <p:nvPr/>
          </p:nvSpPr>
          <p:spPr>
            <a:xfrm>
              <a:off x="6159737" y="2467928"/>
              <a:ext cx="786925"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150–175°C</a:t>
              </a:r>
            </a:p>
          </p:txBody>
        </p:sp>
        <p:sp>
          <p:nvSpPr>
            <p:cNvPr id="26" name="TextBox 26"/>
            <p:cNvSpPr txBox="1"/>
            <p:nvPr/>
          </p:nvSpPr>
          <p:spPr>
            <a:xfrm>
              <a:off x="7074137" y="2467928"/>
              <a:ext cx="786925"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175–200°C</a:t>
              </a:r>
            </a:p>
          </p:txBody>
        </p:sp>
        <p:sp>
          <p:nvSpPr>
            <p:cNvPr id="27" name="TextBox 27"/>
            <p:cNvSpPr txBox="1"/>
            <p:nvPr/>
          </p:nvSpPr>
          <p:spPr>
            <a:xfrm>
              <a:off x="7988537" y="2467928"/>
              <a:ext cx="786925"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200–225°C</a:t>
              </a:r>
            </a:p>
          </p:txBody>
        </p:sp>
        <p:sp>
          <p:nvSpPr>
            <p:cNvPr id="28" name="TextBox 28"/>
            <p:cNvSpPr txBox="1"/>
            <p:nvPr/>
          </p:nvSpPr>
          <p:spPr>
            <a:xfrm>
              <a:off x="8902937" y="2467928"/>
              <a:ext cx="786925" cy="205359"/>
            </a:xfrm>
            <a:prstGeom prst="rect">
              <a:avLst/>
            </a:prstGeom>
            <a:noFill/>
            <a:ln>
              <a:noFill/>
            </a:ln>
          </p:spPr>
          <p:txBody>
            <a:bodyPr wrap="none" lIns="0" tIns="0" rIns="0" bIns="0" anchor="t" anchorCtr="0">
              <a:spAutoFit/>
            </a:bodyPr>
            <a:lstStyle/>
            <a:p>
              <a:pPr algn="ctr"/>
              <a:r>
                <a:rPr lang="vi-VN" sz="1050" b="1" dirty="0">
                  <a:solidFill>
                    <a:srgbClr val="FFFFFF"/>
                  </a:solidFill>
                  <a:latin typeface="+mn-lt"/>
                  <a:ea typeface="+mn-ea"/>
                  <a:cs typeface="+mn-cs"/>
                </a:rPr>
                <a:t>225–250°C</a:t>
              </a:r>
            </a:p>
          </p:txBody>
        </p:sp>
        <p:sp>
          <p:nvSpPr>
            <p:cNvPr id="29" name="TextBox 29"/>
            <p:cNvSpPr txBox="1"/>
            <p:nvPr/>
          </p:nvSpPr>
          <p:spPr>
            <a:xfrm>
              <a:off x="9817337" y="2467928"/>
              <a:ext cx="786925" cy="205359"/>
            </a:xfrm>
            <a:prstGeom prst="rect">
              <a:avLst/>
            </a:prstGeom>
            <a:noFill/>
            <a:ln>
              <a:noFill/>
            </a:ln>
          </p:spPr>
          <p:txBody>
            <a:bodyPr wrap="none" lIns="0" tIns="0" rIns="0" bIns="0" anchor="t" anchorCtr="0">
              <a:spAutoFit/>
            </a:bodyPr>
            <a:lstStyle/>
            <a:p>
              <a:pPr algn="ctr"/>
              <a:r>
                <a:rPr lang="vi-VN" sz="1050" b="1" dirty="0">
                  <a:solidFill>
                    <a:srgbClr val="FFFFFF"/>
                  </a:solidFill>
                  <a:latin typeface="+mn-lt"/>
                  <a:ea typeface="+mn-ea"/>
                  <a:cs typeface="+mn-cs"/>
                </a:rPr>
                <a:t>250–275°C</a:t>
              </a:r>
            </a:p>
          </p:txBody>
        </p:sp>
        <p:sp>
          <p:nvSpPr>
            <p:cNvPr id="30" name="TextBox 30"/>
            <p:cNvSpPr txBox="1"/>
            <p:nvPr/>
          </p:nvSpPr>
          <p:spPr>
            <a:xfrm>
              <a:off x="10731737" y="2467928"/>
              <a:ext cx="786925" cy="205359"/>
            </a:xfrm>
            <a:prstGeom prst="rect">
              <a:avLst/>
            </a:prstGeom>
            <a:noFill/>
            <a:ln>
              <a:noFill/>
            </a:ln>
          </p:spPr>
          <p:txBody>
            <a:bodyPr wrap="none" lIns="0" tIns="0" rIns="0" bIns="0" anchor="t" anchorCtr="0">
              <a:spAutoFit/>
            </a:bodyPr>
            <a:lstStyle/>
            <a:p>
              <a:pPr algn="ctr"/>
              <a:r>
                <a:rPr lang="vi-VN" sz="1050" b="1" dirty="0">
                  <a:solidFill>
                    <a:srgbClr val="FFFFFF"/>
                  </a:solidFill>
                  <a:latin typeface="+mn-lt"/>
                  <a:ea typeface="+mn-ea"/>
                  <a:cs typeface="+mn-cs"/>
                </a:rPr>
                <a:t>275–300°C</a:t>
              </a:r>
            </a:p>
          </p:txBody>
        </p:sp>
      </p:grpSp>
      <p:grpSp>
        <p:nvGrpSpPr>
          <p:cNvPr id="45" name="Group 45"/>
          <p:cNvGrpSpPr/>
          <p:nvPr/>
        </p:nvGrpSpPr>
        <p:grpSpPr>
          <a:xfrm>
            <a:off x="603123" y="3500914"/>
            <a:ext cx="10979277" cy="1766411"/>
            <a:chOff x="603123" y="3500914"/>
            <a:chExt cx="10979277" cy="1766411"/>
          </a:xfrm>
        </p:grpSpPr>
        <p:sp>
          <p:nvSpPr>
            <p:cNvPr id="32" name="TextBox 32"/>
            <p:cNvSpPr txBox="1"/>
            <p:nvPr/>
          </p:nvSpPr>
          <p:spPr>
            <a:xfrm>
              <a:off x="603123" y="3500914"/>
              <a:ext cx="1962894" cy="249364"/>
            </a:xfrm>
            <a:prstGeom prst="rect">
              <a:avLst/>
            </a:prstGeom>
            <a:noFill/>
            <a:ln>
              <a:noFill/>
            </a:ln>
          </p:spPr>
          <p:txBody>
            <a:bodyPr wrap="none" lIns="0" tIns="0" rIns="0" bIns="0" anchor="t" anchorCtr="0">
              <a:spAutoFit/>
            </a:bodyPr>
            <a:lstStyle/>
            <a:p>
              <a:pPr algn="l"/>
              <a:r>
                <a:rPr lang="vi-VN" sz="1280" b="1" dirty="0">
                  <a:solidFill>
                    <a:schemeClr val="accent1"/>
                  </a:solidFill>
                  <a:latin typeface="+mn-lt"/>
                  <a:ea typeface="+mn-ea"/>
                  <a:cs typeface="+mn-cs"/>
                </a:rPr>
                <a:t>THAM SỐ TỰ NHẬN DẠNG</a:t>
              </a:r>
            </a:p>
          </p:txBody>
        </p:sp>
        <p:grpSp>
          <p:nvGrpSpPr>
            <p:cNvPr id="36" name="Group 36"/>
            <p:cNvGrpSpPr/>
            <p:nvPr/>
          </p:nvGrpSpPr>
          <p:grpSpPr>
            <a:xfrm>
              <a:off x="609600" y="3886200"/>
              <a:ext cx="3352800" cy="1381125"/>
              <a:chOff x="609600" y="3886200"/>
              <a:chExt cx="3352800" cy="1381125"/>
            </a:xfrm>
          </p:grpSpPr>
          <p:sp>
            <p:nvSpPr>
              <p:cNvPr id="33" name="Rectangle 33"/>
              <p:cNvSpPr/>
              <p:nvPr/>
            </p:nvSpPr>
            <p:spPr>
              <a:xfrm>
                <a:off x="609600" y="3886200"/>
                <a:ext cx="3352800" cy="1381125"/>
              </a:xfrm>
              <a:prstGeom prst="roundRect">
                <a:avLst>
                  <a:gd name="adj" fmla="val 8276"/>
                </a:avLst>
              </a:prstGeom>
              <a:solidFill>
                <a:srgbClr val="FFFFFF"/>
              </a:solidFill>
              <a:ln w="19050">
                <a:solidFill>
                  <a:srgbClr val="D9E4F2"/>
                </a:solidFill>
              </a:ln>
            </p:spPr>
          </p:sp>
          <p:sp>
            <p:nvSpPr>
              <p:cNvPr id="34" name="TextBox 34"/>
              <p:cNvSpPr txBox="1"/>
              <p:nvPr/>
            </p:nvSpPr>
            <p:spPr>
              <a:xfrm>
                <a:off x="867537" y="4128611"/>
                <a:ext cx="1897730" cy="337376"/>
              </a:xfrm>
              <a:prstGeom prst="rect">
                <a:avLst/>
              </a:prstGeom>
              <a:noFill/>
              <a:ln>
                <a:noFill/>
              </a:ln>
            </p:spPr>
            <p:txBody>
              <a:bodyPr wrap="none" lIns="0" tIns="0" rIns="0" bIns="0" anchor="t" anchorCtr="0">
                <a:spAutoFit/>
              </a:bodyPr>
              <a:lstStyle/>
              <a:p>
                <a:pPr algn="l"/>
                <a:r>
                  <a:rPr lang="vi-VN" sz="1720" b="1" dirty="0">
                    <a:solidFill>
                      <a:schemeClr val="accent2"/>
                    </a:solidFill>
                    <a:latin typeface="+mn-lt"/>
                    <a:ea typeface="+mn-ea"/>
                    <a:cs typeface="+mn-cs"/>
                  </a:rPr>
                  <a:t>Quán tính nhiệt</a:t>
                </a:r>
              </a:p>
            </p:txBody>
          </p:sp>
          <p:sp>
            <p:nvSpPr>
              <p:cNvPr id="35" name="TextBox 35"/>
              <p:cNvSpPr txBox="1"/>
              <p:nvPr/>
            </p:nvSpPr>
            <p:spPr>
              <a:xfrm>
                <a:off x="869061" y="4551521"/>
                <a:ext cx="2573035" cy="278702"/>
              </a:xfrm>
              <a:prstGeom prst="rect">
                <a:avLst/>
              </a:prstGeom>
              <a:noFill/>
              <a:ln>
                <a:noFill/>
              </a:ln>
            </p:spPr>
            <p:txBody>
              <a:bodyPr wrap="none" lIns="0" tIns="0" rIns="0" bIns="0" anchor="t" anchorCtr="0">
                <a:spAutoFit/>
              </a:bodyPr>
              <a:lstStyle/>
              <a:p>
                <a:pPr algn="l"/>
                <a:r>
                  <a:rPr lang="vi-VN" sz="1420" dirty="0">
                    <a:solidFill>
                      <a:schemeClr val="dk1"/>
                    </a:solidFill>
                    <a:latin typeface="+mn-lt"/>
                    <a:ea typeface="+mn-ea"/>
                    <a:cs typeface="+mn-cs"/>
                  </a:rPr>
                  <a:t>Nhiệt còn tăng sau khoá gas</a:t>
                </a:r>
              </a:p>
            </p:txBody>
          </p:sp>
        </p:grpSp>
        <p:grpSp>
          <p:nvGrpSpPr>
            <p:cNvPr id="40" name="Group 40"/>
            <p:cNvGrpSpPr/>
            <p:nvPr/>
          </p:nvGrpSpPr>
          <p:grpSpPr>
            <a:xfrm>
              <a:off x="4267200" y="3886200"/>
              <a:ext cx="3352800" cy="1381125"/>
              <a:chOff x="4267200" y="3886200"/>
              <a:chExt cx="3352800" cy="1381125"/>
            </a:xfrm>
          </p:grpSpPr>
          <p:sp>
            <p:nvSpPr>
              <p:cNvPr id="37" name="Rectangle 37"/>
              <p:cNvSpPr/>
              <p:nvPr/>
            </p:nvSpPr>
            <p:spPr>
              <a:xfrm>
                <a:off x="4267200" y="3886200"/>
                <a:ext cx="3352800" cy="1381125"/>
              </a:xfrm>
              <a:prstGeom prst="roundRect">
                <a:avLst>
                  <a:gd name="adj" fmla="val 8276"/>
                </a:avLst>
              </a:prstGeom>
              <a:solidFill>
                <a:srgbClr val="FFFFFF"/>
              </a:solidFill>
              <a:ln w="19050">
                <a:solidFill>
                  <a:srgbClr val="D9E4F2"/>
                </a:solidFill>
              </a:ln>
            </p:spPr>
          </p:sp>
          <p:sp>
            <p:nvSpPr>
              <p:cNvPr id="38" name="TextBox 38"/>
              <p:cNvSpPr txBox="1"/>
              <p:nvPr/>
            </p:nvSpPr>
            <p:spPr>
              <a:xfrm>
                <a:off x="4525137" y="4128611"/>
                <a:ext cx="1715206" cy="337376"/>
              </a:xfrm>
              <a:prstGeom prst="rect">
                <a:avLst/>
              </a:prstGeom>
              <a:noFill/>
              <a:ln>
                <a:noFill/>
              </a:ln>
            </p:spPr>
            <p:txBody>
              <a:bodyPr wrap="none" lIns="0" tIns="0" rIns="0" bIns="0" anchor="t" anchorCtr="0">
                <a:spAutoFit/>
              </a:bodyPr>
              <a:lstStyle/>
              <a:p>
                <a:pPr algn="l"/>
                <a:r>
                  <a:rPr lang="vi-VN" sz="1720" b="1" dirty="0">
                    <a:solidFill>
                      <a:schemeClr val="accent3"/>
                    </a:solidFill>
                    <a:latin typeface="+mn-lt"/>
                    <a:ea typeface="+mn-ea"/>
                    <a:cs typeface="+mn-cs"/>
                  </a:rPr>
                  <a:t>Tổn thất nhiệt</a:t>
                </a:r>
              </a:p>
            </p:txBody>
          </p:sp>
          <p:sp>
            <p:nvSpPr>
              <p:cNvPr id="39" name="TextBox 39"/>
              <p:cNvSpPr txBox="1"/>
              <p:nvPr/>
            </p:nvSpPr>
            <p:spPr>
              <a:xfrm>
                <a:off x="4526661" y="4551521"/>
                <a:ext cx="2095091" cy="278702"/>
              </a:xfrm>
              <a:prstGeom prst="rect">
                <a:avLst/>
              </a:prstGeom>
              <a:noFill/>
              <a:ln>
                <a:noFill/>
              </a:ln>
            </p:spPr>
            <p:txBody>
              <a:bodyPr wrap="none" lIns="0" tIns="0" rIns="0" bIns="0" anchor="t" anchorCtr="0">
                <a:spAutoFit/>
              </a:bodyPr>
              <a:lstStyle/>
              <a:p>
                <a:pPr algn="l"/>
                <a:r>
                  <a:rPr lang="vi-VN" sz="1420" dirty="0">
                    <a:solidFill>
                      <a:schemeClr val="dk1"/>
                    </a:solidFill>
                    <a:latin typeface="+mn-lt"/>
                    <a:ea typeface="+mn-ea"/>
                    <a:cs typeface="+mn-cs"/>
                  </a:rPr>
                  <a:t>Tốc độ nguội của trống</a:t>
                </a:r>
              </a:p>
            </p:txBody>
          </p:sp>
        </p:grpSp>
        <p:grpSp>
          <p:nvGrpSpPr>
            <p:cNvPr id="44" name="Group 44"/>
            <p:cNvGrpSpPr/>
            <p:nvPr/>
          </p:nvGrpSpPr>
          <p:grpSpPr>
            <a:xfrm>
              <a:off x="7924800" y="3886200"/>
              <a:ext cx="3657600" cy="1381125"/>
              <a:chOff x="7924800" y="3886200"/>
              <a:chExt cx="3657600" cy="1381125"/>
            </a:xfrm>
          </p:grpSpPr>
          <p:sp>
            <p:nvSpPr>
              <p:cNvPr id="41" name="Rectangle 41"/>
              <p:cNvSpPr/>
              <p:nvPr/>
            </p:nvSpPr>
            <p:spPr>
              <a:xfrm>
                <a:off x="7924800" y="3886200"/>
                <a:ext cx="3657600" cy="1381125"/>
              </a:xfrm>
              <a:prstGeom prst="roundRect">
                <a:avLst>
                  <a:gd name="adj" fmla="val 8276"/>
                </a:avLst>
              </a:prstGeom>
              <a:solidFill>
                <a:schemeClr val="accent1"/>
              </a:solidFill>
              <a:ln>
                <a:noFill/>
              </a:ln>
            </p:spPr>
          </p:sp>
          <p:sp>
            <p:nvSpPr>
              <p:cNvPr id="42" name="TextBox 42"/>
              <p:cNvSpPr txBox="1"/>
              <p:nvPr/>
            </p:nvSpPr>
            <p:spPr>
              <a:xfrm>
                <a:off x="8182737" y="4128611"/>
                <a:ext cx="1715206" cy="337376"/>
              </a:xfrm>
              <a:prstGeom prst="rect">
                <a:avLst/>
              </a:prstGeom>
              <a:noFill/>
              <a:ln>
                <a:noFill/>
              </a:ln>
            </p:spPr>
            <p:txBody>
              <a:bodyPr wrap="none" lIns="0" tIns="0" rIns="0" bIns="0" anchor="t" anchorCtr="0">
                <a:spAutoFit/>
              </a:bodyPr>
              <a:lstStyle/>
              <a:p>
                <a:pPr algn="l"/>
                <a:r>
                  <a:rPr lang="vi-VN" sz="1720" b="1" dirty="0">
                    <a:solidFill>
                      <a:srgbClr val="FFFFFF"/>
                    </a:solidFill>
                    <a:latin typeface="+mn-lt"/>
                    <a:ea typeface="+mn-ea"/>
                    <a:cs typeface="+mn-cs"/>
                  </a:rPr>
                  <a:t>Khuếch đại gas</a:t>
                </a:r>
              </a:p>
            </p:txBody>
          </p:sp>
          <p:sp>
            <p:nvSpPr>
              <p:cNvPr id="43" name="TextBox 43"/>
              <p:cNvSpPr txBox="1"/>
              <p:nvPr/>
            </p:nvSpPr>
            <p:spPr>
              <a:xfrm>
                <a:off x="8184261" y="4551521"/>
                <a:ext cx="2765024" cy="278702"/>
              </a:xfrm>
              <a:prstGeom prst="rect">
                <a:avLst/>
              </a:prstGeom>
              <a:noFill/>
              <a:ln>
                <a:noFill/>
              </a:ln>
            </p:spPr>
            <p:txBody>
              <a:bodyPr wrap="none" lIns="0" tIns="0" rIns="0" bIns="0" anchor="t" anchorCtr="0">
                <a:spAutoFit/>
              </a:bodyPr>
              <a:lstStyle/>
              <a:p>
                <a:pPr algn="l"/>
                <a:r>
                  <a:rPr lang="vi-VN" sz="1420" dirty="0">
                    <a:solidFill>
                      <a:srgbClr val="FFFFFF"/>
                    </a:solidFill>
                    <a:latin typeface="+mn-lt"/>
                    <a:ea typeface="+mn-ea"/>
                    <a:cs typeface="+mn-cs"/>
                  </a:rPr>
                  <a:t>Độ tăng nhiệt trên mỗi 1% gas</a:t>
                </a:r>
              </a:p>
            </p:txBody>
          </p:sp>
        </p:grpSp>
      </p:grpSp>
      <p:sp>
        <p:nvSpPr>
          <p:cNvPr id="46" name="TextBox 46"/>
          <p:cNvSpPr txBox="1"/>
          <p:nvPr/>
        </p:nvSpPr>
        <p:spPr>
          <a:xfrm>
            <a:off x="603885" y="6317456"/>
            <a:ext cx="1700900" cy="220028"/>
          </a:xfrm>
          <a:prstGeom prst="rect">
            <a:avLst/>
          </a:prstGeom>
          <a:noFill/>
          <a:ln>
            <a:noFill/>
          </a:ln>
        </p:spPr>
        <p:txBody>
          <a:bodyPr wrap="none" lIns="0" tIns="0" rIns="0" bIns="0" anchor="t" anchorCtr="0">
            <a:spAutoFit/>
          </a:bodyPr>
          <a:lstStyle/>
          <a:p>
            <a:pPr algn="l"/>
            <a:r>
              <a:rPr lang="vi-VN" sz="1120" b="1" dirty="0">
                <a:solidFill>
                  <a:schemeClr val="accent1"/>
                </a:solidFill>
                <a:latin typeface="+mn-lt"/>
                <a:ea typeface="+mn-ea"/>
                <a:cs typeface="+mn-cs"/>
              </a:rPr>
              <a:t>O TESLA · OTL-06ALS</a:t>
            </a:r>
          </a:p>
        </p:txBody>
      </p:sp>
      <p:sp>
        <p:nvSpPr>
          <p:cNvPr id="47" name="TextBox 47"/>
          <p:cNvSpPr txBox="1"/>
          <p:nvPr/>
        </p:nvSpPr>
        <p:spPr>
          <a:xfrm>
            <a:off x="11071591" y="6317456"/>
            <a:ext cx="516524" cy="220028"/>
          </a:xfrm>
          <a:prstGeom prst="rect">
            <a:avLst/>
          </a:prstGeom>
          <a:noFill/>
          <a:ln>
            <a:noFill/>
          </a:ln>
        </p:spPr>
        <p:txBody>
          <a:bodyPr wrap="none" lIns="0" tIns="0" rIns="0" bIns="0" anchor="t" anchorCtr="0">
            <a:spAutoFit/>
          </a:bodyPr>
          <a:lstStyle/>
          <a:p>
            <a:pPr algn="r"/>
            <a:r>
              <a:rPr lang="vi-VN" sz="1120" dirty="0">
                <a:solidFill>
                  <a:schemeClr val="dk1"/>
                </a:solidFill>
                <a:latin typeface="+mn-lt"/>
                <a:ea typeface="+mn-ea"/>
                <a:cs typeface="+mn-cs"/>
              </a:rPr>
              <a:t>08 / 11</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122" y="501968"/>
            <a:ext cx="3608596" cy="814577"/>
            <a:chOff x="595122" y="501968"/>
            <a:chExt cx="3608596" cy="814577"/>
          </a:xfrm>
        </p:grpSpPr>
        <p:sp>
          <p:nvSpPr>
            <p:cNvPr id="2" name="TextBox 2"/>
            <p:cNvSpPr txBox="1"/>
            <p:nvPr/>
          </p:nvSpPr>
          <p:spPr>
            <a:xfrm>
              <a:off x="602742" y="501968"/>
              <a:ext cx="1886217" cy="264033"/>
            </a:xfrm>
            <a:prstGeom prst="rect">
              <a:avLst/>
            </a:prstGeom>
            <a:noFill/>
            <a:ln>
              <a:noFill/>
            </a:ln>
          </p:spPr>
          <p:txBody>
            <a:bodyPr wrap="none" lIns="0" tIns="0" rIns="0" bIns="0" anchor="t" anchorCtr="0">
              <a:spAutoFit/>
            </a:bodyPr>
            <a:lstStyle/>
            <a:p>
              <a:pPr algn="l"/>
              <a:r>
                <a:rPr lang="vi-VN" sz="1350" b="1" spc="98" dirty="0">
                  <a:solidFill>
                    <a:schemeClr val="accent2"/>
                  </a:solidFill>
                  <a:latin typeface="+mn-lt"/>
                  <a:ea typeface="+mn-ea"/>
                  <a:cs typeface="+mn-cs"/>
                </a:rPr>
                <a:t>AN TOÀN VẬN HÀNH</a:t>
              </a:r>
            </a:p>
          </p:txBody>
        </p:sp>
        <p:sp>
          <p:nvSpPr>
            <p:cNvPr id="3" name="TextBox 3"/>
            <p:cNvSpPr txBox="1"/>
            <p:nvPr/>
          </p:nvSpPr>
          <p:spPr>
            <a:xfrm>
              <a:off x="595122" y="759142"/>
              <a:ext cx="3608596" cy="557403"/>
            </a:xfrm>
            <a:prstGeom prst="rect">
              <a:avLst/>
            </a:prstGeom>
            <a:noFill/>
            <a:ln>
              <a:noFill/>
            </a:ln>
          </p:spPr>
          <p:txBody>
            <a:bodyPr wrap="none" lIns="0" tIns="0" rIns="0" bIns="0" anchor="t" anchorCtr="0">
              <a:spAutoFit/>
            </a:bodyPr>
            <a:lstStyle/>
            <a:p>
              <a:pPr algn="l"/>
              <a:r>
                <a:rPr lang="vi-VN" sz="2850" b="1" dirty="0">
                  <a:solidFill>
                    <a:schemeClr val="accent1"/>
                  </a:solidFill>
                  <a:latin typeface="+mn-lt"/>
                  <a:ea typeface="+mn-ea"/>
                  <a:cs typeface="+mn-cs"/>
                </a:rPr>
                <a:t>Giám sát và bảo vệ</a:t>
              </a:r>
            </a:p>
          </p:txBody>
        </p:sp>
      </p:grpSp>
      <p:grpSp>
        <p:nvGrpSpPr>
          <p:cNvPr id="26" name="Group 26"/>
          <p:cNvGrpSpPr/>
          <p:nvPr/>
        </p:nvGrpSpPr>
        <p:grpSpPr>
          <a:xfrm>
            <a:off x="603123" y="1653064"/>
            <a:ext cx="2825292" cy="3894487"/>
            <a:chOff x="603123" y="1653064"/>
            <a:chExt cx="2825292" cy="3894487"/>
          </a:xfrm>
        </p:grpSpPr>
        <p:sp>
          <p:nvSpPr>
            <p:cNvPr id="5" name="TextBox 5"/>
            <p:cNvSpPr txBox="1"/>
            <p:nvPr/>
          </p:nvSpPr>
          <p:spPr>
            <a:xfrm>
              <a:off x="603123" y="1653064"/>
              <a:ext cx="1819516" cy="249364"/>
            </a:xfrm>
            <a:prstGeom prst="rect">
              <a:avLst/>
            </a:prstGeom>
            <a:noFill/>
            <a:ln>
              <a:noFill/>
            </a:ln>
          </p:spPr>
          <p:txBody>
            <a:bodyPr wrap="none" lIns="0" tIns="0" rIns="0" bIns="0" anchor="t" anchorCtr="0">
              <a:spAutoFit/>
            </a:bodyPr>
            <a:lstStyle/>
            <a:p>
              <a:pPr algn="l"/>
              <a:r>
                <a:rPr lang="vi-VN" sz="1280" b="1" dirty="0">
                  <a:solidFill>
                    <a:schemeClr val="accent3"/>
                  </a:solidFill>
                  <a:latin typeface="+mn-lt"/>
                  <a:ea typeface="+mn-ea"/>
                  <a:cs typeface="+mn-cs"/>
                </a:rPr>
                <a:t>5 CỜ LỖI TỰ GIÁM SÁT</a:t>
              </a:r>
            </a:p>
          </p:txBody>
        </p:sp>
        <p:grpSp>
          <p:nvGrpSpPr>
            <p:cNvPr id="9" name="Group 9"/>
            <p:cNvGrpSpPr/>
            <p:nvPr/>
          </p:nvGrpSpPr>
          <p:grpSpPr>
            <a:xfrm>
              <a:off x="695325" y="2039779"/>
              <a:ext cx="2486743" cy="535972"/>
              <a:chOff x="695325" y="2039779"/>
              <a:chExt cx="2486743" cy="535972"/>
            </a:xfrm>
          </p:grpSpPr>
          <p:sp>
            <p:nvSpPr>
              <p:cNvPr id="6" name="Ellipse 6"/>
              <p:cNvSpPr/>
              <p:nvPr/>
            </p:nvSpPr>
            <p:spPr>
              <a:xfrm>
                <a:off x="695325" y="2171700"/>
                <a:ext cx="190500" cy="190500"/>
              </a:xfrm>
              <a:prstGeom prst="ellipse">
                <a:avLst/>
              </a:prstGeom>
              <a:solidFill>
                <a:schemeClr val="accent3"/>
              </a:solidFill>
              <a:ln>
                <a:noFill/>
              </a:ln>
            </p:spPr>
          </p:sp>
          <p:sp>
            <p:nvSpPr>
              <p:cNvPr id="7" name="TextBox 7"/>
              <p:cNvSpPr txBox="1"/>
              <p:nvPr/>
            </p:nvSpPr>
            <p:spPr>
              <a:xfrm>
                <a:off x="1058799" y="2039779"/>
                <a:ext cx="2123269" cy="308039"/>
              </a:xfrm>
              <a:prstGeom prst="rect">
                <a:avLst/>
              </a:prstGeom>
              <a:noFill/>
              <a:ln>
                <a:noFill/>
              </a:ln>
            </p:spPr>
            <p:txBody>
              <a:bodyPr wrap="none" lIns="0" tIns="0" rIns="0" bIns="0" anchor="t" anchorCtr="0">
                <a:spAutoFit/>
              </a:bodyPr>
              <a:lstStyle/>
              <a:p>
                <a:pPr algn="l"/>
                <a:r>
                  <a:rPr lang="vi-VN" sz="1580" b="1" dirty="0">
                    <a:solidFill>
                      <a:schemeClr val="accent1"/>
                    </a:solidFill>
                    <a:latin typeface="+mn-lt"/>
                    <a:ea typeface="+mn-ea"/>
                    <a:cs typeface="+mn-cs"/>
                  </a:rPr>
                  <a:t>Mất tín hiệu đầu dò</a:t>
                </a:r>
              </a:p>
            </p:txBody>
          </p:sp>
          <p:sp>
            <p:nvSpPr>
              <p:cNvPr id="8" name="TextBox 8"/>
              <p:cNvSpPr txBox="1"/>
              <p:nvPr/>
            </p:nvSpPr>
            <p:spPr>
              <a:xfrm>
                <a:off x="1059942" y="2311718"/>
                <a:ext cx="211157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BT hoặc ET sụt đột ngột</a:t>
                </a:r>
              </a:p>
            </p:txBody>
          </p:sp>
        </p:grpSp>
        <p:grpSp>
          <p:nvGrpSpPr>
            <p:cNvPr id="13" name="Group 13"/>
            <p:cNvGrpSpPr/>
            <p:nvPr/>
          </p:nvGrpSpPr>
          <p:grpSpPr>
            <a:xfrm>
              <a:off x="695325" y="2782729"/>
              <a:ext cx="2002655" cy="535972"/>
              <a:chOff x="695325" y="2782729"/>
              <a:chExt cx="2002655" cy="535972"/>
            </a:xfrm>
          </p:grpSpPr>
          <p:sp>
            <p:nvSpPr>
              <p:cNvPr id="10" name="Ellipse 10"/>
              <p:cNvSpPr/>
              <p:nvPr/>
            </p:nvSpPr>
            <p:spPr>
              <a:xfrm>
                <a:off x="695325" y="2914650"/>
                <a:ext cx="190500" cy="190500"/>
              </a:xfrm>
              <a:prstGeom prst="ellipse">
                <a:avLst/>
              </a:prstGeom>
              <a:solidFill>
                <a:schemeClr val="accent3"/>
              </a:solidFill>
              <a:ln>
                <a:noFill/>
              </a:ln>
            </p:spPr>
          </p:sp>
          <p:sp>
            <p:nvSpPr>
              <p:cNvPr id="11" name="TextBox 11"/>
              <p:cNvSpPr txBox="1"/>
              <p:nvPr/>
            </p:nvSpPr>
            <p:spPr>
              <a:xfrm>
                <a:off x="1058799" y="2782729"/>
                <a:ext cx="1639181" cy="308039"/>
              </a:xfrm>
              <a:prstGeom prst="rect">
                <a:avLst/>
              </a:prstGeom>
              <a:noFill/>
              <a:ln>
                <a:noFill/>
              </a:ln>
            </p:spPr>
            <p:txBody>
              <a:bodyPr wrap="none" lIns="0" tIns="0" rIns="0" bIns="0" anchor="t" anchorCtr="0">
                <a:spAutoFit/>
              </a:bodyPr>
              <a:lstStyle/>
              <a:p>
                <a:pPr algn="l"/>
                <a:r>
                  <a:rPr lang="vi-VN" sz="1580" b="1" dirty="0">
                    <a:solidFill>
                      <a:schemeClr val="accent1"/>
                    </a:solidFill>
                    <a:latin typeface="+mn-lt"/>
                    <a:ea typeface="+mn-ea"/>
                    <a:cs typeface="+mn-cs"/>
                  </a:rPr>
                  <a:t>RoR bất thường</a:t>
                </a:r>
              </a:p>
            </p:txBody>
          </p:sp>
          <p:sp>
            <p:nvSpPr>
              <p:cNvPr id="12" name="TextBox 12"/>
              <p:cNvSpPr txBox="1"/>
              <p:nvPr/>
            </p:nvSpPr>
            <p:spPr>
              <a:xfrm>
                <a:off x="1059942" y="3054668"/>
                <a:ext cx="1537355"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Vượt dải cho phép</a:t>
                </a:r>
              </a:p>
            </p:txBody>
          </p:sp>
        </p:grpSp>
        <p:grpSp>
          <p:nvGrpSpPr>
            <p:cNvPr id="17" name="Group 17"/>
            <p:cNvGrpSpPr/>
            <p:nvPr/>
          </p:nvGrpSpPr>
          <p:grpSpPr>
            <a:xfrm>
              <a:off x="695325" y="3525679"/>
              <a:ext cx="2701725" cy="535972"/>
              <a:chOff x="695325" y="3525679"/>
              <a:chExt cx="2701725" cy="535972"/>
            </a:xfrm>
          </p:grpSpPr>
          <p:sp>
            <p:nvSpPr>
              <p:cNvPr id="14" name="Ellipse 14"/>
              <p:cNvSpPr/>
              <p:nvPr/>
            </p:nvSpPr>
            <p:spPr>
              <a:xfrm>
                <a:off x="695325" y="3657600"/>
                <a:ext cx="190500" cy="190500"/>
              </a:xfrm>
              <a:prstGeom prst="ellipse">
                <a:avLst/>
              </a:prstGeom>
              <a:solidFill>
                <a:schemeClr val="accent2"/>
              </a:solidFill>
              <a:ln>
                <a:noFill/>
              </a:ln>
            </p:spPr>
          </p:sp>
          <p:sp>
            <p:nvSpPr>
              <p:cNvPr id="15" name="TextBox 15"/>
              <p:cNvSpPr txBox="1"/>
              <p:nvPr/>
            </p:nvSpPr>
            <p:spPr>
              <a:xfrm>
                <a:off x="1058799" y="3525679"/>
                <a:ext cx="816319" cy="308039"/>
              </a:xfrm>
              <a:prstGeom prst="rect">
                <a:avLst/>
              </a:prstGeom>
              <a:noFill/>
              <a:ln>
                <a:noFill/>
              </a:ln>
            </p:spPr>
            <p:txBody>
              <a:bodyPr wrap="none" lIns="0" tIns="0" rIns="0" bIns="0" anchor="t" anchorCtr="0">
                <a:spAutoFit/>
              </a:bodyPr>
              <a:lstStyle/>
              <a:p>
                <a:pPr algn="l"/>
                <a:r>
                  <a:rPr lang="vi-VN" sz="1580" b="1" dirty="0">
                    <a:solidFill>
                      <a:schemeClr val="accent1"/>
                    </a:solidFill>
                    <a:latin typeface="+mn-lt"/>
                    <a:ea typeface="+mn-ea"/>
                    <a:cs typeface="+mn-cs"/>
                  </a:rPr>
                  <a:t>Mất lửa</a:t>
                </a:r>
              </a:p>
            </p:txBody>
          </p:sp>
          <p:sp>
            <p:nvSpPr>
              <p:cNvPr id="16" name="TextBox 16"/>
              <p:cNvSpPr txBox="1"/>
              <p:nvPr/>
            </p:nvSpPr>
            <p:spPr>
              <a:xfrm>
                <a:off x="1059942" y="3797618"/>
                <a:ext cx="2337108"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Cấp gas mà nhiệt không lên</a:t>
                </a:r>
              </a:p>
            </p:txBody>
          </p:sp>
        </p:grpSp>
        <p:grpSp>
          <p:nvGrpSpPr>
            <p:cNvPr id="21" name="Group 21"/>
            <p:cNvGrpSpPr/>
            <p:nvPr/>
          </p:nvGrpSpPr>
          <p:grpSpPr>
            <a:xfrm>
              <a:off x="695325" y="4268629"/>
              <a:ext cx="2733090" cy="535972"/>
              <a:chOff x="695325" y="4268629"/>
              <a:chExt cx="2733090" cy="535972"/>
            </a:xfrm>
          </p:grpSpPr>
          <p:sp>
            <p:nvSpPr>
              <p:cNvPr id="18" name="Ellipse 18"/>
              <p:cNvSpPr/>
              <p:nvPr/>
            </p:nvSpPr>
            <p:spPr>
              <a:xfrm>
                <a:off x="695325" y="4400550"/>
                <a:ext cx="190500" cy="190500"/>
              </a:xfrm>
              <a:prstGeom prst="ellipse">
                <a:avLst/>
              </a:prstGeom>
              <a:solidFill>
                <a:schemeClr val="accent3"/>
              </a:solidFill>
              <a:ln>
                <a:noFill/>
              </a:ln>
            </p:spPr>
          </p:sp>
          <p:sp>
            <p:nvSpPr>
              <p:cNvPr id="19" name="TextBox 19"/>
              <p:cNvSpPr txBox="1"/>
              <p:nvPr/>
            </p:nvSpPr>
            <p:spPr>
              <a:xfrm>
                <a:off x="1058799" y="4268629"/>
                <a:ext cx="2369616" cy="308039"/>
              </a:xfrm>
              <a:prstGeom prst="rect">
                <a:avLst/>
              </a:prstGeom>
              <a:noFill/>
              <a:ln>
                <a:noFill/>
              </a:ln>
            </p:spPr>
            <p:txBody>
              <a:bodyPr wrap="none" lIns="0" tIns="0" rIns="0" bIns="0" anchor="t" anchorCtr="0">
                <a:spAutoFit/>
              </a:bodyPr>
              <a:lstStyle/>
              <a:p>
                <a:pPr algn="l"/>
                <a:r>
                  <a:rPr lang="vi-VN" sz="1580" b="1" dirty="0">
                    <a:solidFill>
                      <a:schemeClr val="accent1"/>
                    </a:solidFill>
                    <a:latin typeface="+mn-lt"/>
                    <a:ea typeface="+mn-ea"/>
                    <a:cs typeface="+mn-cs"/>
                  </a:rPr>
                  <a:t>Mất truyền thông HMI</a:t>
                </a:r>
              </a:p>
            </p:txBody>
          </p:sp>
          <p:sp>
            <p:nvSpPr>
              <p:cNvPr id="20" name="TextBox 20"/>
              <p:cNvSpPr txBox="1"/>
              <p:nvPr/>
            </p:nvSpPr>
            <p:spPr>
              <a:xfrm>
                <a:off x="1059942" y="4540568"/>
                <a:ext cx="207380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Màn hình không đáp ứng</a:t>
                </a:r>
              </a:p>
            </p:txBody>
          </p:sp>
        </p:grpSp>
        <p:grpSp>
          <p:nvGrpSpPr>
            <p:cNvPr id="25" name="Group 25"/>
            <p:cNvGrpSpPr/>
            <p:nvPr/>
          </p:nvGrpSpPr>
          <p:grpSpPr>
            <a:xfrm>
              <a:off x="695325" y="5011579"/>
              <a:ext cx="2329798" cy="535972"/>
              <a:chOff x="695325" y="5011579"/>
              <a:chExt cx="2329798" cy="535972"/>
            </a:xfrm>
          </p:grpSpPr>
          <p:sp>
            <p:nvSpPr>
              <p:cNvPr id="22" name="Ellipse 22"/>
              <p:cNvSpPr/>
              <p:nvPr/>
            </p:nvSpPr>
            <p:spPr>
              <a:xfrm>
                <a:off x="695325" y="5143500"/>
                <a:ext cx="190500" cy="190500"/>
              </a:xfrm>
              <a:prstGeom prst="ellipse">
                <a:avLst/>
              </a:prstGeom>
              <a:solidFill>
                <a:schemeClr val="accent3"/>
              </a:solidFill>
              <a:ln>
                <a:noFill/>
              </a:ln>
            </p:spPr>
          </p:sp>
          <p:sp>
            <p:nvSpPr>
              <p:cNvPr id="23" name="TextBox 23"/>
              <p:cNvSpPr txBox="1"/>
              <p:nvPr/>
            </p:nvSpPr>
            <p:spPr>
              <a:xfrm>
                <a:off x="1058799" y="5011579"/>
                <a:ext cx="1207120" cy="308039"/>
              </a:xfrm>
              <a:prstGeom prst="rect">
                <a:avLst/>
              </a:prstGeom>
              <a:noFill/>
              <a:ln>
                <a:noFill/>
              </a:ln>
            </p:spPr>
            <p:txBody>
              <a:bodyPr wrap="none" lIns="0" tIns="0" rIns="0" bIns="0" anchor="t" anchorCtr="0">
                <a:spAutoFit/>
              </a:bodyPr>
              <a:lstStyle/>
              <a:p>
                <a:pPr algn="l"/>
                <a:r>
                  <a:rPr lang="vi-VN" sz="1580" b="1" dirty="0">
                    <a:solidFill>
                      <a:schemeClr val="accent1"/>
                    </a:solidFill>
                    <a:latin typeface="+mn-lt"/>
                    <a:ea typeface="+mn-ea"/>
                    <a:cs typeface="+mn-cs"/>
                  </a:rPr>
                  <a:t>Lỗi thẻ nhớ</a:t>
                </a:r>
              </a:p>
            </p:txBody>
          </p:sp>
          <p:sp>
            <p:nvSpPr>
              <p:cNvPr id="24" name="TextBox 24"/>
              <p:cNvSpPr txBox="1"/>
              <p:nvPr/>
            </p:nvSpPr>
            <p:spPr>
              <a:xfrm>
                <a:off x="1059942" y="5283518"/>
                <a:ext cx="1965181"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Mất log, máy vẫn chạy</a:t>
                </a:r>
              </a:p>
            </p:txBody>
          </p:sp>
        </p:grpSp>
      </p:grpSp>
      <p:grpSp>
        <p:nvGrpSpPr>
          <p:cNvPr id="42" name="Group 42"/>
          <p:cNvGrpSpPr/>
          <p:nvPr/>
        </p:nvGrpSpPr>
        <p:grpSpPr>
          <a:xfrm>
            <a:off x="7334250" y="1524000"/>
            <a:ext cx="4248150" cy="3981450"/>
            <a:chOff x="7334250" y="1524000"/>
            <a:chExt cx="4248150" cy="3981450"/>
          </a:xfrm>
        </p:grpSpPr>
        <p:sp>
          <p:nvSpPr>
            <p:cNvPr id="27" name="Rectangle 27"/>
            <p:cNvSpPr/>
            <p:nvPr/>
          </p:nvSpPr>
          <p:spPr>
            <a:xfrm>
              <a:off x="7334250" y="1524000"/>
              <a:ext cx="4248150" cy="1866900"/>
            </a:xfrm>
            <a:prstGeom prst="roundRect">
              <a:avLst>
                <a:gd name="adj" fmla="val 7143"/>
              </a:avLst>
            </a:prstGeom>
            <a:solidFill>
              <a:schemeClr val="accent1"/>
            </a:solidFill>
            <a:ln>
              <a:noFill/>
            </a:ln>
          </p:spPr>
        </p:sp>
        <p:grpSp>
          <p:nvGrpSpPr>
            <p:cNvPr id="30" name="Group 30"/>
            <p:cNvGrpSpPr/>
            <p:nvPr/>
          </p:nvGrpSpPr>
          <p:grpSpPr>
            <a:xfrm>
              <a:off x="7666561" y="1859756"/>
              <a:ext cx="325511" cy="300038"/>
              <a:chOff x="7666561" y="1859756"/>
              <a:chExt cx="325511" cy="300038"/>
            </a:xfrm>
          </p:grpSpPr>
          <p:sp>
            <p:nvSpPr>
              <p:cNvPr id="28" name="Freeform 28"/>
              <p:cNvSpPr/>
              <p:nvPr/>
            </p:nvSpPr>
            <p:spPr>
              <a:xfrm>
                <a:off x="7666561" y="1859756"/>
                <a:ext cx="325511" cy="297471"/>
              </a:xfrm>
              <a:custGeom>
                <a:avLst/>
                <a:gdLst/>
                <a:ahLst/>
                <a:cxnLst/>
                <a:rect l="l" t="t" r="r" b="b"/>
                <a:pathLst>
                  <a:path w="325511" h="297471">
                    <a:moveTo>
                      <a:pt x="163513" y="297471"/>
                    </a:moveTo>
                    <a:cubicBezTo>
                      <a:pt x="59091" y="265102"/>
                      <a:pt x="0" y="154893"/>
                      <a:pt x="30830" y="50006"/>
                    </a:cubicBezTo>
                    <a:cubicBezTo>
                      <a:pt x="82762" y="52383"/>
                      <a:pt x="133579" y="34447"/>
                      <a:pt x="172514" y="0"/>
                    </a:cubicBezTo>
                    <a:cubicBezTo>
                      <a:pt x="211449" y="34447"/>
                      <a:pt x="262267" y="52383"/>
                      <a:pt x="314198" y="50006"/>
                    </a:cubicBezTo>
                    <a:cubicBezTo>
                      <a:pt x="325511" y="88496"/>
                      <a:pt x="324988" y="129499"/>
                      <a:pt x="312698" y="167688"/>
                    </a:cubicBezTo>
                  </a:path>
                </a:pathLst>
              </a:custGeom>
              <a:noFill/>
              <a:ln w="33338">
                <a:solidFill>
                  <a:schemeClr val="accent2"/>
                </a:solidFill>
              </a:ln>
            </p:spPr>
          </p:sp>
          <p:sp>
            <p:nvSpPr>
              <p:cNvPr id="29" name="Freeform 29"/>
              <p:cNvSpPr/>
              <p:nvPr/>
            </p:nvSpPr>
            <p:spPr>
              <a:xfrm>
                <a:off x="7889081" y="2093119"/>
                <a:ext cx="100012" cy="66675"/>
              </a:xfrm>
              <a:custGeom>
                <a:avLst/>
                <a:gdLst/>
                <a:ahLst/>
                <a:cxnLst/>
                <a:rect l="l" t="t" r="r" b="b"/>
                <a:pathLst>
                  <a:path w="100012" h="66675">
                    <a:moveTo>
                      <a:pt x="0" y="33338"/>
                    </a:moveTo>
                    <a:lnTo>
                      <a:pt x="33338" y="66675"/>
                    </a:lnTo>
                    <a:lnTo>
                      <a:pt x="100012" y="0"/>
                    </a:lnTo>
                  </a:path>
                </a:pathLst>
              </a:custGeom>
              <a:noFill/>
              <a:ln w="33338">
                <a:solidFill>
                  <a:schemeClr val="accent2"/>
                </a:solidFill>
              </a:ln>
            </p:spPr>
          </p:sp>
        </p:grpSp>
        <p:sp>
          <p:nvSpPr>
            <p:cNvPr id="31" name="TextBox 31"/>
            <p:cNvSpPr txBox="1"/>
            <p:nvPr/>
          </p:nvSpPr>
          <p:spPr>
            <a:xfrm>
              <a:off x="8203692" y="1902142"/>
              <a:ext cx="1001679" cy="264033"/>
            </a:xfrm>
            <a:prstGeom prst="rect">
              <a:avLst/>
            </a:prstGeom>
            <a:noFill/>
            <a:ln>
              <a:noFill/>
            </a:ln>
          </p:spPr>
          <p:txBody>
            <a:bodyPr wrap="none" lIns="0" tIns="0" rIns="0" bIns="0" anchor="t" anchorCtr="0">
              <a:spAutoFit/>
            </a:bodyPr>
            <a:lstStyle/>
            <a:p>
              <a:pPr algn="l"/>
              <a:r>
                <a:rPr lang="vi-VN" sz="1350" b="1" dirty="0">
                  <a:solidFill>
                    <a:schemeClr val="accent2"/>
                  </a:solidFill>
                  <a:latin typeface="+mn-lt"/>
                  <a:ea typeface="+mn-ea"/>
                  <a:cs typeface="+mn-cs"/>
                </a:rPr>
                <a:t>KHOÁ CỨNG</a:t>
              </a:r>
            </a:p>
          </p:txBody>
        </p:sp>
        <p:sp>
          <p:nvSpPr>
            <p:cNvPr id="32" name="TextBox 32"/>
            <p:cNvSpPr txBox="1"/>
            <p:nvPr/>
          </p:nvSpPr>
          <p:spPr>
            <a:xfrm>
              <a:off x="7628763" y="2353151"/>
              <a:ext cx="2705624" cy="396050"/>
            </a:xfrm>
            <a:prstGeom prst="rect">
              <a:avLst/>
            </a:prstGeom>
            <a:noFill/>
            <a:ln>
              <a:noFill/>
            </a:ln>
          </p:spPr>
          <p:txBody>
            <a:bodyPr wrap="none" lIns="0" tIns="0" rIns="0" bIns="0" anchor="t" anchorCtr="0">
              <a:spAutoFit/>
            </a:bodyPr>
            <a:lstStyle/>
            <a:p>
              <a:pPr algn="l"/>
              <a:r>
                <a:rPr lang="vi-VN" sz="2020" b="1" dirty="0">
                  <a:solidFill>
                    <a:srgbClr val="FFFFFF"/>
                  </a:solidFill>
                  <a:latin typeface="+mn-lt"/>
                  <a:ea typeface="+mn-ea"/>
                  <a:cs typeface="+mn-cs"/>
                </a:rPr>
                <a:t>ET − BT VƯỢT 160°C</a:t>
              </a:r>
            </a:p>
          </p:txBody>
        </p:sp>
        <p:sp>
          <p:nvSpPr>
            <p:cNvPr id="33" name="TextBox 33"/>
            <p:cNvSpPr txBox="1"/>
            <p:nvPr/>
          </p:nvSpPr>
          <p:spPr>
            <a:xfrm>
              <a:off x="7631811" y="2846546"/>
              <a:ext cx="3175491" cy="278702"/>
            </a:xfrm>
            <a:prstGeom prst="rect">
              <a:avLst/>
            </a:prstGeom>
            <a:noFill/>
            <a:ln>
              <a:noFill/>
            </a:ln>
          </p:spPr>
          <p:txBody>
            <a:bodyPr wrap="none" lIns="0" tIns="0" rIns="0" bIns="0" anchor="t" anchorCtr="0">
              <a:spAutoFit/>
            </a:bodyPr>
            <a:lstStyle/>
            <a:p>
              <a:pPr algn="l"/>
              <a:r>
                <a:rPr lang="vi-VN" sz="1420" dirty="0">
                  <a:solidFill>
                    <a:srgbClr val="FFFFFF"/>
                  </a:solidFill>
                  <a:latin typeface="+mn-lt"/>
                  <a:ea typeface="+mn-ea"/>
                  <a:cs typeface="+mn-cs"/>
                </a:rPr>
                <a:t>Huỷ gia nhiệt, khoá gas và báo lỗi.</a:t>
              </a:r>
            </a:p>
          </p:txBody>
        </p:sp>
        <p:sp>
          <p:nvSpPr>
            <p:cNvPr id="34" name="Rectangle 34"/>
            <p:cNvSpPr/>
            <p:nvPr/>
          </p:nvSpPr>
          <p:spPr>
            <a:xfrm>
              <a:off x="7334250" y="3638550"/>
              <a:ext cx="4248150" cy="1866900"/>
            </a:xfrm>
            <a:prstGeom prst="roundRect">
              <a:avLst>
                <a:gd name="adj" fmla="val 7143"/>
              </a:avLst>
            </a:prstGeom>
            <a:solidFill>
              <a:srgbClr val="FFF0ED"/>
            </a:solidFill>
            <a:ln w="19050">
              <a:solidFill>
                <a:schemeClr val="accent2"/>
              </a:solidFill>
            </a:ln>
          </p:spPr>
        </p:sp>
        <p:grpSp>
          <p:nvGrpSpPr>
            <p:cNvPr id="38" name="Group 38"/>
            <p:cNvGrpSpPr/>
            <p:nvPr/>
          </p:nvGrpSpPr>
          <p:grpSpPr>
            <a:xfrm>
              <a:off x="7670969" y="3968769"/>
              <a:ext cx="336200" cy="288840"/>
              <a:chOff x="7670969" y="3968769"/>
              <a:chExt cx="336200" cy="288840"/>
            </a:xfrm>
          </p:grpSpPr>
          <p:sp>
            <p:nvSpPr>
              <p:cNvPr id="35" name="Freeform 35"/>
              <p:cNvSpPr/>
              <p:nvPr/>
            </p:nvSpPr>
            <p:spPr>
              <a:xfrm>
                <a:off x="7839075" y="4074319"/>
                <a:ext cx="9525" cy="66675"/>
              </a:xfrm>
              <a:custGeom>
                <a:avLst/>
                <a:gdLst/>
                <a:ahLst/>
                <a:cxnLst/>
                <a:rect l="l" t="t" r="r" b="b"/>
                <a:pathLst>
                  <a:path w="9525" h="66675">
                    <a:moveTo>
                      <a:pt x="0" y="0"/>
                    </a:moveTo>
                    <a:lnTo>
                      <a:pt x="0" y="66675"/>
                    </a:lnTo>
                  </a:path>
                </a:pathLst>
              </a:custGeom>
              <a:noFill/>
              <a:ln w="33338">
                <a:solidFill>
                  <a:schemeClr val="accent2"/>
                </a:solidFill>
              </a:ln>
            </p:spPr>
          </p:sp>
          <p:sp>
            <p:nvSpPr>
              <p:cNvPr id="36" name="Freeform 36"/>
              <p:cNvSpPr/>
              <p:nvPr/>
            </p:nvSpPr>
            <p:spPr>
              <a:xfrm>
                <a:off x="7670969" y="3968769"/>
                <a:ext cx="336200" cy="288840"/>
              </a:xfrm>
              <a:custGeom>
                <a:avLst/>
                <a:gdLst/>
                <a:ahLst/>
                <a:cxnLst/>
                <a:rect l="l" t="t" r="r" b="b"/>
                <a:pathLst>
                  <a:path w="336200" h="288840">
                    <a:moveTo>
                      <a:pt x="140820" y="15389"/>
                    </a:moveTo>
                    <a:lnTo>
                      <a:pt x="5703" y="240984"/>
                    </a:lnTo>
                    <a:cubicBezTo>
                      <a:pt x="35" y="250799"/>
                      <a:pt x="0" y="262885"/>
                      <a:pt x="5612" y="272733"/>
                    </a:cubicBezTo>
                    <a:cubicBezTo>
                      <a:pt x="11223" y="282581"/>
                      <a:pt x="21639" y="288712"/>
                      <a:pt x="32973" y="288840"/>
                    </a:cubicBezTo>
                    <a:lnTo>
                      <a:pt x="303240" y="288840"/>
                    </a:lnTo>
                    <a:cubicBezTo>
                      <a:pt x="314569" y="288709"/>
                      <a:pt x="324978" y="282580"/>
                      <a:pt x="330589" y="272738"/>
                    </a:cubicBezTo>
                    <a:cubicBezTo>
                      <a:pt x="336200" y="262895"/>
                      <a:pt x="336169" y="250815"/>
                      <a:pt x="330510" y="241000"/>
                    </a:cubicBezTo>
                    <a:lnTo>
                      <a:pt x="195393" y="15372"/>
                    </a:lnTo>
                    <a:cubicBezTo>
                      <a:pt x="189611" y="5829"/>
                      <a:pt x="179264" y="0"/>
                      <a:pt x="168106" y="0"/>
                    </a:cubicBezTo>
                    <a:cubicBezTo>
                      <a:pt x="156948" y="0"/>
                      <a:pt x="146601" y="5829"/>
                      <a:pt x="140820" y="15372"/>
                    </a:cubicBezTo>
                  </a:path>
                </a:pathLst>
              </a:custGeom>
              <a:noFill/>
              <a:ln w="33338">
                <a:solidFill>
                  <a:schemeClr val="accent2"/>
                </a:solidFill>
              </a:ln>
            </p:spPr>
          </p:sp>
          <p:sp>
            <p:nvSpPr>
              <p:cNvPr id="37" name="Freeform 37"/>
              <p:cNvSpPr/>
              <p:nvPr/>
            </p:nvSpPr>
            <p:spPr>
              <a:xfrm>
                <a:off x="7839075" y="4191000"/>
                <a:ext cx="9525" cy="9525"/>
              </a:xfrm>
              <a:custGeom>
                <a:avLst/>
                <a:gdLst/>
                <a:ahLst/>
                <a:cxnLst/>
                <a:rect l="l" t="t" r="r" b="b"/>
                <a:pathLst>
                  <a:path w="9525" h="9525">
                    <a:moveTo>
                      <a:pt x="0" y="0"/>
                    </a:moveTo>
                    <a:lnTo>
                      <a:pt x="167" y="0"/>
                    </a:lnTo>
                  </a:path>
                </a:pathLst>
              </a:custGeom>
              <a:noFill/>
              <a:ln w="33338">
                <a:solidFill>
                  <a:schemeClr val="accent2"/>
                </a:solidFill>
              </a:ln>
            </p:spPr>
          </p:sp>
        </p:grpSp>
        <p:sp>
          <p:nvSpPr>
            <p:cNvPr id="39" name="TextBox 39"/>
            <p:cNvSpPr txBox="1"/>
            <p:nvPr/>
          </p:nvSpPr>
          <p:spPr>
            <a:xfrm>
              <a:off x="8203692" y="4016692"/>
              <a:ext cx="1001679" cy="264033"/>
            </a:xfrm>
            <a:prstGeom prst="rect">
              <a:avLst/>
            </a:prstGeom>
            <a:noFill/>
            <a:ln>
              <a:noFill/>
            </a:ln>
          </p:spPr>
          <p:txBody>
            <a:bodyPr wrap="none" lIns="0" tIns="0" rIns="0" bIns="0" anchor="t" anchorCtr="0">
              <a:spAutoFit/>
            </a:bodyPr>
            <a:lstStyle/>
            <a:p>
              <a:pPr algn="l"/>
              <a:r>
                <a:rPr lang="vi-VN" sz="1350" b="1" dirty="0">
                  <a:solidFill>
                    <a:schemeClr val="accent2"/>
                  </a:solidFill>
                  <a:latin typeface="+mn-lt"/>
                  <a:ea typeface="+mn-ea"/>
                  <a:cs typeface="+mn-cs"/>
                </a:rPr>
                <a:t>KHOÁ CỨNG</a:t>
              </a:r>
            </a:p>
          </p:txBody>
        </p:sp>
        <p:sp>
          <p:nvSpPr>
            <p:cNvPr id="40" name="TextBox 40"/>
            <p:cNvSpPr txBox="1"/>
            <p:nvPr/>
          </p:nvSpPr>
          <p:spPr>
            <a:xfrm>
              <a:off x="7628763" y="4467701"/>
              <a:ext cx="2434102" cy="396050"/>
            </a:xfrm>
            <a:prstGeom prst="rect">
              <a:avLst/>
            </a:prstGeom>
            <a:noFill/>
            <a:ln>
              <a:noFill/>
            </a:ln>
          </p:spPr>
          <p:txBody>
            <a:bodyPr wrap="none" lIns="0" tIns="0" rIns="0" bIns="0" anchor="t" anchorCtr="0">
              <a:spAutoFit/>
            </a:bodyPr>
            <a:lstStyle/>
            <a:p>
              <a:pPr algn="l"/>
              <a:r>
                <a:rPr lang="vi-VN" sz="2020" b="1" dirty="0">
                  <a:solidFill>
                    <a:schemeClr val="accent1"/>
                  </a:solidFill>
                  <a:latin typeface="+mn-lt"/>
                  <a:ea typeface="+mn-ea"/>
                  <a:cs typeface="+mn-cs"/>
                </a:rPr>
                <a:t>ĐÁNH LỬA QUÁ GIỜ</a:t>
              </a:r>
            </a:p>
          </p:txBody>
        </p:sp>
        <p:sp>
          <p:nvSpPr>
            <p:cNvPr id="41" name="TextBox 41"/>
            <p:cNvSpPr txBox="1"/>
            <p:nvPr/>
          </p:nvSpPr>
          <p:spPr>
            <a:xfrm>
              <a:off x="7631811" y="4961096"/>
              <a:ext cx="3529118" cy="278702"/>
            </a:xfrm>
            <a:prstGeom prst="rect">
              <a:avLst/>
            </a:prstGeom>
            <a:noFill/>
            <a:ln>
              <a:noFill/>
            </a:ln>
          </p:spPr>
          <p:txBody>
            <a:bodyPr wrap="none" lIns="0" tIns="0" rIns="0" bIns="0" anchor="t" anchorCtr="0">
              <a:spAutoFit/>
            </a:bodyPr>
            <a:lstStyle/>
            <a:p>
              <a:pPr algn="l"/>
              <a:r>
                <a:rPr lang="vi-VN" sz="1420" dirty="0">
                  <a:solidFill>
                    <a:schemeClr val="dk1"/>
                  </a:solidFill>
                  <a:latin typeface="+mn-lt"/>
                  <a:ea typeface="+mn-ea"/>
                  <a:cs typeface="+mn-cs"/>
                </a:rPr>
                <a:t>Không xác nhận được lửa thì khoá gas.</a:t>
              </a:r>
            </a:p>
          </p:txBody>
        </p:sp>
      </p:grpSp>
      <p:sp>
        <p:nvSpPr>
          <p:cNvPr id="43" name="TextBox 43"/>
          <p:cNvSpPr txBox="1"/>
          <p:nvPr/>
        </p:nvSpPr>
        <p:spPr>
          <a:xfrm>
            <a:off x="603885" y="6317456"/>
            <a:ext cx="1700900" cy="220028"/>
          </a:xfrm>
          <a:prstGeom prst="rect">
            <a:avLst/>
          </a:prstGeom>
          <a:noFill/>
          <a:ln>
            <a:noFill/>
          </a:ln>
        </p:spPr>
        <p:txBody>
          <a:bodyPr wrap="none" lIns="0" tIns="0" rIns="0" bIns="0" anchor="t" anchorCtr="0">
            <a:spAutoFit/>
          </a:bodyPr>
          <a:lstStyle/>
          <a:p>
            <a:pPr algn="l"/>
            <a:r>
              <a:rPr lang="vi-VN" sz="1120" b="1" dirty="0">
                <a:solidFill>
                  <a:schemeClr val="accent1"/>
                </a:solidFill>
                <a:latin typeface="+mn-lt"/>
                <a:ea typeface="+mn-ea"/>
                <a:cs typeface="+mn-cs"/>
              </a:rPr>
              <a:t>O TESLA · OTL-06ALS</a:t>
            </a:r>
          </a:p>
        </p:txBody>
      </p:sp>
      <p:sp>
        <p:nvSpPr>
          <p:cNvPr id="44" name="TextBox 44"/>
          <p:cNvSpPr txBox="1"/>
          <p:nvPr/>
        </p:nvSpPr>
        <p:spPr>
          <a:xfrm>
            <a:off x="11071591" y="6317456"/>
            <a:ext cx="516524" cy="220028"/>
          </a:xfrm>
          <a:prstGeom prst="rect">
            <a:avLst/>
          </a:prstGeom>
          <a:noFill/>
          <a:ln>
            <a:noFill/>
          </a:ln>
        </p:spPr>
        <p:txBody>
          <a:bodyPr wrap="none" lIns="0" tIns="0" rIns="0" bIns="0" anchor="t" anchorCtr="0">
            <a:spAutoFit/>
          </a:bodyPr>
          <a:lstStyle/>
          <a:p>
            <a:pPr algn="r"/>
            <a:r>
              <a:rPr lang="vi-VN" sz="1120" dirty="0">
                <a:solidFill>
                  <a:schemeClr val="dk1"/>
                </a:solidFill>
                <a:latin typeface="+mn-lt"/>
                <a:ea typeface="+mn-ea"/>
                <a:cs typeface="+mn-cs"/>
              </a:rPr>
              <a:t>09 / 11</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par>
                          <p:cTn id="8" fill="hold">
                            <p:stCondLst>
                              <p:cond delay="400"/>
                            </p:stCondLst>
                            <p:childTnLst>
                              <p:par>
                                <p:cTn xmlns:p="http://schemas.openxmlformats.org/presentationml/2006/main" id="9" presetID="22" presetClass="entr" presetSubtype="4" fill="hold" grpId="0" nodeType="afterEffect">
                                  <p:stCondLst>
                                    <p:cond delay="120"/>
                                  </p:stCondLst>
                                  <p:childTnLst>
                                    <p:set>
                                      <p:cBhvr>
                                        <p:cTn id="10" dur="1" fill="hold">
                                          <p:stCondLst>
                                            <p:cond delay="0"/>
                                          </p:stCondLst>
                                        </p:cTn>
                                        <p:tgtEl>
                                          <p:spTgt spid="42"/>
                                        </p:tgtEl>
                                        <p:attrNameLst>
                                          <p:attrName>style.visibility</p:attrName>
                                        </p:attrNameLst>
                                      </p:cBhvr>
                                      <p:to>
                                        <p:strVal val="visible"/>
                                      </p:to>
                                    </p:set>
                                    <p:animEffect transition="in" filter="wipe(down)">
                                      <p:cBhvr>
                                        <p:cTn id="11" dur="4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122" y="501968"/>
            <a:ext cx="4977840" cy="814577"/>
            <a:chOff x="595122" y="501968"/>
            <a:chExt cx="4977840" cy="814577"/>
          </a:xfrm>
        </p:grpSpPr>
        <p:sp>
          <p:nvSpPr>
            <p:cNvPr id="2" name="TextBox 2"/>
            <p:cNvSpPr txBox="1"/>
            <p:nvPr/>
          </p:nvSpPr>
          <p:spPr>
            <a:xfrm>
              <a:off x="602742" y="501968"/>
              <a:ext cx="897631" cy="264033"/>
            </a:xfrm>
            <a:prstGeom prst="rect">
              <a:avLst/>
            </a:prstGeom>
            <a:noFill/>
            <a:ln>
              <a:noFill/>
            </a:ln>
          </p:spPr>
          <p:txBody>
            <a:bodyPr wrap="none" lIns="0" tIns="0" rIns="0" bIns="0" anchor="t" anchorCtr="0">
              <a:spAutoFit/>
            </a:bodyPr>
            <a:lstStyle/>
            <a:p>
              <a:pPr algn="l"/>
              <a:r>
                <a:rPr lang="vi-VN" sz="1350" b="1" spc="98" dirty="0">
                  <a:solidFill>
                    <a:schemeClr val="accent2"/>
                  </a:solidFill>
                  <a:latin typeface="+mn-lt"/>
                  <a:ea typeface="+mn-ea"/>
                  <a:cs typeface="+mn-cs"/>
                </a:rPr>
                <a:t>ĐÁNH GIÁ</a:t>
              </a:r>
            </a:p>
          </p:txBody>
        </p:sp>
        <p:sp>
          <p:nvSpPr>
            <p:cNvPr id="3" name="TextBox 3"/>
            <p:cNvSpPr txBox="1"/>
            <p:nvPr/>
          </p:nvSpPr>
          <p:spPr>
            <a:xfrm>
              <a:off x="595122" y="759142"/>
              <a:ext cx="4977840" cy="557403"/>
            </a:xfrm>
            <a:prstGeom prst="rect">
              <a:avLst/>
            </a:prstGeom>
            <a:noFill/>
            <a:ln>
              <a:noFill/>
            </a:ln>
          </p:spPr>
          <p:txBody>
            <a:bodyPr wrap="none" lIns="0" tIns="0" rIns="0" bIns="0" anchor="t" anchorCtr="0">
              <a:spAutoFit/>
            </a:bodyPr>
            <a:lstStyle/>
            <a:p>
              <a:pPr algn="l"/>
              <a:r>
                <a:rPr lang="vi-VN" sz="2850" b="1" dirty="0">
                  <a:solidFill>
                    <a:schemeClr val="accent1"/>
                  </a:solidFill>
                  <a:latin typeface="+mn-lt"/>
                  <a:ea typeface="+mn-ea"/>
                  <a:cs typeface="+mn-cs"/>
                </a:rPr>
                <a:t>So sánh chỉ tiêu vận hành</a:t>
              </a:r>
            </a:p>
          </p:txBody>
        </p:sp>
      </p:grpSp>
      <p:grpSp>
        <p:nvGrpSpPr>
          <p:cNvPr id="27" name="Group 27"/>
          <p:cNvGrpSpPr/>
          <p:nvPr/>
        </p:nvGrpSpPr>
        <p:grpSpPr>
          <a:xfrm>
            <a:off x="609600" y="1562100"/>
            <a:ext cx="10972800" cy="3905250"/>
            <a:chOff x="609600" y="1562100"/>
            <a:chExt cx="10972800" cy="3905250"/>
          </a:xfrm>
        </p:grpSpPr>
        <p:sp>
          <p:nvSpPr>
            <p:cNvPr id="5" name="Rectangle 5"/>
            <p:cNvSpPr/>
            <p:nvPr/>
          </p:nvSpPr>
          <p:spPr>
            <a:xfrm>
              <a:off x="609600" y="1562100"/>
              <a:ext cx="10972800" cy="704850"/>
            </a:xfrm>
            <a:prstGeom prst="rect">
              <a:avLst/>
            </a:prstGeom>
            <a:solidFill>
              <a:schemeClr val="accent1"/>
            </a:solidFill>
            <a:ln>
              <a:noFill/>
            </a:ln>
          </p:spPr>
        </p:sp>
        <p:sp>
          <p:nvSpPr>
            <p:cNvPr id="6" name="TextBox 6"/>
            <p:cNvSpPr txBox="1"/>
            <p:nvPr/>
          </p:nvSpPr>
          <p:spPr>
            <a:xfrm>
              <a:off x="850392" y="1864042"/>
              <a:ext cx="800054" cy="264033"/>
            </a:xfrm>
            <a:prstGeom prst="rect">
              <a:avLst/>
            </a:prstGeom>
            <a:noFill/>
            <a:ln>
              <a:noFill/>
            </a:ln>
          </p:spPr>
          <p:txBody>
            <a:bodyPr wrap="none" lIns="0" tIns="0" rIns="0" bIns="0" anchor="t" anchorCtr="0">
              <a:spAutoFit/>
            </a:bodyPr>
            <a:lstStyle/>
            <a:p>
              <a:pPr algn="l"/>
              <a:r>
                <a:rPr lang="vi-VN" sz="1350" b="1" dirty="0">
                  <a:solidFill>
                    <a:srgbClr val="FFFFFF"/>
                  </a:solidFill>
                  <a:latin typeface="+mn-lt"/>
                  <a:ea typeface="+mn-ea"/>
                  <a:cs typeface="+mn-cs"/>
                </a:rPr>
                <a:t>CHỈ TIÊU</a:t>
              </a:r>
            </a:p>
          </p:txBody>
        </p:sp>
        <p:sp>
          <p:nvSpPr>
            <p:cNvPr id="7" name="TextBox 7"/>
            <p:cNvSpPr txBox="1"/>
            <p:nvPr/>
          </p:nvSpPr>
          <p:spPr>
            <a:xfrm>
              <a:off x="4699220" y="1864042"/>
              <a:ext cx="850461" cy="264033"/>
            </a:xfrm>
            <a:prstGeom prst="rect">
              <a:avLst/>
            </a:prstGeom>
            <a:noFill/>
            <a:ln>
              <a:noFill/>
            </a:ln>
          </p:spPr>
          <p:txBody>
            <a:bodyPr wrap="none" lIns="0" tIns="0" rIns="0" bIns="0" anchor="t" anchorCtr="0">
              <a:spAutoFit/>
            </a:bodyPr>
            <a:lstStyle/>
            <a:p>
              <a:pPr algn="ctr"/>
              <a:r>
                <a:rPr lang="vi-VN" sz="1350" b="1" dirty="0">
                  <a:solidFill>
                    <a:srgbClr val="FFFFFF"/>
                  </a:solidFill>
                  <a:latin typeface="+mn-lt"/>
                  <a:ea typeface="+mn-ea"/>
                  <a:cs typeface="+mn-cs"/>
                </a:rPr>
                <a:t>THỦ CÔNG</a:t>
              </a:r>
            </a:p>
          </p:txBody>
        </p:sp>
        <p:sp>
          <p:nvSpPr>
            <p:cNvPr id="8" name="TextBox 8"/>
            <p:cNvSpPr txBox="1"/>
            <p:nvPr/>
          </p:nvSpPr>
          <p:spPr>
            <a:xfrm>
              <a:off x="8755894" y="1864042"/>
              <a:ext cx="1576311" cy="264033"/>
            </a:xfrm>
            <a:prstGeom prst="rect">
              <a:avLst/>
            </a:prstGeom>
            <a:noFill/>
            <a:ln>
              <a:noFill/>
            </a:ln>
          </p:spPr>
          <p:txBody>
            <a:bodyPr wrap="none" lIns="0" tIns="0" rIns="0" bIns="0" anchor="t" anchorCtr="0">
              <a:spAutoFit/>
            </a:bodyPr>
            <a:lstStyle/>
            <a:p>
              <a:pPr algn="ctr"/>
              <a:r>
                <a:rPr lang="vi-VN" sz="1350" b="1" dirty="0">
                  <a:solidFill>
                    <a:srgbClr val="FFFFFF"/>
                  </a:solidFill>
                  <a:latin typeface="+mn-lt"/>
                  <a:ea typeface="+mn-ea"/>
                  <a:cs typeface="+mn-cs"/>
                </a:rPr>
                <a:t>PREHEAT TỰ ĐỘNG</a:t>
              </a:r>
            </a:p>
          </p:txBody>
        </p:sp>
        <p:sp>
          <p:nvSpPr>
            <p:cNvPr id="9" name="Rectangle 9"/>
            <p:cNvSpPr/>
            <p:nvPr/>
          </p:nvSpPr>
          <p:spPr>
            <a:xfrm>
              <a:off x="609600" y="2266950"/>
              <a:ext cx="10972800" cy="800100"/>
            </a:xfrm>
            <a:prstGeom prst="rect">
              <a:avLst/>
            </a:prstGeom>
            <a:solidFill>
              <a:srgbClr val="FFFFFF"/>
            </a:solidFill>
            <a:ln>
              <a:noFill/>
            </a:ln>
          </p:spPr>
        </p:sp>
        <p:sp>
          <p:nvSpPr>
            <p:cNvPr id="10" name="Rectangle 10"/>
            <p:cNvSpPr/>
            <p:nvPr/>
          </p:nvSpPr>
          <p:spPr>
            <a:xfrm>
              <a:off x="609600" y="3067050"/>
              <a:ext cx="10972800" cy="800100"/>
            </a:xfrm>
            <a:prstGeom prst="rect">
              <a:avLst/>
            </a:prstGeom>
            <a:solidFill>
              <a:schemeClr val="lt2"/>
            </a:solidFill>
            <a:ln>
              <a:noFill/>
            </a:ln>
          </p:spPr>
        </p:sp>
        <p:sp>
          <p:nvSpPr>
            <p:cNvPr id="11" name="Rectangle 11"/>
            <p:cNvSpPr/>
            <p:nvPr/>
          </p:nvSpPr>
          <p:spPr>
            <a:xfrm>
              <a:off x="609600" y="3867150"/>
              <a:ext cx="10972800" cy="800100"/>
            </a:xfrm>
            <a:prstGeom prst="rect">
              <a:avLst/>
            </a:prstGeom>
            <a:solidFill>
              <a:srgbClr val="FFFFFF"/>
            </a:solidFill>
            <a:ln>
              <a:noFill/>
            </a:ln>
          </p:spPr>
        </p:sp>
        <p:sp>
          <p:nvSpPr>
            <p:cNvPr id="12" name="Rectangle 12"/>
            <p:cNvSpPr/>
            <p:nvPr/>
          </p:nvSpPr>
          <p:spPr>
            <a:xfrm>
              <a:off x="609600" y="4667250"/>
              <a:ext cx="10972800" cy="800100"/>
            </a:xfrm>
            <a:prstGeom prst="rect">
              <a:avLst/>
            </a:prstGeom>
            <a:solidFill>
              <a:schemeClr val="lt2"/>
            </a:solidFill>
            <a:ln>
              <a:noFill/>
            </a:ln>
          </p:spPr>
        </p:sp>
        <p:sp>
          <p:nvSpPr>
            <p:cNvPr id="13" name="Line 13"/>
            <p:cNvSpPr/>
            <p:nvPr/>
          </p:nvSpPr>
          <p:spPr>
            <a:xfrm>
              <a:off x="3505200" y="1562100"/>
              <a:ext cx="9525" cy="3905250"/>
            </a:xfrm>
            <a:custGeom>
              <a:avLst/>
              <a:gdLst/>
              <a:ahLst/>
              <a:cxnLst/>
              <a:rect l="l" t="t" r="r" b="b"/>
              <a:pathLst>
                <a:path w="9525" h="3905250">
                  <a:moveTo>
                    <a:pt x="0" y="0"/>
                  </a:moveTo>
                  <a:lnTo>
                    <a:pt x="0" y="3905250"/>
                  </a:lnTo>
                </a:path>
              </a:pathLst>
            </a:custGeom>
            <a:noFill/>
            <a:ln w="19050">
              <a:solidFill>
                <a:srgbClr val="CAD8EA"/>
              </a:solidFill>
            </a:ln>
          </p:spPr>
        </p:sp>
        <p:sp>
          <p:nvSpPr>
            <p:cNvPr id="14" name="Line 14"/>
            <p:cNvSpPr/>
            <p:nvPr/>
          </p:nvSpPr>
          <p:spPr>
            <a:xfrm>
              <a:off x="6858000" y="1562100"/>
              <a:ext cx="9525" cy="3905250"/>
            </a:xfrm>
            <a:custGeom>
              <a:avLst/>
              <a:gdLst/>
              <a:ahLst/>
              <a:cxnLst/>
              <a:rect l="l" t="t" r="r" b="b"/>
              <a:pathLst>
                <a:path w="9525" h="3905250">
                  <a:moveTo>
                    <a:pt x="0" y="0"/>
                  </a:moveTo>
                  <a:lnTo>
                    <a:pt x="0" y="3905250"/>
                  </a:lnTo>
                </a:path>
              </a:pathLst>
            </a:custGeom>
            <a:noFill/>
            <a:ln w="19050">
              <a:solidFill>
                <a:srgbClr val="CAD8EA"/>
              </a:solidFill>
            </a:ln>
          </p:spPr>
        </p:sp>
        <p:sp>
          <p:nvSpPr>
            <p:cNvPr id="15" name="TextBox 15"/>
            <p:cNvSpPr txBox="1"/>
            <p:nvPr/>
          </p:nvSpPr>
          <p:spPr>
            <a:xfrm>
              <a:off x="849630" y="2590800"/>
              <a:ext cx="1856190"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Người trực khi sấy</a:t>
              </a:r>
            </a:p>
          </p:txBody>
        </p:sp>
        <p:sp>
          <p:nvSpPr>
            <p:cNvPr id="16" name="TextBox 16"/>
            <p:cNvSpPr txBox="1"/>
            <p:nvPr/>
          </p:nvSpPr>
          <p:spPr>
            <a:xfrm>
              <a:off x="3745230" y="2590800"/>
              <a:ext cx="1591270"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Suốt 20–30 phút</a:t>
              </a:r>
            </a:p>
          </p:txBody>
        </p:sp>
        <p:sp>
          <p:nvSpPr>
            <p:cNvPr id="17" name="TextBox 17"/>
            <p:cNvSpPr txBox="1"/>
            <p:nvPr/>
          </p:nvSpPr>
          <p:spPr>
            <a:xfrm>
              <a:off x="7098030" y="2590800"/>
              <a:ext cx="1018815" cy="293370"/>
            </a:xfrm>
            <a:prstGeom prst="rect">
              <a:avLst/>
            </a:prstGeom>
            <a:noFill/>
            <a:ln>
              <a:noFill/>
            </a:ln>
          </p:spPr>
          <p:txBody>
            <a:bodyPr wrap="none" lIns="0" tIns="0" rIns="0" bIns="0" anchor="t" anchorCtr="0">
              <a:spAutoFit/>
            </a:bodyPr>
            <a:lstStyle/>
            <a:p>
              <a:pPr algn="l"/>
              <a:r>
                <a:rPr lang="vi-VN" sz="1500" b="1" dirty="0">
                  <a:solidFill>
                    <a:schemeClr val="accent3"/>
                  </a:solidFill>
                  <a:latin typeface="+mn-lt"/>
                  <a:ea typeface="+mn-ea"/>
                  <a:cs typeface="+mn-cs"/>
                </a:rPr>
                <a:t>Không cần</a:t>
              </a:r>
            </a:p>
          </p:txBody>
        </p:sp>
        <p:sp>
          <p:nvSpPr>
            <p:cNvPr id="18" name="TextBox 18"/>
            <p:cNvSpPr txBox="1"/>
            <p:nvPr/>
          </p:nvSpPr>
          <p:spPr>
            <a:xfrm>
              <a:off x="849630" y="3390900"/>
              <a:ext cx="1623010"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Vọt lố nhiệt nạp</a:t>
              </a:r>
            </a:p>
          </p:txBody>
        </p:sp>
        <p:sp>
          <p:nvSpPr>
            <p:cNvPr id="19" name="TextBox 19"/>
            <p:cNvSpPr txBox="1"/>
            <p:nvPr/>
          </p:nvSpPr>
          <p:spPr>
            <a:xfrm>
              <a:off x="3745230" y="3390900"/>
              <a:ext cx="964692" cy="293370"/>
            </a:xfrm>
            <a:prstGeom prst="rect">
              <a:avLst/>
            </a:prstGeom>
            <a:noFill/>
            <a:ln>
              <a:noFill/>
            </a:ln>
          </p:spPr>
          <p:txBody>
            <a:bodyPr wrap="none" lIns="0" tIns="0" rIns="0" bIns="0" anchor="t" anchorCtr="0">
              <a:spAutoFit/>
            </a:bodyPr>
            <a:lstStyle/>
            <a:p>
              <a:pPr algn="l"/>
              <a:r>
                <a:rPr lang="vi-VN" sz="1500" dirty="0">
                  <a:solidFill>
                    <a:schemeClr val="accent2"/>
                  </a:solidFill>
                  <a:latin typeface="+mn-lt"/>
                  <a:ea typeface="+mn-ea"/>
                  <a:cs typeface="+mn-cs"/>
                </a:rPr>
                <a:t>+1 … +3°C</a:t>
              </a:r>
            </a:p>
          </p:txBody>
        </p:sp>
        <p:sp>
          <p:nvSpPr>
            <p:cNvPr id="20" name="TextBox 20"/>
            <p:cNvSpPr txBox="1"/>
            <p:nvPr/>
          </p:nvSpPr>
          <p:spPr>
            <a:xfrm>
              <a:off x="7098030" y="3390900"/>
              <a:ext cx="575310" cy="293370"/>
            </a:xfrm>
            <a:prstGeom prst="rect">
              <a:avLst/>
            </a:prstGeom>
            <a:noFill/>
            <a:ln>
              <a:noFill/>
            </a:ln>
          </p:spPr>
          <p:txBody>
            <a:bodyPr wrap="none" lIns="0" tIns="0" rIns="0" bIns="0" anchor="t" anchorCtr="0">
              <a:spAutoFit/>
            </a:bodyPr>
            <a:lstStyle/>
            <a:p>
              <a:pPr algn="l"/>
              <a:r>
                <a:rPr lang="vi-VN" sz="1500" b="1" dirty="0">
                  <a:solidFill>
                    <a:schemeClr val="accent3"/>
                  </a:solidFill>
                  <a:latin typeface="+mn-lt"/>
                  <a:ea typeface="+mn-ea"/>
                  <a:cs typeface="+mn-cs"/>
                </a:rPr>
                <a:t>≤ 3°C</a:t>
              </a:r>
            </a:p>
          </p:txBody>
        </p:sp>
        <p:sp>
          <p:nvSpPr>
            <p:cNvPr id="21" name="TextBox 21"/>
            <p:cNvSpPr txBox="1"/>
            <p:nvPr/>
          </p:nvSpPr>
          <p:spPr>
            <a:xfrm>
              <a:off x="849630" y="4191000"/>
              <a:ext cx="1251955"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Rang liên mẻ</a:t>
              </a:r>
            </a:p>
          </p:txBody>
        </p:sp>
        <p:sp>
          <p:nvSpPr>
            <p:cNvPr id="22" name="TextBox 22"/>
            <p:cNvSpPr txBox="1"/>
            <p:nvPr/>
          </p:nvSpPr>
          <p:spPr>
            <a:xfrm>
              <a:off x="3745230" y="4191000"/>
              <a:ext cx="1435418"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Canh lại từ đầu</a:t>
              </a:r>
            </a:p>
          </p:txBody>
        </p:sp>
        <p:sp>
          <p:nvSpPr>
            <p:cNvPr id="23" name="TextBox 23"/>
            <p:cNvSpPr txBox="1"/>
            <p:nvPr/>
          </p:nvSpPr>
          <p:spPr>
            <a:xfrm>
              <a:off x="7098030" y="4191000"/>
              <a:ext cx="1973245" cy="293370"/>
            </a:xfrm>
            <a:prstGeom prst="rect">
              <a:avLst/>
            </a:prstGeom>
            <a:noFill/>
            <a:ln>
              <a:noFill/>
            </a:ln>
          </p:spPr>
          <p:txBody>
            <a:bodyPr wrap="none" lIns="0" tIns="0" rIns="0" bIns="0" anchor="t" anchorCtr="0">
              <a:spAutoFit/>
            </a:bodyPr>
            <a:lstStyle/>
            <a:p>
              <a:pPr algn="l"/>
              <a:r>
                <a:rPr lang="vi-VN" sz="1500" b="1" dirty="0">
                  <a:solidFill>
                    <a:schemeClr val="accent3"/>
                  </a:solidFill>
                  <a:latin typeface="+mn-lt"/>
                  <a:ea typeface="+mn-ea"/>
                  <a:cs typeface="+mn-cs"/>
                </a:rPr>
                <a:t>Tự bù theo nhiệt dư</a:t>
              </a:r>
            </a:p>
          </p:txBody>
        </p:sp>
        <p:sp>
          <p:nvSpPr>
            <p:cNvPr id="24" name="TextBox 24"/>
            <p:cNvSpPr txBox="1"/>
            <p:nvPr/>
          </p:nvSpPr>
          <p:spPr>
            <a:xfrm>
              <a:off x="849630" y="4991100"/>
              <a:ext cx="1623010" cy="293370"/>
            </a:xfrm>
            <a:prstGeom prst="rect">
              <a:avLst/>
            </a:prstGeom>
            <a:noFill/>
            <a:ln>
              <a:noFill/>
            </a:ln>
          </p:spPr>
          <p:txBody>
            <a:bodyPr wrap="none" lIns="0" tIns="0" rIns="0" bIns="0" anchor="t" anchorCtr="0">
              <a:spAutoFit/>
            </a:bodyPr>
            <a:lstStyle/>
            <a:p>
              <a:pPr algn="l"/>
              <a:r>
                <a:rPr lang="vi-VN" sz="1500" b="1" dirty="0">
                  <a:solidFill>
                    <a:schemeClr val="accent1"/>
                  </a:solidFill>
                  <a:latin typeface="+mn-lt"/>
                  <a:ea typeface="+mn-ea"/>
                  <a:cs typeface="+mn-cs"/>
                </a:rPr>
                <a:t>Dữ liệu truy vết</a:t>
              </a:r>
            </a:p>
          </p:txBody>
        </p:sp>
        <p:sp>
          <p:nvSpPr>
            <p:cNvPr id="25" name="TextBox 25"/>
            <p:cNvSpPr txBox="1"/>
            <p:nvPr/>
          </p:nvSpPr>
          <p:spPr>
            <a:xfrm>
              <a:off x="3745230" y="4991100"/>
              <a:ext cx="860026"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Không có</a:t>
              </a:r>
            </a:p>
          </p:txBody>
        </p:sp>
        <p:sp>
          <p:nvSpPr>
            <p:cNvPr id="26" name="TextBox 26"/>
            <p:cNvSpPr txBox="1"/>
            <p:nvPr/>
          </p:nvSpPr>
          <p:spPr>
            <a:xfrm>
              <a:off x="7098030" y="4991100"/>
              <a:ext cx="1629987" cy="293370"/>
            </a:xfrm>
            <a:prstGeom prst="rect">
              <a:avLst/>
            </a:prstGeom>
            <a:noFill/>
            <a:ln>
              <a:noFill/>
            </a:ln>
          </p:spPr>
          <p:txBody>
            <a:bodyPr wrap="none" lIns="0" tIns="0" rIns="0" bIns="0" anchor="t" anchorCtr="0">
              <a:spAutoFit/>
            </a:bodyPr>
            <a:lstStyle/>
            <a:p>
              <a:pPr algn="l"/>
              <a:r>
                <a:rPr lang="vi-VN" sz="1500" b="1" dirty="0">
                  <a:solidFill>
                    <a:schemeClr val="accent3"/>
                  </a:solidFill>
                  <a:latin typeface="+mn-lt"/>
                  <a:ea typeface="+mn-ea"/>
                  <a:cs typeface="+mn-cs"/>
                </a:rPr>
                <a:t>CSV 5 giây/dòng</a:t>
              </a:r>
            </a:p>
          </p:txBody>
        </p:sp>
      </p:grpSp>
      <p:sp>
        <p:nvSpPr>
          <p:cNvPr id="28" name="TextBox 28"/>
          <p:cNvSpPr txBox="1"/>
          <p:nvPr/>
        </p:nvSpPr>
        <p:spPr>
          <a:xfrm>
            <a:off x="603885" y="6317456"/>
            <a:ext cx="1700900" cy="220028"/>
          </a:xfrm>
          <a:prstGeom prst="rect">
            <a:avLst/>
          </a:prstGeom>
          <a:noFill/>
          <a:ln>
            <a:noFill/>
          </a:ln>
        </p:spPr>
        <p:txBody>
          <a:bodyPr wrap="none" lIns="0" tIns="0" rIns="0" bIns="0" anchor="t" anchorCtr="0">
            <a:spAutoFit/>
          </a:bodyPr>
          <a:lstStyle/>
          <a:p>
            <a:pPr algn="l"/>
            <a:r>
              <a:rPr lang="vi-VN" sz="1120" b="1" dirty="0">
                <a:solidFill>
                  <a:schemeClr val="accent1"/>
                </a:solidFill>
                <a:latin typeface="+mn-lt"/>
                <a:ea typeface="+mn-ea"/>
                <a:cs typeface="+mn-cs"/>
              </a:rPr>
              <a:t>O TESLA · OTL-06ALS</a:t>
            </a:r>
          </a:p>
        </p:txBody>
      </p:sp>
      <p:sp>
        <p:nvSpPr>
          <p:cNvPr id="29" name="TextBox 29"/>
          <p:cNvSpPr txBox="1"/>
          <p:nvPr/>
        </p:nvSpPr>
        <p:spPr>
          <a:xfrm>
            <a:off x="11071591" y="6317456"/>
            <a:ext cx="516524" cy="220028"/>
          </a:xfrm>
          <a:prstGeom prst="rect">
            <a:avLst/>
          </a:prstGeom>
          <a:noFill/>
          <a:ln>
            <a:noFill/>
          </a:ln>
        </p:spPr>
        <p:txBody>
          <a:bodyPr wrap="none" lIns="0" tIns="0" rIns="0" bIns="0" anchor="t" anchorCtr="0">
            <a:spAutoFit/>
          </a:bodyPr>
          <a:lstStyle/>
          <a:p>
            <a:pPr algn="r"/>
            <a:r>
              <a:rPr lang="vi-VN" sz="1120" dirty="0">
                <a:solidFill>
                  <a:schemeClr val="dk1"/>
                </a:solidFill>
                <a:latin typeface="+mn-lt"/>
                <a:ea typeface="+mn-ea"/>
                <a:cs typeface="+mn-cs"/>
              </a:rPr>
              <a:t>10 / 11</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6" name="Group 6"/>
          <p:cNvGrpSpPr/>
          <p:nvPr/>
        </p:nvGrpSpPr>
        <p:grpSpPr>
          <a:xfrm>
            <a:off x="7810500" y="0"/>
            <a:ext cx="4381500" cy="6858000"/>
            <a:chOff x="7810500" y="0"/>
            <a:chExt cx="4381500" cy="6858000"/>
          </a:xfrm>
        </p:grpSpPr>
        <p:sp>
          <p:nvSpPr>
            <p:cNvPr id="2" name="Freeform 2"/>
            <p:cNvSpPr/>
            <p:nvPr/>
          </p:nvSpPr>
          <p:spPr>
            <a:xfrm>
              <a:off x="7810500" y="0"/>
              <a:ext cx="4381500" cy="6858000"/>
            </a:xfrm>
            <a:custGeom>
              <a:avLst/>
              <a:gdLst/>
              <a:ahLst/>
              <a:cxnLst/>
              <a:rect l="l" t="t" r="r" b="b"/>
              <a:pathLst>
                <a:path w="4381500" h="6858000">
                  <a:moveTo>
                    <a:pt x="0" y="0"/>
                  </a:moveTo>
                  <a:lnTo>
                    <a:pt x="4381500" y="0"/>
                  </a:lnTo>
                  <a:lnTo>
                    <a:pt x="4381500" y="6858000"/>
                  </a:lnTo>
                  <a:lnTo>
                    <a:pt x="2000250" y="6858000"/>
                  </a:lnTo>
                  <a:close/>
                </a:path>
              </a:pathLst>
            </a:custGeom>
            <a:solidFill>
              <a:srgbClr val="26364C"/>
            </a:solidFill>
            <a:ln>
              <a:noFill/>
            </a:ln>
          </p:spPr>
        </p:sp>
        <p:sp>
          <p:nvSpPr>
            <p:cNvPr id="3" name="Ellipse 3"/>
            <p:cNvSpPr/>
            <p:nvPr/>
          </p:nvSpPr>
          <p:spPr>
            <a:xfrm>
              <a:off x="8953500" y="876300"/>
              <a:ext cx="2857500" cy="2857500"/>
            </a:xfrm>
            <a:prstGeom prst="ellipse">
              <a:avLst/>
            </a:prstGeom>
            <a:noFill/>
            <a:ln w="95250">
              <a:solidFill>
                <a:schemeClr val="accent3"/>
              </a:solidFill>
            </a:ln>
          </p:spPr>
        </p:sp>
        <p:sp>
          <p:nvSpPr>
            <p:cNvPr id="4" name="Ellipse 4"/>
            <p:cNvSpPr/>
            <p:nvPr/>
          </p:nvSpPr>
          <p:spPr>
            <a:xfrm>
              <a:off x="9429750" y="1352550"/>
              <a:ext cx="1905000" cy="1905000"/>
            </a:xfrm>
            <a:prstGeom prst="ellipse">
              <a:avLst/>
            </a:prstGeom>
            <a:noFill/>
            <a:ln w="95250">
              <a:solidFill>
                <a:schemeClr val="accent2"/>
              </a:solidFill>
            </a:ln>
          </p:spPr>
        </p:sp>
        <p:sp>
          <p:nvSpPr>
            <p:cNvPr id="5" name="Ellipse 5"/>
            <p:cNvSpPr/>
            <p:nvPr/>
          </p:nvSpPr>
          <p:spPr>
            <a:xfrm>
              <a:off x="10172700" y="2095500"/>
              <a:ext cx="419100" cy="419100"/>
            </a:xfrm>
            <a:prstGeom prst="ellipse">
              <a:avLst/>
            </a:prstGeom>
            <a:solidFill>
              <a:schemeClr val="lt1"/>
            </a:solidFill>
            <a:ln>
              <a:noFill/>
            </a:ln>
          </p:spPr>
        </p:sp>
      </p:grpSp>
      <p:grpSp>
        <p:nvGrpSpPr>
          <p:cNvPr id="12" name="Group 12"/>
          <p:cNvGrpSpPr/>
          <p:nvPr/>
        </p:nvGrpSpPr>
        <p:grpSpPr>
          <a:xfrm>
            <a:off x="590550" y="768668"/>
            <a:ext cx="7760289" cy="2774632"/>
            <a:chOff x="590550" y="768668"/>
            <a:chExt cx="7760289" cy="2774632"/>
          </a:xfrm>
        </p:grpSpPr>
        <p:sp>
          <p:nvSpPr>
            <p:cNvPr id="7" name="TextBox 7"/>
            <p:cNvSpPr txBox="1"/>
            <p:nvPr/>
          </p:nvSpPr>
          <p:spPr>
            <a:xfrm>
              <a:off x="602742" y="768668"/>
              <a:ext cx="2311123" cy="264033"/>
            </a:xfrm>
            <a:prstGeom prst="rect">
              <a:avLst/>
            </a:prstGeom>
            <a:noFill/>
            <a:ln>
              <a:noFill/>
            </a:ln>
          </p:spPr>
          <p:txBody>
            <a:bodyPr wrap="none" lIns="0" tIns="0" rIns="0" bIns="0" anchor="t" anchorCtr="0">
              <a:spAutoFit/>
            </a:bodyPr>
            <a:lstStyle/>
            <a:p>
              <a:pPr algn="l"/>
              <a:r>
                <a:rPr lang="vi-VN" sz="1350" b="1" spc="98" dirty="0">
                  <a:solidFill>
                    <a:schemeClr val="accent2"/>
                  </a:solidFill>
                  <a:latin typeface="+mn-lt"/>
                  <a:ea typeface="+mn-ea"/>
                  <a:cs typeface="+mn-cs"/>
                </a:rPr>
                <a:t>PREHEAT · OTL-06ALS</a:t>
              </a:r>
            </a:p>
          </p:txBody>
        </p:sp>
        <p:sp>
          <p:nvSpPr>
            <p:cNvPr id="8" name="TextBox 8"/>
            <p:cNvSpPr txBox="1"/>
            <p:nvPr/>
          </p:nvSpPr>
          <p:spPr>
            <a:xfrm>
              <a:off x="590550" y="1732598"/>
              <a:ext cx="6114867" cy="962025"/>
            </a:xfrm>
            <a:prstGeom prst="rect">
              <a:avLst/>
            </a:prstGeom>
            <a:noFill/>
            <a:ln>
              <a:noFill/>
            </a:ln>
          </p:spPr>
          <p:txBody>
            <a:bodyPr wrap="none" lIns="0" tIns="0" rIns="0" bIns="0" anchor="t" anchorCtr="0">
              <a:spAutoFit/>
            </a:bodyPr>
            <a:lstStyle/>
            <a:p>
              <a:pPr algn="l"/>
              <a:r>
                <a:rPr lang="vi-VN" sz="4950" b="1" dirty="0">
                  <a:solidFill>
                    <a:srgbClr val="FFFFFF"/>
                  </a:solidFill>
                  <a:latin typeface="+mj-lt"/>
                  <a:ea typeface="+mj-ea"/>
                  <a:cs typeface="+mj-cs"/>
                </a:rPr>
                <a:t>Gia nhiệt tự động.</a:t>
              </a:r>
            </a:p>
          </p:txBody>
        </p:sp>
        <p:sp>
          <p:nvSpPr>
            <p:cNvPr id="9" name="TextBox 9"/>
            <p:cNvSpPr txBox="1"/>
            <p:nvPr/>
          </p:nvSpPr>
          <p:spPr>
            <a:xfrm>
              <a:off x="590550" y="2513648"/>
              <a:ext cx="7760289" cy="962025"/>
            </a:xfrm>
            <a:prstGeom prst="rect">
              <a:avLst/>
            </a:prstGeom>
            <a:noFill/>
            <a:ln>
              <a:noFill/>
            </a:ln>
          </p:spPr>
          <p:txBody>
            <a:bodyPr wrap="none" lIns="0" tIns="0" rIns="0" bIns="0" anchor="t" anchorCtr="0">
              <a:spAutoFit/>
            </a:bodyPr>
            <a:lstStyle/>
            <a:p>
              <a:pPr algn="l"/>
              <a:r>
                <a:rPr lang="vi-VN" sz="4950" b="1" dirty="0">
                  <a:solidFill>
                    <a:srgbClr val="FFFFFF"/>
                  </a:solidFill>
                  <a:latin typeface="+mj-lt"/>
                  <a:ea typeface="+mj-ea"/>
                  <a:cs typeface="+mj-cs"/>
                </a:rPr>
                <a:t>Đúng nhiệt nạp mỗi mẻ.</a:t>
              </a:r>
            </a:p>
          </p:txBody>
        </p:sp>
        <p:sp>
          <p:nvSpPr>
            <p:cNvPr id="10" name="Rectangle 10"/>
            <p:cNvSpPr/>
            <p:nvPr/>
          </p:nvSpPr>
          <p:spPr>
            <a:xfrm>
              <a:off x="609600" y="3467100"/>
              <a:ext cx="1466850" cy="76200"/>
            </a:xfrm>
            <a:prstGeom prst="rect">
              <a:avLst/>
            </a:prstGeom>
            <a:solidFill>
              <a:schemeClr val="accent2"/>
            </a:solidFill>
            <a:ln>
              <a:noFill/>
            </a:ln>
          </p:spPr>
        </p:sp>
        <p:sp>
          <p:nvSpPr>
            <p:cNvPr id="11" name="Rectangle 11"/>
            <p:cNvSpPr/>
            <p:nvPr/>
          </p:nvSpPr>
          <p:spPr>
            <a:xfrm>
              <a:off x="2076450" y="3467100"/>
              <a:ext cx="1047750" cy="76200"/>
            </a:xfrm>
            <a:prstGeom prst="rect">
              <a:avLst/>
            </a:prstGeom>
            <a:solidFill>
              <a:schemeClr val="accent3"/>
            </a:solidFill>
            <a:ln>
              <a:noFill/>
            </a:ln>
          </p:spPr>
        </p:sp>
      </p:grpSp>
      <p:grpSp>
        <p:nvGrpSpPr>
          <p:cNvPr id="20" name="Group 20"/>
          <p:cNvGrpSpPr/>
          <p:nvPr/>
        </p:nvGrpSpPr>
        <p:grpSpPr>
          <a:xfrm>
            <a:off x="601980" y="4762500"/>
            <a:ext cx="10980420" cy="845820"/>
            <a:chOff x="601980" y="4762500"/>
            <a:chExt cx="10980420" cy="845820"/>
          </a:xfrm>
        </p:grpSpPr>
        <p:sp>
          <p:nvSpPr>
            <p:cNvPr id="13" name="Line 13"/>
            <p:cNvSpPr/>
            <p:nvPr/>
          </p:nvSpPr>
          <p:spPr>
            <a:xfrm>
              <a:off x="609600" y="4762500"/>
              <a:ext cx="10972800" cy="9525"/>
            </a:xfrm>
            <a:custGeom>
              <a:avLst/>
              <a:gdLst/>
              <a:ahLst/>
              <a:cxnLst/>
              <a:rect l="l" t="t" r="r" b="b"/>
              <a:pathLst>
                <a:path w="10972800" h="9525">
                  <a:moveTo>
                    <a:pt x="0" y="0"/>
                  </a:moveTo>
                  <a:lnTo>
                    <a:pt x="10972800" y="0"/>
                  </a:lnTo>
                </a:path>
              </a:pathLst>
            </a:custGeom>
            <a:noFill/>
            <a:ln w="19050">
              <a:solidFill>
                <a:srgbClr val="526680"/>
              </a:solidFill>
            </a:ln>
          </p:spPr>
        </p:sp>
        <p:sp>
          <p:nvSpPr>
            <p:cNvPr id="14" name="TextBox 14"/>
            <p:cNvSpPr txBox="1"/>
            <p:nvPr/>
          </p:nvSpPr>
          <p:spPr>
            <a:xfrm>
              <a:off x="603885" y="5003006"/>
              <a:ext cx="847801" cy="220028"/>
            </a:xfrm>
            <a:prstGeom prst="rect">
              <a:avLst/>
            </a:prstGeom>
            <a:noFill/>
            <a:ln>
              <a:noFill/>
            </a:ln>
          </p:spPr>
          <p:txBody>
            <a:bodyPr wrap="none" lIns="0" tIns="0" rIns="0" bIns="0" anchor="t" anchorCtr="0">
              <a:spAutoFit/>
            </a:bodyPr>
            <a:lstStyle/>
            <a:p>
              <a:pPr algn="l"/>
              <a:r>
                <a:rPr lang="vi-VN" sz="1120" b="1" dirty="0">
                  <a:solidFill>
                    <a:srgbClr val="8FC5FF"/>
                  </a:solidFill>
                  <a:latin typeface="+mn-lt"/>
                  <a:ea typeface="+mn-ea"/>
                  <a:cs typeface="+mn-cs"/>
                </a:rPr>
                <a:t>TRẠNG THÁI</a:t>
              </a:r>
            </a:p>
          </p:txBody>
        </p:sp>
        <p:sp>
          <p:nvSpPr>
            <p:cNvPr id="15" name="TextBox 15"/>
            <p:cNvSpPr txBox="1"/>
            <p:nvPr/>
          </p:nvSpPr>
          <p:spPr>
            <a:xfrm>
              <a:off x="601980" y="5314950"/>
              <a:ext cx="2536384" cy="293370"/>
            </a:xfrm>
            <a:prstGeom prst="rect">
              <a:avLst/>
            </a:prstGeom>
            <a:noFill/>
            <a:ln>
              <a:noFill/>
            </a:ln>
          </p:spPr>
          <p:txBody>
            <a:bodyPr wrap="none" lIns="0" tIns="0" rIns="0" bIns="0" anchor="t" anchorCtr="0">
              <a:spAutoFit/>
            </a:bodyPr>
            <a:lstStyle/>
            <a:p>
              <a:pPr algn="l"/>
              <a:r>
                <a:rPr lang="vi-VN" sz="1500" dirty="0">
                  <a:solidFill>
                    <a:srgbClr val="FFFFFF"/>
                  </a:solidFill>
                  <a:latin typeface="+mn-lt"/>
                  <a:ea typeface="+mn-ea"/>
                  <a:cs typeface="+mn-cs"/>
                </a:rPr>
                <a:t>Đang chạy thử có giám sát</a:t>
              </a:r>
            </a:p>
          </p:txBody>
        </p:sp>
        <p:sp>
          <p:nvSpPr>
            <p:cNvPr id="16" name="TextBox 16"/>
            <p:cNvSpPr txBox="1"/>
            <p:nvPr/>
          </p:nvSpPr>
          <p:spPr>
            <a:xfrm>
              <a:off x="4471035" y="5003006"/>
              <a:ext cx="973257" cy="220028"/>
            </a:xfrm>
            <a:prstGeom prst="rect">
              <a:avLst/>
            </a:prstGeom>
            <a:noFill/>
            <a:ln>
              <a:noFill/>
            </a:ln>
          </p:spPr>
          <p:txBody>
            <a:bodyPr wrap="none" lIns="0" tIns="0" rIns="0" bIns="0" anchor="t" anchorCtr="0">
              <a:spAutoFit/>
            </a:bodyPr>
            <a:lstStyle/>
            <a:p>
              <a:pPr algn="l"/>
              <a:r>
                <a:rPr lang="vi-VN" sz="1120" b="1" dirty="0">
                  <a:solidFill>
                    <a:srgbClr val="8FC5FF"/>
                  </a:solidFill>
                  <a:latin typeface="+mn-lt"/>
                  <a:ea typeface="+mn-ea"/>
                  <a:cs typeface="+mn-cs"/>
                </a:rPr>
                <a:t>ÁP DỤNG CHO</a:t>
              </a:r>
            </a:p>
          </p:txBody>
        </p:sp>
        <p:sp>
          <p:nvSpPr>
            <p:cNvPr id="17" name="TextBox 17"/>
            <p:cNvSpPr txBox="1"/>
            <p:nvPr/>
          </p:nvSpPr>
          <p:spPr>
            <a:xfrm>
              <a:off x="4469130" y="5314950"/>
              <a:ext cx="2475633" cy="293370"/>
            </a:xfrm>
            <a:prstGeom prst="rect">
              <a:avLst/>
            </a:prstGeom>
            <a:noFill/>
            <a:ln>
              <a:noFill/>
            </a:ln>
          </p:spPr>
          <p:txBody>
            <a:bodyPr wrap="none" lIns="0" tIns="0" rIns="0" bIns="0" anchor="t" anchorCtr="0">
              <a:spAutoFit/>
            </a:bodyPr>
            <a:lstStyle/>
            <a:p>
              <a:pPr algn="l"/>
              <a:r>
                <a:rPr lang="vi-VN" sz="1500" dirty="0">
                  <a:solidFill>
                    <a:srgbClr val="FFFFFF"/>
                  </a:solidFill>
                  <a:latin typeface="+mn-lt"/>
                  <a:ea typeface="+mn-ea"/>
                  <a:cs typeface="+mn-cs"/>
                </a:rPr>
                <a:t>Đầu đốt thường và premix</a:t>
              </a:r>
            </a:p>
          </p:txBody>
        </p:sp>
        <p:sp>
          <p:nvSpPr>
            <p:cNvPr id="18" name="TextBox 18"/>
            <p:cNvSpPr txBox="1"/>
            <p:nvPr/>
          </p:nvSpPr>
          <p:spPr>
            <a:xfrm>
              <a:off x="8662035" y="5003006"/>
              <a:ext cx="571799" cy="220028"/>
            </a:xfrm>
            <a:prstGeom prst="rect">
              <a:avLst/>
            </a:prstGeom>
            <a:noFill/>
            <a:ln>
              <a:noFill/>
            </a:ln>
          </p:spPr>
          <p:txBody>
            <a:bodyPr wrap="none" lIns="0" tIns="0" rIns="0" bIns="0" anchor="t" anchorCtr="0">
              <a:spAutoFit/>
            </a:bodyPr>
            <a:lstStyle/>
            <a:p>
              <a:pPr algn="l"/>
              <a:r>
                <a:rPr lang="vi-VN" sz="1120" b="1" dirty="0">
                  <a:solidFill>
                    <a:srgbClr val="8FC5FF"/>
                  </a:solidFill>
                  <a:latin typeface="+mn-lt"/>
                  <a:ea typeface="+mn-ea"/>
                  <a:cs typeface="+mn-cs"/>
                </a:rPr>
                <a:t>LIÊN HỆ</a:t>
              </a:r>
            </a:p>
          </p:txBody>
        </p:sp>
        <p:sp>
          <p:nvSpPr>
            <p:cNvPr id="19" name="TextBox 19"/>
            <p:cNvSpPr txBox="1"/>
            <p:nvPr/>
          </p:nvSpPr>
          <p:spPr>
            <a:xfrm>
              <a:off x="8660130" y="5314950"/>
              <a:ext cx="2206180" cy="293370"/>
            </a:xfrm>
            <a:prstGeom prst="rect">
              <a:avLst/>
            </a:prstGeom>
            <a:noFill/>
            <a:ln>
              <a:noFill/>
            </a:ln>
          </p:spPr>
          <p:txBody>
            <a:bodyPr wrap="none" lIns="0" tIns="0" rIns="0" bIns="0" anchor="t" anchorCtr="0">
              <a:spAutoFit/>
            </a:bodyPr>
            <a:lstStyle/>
            <a:p>
              <a:pPr algn="l"/>
              <a:r>
                <a:rPr lang="vi-VN" sz="1500" dirty="0">
                  <a:solidFill>
                    <a:srgbClr val="FFFFFF"/>
                  </a:solidFill>
                  <a:latin typeface="+mn-lt"/>
                  <a:ea typeface="+mn-ea"/>
                  <a:cs typeface="+mn-cs"/>
                </a:rPr>
                <a:t>otlpro.com@gmail.com</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12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tl_preheat_gioi_thieu_beautify">
  <a:themeElements>
    <a:clrScheme name="otl_preheat_gioi_thieu_beautify">
      <a:dk1>
        <a:srgbClr val="3C5170"/>
      </a:dk1>
      <a:lt1>
        <a:srgbClr val="F7FAFD"/>
      </a:lt1>
      <a:dk2>
        <a:srgbClr val="1F497D"/>
      </a:dk2>
      <a:lt2>
        <a:srgbClr val="EAF1FA"/>
      </a:lt2>
      <a:accent1>
        <a:srgbClr val="1F2A3A"/>
      </a:accent1>
      <a:accent2>
        <a:srgbClr val="E23A2E"/>
      </a:accent2>
      <a:accent3>
        <a:srgbClr val="3E8FF0"/>
      </a:accent3>
      <a:accent4>
        <a:srgbClr val="1F2A3A"/>
      </a:accent4>
      <a:accent5>
        <a:srgbClr val="4BACC6"/>
      </a:accent5>
      <a:accent6>
        <a:srgbClr val="F79646"/>
      </a:accent6>
      <a:hlink>
        <a:srgbClr val="E23A2E"/>
      </a:hlink>
      <a:folHlink>
        <a:srgbClr val="3E8FF0"/>
      </a:folHlink>
    </a:clrScheme>
    <a:fontScheme name="otl_preheat_gioi_thieu_beautify">
      <a:majorFont>
        <a:latin typeface="Bahnschrift SemiBold Condensed"/>
        <a:ea typeface="Microsoft YaHei"/>
        <a:cs typeface="Bahnschrift SemiBold Condensed"/>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tl_preheat_gioi_thieu_beautif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tl_preheat_gioi_thieu_beautify">
  <a:themeElements>
    <a:clrScheme name="otl_preheat_gioi_thieu_beautify">
      <a:dk1>
        <a:srgbClr val="3C5170"/>
      </a:dk1>
      <a:lt1>
        <a:srgbClr val="F7FAFD"/>
      </a:lt1>
      <a:dk2>
        <a:srgbClr val="1F497D"/>
      </a:dk2>
      <a:lt2>
        <a:srgbClr val="EAF1FA"/>
      </a:lt2>
      <a:accent1>
        <a:srgbClr val="1F2A3A"/>
      </a:accent1>
      <a:accent2>
        <a:srgbClr val="E23A2E"/>
      </a:accent2>
      <a:accent3>
        <a:srgbClr val="3E8FF0"/>
      </a:accent3>
      <a:accent4>
        <a:srgbClr val="1F2A3A"/>
      </a:accent4>
      <a:accent5>
        <a:srgbClr val="4BACC6"/>
      </a:accent5>
      <a:accent6>
        <a:srgbClr val="F79646"/>
      </a:accent6>
      <a:hlink>
        <a:srgbClr val="E23A2E"/>
      </a:hlink>
      <a:folHlink>
        <a:srgbClr val="3E8FF0"/>
      </a:folHlink>
    </a:clrScheme>
    <a:fontScheme name="otl_preheat_gioi_thieu_beautify">
      <a:majorFont>
        <a:latin typeface="Bahnschrift SemiBold Condensed"/>
        <a:ea typeface="Microsoft YaHei"/>
        <a:cs typeface="Bahnschrift SemiBold Condensed"/>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tl_preheat_gioi_thieu_beautif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vi-VN</dc:language>
  <cp:lastModifiedBy/>
  <cp:revision>1</cp:revision>
  <dcterms:created xsi:type="dcterms:W3CDTF">2026-09-03T12:37:23Z</dcterms:created>
  <dcterms:modified xsi:type="dcterms:W3CDTF">2026-09-03T12:37:23Z</dcterms:modified>
  <cp:category/>
  <cp:contentStatus/>
</cp:coreProperties>
</file>