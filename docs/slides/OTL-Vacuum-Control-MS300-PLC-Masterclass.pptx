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bằng một luận điểm: Air% chỉ là lệnh, Pa mới là kết quả cần giữ.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 đồng hồ cùng 40% nhưng lực hút khác nhau; số liệu chỉ là minh hoạ.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Đổi mục tiêu điều khiển: giữ áp hút thay vì giữ phần trăm gió.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tả toàn bộ vòng kín từ buồng rang qua MS300, PLC và trở lại quạt.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Làm rõ vai trò kép của biến tần trong kiến trúc hiện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quy đổi địa chỉ Modbus thô sang địa chỉ 4xxxx của Siemens.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Diễn giải chuỗi quy đổi từ dòng điện cảm biến đến đơn vị kỹ thuật 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Chứng minh trực quan rằng Kalman một tầng hội tụ thành IIR với alpha xấp xỉ 0,13.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tại sao đối tượng quạt và đường ống phù hợp với feed-forward cộng step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Minh hoạ vùng chết ±3 Pa và hai hướng nhích Air%.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Biểu diễn cooldown giảm tuyến tính từ 3000 ms xuống 1500 ms theo sai lệch.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bảng feed-forward Pa sang Air% và cách hệ thống tự học khi ổn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snap có đệm, ngưỡng 30 Pa và giới hạn nhảy tối đa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bày đúng thời lượng auto-tune: 15 giây cộng 51 điểm nhân 3 giây bằng 2 phút 48 giây.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sánh điều khiển quạt bằng analog và bằng lệnh tần số Modbus.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Kiến trúc khối PLC: máy trạng thái Modbus, khối đọc, khối điều khiển, phân quyền và một điểm xuất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tả thứ tự ưu tiên Preheat, Vacuum, Roast và Manual trước một điểm ghi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lỗi chính và phản ứng fail-safe khuyến nghị cho bản PLC.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Năm cổng kiểm tra trước khi đưa vòng hút vào vận hành và bốn mục chưa xác nhận phải đóng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thúc bằng ba nhịp nhớ và lời nhắc xác minh trước khi phát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FLOW_ORB"/>
          <p:cNvSpPr/>
          <p:nvPr/>
        </p:nvSpPr>
        <p:spPr>
          <a:xfrm>
            <a:off x="6400800" y="-1737360"/>
            <a:ext cx="8778240" cy="8778240"/>
          </a:xfrm>
          <a:prstGeom prst="ellipse">
            <a:avLst/>
          </a:prstGeom>
          <a:gradFill rotWithShape="1">
            <a:gsLst>
              <a:gs pos="0">
                <a:srgbClr val="4D7CFF">
                  <a:alpha val="38000"/>
                </a:srgbClr>
              </a:gs>
              <a:gs pos="55000">
                <a:srgbClr val="4D7CFF">
                  <a:alpha val="13300"/>
                </a:srgbClr>
              </a:gs>
              <a:gs pos="100000">
                <a:srgbClr val="4D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_FLOW_ORB_2"/>
          <p:cNvSpPr/>
          <p:nvPr/>
        </p:nvSpPr>
        <p:spPr>
          <a:xfrm>
            <a:off x="-2468880" y="4160520"/>
            <a:ext cx="5394960" cy="5394960"/>
          </a:xfrm>
          <a:prstGeom prst="ellipse">
            <a:avLst/>
          </a:prstGeom>
          <a:gradFill rotWithShape="1">
            <a:gsLst>
              <a:gs pos="0">
                <a:srgbClr val="15E6FF">
                  <a:alpha val="18000"/>
                </a:srgbClr>
              </a:gs>
              <a:gs pos="55000">
                <a:srgbClr val="15E6FF">
                  <a:alpha val="6300"/>
                </a:srgbClr>
              </a:gs>
              <a:gs pos="100000">
                <a:srgbClr val="15E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_TURBINE_RING"/>
          <p:cNvSpPr/>
          <p:nvPr/>
        </p:nvSpPr>
        <p:spPr>
          <a:xfrm>
            <a:off x="7566660" y="1083564"/>
            <a:ext cx="4160520" cy="4160520"/>
          </a:xfrm>
          <a:prstGeom prst="ellipse">
            <a:avLst/>
          </a:prstGeom>
          <a:solidFill>
            <a:srgbClr val="091224">
              <a:alpha val="66000"/>
            </a:srgbClr>
          </a:solidFill>
          <a:ln w="1524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1_Oval_23"/>
          <p:cNvSpPr/>
          <p:nvPr/>
        </p:nvSpPr>
        <p:spPr>
          <a:xfrm>
            <a:off x="8069580" y="1586484"/>
            <a:ext cx="3154680" cy="3154680"/>
          </a:xfrm>
          <a:prstGeom prst="ellipse">
            <a:avLst/>
          </a:prstGeom>
          <a:noFill/>
          <a:ln w="2794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1_Oval_24"/>
          <p:cNvSpPr/>
          <p:nvPr/>
        </p:nvSpPr>
        <p:spPr>
          <a:xfrm>
            <a:off x="8618220" y="2135124"/>
            <a:ext cx="2057400" cy="2057400"/>
          </a:xfrm>
          <a:prstGeom prst="ellipse">
            <a:avLst/>
          </a:prstGeom>
          <a:solidFill>
            <a:srgbClr val="4D7CFF">
              <a:alpha val="1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1_Freeform_25"/>
          <p:cNvSpPr/>
          <p:nvPr/>
        </p:nvSpPr>
        <p:spPr>
          <a:xfrm>
            <a:off x="9646920" y="1673352"/>
            <a:ext cx="0" cy="813816"/>
          </a:xfrm>
          <a:custGeom>
            <a:avLst/>
            <a:gdLst/>
            <a:ahLst/>
            <a:cxnLst/>
            <a:rect l="l" t="t" r="r" b="b"/>
            <a:pathLst>
              <a:path w="0" h="813816">
                <a:moveTo>
                  <a:pt x="0" y="813816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01_Freeform_26"/>
          <p:cNvSpPr/>
          <p:nvPr/>
        </p:nvSpPr>
        <p:spPr>
          <a:xfrm>
            <a:off x="9985248" y="1873037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0" y="704785"/>
                </a:moveTo>
                <a:lnTo>
                  <a:pt x="406908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01_Freeform_27"/>
          <p:cNvSpPr/>
          <p:nvPr/>
        </p:nvSpPr>
        <p:spPr>
          <a:xfrm>
            <a:off x="10232921" y="2418588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0" y="406908"/>
                </a:moveTo>
                <a:lnTo>
                  <a:pt x="704785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01_Freeform_28"/>
          <p:cNvSpPr/>
          <p:nvPr/>
        </p:nvSpPr>
        <p:spPr>
          <a:xfrm>
            <a:off x="10323576" y="3163824"/>
            <a:ext cx="813816" cy="0"/>
          </a:xfrm>
          <a:custGeom>
            <a:avLst/>
            <a:gdLst/>
            <a:ahLst/>
            <a:cxnLst/>
            <a:rect l="l" t="t" r="r" b="b"/>
            <a:pathLst>
              <a:path w="813816" h="0">
                <a:moveTo>
                  <a:pt x="0" y="0"/>
                </a:moveTo>
                <a:lnTo>
                  <a:pt x="813816" y="0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1_Freeform_29"/>
          <p:cNvSpPr/>
          <p:nvPr/>
        </p:nvSpPr>
        <p:spPr>
          <a:xfrm>
            <a:off x="10232921" y="3502152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0" y="0"/>
                </a:moveTo>
                <a:lnTo>
                  <a:pt x="704785" y="406908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01_Freeform_30"/>
          <p:cNvSpPr/>
          <p:nvPr/>
        </p:nvSpPr>
        <p:spPr>
          <a:xfrm>
            <a:off x="9985248" y="3749825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0" y="0"/>
                </a:moveTo>
                <a:lnTo>
                  <a:pt x="406908" y="704785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01_Freeform_31"/>
          <p:cNvSpPr/>
          <p:nvPr/>
        </p:nvSpPr>
        <p:spPr>
          <a:xfrm>
            <a:off x="9646920" y="3840480"/>
            <a:ext cx="0" cy="813816"/>
          </a:xfrm>
          <a:custGeom>
            <a:avLst/>
            <a:gdLst/>
            <a:ahLst/>
            <a:cxnLst/>
            <a:rect l="l" t="t" r="r" b="b"/>
            <a:pathLst>
              <a:path w="0" h="813816">
                <a:moveTo>
                  <a:pt x="0" y="0"/>
                </a:moveTo>
                <a:lnTo>
                  <a:pt x="0" y="813816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01_Freeform_32"/>
          <p:cNvSpPr/>
          <p:nvPr/>
        </p:nvSpPr>
        <p:spPr>
          <a:xfrm>
            <a:off x="8901684" y="3749825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406908" y="0"/>
                </a:moveTo>
                <a:lnTo>
                  <a:pt x="0" y="704785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1_Freeform_33"/>
          <p:cNvSpPr/>
          <p:nvPr/>
        </p:nvSpPr>
        <p:spPr>
          <a:xfrm>
            <a:off x="8356133" y="3502152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704785" y="0"/>
                </a:moveTo>
                <a:lnTo>
                  <a:pt x="0" y="406908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01_Freeform_34"/>
          <p:cNvSpPr/>
          <p:nvPr/>
        </p:nvSpPr>
        <p:spPr>
          <a:xfrm>
            <a:off x="8156448" y="3163824"/>
            <a:ext cx="813816" cy="0"/>
          </a:xfrm>
          <a:custGeom>
            <a:avLst/>
            <a:gdLst/>
            <a:ahLst/>
            <a:cxnLst/>
            <a:rect l="l" t="t" r="r" b="b"/>
            <a:pathLst>
              <a:path w="813816" h="0">
                <a:moveTo>
                  <a:pt x="813816" y="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1_Freeform_35"/>
          <p:cNvSpPr/>
          <p:nvPr/>
        </p:nvSpPr>
        <p:spPr>
          <a:xfrm>
            <a:off x="8356133" y="2418588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704785" y="406908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01_Freeform_36"/>
          <p:cNvSpPr/>
          <p:nvPr/>
        </p:nvSpPr>
        <p:spPr>
          <a:xfrm>
            <a:off x="8901684" y="1873037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406908" y="704785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01_Oval_37"/>
          <p:cNvSpPr/>
          <p:nvPr/>
        </p:nvSpPr>
        <p:spPr>
          <a:xfrm>
            <a:off x="9116568" y="2633472"/>
            <a:ext cx="1060704" cy="1060704"/>
          </a:xfrm>
          <a:prstGeom prst="ellipse">
            <a:avLst/>
          </a:prstGeom>
          <a:solidFill>
            <a:srgbClr val="15E6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01_TextBox_38"/>
          <p:cNvSpPr txBox="1"/>
          <p:nvPr/>
        </p:nvSpPr>
        <p:spPr>
          <a:xfrm>
            <a:off x="8229600" y="30312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100">
                <a:solidFill>
                  <a:srgbClr val="050812"/>
                </a:solidFill>
                <a:latin typeface="Bahnschrift SemiBold Condensed"/>
              </a:rPr>
              <a:t>MS300</a:t>
            </a:r>
          </a:p>
        </p:txBody>
      </p:sp>
      <p:sp>
        <p:nvSpPr>
          <p:cNvPr id="40" name="S01_TextBox_39"/>
          <p:cNvSpPr txBox="1"/>
          <p:nvPr/>
        </p:nvSpPr>
        <p:spPr>
          <a:xfrm>
            <a:off x="658368" y="502920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70">
                <a:solidFill>
                  <a:srgbClr val="15E6FF"/>
                </a:solidFill>
                <a:latin typeface="Segoe UI Semibold"/>
              </a:rPr>
              <a:t>OTL-06ALS  /  ENGINEERING MASTERCLASS</a:t>
            </a:r>
          </a:p>
        </p:txBody>
      </p:sp>
      <p:sp>
        <p:nvSpPr>
          <p:cNvPr id="41" name="S01_TITLE_RULE"/>
          <p:cNvSpPr/>
          <p:nvPr/>
        </p:nvSpPr>
        <p:spPr>
          <a:xfrm>
            <a:off x="658368" y="914400"/>
            <a:ext cx="1325880" cy="63500"/>
          </a:xfrm>
          <a:prstGeom prst="rect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01_COVER_HEADING"/>
          <p:cNvSpPr txBox="1"/>
          <p:nvPr/>
        </p:nvSpPr>
        <p:spPr>
          <a:xfrm>
            <a:off x="658368" y="1234440"/>
            <a:ext cx="722376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6000"/>
              </a:lnSpc>
            </a:pPr>
            <a:r>
              <a:rPr sz="6600" spc="-220">
                <a:solidFill>
                  <a:srgbClr val="F7FAFF"/>
                </a:solidFill>
                <a:latin typeface="Segoe UI Black"/>
              </a:rPr>
              <a:t>VACUUM</a:t>
            </a:r>
          </a:p>
          <a:p>
            <a:pPr algn="l">
              <a:lnSpc>
                <a:spcPct val="86000"/>
              </a:lnSpc>
            </a:pPr>
            <a:r>
              <a:rPr sz="6600" spc="-220">
                <a:solidFill>
                  <a:srgbClr val="15E6FF"/>
                </a:solidFill>
                <a:latin typeface="Segoe UI Black"/>
              </a:rPr>
              <a:t>CONTROL</a:t>
            </a:r>
          </a:p>
        </p:txBody>
      </p:sp>
      <p:sp>
        <p:nvSpPr>
          <p:cNvPr id="43" name="S01_TextBox_42"/>
          <p:cNvSpPr txBox="1"/>
          <p:nvPr/>
        </p:nvSpPr>
        <p:spPr>
          <a:xfrm>
            <a:off x="658368" y="3584448"/>
            <a:ext cx="662940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>
                <a:solidFill>
                  <a:srgbClr val="A6B5D1"/>
                </a:solidFill>
                <a:latin typeface="Segoe UI Light"/>
              </a:rPr>
              <a:t>Từ 4–20 mA đến một vòng hút tự học trên PLC</a:t>
            </a:r>
          </a:p>
        </p:txBody>
      </p:sp>
      <p:sp>
        <p:nvSpPr>
          <p:cNvPr id="44" name="S01_TextBox_43"/>
          <p:cNvSpPr txBox="1"/>
          <p:nvPr/>
        </p:nvSpPr>
        <p:spPr>
          <a:xfrm>
            <a:off x="658368" y="4590288"/>
            <a:ext cx="6080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spc="70">
                <a:solidFill>
                  <a:srgbClr val="627392"/>
                </a:solidFill>
                <a:latin typeface="Segoe UI"/>
              </a:rPr>
              <a:t>Delta MS300  ·  Modbus RTU  ·  S7-1200 / S7-1500</a:t>
            </a:r>
          </a:p>
        </p:txBody>
      </p:sp>
      <p:sp>
        <p:nvSpPr>
          <p:cNvPr id="45" name="S01_Rounded_Rectangle_44"/>
          <p:cNvSpPr/>
          <p:nvPr/>
        </p:nvSpPr>
        <p:spPr>
          <a:xfrm>
            <a:off x="658368" y="5257800"/>
            <a:ext cx="157276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01_TextBox_45"/>
          <p:cNvSpPr txBox="1"/>
          <p:nvPr/>
        </p:nvSpPr>
        <p:spPr>
          <a:xfrm>
            <a:off x="658368" y="5294376"/>
            <a:ext cx="157276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4D7CFF"/>
                </a:solidFill>
                <a:latin typeface="Segoe UI Semibold"/>
              </a:rPr>
              <a:t>MODBUS RTU</a:t>
            </a:r>
          </a:p>
        </p:txBody>
      </p:sp>
      <p:sp>
        <p:nvSpPr>
          <p:cNvPr id="47" name="S01_Rounded_Rectangle_46"/>
          <p:cNvSpPr/>
          <p:nvPr/>
        </p:nvSpPr>
        <p:spPr>
          <a:xfrm>
            <a:off x="2395728" y="5257800"/>
            <a:ext cx="170078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1_TextBox_47"/>
          <p:cNvSpPr txBox="1"/>
          <p:nvPr/>
        </p:nvSpPr>
        <p:spPr>
          <a:xfrm>
            <a:off x="2395728" y="5294376"/>
            <a:ext cx="170078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15E6FF"/>
                </a:solidFill>
                <a:latin typeface="Segoe UI Semibold"/>
              </a:rPr>
              <a:t>STEP CONTROL</a:t>
            </a:r>
          </a:p>
        </p:txBody>
      </p:sp>
      <p:sp>
        <p:nvSpPr>
          <p:cNvPr id="49" name="S01_Rounded_Rectangle_48"/>
          <p:cNvSpPr/>
          <p:nvPr/>
        </p:nvSpPr>
        <p:spPr>
          <a:xfrm>
            <a:off x="4261104" y="5257800"/>
            <a:ext cx="175564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01_TextBox_49"/>
          <p:cNvSpPr txBox="1"/>
          <p:nvPr/>
        </p:nvSpPr>
        <p:spPr>
          <a:xfrm>
            <a:off x="4261104" y="5294376"/>
            <a:ext cx="175564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SELF-LEARNING</a:t>
            </a:r>
          </a:p>
        </p:txBody>
      </p:sp>
      <p:sp>
        <p:nvSpPr>
          <p:cNvPr id="51" name="S01_TextBox_50"/>
          <p:cNvSpPr txBox="1"/>
          <p:nvPr/>
        </p:nvSpPr>
        <p:spPr>
          <a:xfrm>
            <a:off x="658368" y="634593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20">
                <a:solidFill>
                  <a:srgbClr val="627392"/>
                </a:solidFill>
                <a:latin typeface="Segoe UI"/>
              </a:rPr>
              <a:t>SOURCE OF TRUTH  ·  FIRMWARE OTL-06ALS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6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6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6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6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6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6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WHY  /  THE REAL PROBLEM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40% gió không đồng nghĩa 40% lực hút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Cùng một lệnh biến tần, hai trạng thái máy khác nhau cho hai kết quả hoàn toàn khác nhau.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02/20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9052560" y="-228600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8B5CFF">
                  <a:alpha val="20000"/>
                </a:srgbClr>
              </a:gs>
              <a:gs pos="55000">
                <a:srgbClr val="8B5CFF">
                  <a:alpha val="7000"/>
                </a:srgbClr>
              </a:gs>
              <a:gs pos="100000">
                <a:srgbClr val="8B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2_Rounded_Rectangle_46"/>
          <p:cNvSpPr/>
          <p:nvPr/>
        </p:nvSpPr>
        <p:spPr>
          <a:xfrm>
            <a:off x="749808" y="1975104"/>
            <a:ext cx="5148072" cy="342900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2_Rounded_Rectangle_47"/>
          <p:cNvSpPr/>
          <p:nvPr/>
        </p:nvSpPr>
        <p:spPr>
          <a:xfrm>
            <a:off x="1069848" y="2267712"/>
            <a:ext cx="141732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2_TextBox_48"/>
          <p:cNvSpPr txBox="1"/>
          <p:nvPr/>
        </p:nvSpPr>
        <p:spPr>
          <a:xfrm>
            <a:off x="1069848" y="2304288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15E6FF"/>
                </a:solidFill>
                <a:latin typeface="Segoe UI Semibold"/>
              </a:rPr>
              <a:t>MÁY SẠCH</a:t>
            </a:r>
          </a:p>
        </p:txBody>
      </p:sp>
      <p:sp>
        <p:nvSpPr>
          <p:cNvPr id="50" name="S02_TextBox_49"/>
          <p:cNvSpPr txBox="1"/>
          <p:nvPr/>
        </p:nvSpPr>
        <p:spPr>
          <a:xfrm>
            <a:off x="1069848" y="2724912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spc="-80">
                <a:solidFill>
                  <a:srgbClr val="F7FAFF"/>
                </a:solidFill>
                <a:latin typeface="Bahnschrift SemiBold Condensed"/>
              </a:rPr>
              <a:t>40% AIR</a:t>
            </a:r>
          </a:p>
        </p:txBody>
      </p:sp>
      <p:sp>
        <p:nvSpPr>
          <p:cNvPr id="51" name="S02_Oval_50"/>
          <p:cNvSpPr/>
          <p:nvPr/>
        </p:nvSpPr>
        <p:spPr>
          <a:xfrm>
            <a:off x="3584447" y="2386584"/>
            <a:ext cx="1975104" cy="1975104"/>
          </a:xfrm>
          <a:prstGeom prst="ellipse">
            <a:avLst/>
          </a:prstGeom>
          <a:solidFill>
            <a:srgbClr val="091224">
              <a:alpha val="96000"/>
            </a:srgbClr>
          </a:solidFill>
          <a:ln w="1397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02_Oval_51"/>
          <p:cNvSpPr/>
          <p:nvPr/>
        </p:nvSpPr>
        <p:spPr>
          <a:xfrm>
            <a:off x="3821459" y="2623596"/>
            <a:ext cx="1501079" cy="1501079"/>
          </a:xfrm>
          <a:prstGeom prst="ellipse">
            <a:avLst/>
          </a:prstGeom>
          <a:noFill/>
          <a:ln w="381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02_Freeform_52"/>
          <p:cNvSpPr/>
          <p:nvPr/>
        </p:nvSpPr>
        <p:spPr>
          <a:xfrm>
            <a:off x="4571999" y="3374136"/>
            <a:ext cx="326471" cy="517982"/>
          </a:xfrm>
          <a:custGeom>
            <a:avLst/>
            <a:gdLst/>
            <a:ahLst/>
            <a:cxnLst/>
            <a:rect l="l" t="t" r="r" b="b"/>
            <a:pathLst>
              <a:path w="326471" h="517982">
                <a:moveTo>
                  <a:pt x="0" y="0"/>
                </a:moveTo>
                <a:lnTo>
                  <a:pt x="326471" y="517982"/>
                </a:lnTo>
              </a:path>
            </a:pathLst>
          </a:custGeom>
          <a:noFill/>
          <a:ln w="4064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02_Oval_53"/>
          <p:cNvSpPr/>
          <p:nvPr/>
        </p:nvSpPr>
        <p:spPr>
          <a:xfrm>
            <a:off x="4517135" y="3319272"/>
            <a:ext cx="109728" cy="109728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2_TextBox_54"/>
          <p:cNvSpPr txBox="1"/>
          <p:nvPr/>
        </p:nvSpPr>
        <p:spPr>
          <a:xfrm>
            <a:off x="3584447" y="3118104"/>
            <a:ext cx="197510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F7FAFF"/>
                </a:solidFill>
                <a:latin typeface="Bahnschrift SemiBold Condensed"/>
              </a:rPr>
              <a:t>146 Pa</a:t>
            </a:r>
          </a:p>
        </p:txBody>
      </p:sp>
      <p:sp>
        <p:nvSpPr>
          <p:cNvPr id="56" name="S02_TextBox_55"/>
          <p:cNvSpPr txBox="1"/>
          <p:nvPr/>
        </p:nvSpPr>
        <p:spPr>
          <a:xfrm>
            <a:off x="3584447" y="3648456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spc="130">
                <a:solidFill>
                  <a:srgbClr val="15E6FF"/>
                </a:solidFill>
                <a:latin typeface="Segoe UI Semibold"/>
              </a:rPr>
              <a:t>ÁP HÚT</a:t>
            </a:r>
          </a:p>
        </p:txBody>
      </p:sp>
      <p:sp>
        <p:nvSpPr>
          <p:cNvPr id="57" name="S02_Rectangle_56"/>
          <p:cNvSpPr/>
          <p:nvPr/>
        </p:nvSpPr>
        <p:spPr>
          <a:xfrm>
            <a:off x="1069848" y="3730752"/>
            <a:ext cx="1874519" cy="38100"/>
          </a:xfrm>
          <a:prstGeom prst="rect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02_TextBox_57"/>
          <p:cNvSpPr txBox="1"/>
          <p:nvPr/>
        </p:nvSpPr>
        <p:spPr>
          <a:xfrm>
            <a:off x="1069848" y="4005072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A6B5D1"/>
                </a:solidFill>
                <a:latin typeface="Segoe UI"/>
              </a:rPr>
              <a:t>Lọc sạch · ống thoáng · quạt mát</a:t>
            </a:r>
          </a:p>
        </p:txBody>
      </p:sp>
      <p:sp>
        <p:nvSpPr>
          <p:cNvPr id="59" name="S02_TextBox_58"/>
          <p:cNvSpPr txBox="1"/>
          <p:nvPr/>
        </p:nvSpPr>
        <p:spPr>
          <a:xfrm>
            <a:off x="1069848" y="469087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40">
                <a:solidFill>
                  <a:srgbClr val="627392"/>
                </a:solidFill>
                <a:latin typeface="Segoe UI Semibold"/>
              </a:rPr>
              <a:t>VÍ DỤ MINH HOẠ</a:t>
            </a:r>
          </a:p>
        </p:txBody>
      </p:sp>
      <p:sp>
        <p:nvSpPr>
          <p:cNvPr id="60" name="S02_Rounded_Rectangle_59"/>
          <p:cNvSpPr/>
          <p:nvPr/>
        </p:nvSpPr>
        <p:spPr>
          <a:xfrm>
            <a:off x="6272784" y="1975104"/>
            <a:ext cx="5148072" cy="342900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02_Rounded_Rectangle_60"/>
          <p:cNvSpPr/>
          <p:nvPr/>
        </p:nvSpPr>
        <p:spPr>
          <a:xfrm>
            <a:off x="6592824" y="2267712"/>
            <a:ext cx="141732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02_TextBox_61"/>
          <p:cNvSpPr txBox="1"/>
          <p:nvPr/>
        </p:nvSpPr>
        <p:spPr>
          <a:xfrm>
            <a:off x="6592824" y="2304288"/>
            <a:ext cx="141732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FF5576"/>
                </a:solidFill>
                <a:latin typeface="Segoe UI Semibold"/>
              </a:rPr>
              <a:t>SAU NHIỀU MẺ</a:t>
            </a:r>
          </a:p>
        </p:txBody>
      </p:sp>
      <p:sp>
        <p:nvSpPr>
          <p:cNvPr id="63" name="S02_TextBox_62"/>
          <p:cNvSpPr txBox="1"/>
          <p:nvPr/>
        </p:nvSpPr>
        <p:spPr>
          <a:xfrm>
            <a:off x="6592824" y="2724912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spc="-80">
                <a:solidFill>
                  <a:srgbClr val="F7FAFF"/>
                </a:solidFill>
                <a:latin typeface="Bahnschrift SemiBold Condensed"/>
              </a:rPr>
              <a:t>40% AIR</a:t>
            </a:r>
          </a:p>
        </p:txBody>
      </p:sp>
      <p:sp>
        <p:nvSpPr>
          <p:cNvPr id="64" name="S02_Oval_63"/>
          <p:cNvSpPr/>
          <p:nvPr/>
        </p:nvSpPr>
        <p:spPr>
          <a:xfrm>
            <a:off x="9107423" y="2386584"/>
            <a:ext cx="1975104" cy="1975104"/>
          </a:xfrm>
          <a:prstGeom prst="ellipse">
            <a:avLst/>
          </a:prstGeom>
          <a:solidFill>
            <a:srgbClr val="091224">
              <a:alpha val="96000"/>
            </a:srgbClr>
          </a:solidFill>
          <a:ln w="1397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02_Oval_64"/>
          <p:cNvSpPr/>
          <p:nvPr/>
        </p:nvSpPr>
        <p:spPr>
          <a:xfrm>
            <a:off x="9344435" y="2623596"/>
            <a:ext cx="1501079" cy="1501079"/>
          </a:xfrm>
          <a:prstGeom prst="ellipse">
            <a:avLst/>
          </a:prstGeom>
          <a:noFill/>
          <a:ln w="381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02_Freeform_65"/>
          <p:cNvSpPr/>
          <p:nvPr/>
        </p:nvSpPr>
        <p:spPr>
          <a:xfrm>
            <a:off x="10094975" y="3192852"/>
            <a:ext cx="584829" cy="181284"/>
          </a:xfrm>
          <a:custGeom>
            <a:avLst/>
            <a:gdLst/>
            <a:ahLst/>
            <a:cxnLst/>
            <a:rect l="l" t="t" r="r" b="b"/>
            <a:pathLst>
              <a:path w="584829" h="181284">
                <a:moveTo>
                  <a:pt x="0" y="181284"/>
                </a:moveTo>
                <a:lnTo>
                  <a:pt x="584829" y="0"/>
                </a:lnTo>
              </a:path>
            </a:pathLst>
          </a:custGeom>
          <a:noFill/>
          <a:ln w="4064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02_Oval_66"/>
          <p:cNvSpPr/>
          <p:nvPr/>
        </p:nvSpPr>
        <p:spPr>
          <a:xfrm>
            <a:off x="10040111" y="3319272"/>
            <a:ext cx="109728" cy="109728"/>
          </a:xfrm>
          <a:prstGeom prst="ellipse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02_TextBox_67"/>
          <p:cNvSpPr txBox="1"/>
          <p:nvPr/>
        </p:nvSpPr>
        <p:spPr>
          <a:xfrm>
            <a:off x="9107423" y="3118104"/>
            <a:ext cx="197510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F7FAFF"/>
                </a:solidFill>
                <a:latin typeface="Bahnschrift SemiBold Condensed"/>
              </a:rPr>
              <a:t>92 Pa</a:t>
            </a:r>
          </a:p>
        </p:txBody>
      </p:sp>
      <p:sp>
        <p:nvSpPr>
          <p:cNvPr id="69" name="S02_TextBox_68"/>
          <p:cNvSpPr txBox="1"/>
          <p:nvPr/>
        </p:nvSpPr>
        <p:spPr>
          <a:xfrm>
            <a:off x="9107423" y="3648456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spc="130">
                <a:solidFill>
                  <a:srgbClr val="FF5576"/>
                </a:solidFill>
                <a:latin typeface="Segoe UI Semibold"/>
              </a:rPr>
              <a:t>ÁP HÚT</a:t>
            </a:r>
          </a:p>
        </p:txBody>
      </p:sp>
      <p:sp>
        <p:nvSpPr>
          <p:cNvPr id="70" name="S02_Rectangle_69"/>
          <p:cNvSpPr/>
          <p:nvPr/>
        </p:nvSpPr>
        <p:spPr>
          <a:xfrm>
            <a:off x="6592824" y="3730752"/>
            <a:ext cx="1874519" cy="38100"/>
          </a:xfrm>
          <a:prstGeom prst="rect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02_TextBox_70"/>
          <p:cNvSpPr txBox="1"/>
          <p:nvPr/>
        </p:nvSpPr>
        <p:spPr>
          <a:xfrm>
            <a:off x="6592824" y="4005072"/>
            <a:ext cx="242316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A6B5D1"/>
                </a:solidFill>
                <a:latin typeface="Segoe UI"/>
              </a:rPr>
              <a:t>Lọc bẩn · bụi bám · tổn thất tăng</a:t>
            </a:r>
          </a:p>
        </p:txBody>
      </p:sp>
      <p:sp>
        <p:nvSpPr>
          <p:cNvPr id="72" name="S02_TextBox_71"/>
          <p:cNvSpPr txBox="1"/>
          <p:nvPr/>
        </p:nvSpPr>
        <p:spPr>
          <a:xfrm>
            <a:off x="6592824" y="469087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40">
                <a:solidFill>
                  <a:srgbClr val="627392"/>
                </a:solidFill>
                <a:latin typeface="Segoe UI Semibold"/>
              </a:rPr>
              <a:t>VÍ DỤ MINH HOẠ</a:t>
            </a:r>
          </a:p>
        </p:txBody>
      </p:sp>
      <p:sp>
        <p:nvSpPr>
          <p:cNvPr id="73" name="S02_TextBox_72"/>
          <p:cNvSpPr txBox="1"/>
          <p:nvPr/>
        </p:nvSpPr>
        <p:spPr>
          <a:xfrm>
            <a:off x="658368" y="5596128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>
                <a:solidFill>
                  <a:srgbClr val="B9FF4A"/>
                </a:solidFill>
                <a:latin typeface="Segoe UI Semibold"/>
              </a:rPr>
              <a:t>AIR% là lệnh.  Pa mới là kết quả vật lý tác động lên mẻ rang.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6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6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WHY  /  CONTROL THE OUTCOME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Đừng giữ lệnh. Hãy giữ kết quả.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Người vận hành đặt áp hút mục tiêu; hệ thống tự tìm mức gió cần thiết theo trạng thái thật của máy.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03/20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4480560" y="1097280"/>
            <a:ext cx="7040880" cy="7040880"/>
          </a:xfrm>
          <a:prstGeom prst="ellipse">
            <a:avLst/>
          </a:prstGeom>
          <a:gradFill rotWithShape="1">
            <a:gsLst>
              <a:gs pos="0">
                <a:srgbClr val="4D7CFF">
                  <a:alpha val="30000"/>
                </a:srgbClr>
              </a:gs>
              <a:gs pos="55000">
                <a:srgbClr val="4D7CFF">
                  <a:alpha val="10500"/>
                </a:srgbClr>
              </a:gs>
              <a:gs pos="100000">
                <a:srgbClr val="4D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3_TextBox_46"/>
          <p:cNvSpPr txBox="1"/>
          <p:nvPr/>
        </p:nvSpPr>
        <p:spPr>
          <a:xfrm>
            <a:off x="768096" y="20116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400" spc="-220">
                <a:solidFill>
                  <a:srgbClr val="F7FAFF"/>
                </a:solidFill>
                <a:latin typeface="Bahnschrift SemiBold Condensed"/>
              </a:rPr>
              <a:t>120</a:t>
            </a:r>
          </a:p>
        </p:txBody>
      </p:sp>
      <p:sp>
        <p:nvSpPr>
          <p:cNvPr id="48" name="S03_TextBox_47"/>
          <p:cNvSpPr txBox="1"/>
          <p:nvPr/>
        </p:nvSpPr>
        <p:spPr>
          <a:xfrm>
            <a:off x="768096" y="30175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200">
                <a:solidFill>
                  <a:srgbClr val="15E6FF"/>
                </a:solidFill>
                <a:latin typeface="Segoe UI Semibold"/>
              </a:rPr>
              <a:t>PA  ·  SETPOINT</a:t>
            </a:r>
          </a:p>
        </p:txBody>
      </p:sp>
      <p:sp>
        <p:nvSpPr>
          <p:cNvPr id="49" name="S03_Chevron_48"/>
          <p:cNvSpPr/>
          <p:nvPr/>
        </p:nvSpPr>
        <p:spPr>
          <a:xfrm>
            <a:off x="4096512" y="2523744"/>
            <a:ext cx="658368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03_Rounded_Rectangle_49"/>
          <p:cNvSpPr/>
          <p:nvPr/>
        </p:nvSpPr>
        <p:spPr>
          <a:xfrm>
            <a:off x="4892040" y="1938528"/>
            <a:ext cx="2834640" cy="2084831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03_TextBox_50"/>
          <p:cNvSpPr txBox="1"/>
          <p:nvPr/>
        </p:nvSpPr>
        <p:spPr>
          <a:xfrm>
            <a:off x="5193792" y="2249424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spc="180">
                <a:solidFill>
                  <a:srgbClr val="4D7CFF"/>
                </a:solidFill>
                <a:latin typeface="Segoe UI Semibold"/>
              </a:rPr>
              <a:t>BỘ NÃO PLC</a:t>
            </a:r>
          </a:p>
        </p:txBody>
      </p:sp>
      <p:sp>
        <p:nvSpPr>
          <p:cNvPr id="52" name="S03_TextBox_51"/>
          <p:cNvSpPr txBox="1"/>
          <p:nvPr/>
        </p:nvSpPr>
        <p:spPr>
          <a:xfrm>
            <a:off x="5193792" y="2660904"/>
            <a:ext cx="2231136" cy="61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spc="-30">
                <a:solidFill>
                  <a:srgbClr val="F7FAFF"/>
                </a:solidFill>
                <a:latin typeface="Segoe UI Black"/>
              </a:rPr>
              <a:t>ĐO  →  LỌC  →  HỌC</a:t>
            </a:r>
          </a:p>
        </p:txBody>
      </p:sp>
      <p:sp>
        <p:nvSpPr>
          <p:cNvPr id="53" name="S03_TextBox_52"/>
          <p:cNvSpPr txBox="1"/>
          <p:nvPr/>
        </p:nvSpPr>
        <p:spPr>
          <a:xfrm>
            <a:off x="5193792" y="3291840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Và tự bù theo từng mẻ</a:t>
            </a:r>
          </a:p>
        </p:txBody>
      </p:sp>
      <p:sp>
        <p:nvSpPr>
          <p:cNvPr id="54" name="S03_Chevron_53"/>
          <p:cNvSpPr/>
          <p:nvPr/>
        </p:nvSpPr>
        <p:spPr>
          <a:xfrm>
            <a:off x="7918704" y="2523744"/>
            <a:ext cx="658368" cy="310896"/>
          </a:xfrm>
          <a:prstGeom prst="chevron">
            <a:avLst/>
          </a:prstGeom>
          <a:solidFill>
            <a:srgbClr val="B9FF4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3_TextBox_54"/>
          <p:cNvSpPr txBox="1"/>
          <p:nvPr/>
        </p:nvSpPr>
        <p:spPr>
          <a:xfrm>
            <a:off x="8732520" y="2011680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6700" spc="-200">
                <a:solidFill>
                  <a:srgbClr val="B9FF4A"/>
                </a:solidFill>
                <a:latin typeface="Bahnschrift SemiBold Condensed"/>
              </a:rPr>
              <a:t>43→58</a:t>
            </a:r>
          </a:p>
        </p:txBody>
      </p:sp>
      <p:sp>
        <p:nvSpPr>
          <p:cNvPr id="56" name="S03_TextBox_55"/>
          <p:cNvSpPr txBox="1"/>
          <p:nvPr/>
        </p:nvSpPr>
        <p:spPr>
          <a:xfrm>
            <a:off x="8732520" y="30175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 spc="165">
                <a:solidFill>
                  <a:srgbClr val="B9FF4A"/>
                </a:solidFill>
                <a:latin typeface="Segoe UI Semibold"/>
              </a:rPr>
              <a:t>% AIR  ·  TỰ THÍCH NGHI</a:t>
            </a:r>
          </a:p>
        </p:txBody>
      </p:sp>
      <p:sp>
        <p:nvSpPr>
          <p:cNvPr id="57" name="S03_Rectangle_56"/>
          <p:cNvSpPr/>
          <p:nvPr/>
        </p:nvSpPr>
        <p:spPr>
          <a:xfrm>
            <a:off x="658368" y="4498848"/>
            <a:ext cx="10874959" cy="36576"/>
          </a:xfrm>
          <a:prstGeom prst="rect">
            <a:avLst/>
          </a:prstGeom>
          <a:solidFill>
            <a:srgbClr val="24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03_TextBox_57"/>
          <p:cNvSpPr txBox="1"/>
          <p:nvPr/>
        </p:nvSpPr>
        <p:spPr>
          <a:xfrm>
            <a:off x="658368" y="4782312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spc="155">
                <a:solidFill>
                  <a:srgbClr val="15E6FF"/>
                </a:solidFill>
                <a:latin typeface="Segoe UI Semibold"/>
              </a:rPr>
              <a:t>SETPOINT</a:t>
            </a:r>
          </a:p>
        </p:txBody>
      </p:sp>
      <p:sp>
        <p:nvSpPr>
          <p:cNvPr id="59" name="S03_TextBox_58"/>
          <p:cNvSpPr txBox="1"/>
          <p:nvPr/>
        </p:nvSpPr>
        <p:spPr>
          <a:xfrm>
            <a:off x="658368" y="5093208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>
                <a:solidFill>
                  <a:srgbClr val="A6B5D1"/>
                </a:solidFill>
                <a:latin typeface="Segoe UI"/>
              </a:rPr>
              <a:t>Người vận hành chỉ cần nói máy phải giữ bao nhiêu Pa.</a:t>
            </a:r>
          </a:p>
        </p:txBody>
      </p:sp>
      <p:sp>
        <p:nvSpPr>
          <p:cNvPr id="60" name="S03_TextBox_59"/>
          <p:cNvSpPr txBox="1"/>
          <p:nvPr/>
        </p:nvSpPr>
        <p:spPr>
          <a:xfrm>
            <a:off x="4343400" y="4782312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spc="155">
                <a:solidFill>
                  <a:srgbClr val="4D7CFF"/>
                </a:solidFill>
                <a:latin typeface="Segoe UI Semibold"/>
              </a:rPr>
              <a:t>FEEDBACK</a:t>
            </a:r>
          </a:p>
        </p:txBody>
      </p:sp>
      <p:sp>
        <p:nvSpPr>
          <p:cNvPr id="61" name="S03_TextBox_60"/>
          <p:cNvSpPr txBox="1"/>
          <p:nvPr/>
        </p:nvSpPr>
        <p:spPr>
          <a:xfrm>
            <a:off x="4343400" y="5093208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>
                <a:solidFill>
                  <a:srgbClr val="A6B5D1"/>
                </a:solidFill>
                <a:latin typeface="Segoe UI"/>
              </a:rPr>
              <a:t>Cảm biến cho biết lực hút thật đang lệch bao nhiêu.</a:t>
            </a:r>
          </a:p>
        </p:txBody>
      </p:sp>
      <p:sp>
        <p:nvSpPr>
          <p:cNvPr id="62" name="S03_TextBox_61"/>
          <p:cNvSpPr txBox="1"/>
          <p:nvPr/>
        </p:nvSpPr>
        <p:spPr>
          <a:xfrm>
            <a:off x="8028432" y="4782312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spc="155">
                <a:solidFill>
                  <a:srgbClr val="B9FF4A"/>
                </a:solidFill>
                <a:latin typeface="Segoe UI Semibold"/>
              </a:rPr>
              <a:t>ADAPT</a:t>
            </a:r>
          </a:p>
        </p:txBody>
      </p:sp>
      <p:sp>
        <p:nvSpPr>
          <p:cNvPr id="63" name="S03_TextBox_62"/>
          <p:cNvSpPr txBox="1"/>
          <p:nvPr/>
        </p:nvSpPr>
        <p:spPr>
          <a:xfrm>
            <a:off x="8028432" y="5093208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>
                <a:solidFill>
                  <a:srgbClr val="A6B5D1"/>
                </a:solidFill>
                <a:latin typeface="Segoe UI"/>
              </a:rPr>
              <a:t>Air% tự đổi khi lọc bẩn, đường ống đổi hoặc môi trường đổi.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SIGNAL  /  CLOSED-LOOP MAP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Một vòng kín. Sáu khối. Không có ẩn số.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MS300 vừa số hoá tín hiệu cảm biến tại cổng ACI, vừa dẫn động quạt theo lệnh đầu ra của PLC.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04/20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15E6FF">
                  <a:alpha val="15000"/>
                </a:srgbClr>
              </a:gs>
              <a:gs pos="55000">
                <a:srgbClr val="15E6FF">
                  <a:alpha val="5250"/>
                </a:srgbClr>
              </a:gs>
              <a:gs pos="100000">
                <a:srgbClr val="15E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4_Rounded_Rectangle_46"/>
          <p:cNvSpPr/>
          <p:nvPr/>
        </p:nvSpPr>
        <p:spPr>
          <a:xfrm>
            <a:off x="512064" y="2395728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4_Rounded_Rectangle_47"/>
          <p:cNvSpPr/>
          <p:nvPr/>
        </p:nvSpPr>
        <p:spPr>
          <a:xfrm>
            <a:off x="676656" y="2532888"/>
            <a:ext cx="6766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4_TextBox_48"/>
          <p:cNvSpPr txBox="1"/>
          <p:nvPr/>
        </p:nvSpPr>
        <p:spPr>
          <a:xfrm>
            <a:off x="676656" y="2569464"/>
            <a:ext cx="6766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15E6FF"/>
                </a:solidFill>
                <a:latin typeface="Segoe UI Semibold"/>
              </a:rPr>
              <a:t>01</a:t>
            </a:r>
          </a:p>
        </p:txBody>
      </p:sp>
      <p:sp>
        <p:nvSpPr>
          <p:cNvPr id="50" name="S04_TextBox_49"/>
          <p:cNvSpPr txBox="1"/>
          <p:nvPr/>
        </p:nvSpPr>
        <p:spPr>
          <a:xfrm>
            <a:off x="676656" y="2907792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0">
                <a:solidFill>
                  <a:srgbClr val="F7FAFF"/>
                </a:solidFill>
                <a:latin typeface="Segoe UI Semibold"/>
              </a:rPr>
              <a:t>BUỒNG</a:t>
            </a:r>
          </a:p>
        </p:txBody>
      </p:sp>
      <p:sp>
        <p:nvSpPr>
          <p:cNvPr id="51" name="S04_TextBox_50"/>
          <p:cNvSpPr txBox="1"/>
          <p:nvPr/>
        </p:nvSpPr>
        <p:spPr>
          <a:xfrm>
            <a:off x="649224" y="31546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>
                <a:solidFill>
                  <a:srgbClr val="627392"/>
                </a:solidFill>
                <a:latin typeface="Segoe UI"/>
              </a:rPr>
              <a:t>Áp âm trong trống</a:t>
            </a:r>
          </a:p>
        </p:txBody>
      </p:sp>
      <p:sp>
        <p:nvSpPr>
          <p:cNvPr id="52" name="S04_Chevron_51"/>
          <p:cNvSpPr/>
          <p:nvPr/>
        </p:nvSpPr>
        <p:spPr>
          <a:xfrm>
            <a:off x="2066544" y="2724912"/>
            <a:ext cx="265176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04_Rounded_Rectangle_52"/>
          <p:cNvSpPr/>
          <p:nvPr/>
        </p:nvSpPr>
        <p:spPr>
          <a:xfrm>
            <a:off x="2450592" y="2395728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04_Rounded_Rectangle_53"/>
          <p:cNvSpPr/>
          <p:nvPr/>
        </p:nvSpPr>
        <p:spPr>
          <a:xfrm>
            <a:off x="2615184" y="2532888"/>
            <a:ext cx="6766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4_TextBox_54"/>
          <p:cNvSpPr txBox="1"/>
          <p:nvPr/>
        </p:nvSpPr>
        <p:spPr>
          <a:xfrm>
            <a:off x="2615184" y="2569464"/>
            <a:ext cx="6766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4D7CFF"/>
                </a:solidFill>
                <a:latin typeface="Segoe UI Semibold"/>
              </a:rPr>
              <a:t>02</a:t>
            </a:r>
          </a:p>
        </p:txBody>
      </p:sp>
      <p:sp>
        <p:nvSpPr>
          <p:cNvPr id="56" name="S04_TextBox_55"/>
          <p:cNvSpPr txBox="1"/>
          <p:nvPr/>
        </p:nvSpPr>
        <p:spPr>
          <a:xfrm>
            <a:off x="2615184" y="2907792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0">
                <a:solidFill>
                  <a:srgbClr val="F7FAFF"/>
                </a:solidFill>
                <a:latin typeface="Segoe UI Semibold"/>
              </a:rPr>
              <a:t>CẢM BIẾN</a:t>
            </a:r>
          </a:p>
        </p:txBody>
      </p:sp>
      <p:sp>
        <p:nvSpPr>
          <p:cNvPr id="57" name="S04_TextBox_56"/>
          <p:cNvSpPr txBox="1"/>
          <p:nvPr/>
        </p:nvSpPr>
        <p:spPr>
          <a:xfrm>
            <a:off x="2587752" y="31546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>
                <a:solidFill>
                  <a:srgbClr val="627392"/>
                </a:solidFill>
                <a:latin typeface="Segoe UI"/>
              </a:rPr>
              <a:t>4–20 mA</a:t>
            </a:r>
          </a:p>
        </p:txBody>
      </p:sp>
      <p:sp>
        <p:nvSpPr>
          <p:cNvPr id="58" name="S04_Chevron_57"/>
          <p:cNvSpPr/>
          <p:nvPr/>
        </p:nvSpPr>
        <p:spPr>
          <a:xfrm>
            <a:off x="4005072" y="2724912"/>
            <a:ext cx="265176" cy="310896"/>
          </a:xfrm>
          <a:prstGeom prst="chevron">
            <a:avLst/>
          </a:prstGeom>
          <a:solidFill>
            <a:srgbClr val="4D7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04_Rounded_Rectangle_58"/>
          <p:cNvSpPr/>
          <p:nvPr/>
        </p:nvSpPr>
        <p:spPr>
          <a:xfrm>
            <a:off x="4389120" y="2395728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04_Rounded_Rectangle_59"/>
          <p:cNvSpPr/>
          <p:nvPr/>
        </p:nvSpPr>
        <p:spPr>
          <a:xfrm>
            <a:off x="4553712" y="2532888"/>
            <a:ext cx="6766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04_TextBox_60"/>
          <p:cNvSpPr txBox="1"/>
          <p:nvPr/>
        </p:nvSpPr>
        <p:spPr>
          <a:xfrm>
            <a:off x="4553712" y="2569464"/>
            <a:ext cx="6766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8B5CFF"/>
                </a:solidFill>
                <a:latin typeface="Segoe UI Semibold"/>
              </a:rPr>
              <a:t>03</a:t>
            </a:r>
          </a:p>
        </p:txBody>
      </p:sp>
      <p:sp>
        <p:nvSpPr>
          <p:cNvPr id="62" name="S04_TextBox_61"/>
          <p:cNvSpPr txBox="1"/>
          <p:nvPr/>
        </p:nvSpPr>
        <p:spPr>
          <a:xfrm>
            <a:off x="4553712" y="2907792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0">
                <a:solidFill>
                  <a:srgbClr val="F7FAFF"/>
                </a:solidFill>
                <a:latin typeface="Segoe UI Semibold"/>
              </a:rPr>
              <a:t>MS300 / ACI</a:t>
            </a:r>
          </a:p>
        </p:txBody>
      </p:sp>
      <p:sp>
        <p:nvSpPr>
          <p:cNvPr id="63" name="S04_TextBox_62"/>
          <p:cNvSpPr txBox="1"/>
          <p:nvPr/>
        </p:nvSpPr>
        <p:spPr>
          <a:xfrm>
            <a:off x="4526280" y="31546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>
                <a:solidFill>
                  <a:srgbClr val="627392"/>
                </a:solidFill>
                <a:latin typeface="Segoe UI"/>
              </a:rPr>
              <a:t>raw 0…10000</a:t>
            </a:r>
          </a:p>
        </p:txBody>
      </p:sp>
      <p:sp>
        <p:nvSpPr>
          <p:cNvPr id="64" name="S04_Chevron_63"/>
          <p:cNvSpPr/>
          <p:nvPr/>
        </p:nvSpPr>
        <p:spPr>
          <a:xfrm>
            <a:off x="5943600" y="2724912"/>
            <a:ext cx="265176" cy="310896"/>
          </a:xfrm>
          <a:prstGeom prst="chevron">
            <a:avLst/>
          </a:prstGeom>
          <a:solidFill>
            <a:srgbClr val="8B5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04_Rounded_Rectangle_64"/>
          <p:cNvSpPr/>
          <p:nvPr/>
        </p:nvSpPr>
        <p:spPr>
          <a:xfrm>
            <a:off x="6327648" y="2395728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04_Rounded_Rectangle_65"/>
          <p:cNvSpPr/>
          <p:nvPr/>
        </p:nvSpPr>
        <p:spPr>
          <a:xfrm>
            <a:off x="6492240" y="2532888"/>
            <a:ext cx="6766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04_TextBox_66"/>
          <p:cNvSpPr txBox="1"/>
          <p:nvPr/>
        </p:nvSpPr>
        <p:spPr>
          <a:xfrm>
            <a:off x="6492240" y="2569464"/>
            <a:ext cx="6766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15E6FF"/>
                </a:solidFill>
                <a:latin typeface="Segoe UI Semibold"/>
              </a:rPr>
              <a:t>04</a:t>
            </a:r>
          </a:p>
        </p:txBody>
      </p:sp>
      <p:sp>
        <p:nvSpPr>
          <p:cNvPr id="68" name="S04_TextBox_67"/>
          <p:cNvSpPr txBox="1"/>
          <p:nvPr/>
        </p:nvSpPr>
        <p:spPr>
          <a:xfrm>
            <a:off x="6492240" y="2907792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0">
                <a:solidFill>
                  <a:srgbClr val="F7FAFF"/>
                </a:solidFill>
                <a:latin typeface="Segoe UI Semibold"/>
              </a:rPr>
              <a:t>MODBUS</a:t>
            </a:r>
          </a:p>
        </p:txBody>
      </p:sp>
      <p:sp>
        <p:nvSpPr>
          <p:cNvPr id="69" name="S04_TextBox_68"/>
          <p:cNvSpPr txBox="1"/>
          <p:nvPr/>
        </p:nvSpPr>
        <p:spPr>
          <a:xfrm>
            <a:off x="6464808" y="31546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>
                <a:solidFill>
                  <a:srgbClr val="627392"/>
                </a:solidFill>
                <a:latin typeface="Segoe UI"/>
              </a:rPr>
              <a:t>FC03 · slave 5</a:t>
            </a:r>
          </a:p>
        </p:txBody>
      </p:sp>
      <p:sp>
        <p:nvSpPr>
          <p:cNvPr id="70" name="S04_Chevron_69"/>
          <p:cNvSpPr/>
          <p:nvPr/>
        </p:nvSpPr>
        <p:spPr>
          <a:xfrm>
            <a:off x="7882128" y="2724912"/>
            <a:ext cx="265176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04_Rounded_Rectangle_70"/>
          <p:cNvSpPr/>
          <p:nvPr/>
        </p:nvSpPr>
        <p:spPr>
          <a:xfrm>
            <a:off x="8266175" y="2395728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04_Rounded_Rectangle_71"/>
          <p:cNvSpPr/>
          <p:nvPr/>
        </p:nvSpPr>
        <p:spPr>
          <a:xfrm>
            <a:off x="8430767" y="2532888"/>
            <a:ext cx="6766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04_TextBox_72"/>
          <p:cNvSpPr txBox="1"/>
          <p:nvPr/>
        </p:nvSpPr>
        <p:spPr>
          <a:xfrm>
            <a:off x="8430767" y="2569464"/>
            <a:ext cx="6766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B9FF4A"/>
                </a:solidFill>
                <a:latin typeface="Segoe UI Semibold"/>
              </a:rPr>
              <a:t>05</a:t>
            </a:r>
          </a:p>
        </p:txBody>
      </p:sp>
      <p:sp>
        <p:nvSpPr>
          <p:cNvPr id="74" name="S04_TextBox_73"/>
          <p:cNvSpPr txBox="1"/>
          <p:nvPr/>
        </p:nvSpPr>
        <p:spPr>
          <a:xfrm>
            <a:off x="8430767" y="2907792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0">
                <a:solidFill>
                  <a:srgbClr val="F7FAFF"/>
                </a:solidFill>
                <a:latin typeface="Segoe UI Semibold"/>
              </a:rPr>
              <a:t>PLC</a:t>
            </a:r>
          </a:p>
        </p:txBody>
      </p:sp>
      <p:sp>
        <p:nvSpPr>
          <p:cNvPr id="75" name="S04_TextBox_74"/>
          <p:cNvSpPr txBox="1"/>
          <p:nvPr/>
        </p:nvSpPr>
        <p:spPr>
          <a:xfrm>
            <a:off x="8403335" y="31546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>
                <a:solidFill>
                  <a:srgbClr val="627392"/>
                </a:solidFill>
                <a:latin typeface="Segoe UI"/>
              </a:rPr>
              <a:t>PV → Air%</a:t>
            </a:r>
          </a:p>
        </p:txBody>
      </p:sp>
      <p:sp>
        <p:nvSpPr>
          <p:cNvPr id="76" name="S04_Chevron_75"/>
          <p:cNvSpPr/>
          <p:nvPr/>
        </p:nvSpPr>
        <p:spPr>
          <a:xfrm>
            <a:off x="9820655" y="2724912"/>
            <a:ext cx="265176" cy="310896"/>
          </a:xfrm>
          <a:prstGeom prst="chevron">
            <a:avLst/>
          </a:prstGeom>
          <a:solidFill>
            <a:srgbClr val="B9FF4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04_Rounded_Rectangle_76"/>
          <p:cNvSpPr/>
          <p:nvPr/>
        </p:nvSpPr>
        <p:spPr>
          <a:xfrm>
            <a:off x="10204704" y="2395728"/>
            <a:ext cx="1463040" cy="96012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04_Rounded_Rectangle_77"/>
          <p:cNvSpPr/>
          <p:nvPr/>
        </p:nvSpPr>
        <p:spPr>
          <a:xfrm>
            <a:off x="10369296" y="2532888"/>
            <a:ext cx="6766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04_TextBox_78"/>
          <p:cNvSpPr txBox="1"/>
          <p:nvPr/>
        </p:nvSpPr>
        <p:spPr>
          <a:xfrm>
            <a:off x="10369296" y="2569464"/>
            <a:ext cx="6766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4D7CFF"/>
                </a:solidFill>
                <a:latin typeface="Segoe UI Semibold"/>
              </a:rPr>
              <a:t>06</a:t>
            </a:r>
          </a:p>
        </p:txBody>
      </p:sp>
      <p:sp>
        <p:nvSpPr>
          <p:cNvPr id="80" name="S04_TextBox_79"/>
          <p:cNvSpPr txBox="1"/>
          <p:nvPr/>
        </p:nvSpPr>
        <p:spPr>
          <a:xfrm>
            <a:off x="10369296" y="2907792"/>
            <a:ext cx="1133856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0">
                <a:solidFill>
                  <a:srgbClr val="F7FAFF"/>
                </a:solidFill>
                <a:latin typeface="Segoe UI Semibold"/>
              </a:rPr>
              <a:t>QUẠT HÚT</a:t>
            </a:r>
          </a:p>
        </p:txBody>
      </p:sp>
      <p:sp>
        <p:nvSpPr>
          <p:cNvPr id="81" name="S04_TextBox_80"/>
          <p:cNvSpPr txBox="1"/>
          <p:nvPr/>
        </p:nvSpPr>
        <p:spPr>
          <a:xfrm>
            <a:off x="10341864" y="31546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>
                <a:solidFill>
                  <a:srgbClr val="627392"/>
                </a:solidFill>
                <a:latin typeface="Segoe UI"/>
              </a:rPr>
              <a:t>cơ cấu chấp hành</a:t>
            </a:r>
          </a:p>
        </p:txBody>
      </p:sp>
      <p:sp>
        <p:nvSpPr>
          <p:cNvPr id="82" name="S04_Oval_81"/>
          <p:cNvSpPr/>
          <p:nvPr/>
        </p:nvSpPr>
        <p:spPr>
          <a:xfrm>
            <a:off x="1211580" y="4119372"/>
            <a:ext cx="137160" cy="137160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04_TextBox_82"/>
          <p:cNvSpPr txBox="1"/>
          <p:nvPr/>
        </p:nvSpPr>
        <p:spPr>
          <a:xfrm>
            <a:off x="502920" y="3840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35">
                <a:solidFill>
                  <a:srgbClr val="15E6FF"/>
                </a:solidFill>
                <a:latin typeface="Segoe UI Semibold"/>
              </a:rPr>
              <a:t>ÁP ÂM</a:t>
            </a:r>
          </a:p>
        </p:txBody>
      </p:sp>
      <p:sp>
        <p:nvSpPr>
          <p:cNvPr id="84" name="S04_TextBox_83"/>
          <p:cNvSpPr txBox="1"/>
          <p:nvPr/>
        </p:nvSpPr>
        <p:spPr>
          <a:xfrm>
            <a:off x="502920" y="433425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30">
                <a:solidFill>
                  <a:srgbClr val="F7FAFF"/>
                </a:solidFill>
                <a:latin typeface="Bahnschrift SemiBold Condensed"/>
              </a:rPr>
              <a:t>Pa</a:t>
            </a:r>
          </a:p>
        </p:txBody>
      </p:sp>
      <p:sp>
        <p:nvSpPr>
          <p:cNvPr id="85" name="S04_Oval_84"/>
          <p:cNvSpPr/>
          <p:nvPr/>
        </p:nvSpPr>
        <p:spPr>
          <a:xfrm>
            <a:off x="3150108" y="4119372"/>
            <a:ext cx="137160" cy="137160"/>
          </a:xfrm>
          <a:prstGeom prst="ellipse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04_TextBox_85"/>
          <p:cNvSpPr txBox="1"/>
          <p:nvPr/>
        </p:nvSpPr>
        <p:spPr>
          <a:xfrm>
            <a:off x="2441448" y="3840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35">
                <a:solidFill>
                  <a:srgbClr val="4D7CFF"/>
                </a:solidFill>
                <a:latin typeface="Segoe UI Semibold"/>
              </a:rPr>
              <a:t>ANALOG</a:t>
            </a:r>
          </a:p>
        </p:txBody>
      </p:sp>
      <p:sp>
        <p:nvSpPr>
          <p:cNvPr id="87" name="S04_TextBox_86"/>
          <p:cNvSpPr txBox="1"/>
          <p:nvPr/>
        </p:nvSpPr>
        <p:spPr>
          <a:xfrm>
            <a:off x="2441448" y="433425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30">
                <a:solidFill>
                  <a:srgbClr val="F7FAFF"/>
                </a:solidFill>
                <a:latin typeface="Bahnschrift SemiBold Condensed"/>
              </a:rPr>
              <a:t>4–20 mA</a:t>
            </a:r>
          </a:p>
        </p:txBody>
      </p:sp>
      <p:sp>
        <p:nvSpPr>
          <p:cNvPr id="88" name="S04_Oval_87"/>
          <p:cNvSpPr/>
          <p:nvPr/>
        </p:nvSpPr>
        <p:spPr>
          <a:xfrm>
            <a:off x="5088636" y="4119372"/>
            <a:ext cx="137160" cy="137160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04_TextBox_88"/>
          <p:cNvSpPr txBox="1"/>
          <p:nvPr/>
        </p:nvSpPr>
        <p:spPr>
          <a:xfrm>
            <a:off x="4379976" y="3840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35">
                <a:solidFill>
                  <a:srgbClr val="8B5CFF"/>
                </a:solidFill>
                <a:latin typeface="Segoe UI Semibold"/>
              </a:rPr>
              <a:t>DIGITAL</a:t>
            </a:r>
          </a:p>
        </p:txBody>
      </p:sp>
      <p:sp>
        <p:nvSpPr>
          <p:cNvPr id="90" name="S04_TextBox_89"/>
          <p:cNvSpPr txBox="1"/>
          <p:nvPr/>
        </p:nvSpPr>
        <p:spPr>
          <a:xfrm>
            <a:off x="4379976" y="433425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30">
                <a:solidFill>
                  <a:srgbClr val="F7FAFF"/>
                </a:solidFill>
                <a:latin typeface="Bahnschrift SemiBold Condensed"/>
              </a:rPr>
              <a:t>0…10000</a:t>
            </a:r>
          </a:p>
        </p:txBody>
      </p:sp>
      <p:sp>
        <p:nvSpPr>
          <p:cNvPr id="91" name="S04_Oval_90"/>
          <p:cNvSpPr/>
          <p:nvPr/>
        </p:nvSpPr>
        <p:spPr>
          <a:xfrm>
            <a:off x="7027164" y="4119372"/>
            <a:ext cx="137160" cy="137160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04_TextBox_91"/>
          <p:cNvSpPr txBox="1"/>
          <p:nvPr/>
        </p:nvSpPr>
        <p:spPr>
          <a:xfrm>
            <a:off x="6318504" y="3840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35">
                <a:solidFill>
                  <a:srgbClr val="15E6FF"/>
                </a:solidFill>
                <a:latin typeface="Segoe UI Semibold"/>
              </a:rPr>
              <a:t>PROCESS</a:t>
            </a:r>
          </a:p>
        </p:txBody>
      </p:sp>
      <p:sp>
        <p:nvSpPr>
          <p:cNvPr id="93" name="S04_TextBox_92"/>
          <p:cNvSpPr txBox="1"/>
          <p:nvPr/>
        </p:nvSpPr>
        <p:spPr>
          <a:xfrm>
            <a:off x="6318504" y="433425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30">
                <a:solidFill>
                  <a:srgbClr val="F7FAFF"/>
                </a:solidFill>
                <a:latin typeface="Bahnschrift SemiBold Condensed"/>
              </a:rPr>
              <a:t>PV / SP</a:t>
            </a:r>
          </a:p>
        </p:txBody>
      </p:sp>
      <p:sp>
        <p:nvSpPr>
          <p:cNvPr id="94" name="S04_Oval_93"/>
          <p:cNvSpPr/>
          <p:nvPr/>
        </p:nvSpPr>
        <p:spPr>
          <a:xfrm>
            <a:off x="8965692" y="4119372"/>
            <a:ext cx="137160" cy="137160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04_TextBox_94"/>
          <p:cNvSpPr txBox="1"/>
          <p:nvPr/>
        </p:nvSpPr>
        <p:spPr>
          <a:xfrm>
            <a:off x="8257032" y="38404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35">
                <a:solidFill>
                  <a:srgbClr val="B9FF4A"/>
                </a:solidFill>
                <a:latin typeface="Segoe UI Semibold"/>
              </a:rPr>
              <a:t>OUTPUT</a:t>
            </a:r>
          </a:p>
        </p:txBody>
      </p:sp>
      <p:sp>
        <p:nvSpPr>
          <p:cNvPr id="96" name="S04_TextBox_95"/>
          <p:cNvSpPr txBox="1"/>
          <p:nvPr/>
        </p:nvSpPr>
        <p:spPr>
          <a:xfrm>
            <a:off x="8257032" y="433425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30">
                <a:solidFill>
                  <a:srgbClr val="F7FAFF"/>
                </a:solidFill>
                <a:latin typeface="Bahnschrift SemiBold Condensed"/>
              </a:rPr>
              <a:t>Air%</a:t>
            </a:r>
          </a:p>
        </p:txBody>
      </p:sp>
      <p:sp>
        <p:nvSpPr>
          <p:cNvPr id="97" name="S04_Rounded_Rectangle_96"/>
          <p:cNvSpPr/>
          <p:nvPr/>
        </p:nvSpPr>
        <p:spPr>
          <a:xfrm>
            <a:off x="1956816" y="4974336"/>
            <a:ext cx="8275320" cy="694944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04_TextBox_97"/>
          <p:cNvSpPr txBox="1"/>
          <p:nvPr/>
        </p:nvSpPr>
        <p:spPr>
          <a:xfrm>
            <a:off x="2240280" y="5175504"/>
            <a:ext cx="7726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45">
                <a:solidFill>
                  <a:srgbClr val="B9FF4A"/>
                </a:solidFill>
                <a:latin typeface="Segoe UI Semibold"/>
              </a:rPr>
              <a:t>VÒNG KHÉP:  quạt → áp hút → cảm biến → PLC → Air% → quạt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6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24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46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6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6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6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46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46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6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46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6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46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6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46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SIGNAL  /  ONE DRIVE · TWO JOBS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MS300 vừa là giác quan, vừa là cơ bắp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Cùng một biến tần vừa nhận tín hiệu cảm biến, vừa điều khiển chính chiếc quạt tạo ra áp hút đó.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05/20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8138160" y="-2377440"/>
            <a:ext cx="6126480" cy="6126480"/>
          </a:xfrm>
          <a:prstGeom prst="ellipse">
            <a:avLst/>
          </a:prstGeom>
          <a:gradFill rotWithShape="1">
            <a:gsLst>
              <a:gs pos="0">
                <a:srgbClr val="8B5CFF">
                  <a:alpha val="22000"/>
                </a:srgbClr>
              </a:gs>
              <a:gs pos="55000">
                <a:srgbClr val="8B5CFF">
                  <a:alpha val="7700"/>
                </a:srgbClr>
              </a:gs>
              <a:gs pos="100000">
                <a:srgbClr val="8B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5_Rounded_Rectangle_46"/>
          <p:cNvSpPr/>
          <p:nvPr/>
        </p:nvSpPr>
        <p:spPr>
          <a:xfrm>
            <a:off x="4315968" y="1920240"/>
            <a:ext cx="3557016" cy="3291840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5_Rounded_Rectangle_47"/>
          <p:cNvSpPr/>
          <p:nvPr/>
        </p:nvSpPr>
        <p:spPr>
          <a:xfrm>
            <a:off x="5138928" y="2221992"/>
            <a:ext cx="190195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5_TextBox_48"/>
          <p:cNvSpPr txBox="1"/>
          <p:nvPr/>
        </p:nvSpPr>
        <p:spPr>
          <a:xfrm>
            <a:off x="5138928" y="2258568"/>
            <a:ext cx="190195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15E6FF"/>
                </a:solidFill>
                <a:latin typeface="Segoe UI Semibold"/>
              </a:rPr>
              <a:t>DELTA MS300</a:t>
            </a:r>
          </a:p>
        </p:txBody>
      </p:sp>
      <p:sp>
        <p:nvSpPr>
          <p:cNvPr id="50" name="S05_Oval_49"/>
          <p:cNvSpPr/>
          <p:nvPr/>
        </p:nvSpPr>
        <p:spPr>
          <a:xfrm>
            <a:off x="5385816" y="2610612"/>
            <a:ext cx="1417320" cy="1417320"/>
          </a:xfrm>
          <a:prstGeom prst="ellipse">
            <a:avLst/>
          </a:prstGeom>
          <a:solidFill>
            <a:srgbClr val="4D7CFF">
              <a:alpha val="15000"/>
            </a:srgbClr>
          </a:solidFill>
          <a:ln w="3048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05_TextBox_50"/>
          <p:cNvSpPr txBox="1"/>
          <p:nvPr/>
        </p:nvSpPr>
        <p:spPr>
          <a:xfrm>
            <a:off x="5266944" y="3017520"/>
            <a:ext cx="165506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900" spc="80">
                <a:solidFill>
                  <a:srgbClr val="F7FAFF"/>
                </a:solidFill>
                <a:latin typeface="Bahnschrift SemiBold Condensed"/>
              </a:rPr>
              <a:t>VFD</a:t>
            </a:r>
          </a:p>
        </p:txBody>
      </p:sp>
      <p:sp>
        <p:nvSpPr>
          <p:cNvPr id="52" name="S05_TextBox_51"/>
          <p:cNvSpPr txBox="1"/>
          <p:nvPr/>
        </p:nvSpPr>
        <p:spPr>
          <a:xfrm>
            <a:off x="4901184" y="4261104"/>
            <a:ext cx="238658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A6B5D1"/>
                </a:solidFill>
                <a:latin typeface="Consolas"/>
              </a:rPr>
              <a:t>SLAVE 5  ·  38400</a:t>
            </a:r>
          </a:p>
        </p:txBody>
      </p:sp>
      <p:sp>
        <p:nvSpPr>
          <p:cNvPr id="53" name="S05_Rounded_Rectangle_52"/>
          <p:cNvSpPr/>
          <p:nvPr/>
        </p:nvSpPr>
        <p:spPr>
          <a:xfrm>
            <a:off x="685800" y="2139696"/>
            <a:ext cx="2999232" cy="28163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05_Rounded_Rectangle_53"/>
          <p:cNvSpPr/>
          <p:nvPr/>
        </p:nvSpPr>
        <p:spPr>
          <a:xfrm>
            <a:off x="960120" y="2423160"/>
            <a:ext cx="98755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5_TextBox_54"/>
          <p:cNvSpPr txBox="1"/>
          <p:nvPr/>
        </p:nvSpPr>
        <p:spPr>
          <a:xfrm>
            <a:off x="960120" y="2459736"/>
            <a:ext cx="98755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8B5CFF"/>
                </a:solidFill>
                <a:latin typeface="Segoe UI Semibold"/>
              </a:rPr>
              <a:t>MEASURE</a:t>
            </a:r>
          </a:p>
        </p:txBody>
      </p:sp>
      <p:sp>
        <p:nvSpPr>
          <p:cNvPr id="56" name="S05_TextBox_55"/>
          <p:cNvSpPr txBox="1"/>
          <p:nvPr/>
        </p:nvSpPr>
        <p:spPr>
          <a:xfrm>
            <a:off x="960120" y="292608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spc="-40">
                <a:solidFill>
                  <a:srgbClr val="F7FAFF"/>
                </a:solidFill>
                <a:latin typeface="Bahnschrift SemiBold Condensed"/>
              </a:rPr>
              <a:t>ACI  →  ADC</a:t>
            </a:r>
          </a:p>
        </p:txBody>
      </p:sp>
      <p:sp>
        <p:nvSpPr>
          <p:cNvPr id="57" name="S05_TextBox_56"/>
          <p:cNvSpPr txBox="1"/>
          <p:nvPr/>
        </p:nvSpPr>
        <p:spPr>
          <a:xfrm>
            <a:off x="960120" y="3493008"/>
            <a:ext cx="242316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Nhận 4–20 mA và công bố thành raw 0…10000 qua thanh ghi monitor.</a:t>
            </a:r>
          </a:p>
        </p:txBody>
      </p:sp>
      <p:sp>
        <p:nvSpPr>
          <p:cNvPr id="58" name="S05_Rounded_Rectangle_57"/>
          <p:cNvSpPr/>
          <p:nvPr/>
        </p:nvSpPr>
        <p:spPr>
          <a:xfrm>
            <a:off x="960120" y="4361688"/>
            <a:ext cx="133502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05_TextBox_58"/>
          <p:cNvSpPr txBox="1"/>
          <p:nvPr/>
        </p:nvSpPr>
        <p:spPr>
          <a:xfrm>
            <a:off x="960120" y="4398264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spc="125">
                <a:solidFill>
                  <a:srgbClr val="15E6FF"/>
                </a:solidFill>
                <a:latin typeface="Segoe UI Semibold"/>
              </a:rPr>
              <a:t>0X220C</a:t>
            </a:r>
          </a:p>
        </p:txBody>
      </p:sp>
      <p:sp>
        <p:nvSpPr>
          <p:cNvPr id="60" name="S05_Chevron_59"/>
          <p:cNvSpPr/>
          <p:nvPr/>
        </p:nvSpPr>
        <p:spPr>
          <a:xfrm>
            <a:off x="3785615" y="3364992"/>
            <a:ext cx="384048" cy="310896"/>
          </a:xfrm>
          <a:prstGeom prst="chevron">
            <a:avLst/>
          </a:prstGeom>
          <a:solidFill>
            <a:srgbClr val="8B5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05_Rounded_Rectangle_60"/>
          <p:cNvSpPr/>
          <p:nvPr/>
        </p:nvSpPr>
        <p:spPr>
          <a:xfrm>
            <a:off x="8494776" y="2139696"/>
            <a:ext cx="2999232" cy="28163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05_Rounded_Rectangle_61"/>
          <p:cNvSpPr/>
          <p:nvPr/>
        </p:nvSpPr>
        <p:spPr>
          <a:xfrm>
            <a:off x="8769096" y="2423160"/>
            <a:ext cx="98755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05_TextBox_62"/>
          <p:cNvSpPr txBox="1"/>
          <p:nvPr/>
        </p:nvSpPr>
        <p:spPr>
          <a:xfrm>
            <a:off x="8769096" y="2459736"/>
            <a:ext cx="98755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ACTUATE</a:t>
            </a:r>
          </a:p>
        </p:txBody>
      </p:sp>
      <p:sp>
        <p:nvSpPr>
          <p:cNvPr id="64" name="S05_TextBox_63"/>
          <p:cNvSpPr txBox="1"/>
          <p:nvPr/>
        </p:nvSpPr>
        <p:spPr>
          <a:xfrm>
            <a:off x="8769096" y="292608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spc="-40">
                <a:solidFill>
                  <a:srgbClr val="F7FAFF"/>
                </a:solidFill>
                <a:latin typeface="Bahnschrift SemiBold Condensed"/>
              </a:rPr>
              <a:t>Air%  →  Hz</a:t>
            </a:r>
          </a:p>
        </p:txBody>
      </p:sp>
      <p:sp>
        <p:nvSpPr>
          <p:cNvPr id="65" name="S05_TextBox_64"/>
          <p:cNvSpPr txBox="1"/>
          <p:nvPr/>
        </p:nvSpPr>
        <p:spPr>
          <a:xfrm>
            <a:off x="8769096" y="3493008"/>
            <a:ext cx="242316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Nhận lệnh analog AVI hoặc lệnh tần số Modbus rồi kéo quạt nhanh/chậm.</a:t>
            </a:r>
          </a:p>
        </p:txBody>
      </p:sp>
      <p:sp>
        <p:nvSpPr>
          <p:cNvPr id="66" name="S05_Rounded_Rectangle_65"/>
          <p:cNvSpPr/>
          <p:nvPr/>
        </p:nvSpPr>
        <p:spPr>
          <a:xfrm>
            <a:off x="8769096" y="4361688"/>
            <a:ext cx="149961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05_TextBox_66"/>
          <p:cNvSpPr txBox="1"/>
          <p:nvPr/>
        </p:nvSpPr>
        <p:spPr>
          <a:xfrm>
            <a:off x="8769096" y="4398264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AO / FC06</a:t>
            </a:r>
          </a:p>
        </p:txBody>
      </p:sp>
      <p:sp>
        <p:nvSpPr>
          <p:cNvPr id="68" name="S05_Chevron_67"/>
          <p:cNvSpPr/>
          <p:nvPr/>
        </p:nvSpPr>
        <p:spPr>
          <a:xfrm>
            <a:off x="8028431" y="3364992"/>
            <a:ext cx="384048" cy="310896"/>
          </a:xfrm>
          <a:prstGeom prst="chevron">
            <a:avLst/>
          </a:prstGeom>
          <a:solidFill>
            <a:srgbClr val="B9FF4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05_TextBox_68"/>
          <p:cNvSpPr txBox="1"/>
          <p:nvPr/>
        </p:nvSpPr>
        <p:spPr>
          <a:xfrm>
            <a:off x="658368" y="5550408"/>
            <a:ext cx="10874959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>
                <a:solidFill>
                  <a:srgbClr val="FFC857"/>
                </a:solidFill>
                <a:latin typeface="Segoe UI Semibold"/>
              </a:rPr>
              <a:t>Ưu điểm: đường analog ngắn.  Đánh đổi: mất Modbus là mất luôn giá trị đo.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6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6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SIGNAL  /  THE ADDRESS TRAP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Một thanh ghi. Ba cách gọi.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Lệch một đơn vị vẫn trả về con số trông hợp lý — nên bắt buộc kiểm chứng bằng tác động vật lý.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06/20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8961120" y="393192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FF5576">
                  <a:alpha val="13000"/>
                </a:srgbClr>
              </a:gs>
              <a:gs pos="55000">
                <a:srgbClr val="FF5576">
                  <a:alpha val="4550"/>
                </a:srgbClr>
              </a:gs>
              <a:gs pos="100000">
                <a:srgbClr val="FF55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6_Rounded_Rectangle_46"/>
          <p:cNvSpPr/>
          <p:nvPr/>
        </p:nvSpPr>
        <p:spPr>
          <a:xfrm>
            <a:off x="694944" y="2084831"/>
            <a:ext cx="3035808" cy="243230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6_Rounded_Rectangle_47"/>
          <p:cNvSpPr/>
          <p:nvPr/>
        </p:nvSpPr>
        <p:spPr>
          <a:xfrm>
            <a:off x="1005840" y="2359152"/>
            <a:ext cx="102412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6_TextBox_48"/>
          <p:cNvSpPr txBox="1"/>
          <p:nvPr/>
        </p:nvSpPr>
        <p:spPr>
          <a:xfrm>
            <a:off x="1005840" y="2395728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8B5CFF"/>
                </a:solidFill>
                <a:latin typeface="Segoe UI Semibold"/>
              </a:rPr>
              <a:t>HEX</a:t>
            </a:r>
          </a:p>
        </p:txBody>
      </p:sp>
      <p:sp>
        <p:nvSpPr>
          <p:cNvPr id="50" name="S06_TextBox_49"/>
          <p:cNvSpPr txBox="1"/>
          <p:nvPr/>
        </p:nvSpPr>
        <p:spPr>
          <a:xfrm>
            <a:off x="950976" y="2852928"/>
            <a:ext cx="252374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700" spc="-100">
                <a:solidFill>
                  <a:srgbClr val="F7FAFF"/>
                </a:solidFill>
                <a:latin typeface="Bahnschrift SemiBold Condensed"/>
              </a:rPr>
              <a:t>0x220C</a:t>
            </a:r>
          </a:p>
        </p:txBody>
      </p:sp>
      <p:sp>
        <p:nvSpPr>
          <p:cNvPr id="51" name="S06_TextBox_50"/>
          <p:cNvSpPr txBox="1"/>
          <p:nvPr/>
        </p:nvSpPr>
        <p:spPr>
          <a:xfrm>
            <a:off x="950976" y="3822191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MS300 manual / khung RTU</a:t>
            </a:r>
          </a:p>
        </p:txBody>
      </p:sp>
      <p:sp>
        <p:nvSpPr>
          <p:cNvPr id="52" name="S06_Chevron_51"/>
          <p:cNvSpPr/>
          <p:nvPr/>
        </p:nvSpPr>
        <p:spPr>
          <a:xfrm>
            <a:off x="3831336" y="2990088"/>
            <a:ext cx="384048" cy="310896"/>
          </a:xfrm>
          <a:prstGeom prst="chevron">
            <a:avLst/>
          </a:prstGeom>
          <a:solidFill>
            <a:srgbClr val="8B5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06_Rounded_Rectangle_52"/>
          <p:cNvSpPr/>
          <p:nvPr/>
        </p:nvSpPr>
        <p:spPr>
          <a:xfrm>
            <a:off x="4123944" y="2084831"/>
            <a:ext cx="3035808" cy="243230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06_Rounded_Rectangle_53"/>
          <p:cNvSpPr/>
          <p:nvPr/>
        </p:nvSpPr>
        <p:spPr>
          <a:xfrm>
            <a:off x="4434840" y="2359152"/>
            <a:ext cx="102412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6_TextBox_54"/>
          <p:cNvSpPr txBox="1"/>
          <p:nvPr/>
        </p:nvSpPr>
        <p:spPr>
          <a:xfrm>
            <a:off x="4434840" y="2395728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15E6FF"/>
                </a:solidFill>
                <a:latin typeface="Segoe UI Semibold"/>
              </a:rPr>
              <a:t>DECIMAL</a:t>
            </a:r>
          </a:p>
        </p:txBody>
      </p:sp>
      <p:sp>
        <p:nvSpPr>
          <p:cNvPr id="56" name="S06_TextBox_55"/>
          <p:cNvSpPr txBox="1"/>
          <p:nvPr/>
        </p:nvSpPr>
        <p:spPr>
          <a:xfrm>
            <a:off x="4379976" y="2852928"/>
            <a:ext cx="252374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700" spc="-100">
                <a:solidFill>
                  <a:srgbClr val="F7FAFF"/>
                </a:solidFill>
                <a:latin typeface="Bahnschrift SemiBold Condensed"/>
              </a:rPr>
              <a:t>8716</a:t>
            </a:r>
          </a:p>
        </p:txBody>
      </p:sp>
      <p:sp>
        <p:nvSpPr>
          <p:cNvPr id="57" name="S06_TextBox_56"/>
          <p:cNvSpPr txBox="1"/>
          <p:nvPr/>
        </p:nvSpPr>
        <p:spPr>
          <a:xfrm>
            <a:off x="4379976" y="3822191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Firmware ModbusMaster</a:t>
            </a:r>
          </a:p>
        </p:txBody>
      </p:sp>
      <p:sp>
        <p:nvSpPr>
          <p:cNvPr id="58" name="S06_Chevron_57"/>
          <p:cNvSpPr/>
          <p:nvPr/>
        </p:nvSpPr>
        <p:spPr>
          <a:xfrm>
            <a:off x="7260336" y="2990088"/>
            <a:ext cx="384048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06_Rounded_Rectangle_58"/>
          <p:cNvSpPr/>
          <p:nvPr/>
        </p:nvSpPr>
        <p:spPr>
          <a:xfrm>
            <a:off x="7552944" y="2084831"/>
            <a:ext cx="3035808" cy="243230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06_Rounded_Rectangle_59"/>
          <p:cNvSpPr/>
          <p:nvPr/>
        </p:nvSpPr>
        <p:spPr>
          <a:xfrm>
            <a:off x="7863840" y="2359152"/>
            <a:ext cx="102412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06_TextBox_60"/>
          <p:cNvSpPr txBox="1"/>
          <p:nvPr/>
        </p:nvSpPr>
        <p:spPr>
          <a:xfrm>
            <a:off x="7863840" y="2395728"/>
            <a:ext cx="102412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SIEMENS</a:t>
            </a:r>
          </a:p>
        </p:txBody>
      </p:sp>
      <p:sp>
        <p:nvSpPr>
          <p:cNvPr id="62" name="S06_TextBox_61"/>
          <p:cNvSpPr txBox="1"/>
          <p:nvPr/>
        </p:nvSpPr>
        <p:spPr>
          <a:xfrm>
            <a:off x="7808976" y="2852928"/>
            <a:ext cx="252374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4700" spc="-100">
                <a:solidFill>
                  <a:srgbClr val="F7FAFF"/>
                </a:solidFill>
                <a:latin typeface="Bahnschrift SemiBold Condensed"/>
              </a:rPr>
              <a:t>48717</a:t>
            </a:r>
          </a:p>
        </p:txBody>
      </p:sp>
      <p:sp>
        <p:nvSpPr>
          <p:cNvPr id="63" name="S06_TextBox_62"/>
          <p:cNvSpPr txBox="1"/>
          <p:nvPr/>
        </p:nvSpPr>
        <p:spPr>
          <a:xfrm>
            <a:off x="7808976" y="3822191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MB_DATA_ADDR 1-based</a:t>
            </a:r>
          </a:p>
        </p:txBody>
      </p:sp>
      <p:sp>
        <p:nvSpPr>
          <p:cNvPr id="64" name="S06_Rounded_Rectangle_63"/>
          <p:cNvSpPr/>
          <p:nvPr/>
        </p:nvSpPr>
        <p:spPr>
          <a:xfrm>
            <a:off x="2212848" y="4818888"/>
            <a:ext cx="7754112" cy="713232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06_TextBox_64"/>
          <p:cNvSpPr txBox="1"/>
          <p:nvPr/>
        </p:nvSpPr>
        <p:spPr>
          <a:xfrm>
            <a:off x="2487168" y="4992624"/>
            <a:ext cx="720547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200" spc="25">
                <a:solidFill>
                  <a:srgbClr val="15E6FF"/>
                </a:solidFill>
                <a:latin typeface="Consolas"/>
              </a:rPr>
              <a:t>MB_DATA_ADDR  =  40001  +  8716  =  48717</a:t>
            </a:r>
          </a:p>
        </p:txBody>
      </p:sp>
      <p:sp>
        <p:nvSpPr>
          <p:cNvPr id="66" name="S06_TextBox_65"/>
          <p:cNvSpPr txBox="1"/>
          <p:nvPr/>
        </p:nvSpPr>
        <p:spPr>
          <a:xfrm>
            <a:off x="658368" y="5696712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 spc="100">
                <a:solidFill>
                  <a:srgbClr val="FFC857"/>
                </a:solidFill>
                <a:latin typeface="Segoe UI Semibold"/>
              </a:rPr>
              <a:t>KIỂM CHỨNG: bịt / hở ống áp suất, xác nhận giá trị đổi đúng chiều.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6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SIGNAL  /  SIGNAL NORMALIZATION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Từ 4–20 mA thành một con số có ý nghĩa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MS300 chuẩn hoá tín hiệu về 0…10000; PLC lọc nhiễu rồi nội suy theo minPT / maxPT.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07/20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468880" y="-164592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4D7CFF">
                  <a:alpha val="18000"/>
                </a:srgbClr>
              </a:gs>
              <a:gs pos="55000">
                <a:srgbClr val="4D7CFF">
                  <a:alpha val="6300"/>
                </a:srgbClr>
              </a:gs>
              <a:gs pos="100000">
                <a:srgbClr val="4D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7_Rectangle_46"/>
          <p:cNvSpPr/>
          <p:nvPr/>
        </p:nvSpPr>
        <p:spPr>
          <a:xfrm>
            <a:off x="1060704" y="3063240"/>
            <a:ext cx="10049256" cy="109728"/>
          </a:xfrm>
          <a:prstGeom prst="rect">
            <a:avLst/>
          </a:prstGeom>
          <a:solidFill>
            <a:srgbClr val="24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7_Oval_47"/>
          <p:cNvSpPr/>
          <p:nvPr/>
        </p:nvSpPr>
        <p:spPr>
          <a:xfrm>
            <a:off x="978408" y="3035808"/>
            <a:ext cx="164592" cy="164592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7_TextBox_48"/>
          <p:cNvSpPr txBox="1"/>
          <p:nvPr/>
        </p:nvSpPr>
        <p:spPr>
          <a:xfrm>
            <a:off x="557784" y="24414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40">
                <a:solidFill>
                  <a:srgbClr val="15E6FF"/>
                </a:solidFill>
                <a:latin typeface="Segoe UI Semibold"/>
              </a:rPr>
              <a:t>4 mA</a:t>
            </a:r>
          </a:p>
        </p:txBody>
      </p:sp>
      <p:sp>
        <p:nvSpPr>
          <p:cNvPr id="50" name="S07_TextBox_49"/>
          <p:cNvSpPr txBox="1"/>
          <p:nvPr/>
        </p:nvSpPr>
        <p:spPr>
          <a:xfrm>
            <a:off x="466344" y="3392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spc="-20">
                <a:solidFill>
                  <a:srgbClr val="F7FAFF"/>
                </a:solidFill>
                <a:latin typeface="Bahnschrift SemiBold Condensed"/>
              </a:rPr>
              <a:t>0</a:t>
            </a:r>
          </a:p>
        </p:txBody>
      </p:sp>
      <p:sp>
        <p:nvSpPr>
          <p:cNvPr id="51" name="S07_Oval_50"/>
          <p:cNvSpPr/>
          <p:nvPr/>
        </p:nvSpPr>
        <p:spPr>
          <a:xfrm>
            <a:off x="3490722" y="3035808"/>
            <a:ext cx="164592" cy="164592"/>
          </a:xfrm>
          <a:prstGeom prst="ellipse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07_TextBox_51"/>
          <p:cNvSpPr txBox="1"/>
          <p:nvPr/>
        </p:nvSpPr>
        <p:spPr>
          <a:xfrm>
            <a:off x="3070098" y="24414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40">
                <a:solidFill>
                  <a:srgbClr val="4D7CFF"/>
                </a:solidFill>
                <a:latin typeface="Segoe UI Semibold"/>
              </a:rPr>
              <a:t>8 mA</a:t>
            </a:r>
          </a:p>
        </p:txBody>
      </p:sp>
      <p:sp>
        <p:nvSpPr>
          <p:cNvPr id="53" name="S07_TextBox_52"/>
          <p:cNvSpPr txBox="1"/>
          <p:nvPr/>
        </p:nvSpPr>
        <p:spPr>
          <a:xfrm>
            <a:off x="2978658" y="3392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spc="-20">
                <a:solidFill>
                  <a:srgbClr val="F7FAFF"/>
                </a:solidFill>
                <a:latin typeface="Bahnschrift SemiBold Condensed"/>
              </a:rPr>
              <a:t>2500</a:t>
            </a:r>
          </a:p>
        </p:txBody>
      </p:sp>
      <p:sp>
        <p:nvSpPr>
          <p:cNvPr id="54" name="S07_Oval_53"/>
          <p:cNvSpPr/>
          <p:nvPr/>
        </p:nvSpPr>
        <p:spPr>
          <a:xfrm>
            <a:off x="6003036" y="3035808"/>
            <a:ext cx="164592" cy="164592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7_TextBox_54"/>
          <p:cNvSpPr txBox="1"/>
          <p:nvPr/>
        </p:nvSpPr>
        <p:spPr>
          <a:xfrm>
            <a:off x="5582412" y="24414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40">
                <a:solidFill>
                  <a:srgbClr val="8B5CFF"/>
                </a:solidFill>
                <a:latin typeface="Segoe UI Semibold"/>
              </a:rPr>
              <a:t>12 mA</a:t>
            </a:r>
          </a:p>
        </p:txBody>
      </p:sp>
      <p:sp>
        <p:nvSpPr>
          <p:cNvPr id="56" name="S07_TextBox_55"/>
          <p:cNvSpPr txBox="1"/>
          <p:nvPr/>
        </p:nvSpPr>
        <p:spPr>
          <a:xfrm>
            <a:off x="5490972" y="3392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spc="-20">
                <a:solidFill>
                  <a:srgbClr val="F7FAFF"/>
                </a:solidFill>
                <a:latin typeface="Bahnschrift SemiBold Condensed"/>
              </a:rPr>
              <a:t>5000</a:t>
            </a:r>
          </a:p>
        </p:txBody>
      </p:sp>
      <p:sp>
        <p:nvSpPr>
          <p:cNvPr id="57" name="S07_Oval_56"/>
          <p:cNvSpPr/>
          <p:nvPr/>
        </p:nvSpPr>
        <p:spPr>
          <a:xfrm>
            <a:off x="11027664" y="3035808"/>
            <a:ext cx="164592" cy="164592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07_TextBox_57"/>
          <p:cNvSpPr txBox="1"/>
          <p:nvPr/>
        </p:nvSpPr>
        <p:spPr>
          <a:xfrm>
            <a:off x="10607040" y="24414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40">
                <a:solidFill>
                  <a:srgbClr val="B9FF4A"/>
                </a:solidFill>
                <a:latin typeface="Segoe UI Semibold"/>
              </a:rPr>
              <a:t>20 mA</a:t>
            </a:r>
          </a:p>
        </p:txBody>
      </p:sp>
      <p:sp>
        <p:nvSpPr>
          <p:cNvPr id="59" name="S07_TextBox_58"/>
          <p:cNvSpPr txBox="1"/>
          <p:nvPr/>
        </p:nvSpPr>
        <p:spPr>
          <a:xfrm>
            <a:off x="10515600" y="339242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900" spc="-20">
                <a:solidFill>
                  <a:srgbClr val="F7FAFF"/>
                </a:solidFill>
                <a:latin typeface="Bahnschrift SemiBold Condensed"/>
              </a:rPr>
              <a:t>10000</a:t>
            </a:r>
          </a:p>
        </p:txBody>
      </p:sp>
      <p:sp>
        <p:nvSpPr>
          <p:cNvPr id="60" name="S07_TextBox_59"/>
          <p:cNvSpPr txBox="1"/>
          <p:nvPr/>
        </p:nvSpPr>
        <p:spPr>
          <a:xfrm>
            <a:off x="1060704" y="1956816"/>
            <a:ext cx="310896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spc="150">
                <a:solidFill>
                  <a:srgbClr val="627392"/>
                </a:solidFill>
                <a:latin typeface="Segoe UI Semibold"/>
              </a:rPr>
              <a:t>DÒNG CẢM BIẾN</a:t>
            </a:r>
          </a:p>
        </p:txBody>
      </p:sp>
      <p:sp>
        <p:nvSpPr>
          <p:cNvPr id="61" name="S07_TextBox_60"/>
          <p:cNvSpPr txBox="1"/>
          <p:nvPr/>
        </p:nvSpPr>
        <p:spPr>
          <a:xfrm>
            <a:off x="1060704" y="4014215"/>
            <a:ext cx="310896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spc="150">
                <a:solidFill>
                  <a:srgbClr val="627392"/>
                </a:solidFill>
                <a:latin typeface="Segoe UI Semibold"/>
              </a:rPr>
              <a:t>RAW CỦA MS300</a:t>
            </a:r>
          </a:p>
        </p:txBody>
      </p:sp>
      <p:sp>
        <p:nvSpPr>
          <p:cNvPr id="62" name="S07_Rounded_Rectangle_61"/>
          <p:cNvSpPr/>
          <p:nvPr/>
        </p:nvSpPr>
        <p:spPr>
          <a:xfrm>
            <a:off x="1847088" y="4636008"/>
            <a:ext cx="8503920" cy="832104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07_TextBox_62"/>
          <p:cNvSpPr txBox="1"/>
          <p:nvPr/>
        </p:nvSpPr>
        <p:spPr>
          <a:xfrm>
            <a:off x="2057400" y="4855464"/>
            <a:ext cx="808329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100" spc="-10">
                <a:solidFill>
                  <a:srgbClr val="F7FAFF"/>
                </a:solidFill>
                <a:latin typeface="Consolas"/>
              </a:rPr>
              <a:t>PV  =  minPT  +  raw / 10000  ×  (maxPT − minPT)</a:t>
            </a:r>
          </a:p>
        </p:txBody>
      </p:sp>
      <p:sp>
        <p:nvSpPr>
          <p:cNvPr id="64" name="S07_Rounded_Rectangle_63"/>
          <p:cNvSpPr/>
          <p:nvPr/>
        </p:nvSpPr>
        <p:spPr>
          <a:xfrm>
            <a:off x="9189720" y="5440680"/>
            <a:ext cx="117043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07_TextBox_64"/>
          <p:cNvSpPr txBox="1"/>
          <p:nvPr/>
        </p:nvSpPr>
        <p:spPr>
          <a:xfrm>
            <a:off x="9189720" y="5477256"/>
            <a:ext cx="117043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OUTPUT: PA</a:t>
            </a:r>
          </a:p>
        </p:txBody>
      </p:sp>
      <p:sp>
        <p:nvSpPr>
          <p:cNvPr id="66" name="S07_TextBox_65"/>
          <p:cNvSpPr txBox="1"/>
          <p:nvPr/>
        </p:nvSpPr>
        <p:spPr>
          <a:xfrm>
            <a:off x="658368" y="5724144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 spc="75">
                <a:solidFill>
                  <a:srgbClr val="FF5576"/>
                </a:solidFill>
                <a:latin typeface="Segoe UI Semibold"/>
              </a:rPr>
              <a:t>BẮT BUỘC tính bằng REAL.  Chia số nguyên sẽ làm PV đứng lì ở minPT.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6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6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6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6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SIGNAL  /  NOISE SHAPING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Giữ tín hiệu thật. Loại nhiễu và gai.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Firmware dùng Kalman vô hướng. Trên PLC, IIR bậc 1 với α = 0,13 cho hành vi xác lập tương đương.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08/20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8869680" y="-256032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15E6FF">
                  <a:alpha val="16000"/>
                </a:srgbClr>
              </a:gs>
              <a:gs pos="55000">
                <a:srgbClr val="15E6FF">
                  <a:alpha val="5600"/>
                </a:srgbClr>
              </a:gs>
              <a:gs pos="100000">
                <a:srgbClr val="15E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8_Rounded_Rectangle_46"/>
          <p:cNvSpPr/>
          <p:nvPr/>
        </p:nvSpPr>
        <p:spPr>
          <a:xfrm>
            <a:off x="713232" y="2084831"/>
            <a:ext cx="6912864" cy="3145537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8_Freeform_47"/>
          <p:cNvSpPr/>
          <p:nvPr/>
        </p:nvSpPr>
        <p:spPr>
          <a:xfrm>
            <a:off x="1124712" y="2587751"/>
            <a:ext cx="6245352" cy="0"/>
          </a:xfrm>
          <a:custGeom>
            <a:avLst/>
            <a:gdLst/>
            <a:ahLst/>
            <a:cxnLst/>
            <a:rect l="l" t="t" r="r" b="b"/>
            <a:pathLst>
              <a:path w="6245352" h="0">
                <a:moveTo>
                  <a:pt x="0" y="0"/>
                </a:moveTo>
                <a:lnTo>
                  <a:pt x="6245352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8_Freeform_48"/>
          <p:cNvSpPr/>
          <p:nvPr/>
        </p:nvSpPr>
        <p:spPr>
          <a:xfrm>
            <a:off x="1124712" y="3145535"/>
            <a:ext cx="6245352" cy="0"/>
          </a:xfrm>
          <a:custGeom>
            <a:avLst/>
            <a:gdLst/>
            <a:ahLst/>
            <a:cxnLst/>
            <a:rect l="l" t="t" r="r" b="b"/>
            <a:pathLst>
              <a:path w="6245352" h="0">
                <a:moveTo>
                  <a:pt x="0" y="0"/>
                </a:moveTo>
                <a:lnTo>
                  <a:pt x="6245352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08_Freeform_49"/>
          <p:cNvSpPr/>
          <p:nvPr/>
        </p:nvSpPr>
        <p:spPr>
          <a:xfrm>
            <a:off x="1124712" y="3703319"/>
            <a:ext cx="6245352" cy="0"/>
          </a:xfrm>
          <a:custGeom>
            <a:avLst/>
            <a:gdLst/>
            <a:ahLst/>
            <a:cxnLst/>
            <a:rect l="l" t="t" r="r" b="b"/>
            <a:pathLst>
              <a:path w="6245352" h="0">
                <a:moveTo>
                  <a:pt x="0" y="0"/>
                </a:moveTo>
                <a:lnTo>
                  <a:pt x="6245352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08_Freeform_50"/>
          <p:cNvSpPr/>
          <p:nvPr/>
        </p:nvSpPr>
        <p:spPr>
          <a:xfrm>
            <a:off x="1124712" y="4261103"/>
            <a:ext cx="6245352" cy="0"/>
          </a:xfrm>
          <a:custGeom>
            <a:avLst/>
            <a:gdLst/>
            <a:ahLst/>
            <a:cxnLst/>
            <a:rect l="l" t="t" r="r" b="b"/>
            <a:pathLst>
              <a:path w="6245352" h="0">
                <a:moveTo>
                  <a:pt x="0" y="0"/>
                </a:moveTo>
                <a:lnTo>
                  <a:pt x="6245352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08_Freeform_51"/>
          <p:cNvSpPr/>
          <p:nvPr/>
        </p:nvSpPr>
        <p:spPr>
          <a:xfrm>
            <a:off x="1124712" y="4818888"/>
            <a:ext cx="6245352" cy="0"/>
          </a:xfrm>
          <a:custGeom>
            <a:avLst/>
            <a:gdLst/>
            <a:ahLst/>
            <a:cxnLst/>
            <a:rect l="l" t="t" r="r" b="b"/>
            <a:pathLst>
              <a:path w="6245352" h="0">
                <a:moveTo>
                  <a:pt x="0" y="0"/>
                </a:moveTo>
                <a:lnTo>
                  <a:pt x="6245352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08_Freeform_52"/>
          <p:cNvSpPr/>
          <p:nvPr/>
        </p:nvSpPr>
        <p:spPr>
          <a:xfrm>
            <a:off x="1124712" y="3017153"/>
            <a:ext cx="6245352" cy="1561064"/>
          </a:xfrm>
          <a:custGeom>
            <a:avLst/>
            <a:gdLst/>
            <a:ahLst/>
            <a:cxnLst/>
            <a:rect l="l" t="t" r="r" b="b"/>
            <a:pathLst>
              <a:path w="6245352" h="1561064">
                <a:moveTo>
                  <a:pt x="0" y="1242853"/>
                </a:moveTo>
                <a:lnTo>
                  <a:pt x="87962" y="1261141"/>
                </a:lnTo>
                <a:lnTo>
                  <a:pt x="175925" y="1258946"/>
                </a:lnTo>
                <a:lnTo>
                  <a:pt x="263888" y="1394278"/>
                </a:lnTo>
                <a:lnTo>
                  <a:pt x="351850" y="1461578"/>
                </a:lnTo>
                <a:lnTo>
                  <a:pt x="439813" y="1299546"/>
                </a:lnTo>
                <a:lnTo>
                  <a:pt x="527776" y="1416955"/>
                </a:lnTo>
                <a:lnTo>
                  <a:pt x="615738" y="1561064"/>
                </a:lnTo>
                <a:lnTo>
                  <a:pt x="703701" y="1429756"/>
                </a:lnTo>
                <a:lnTo>
                  <a:pt x="791664" y="1257483"/>
                </a:lnTo>
                <a:lnTo>
                  <a:pt x="879627" y="1173359"/>
                </a:lnTo>
                <a:lnTo>
                  <a:pt x="967589" y="1351484"/>
                </a:lnTo>
                <a:lnTo>
                  <a:pt x="1055552" y="1238830"/>
                </a:lnTo>
                <a:lnTo>
                  <a:pt x="1143515" y="689458"/>
                </a:lnTo>
                <a:lnTo>
                  <a:pt x="1231477" y="1201522"/>
                </a:lnTo>
                <a:lnTo>
                  <a:pt x="1319440" y="1401227"/>
                </a:lnTo>
                <a:lnTo>
                  <a:pt x="1407403" y="1541679"/>
                </a:lnTo>
                <a:lnTo>
                  <a:pt x="1495365" y="1508761"/>
                </a:lnTo>
                <a:lnTo>
                  <a:pt x="1583328" y="256032"/>
                </a:lnTo>
                <a:lnTo>
                  <a:pt x="1671291" y="240670"/>
                </a:lnTo>
                <a:lnTo>
                  <a:pt x="1759254" y="257129"/>
                </a:lnTo>
                <a:lnTo>
                  <a:pt x="1847216" y="235549"/>
                </a:lnTo>
                <a:lnTo>
                  <a:pt x="1935179" y="352227"/>
                </a:lnTo>
                <a:lnTo>
                  <a:pt x="2023142" y="311993"/>
                </a:lnTo>
                <a:lnTo>
                  <a:pt x="2111104" y="144475"/>
                </a:lnTo>
                <a:lnTo>
                  <a:pt x="2199067" y="153985"/>
                </a:lnTo>
                <a:lnTo>
                  <a:pt x="2287030" y="414772"/>
                </a:lnTo>
                <a:lnTo>
                  <a:pt x="2374993" y="15728"/>
                </a:lnTo>
                <a:lnTo>
                  <a:pt x="2462955" y="0"/>
                </a:lnTo>
                <a:lnTo>
                  <a:pt x="2550918" y="316017"/>
                </a:lnTo>
                <a:lnTo>
                  <a:pt x="2638881" y="178491"/>
                </a:lnTo>
                <a:lnTo>
                  <a:pt x="2726843" y="57790"/>
                </a:lnTo>
                <a:lnTo>
                  <a:pt x="2814806" y="107899"/>
                </a:lnTo>
                <a:lnTo>
                  <a:pt x="2902769" y="369418"/>
                </a:lnTo>
                <a:lnTo>
                  <a:pt x="2990731" y="143012"/>
                </a:lnTo>
                <a:lnTo>
                  <a:pt x="3078694" y="192390"/>
                </a:lnTo>
                <a:lnTo>
                  <a:pt x="3166657" y="349667"/>
                </a:lnTo>
                <a:lnTo>
                  <a:pt x="3254620" y="91440"/>
                </a:lnTo>
                <a:lnTo>
                  <a:pt x="3342582" y="977677"/>
                </a:lnTo>
                <a:lnTo>
                  <a:pt x="3430545" y="127284"/>
                </a:lnTo>
                <a:lnTo>
                  <a:pt x="3518508" y="148133"/>
                </a:lnTo>
                <a:lnTo>
                  <a:pt x="3606470" y="352958"/>
                </a:lnTo>
                <a:lnTo>
                  <a:pt x="3694433" y="85954"/>
                </a:lnTo>
                <a:lnTo>
                  <a:pt x="3782396" y="293340"/>
                </a:lnTo>
                <a:lnTo>
                  <a:pt x="3870358" y="378562"/>
                </a:lnTo>
                <a:lnTo>
                  <a:pt x="3958321" y="221285"/>
                </a:lnTo>
                <a:lnTo>
                  <a:pt x="4046284" y="174102"/>
                </a:lnTo>
                <a:lnTo>
                  <a:pt x="4134247" y="168981"/>
                </a:lnTo>
                <a:lnTo>
                  <a:pt x="4222209" y="440741"/>
                </a:lnTo>
                <a:lnTo>
                  <a:pt x="4310172" y="696042"/>
                </a:lnTo>
                <a:lnTo>
                  <a:pt x="4398135" y="782361"/>
                </a:lnTo>
                <a:lnTo>
                  <a:pt x="4486097" y="666049"/>
                </a:lnTo>
                <a:lnTo>
                  <a:pt x="4574060" y="807964"/>
                </a:lnTo>
                <a:lnTo>
                  <a:pt x="4662023" y="838322"/>
                </a:lnTo>
                <a:lnTo>
                  <a:pt x="4749986" y="663123"/>
                </a:lnTo>
                <a:lnTo>
                  <a:pt x="4837948" y="609722"/>
                </a:lnTo>
                <a:lnTo>
                  <a:pt x="4925911" y="660929"/>
                </a:lnTo>
                <a:lnTo>
                  <a:pt x="5013874" y="719084"/>
                </a:lnTo>
                <a:lnTo>
                  <a:pt x="5101836" y="760781"/>
                </a:lnTo>
                <a:lnTo>
                  <a:pt x="5189799" y="580461"/>
                </a:lnTo>
                <a:lnTo>
                  <a:pt x="5277762" y="810159"/>
                </a:lnTo>
                <a:lnTo>
                  <a:pt x="5365724" y="751271"/>
                </a:lnTo>
                <a:lnTo>
                  <a:pt x="5453687" y="677754"/>
                </a:lnTo>
                <a:lnTo>
                  <a:pt x="5541650" y="179222"/>
                </a:lnTo>
                <a:lnTo>
                  <a:pt x="5629613" y="806867"/>
                </a:lnTo>
                <a:lnTo>
                  <a:pt x="5717575" y="668244"/>
                </a:lnTo>
                <a:lnTo>
                  <a:pt x="5805538" y="941101"/>
                </a:lnTo>
                <a:lnTo>
                  <a:pt x="5893501" y="530718"/>
                </a:lnTo>
                <a:lnTo>
                  <a:pt x="5981463" y="625084"/>
                </a:lnTo>
                <a:lnTo>
                  <a:pt x="6069426" y="533644"/>
                </a:lnTo>
                <a:lnTo>
                  <a:pt x="6157389" y="917692"/>
                </a:lnTo>
                <a:lnTo>
                  <a:pt x="6245352" y="772851"/>
                </a:lnTo>
              </a:path>
            </a:pathLst>
          </a:custGeom>
          <a:noFill/>
          <a:ln w="13970">
            <a:solidFill>
              <a:srgbClr val="627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08_Freeform_53"/>
          <p:cNvSpPr/>
          <p:nvPr/>
        </p:nvSpPr>
        <p:spPr>
          <a:xfrm>
            <a:off x="1124712" y="3275285"/>
            <a:ext cx="6245352" cy="1094898"/>
          </a:xfrm>
          <a:custGeom>
            <a:avLst/>
            <a:gdLst/>
            <a:ahLst/>
            <a:cxnLst/>
            <a:rect l="l" t="t" r="r" b="b"/>
            <a:pathLst>
              <a:path w="6245352" h="1094898">
                <a:moveTo>
                  <a:pt x="0" y="984721"/>
                </a:moveTo>
                <a:lnTo>
                  <a:pt x="87962" y="987098"/>
                </a:lnTo>
                <a:lnTo>
                  <a:pt x="175925" y="988881"/>
                </a:lnTo>
                <a:lnTo>
                  <a:pt x="263888" y="1008026"/>
                </a:lnTo>
                <a:lnTo>
                  <a:pt x="351850" y="1033430"/>
                </a:lnTo>
                <a:lnTo>
                  <a:pt x="439813" y="1034468"/>
                </a:lnTo>
                <a:lnTo>
                  <a:pt x="527776" y="1050634"/>
                </a:lnTo>
                <a:lnTo>
                  <a:pt x="615738" y="1083433"/>
                </a:lnTo>
                <a:lnTo>
                  <a:pt x="703701" y="1094898"/>
                </a:lnTo>
                <a:lnTo>
                  <a:pt x="791664" y="1082477"/>
                </a:lnTo>
                <a:lnTo>
                  <a:pt x="879627" y="1060734"/>
                </a:lnTo>
                <a:lnTo>
                  <a:pt x="967589" y="1064975"/>
                </a:lnTo>
                <a:lnTo>
                  <a:pt x="1055552" y="1054019"/>
                </a:lnTo>
                <a:lnTo>
                  <a:pt x="1143515" y="973069"/>
                </a:lnTo>
                <a:lnTo>
                  <a:pt x="1231477" y="969210"/>
                </a:lnTo>
                <a:lnTo>
                  <a:pt x="1319440" y="991815"/>
                </a:lnTo>
                <a:lnTo>
                  <a:pt x="1407403" y="1029740"/>
                </a:lnTo>
                <a:lnTo>
                  <a:pt x="1495365" y="1058456"/>
                </a:lnTo>
                <a:lnTo>
                  <a:pt x="1583328" y="920584"/>
                </a:lnTo>
                <a:lnTo>
                  <a:pt x="1671291" y="798638"/>
                </a:lnTo>
                <a:lnTo>
                  <a:pt x="1759254" y="694684"/>
                </a:lnTo>
                <a:lnTo>
                  <a:pt x="1847216" y="601440"/>
                </a:lnTo>
                <a:lnTo>
                  <a:pt x="1935179" y="535485"/>
                </a:lnTo>
                <a:lnTo>
                  <a:pt x="2023142" y="472874"/>
                </a:lnTo>
                <a:lnTo>
                  <a:pt x="2111104" y="396625"/>
                </a:lnTo>
                <a:lnTo>
                  <a:pt x="2199067" y="331525"/>
                </a:lnTo>
                <a:lnTo>
                  <a:pt x="2287030" y="308790"/>
                </a:lnTo>
                <a:lnTo>
                  <a:pt x="2374993" y="237134"/>
                </a:lnTo>
                <a:lnTo>
                  <a:pt x="2462955" y="172750"/>
                </a:lnTo>
                <a:lnTo>
                  <a:pt x="2550918" y="157817"/>
                </a:lnTo>
                <a:lnTo>
                  <a:pt x="2638881" y="126948"/>
                </a:lnTo>
                <a:lnTo>
                  <a:pt x="2726843" y="84400"/>
                </a:lnTo>
                <a:lnTo>
                  <a:pt x="2814806" y="53898"/>
                </a:lnTo>
                <a:lnTo>
                  <a:pt x="2902769" y="61358"/>
                </a:lnTo>
                <a:lnTo>
                  <a:pt x="2990731" y="38416"/>
                </a:lnTo>
                <a:lnTo>
                  <a:pt x="3078694" y="24875"/>
                </a:lnTo>
                <a:lnTo>
                  <a:pt x="3166657" y="33541"/>
                </a:lnTo>
                <a:lnTo>
                  <a:pt x="3254620" y="7511"/>
                </a:lnTo>
                <a:lnTo>
                  <a:pt x="3342582" y="100075"/>
                </a:lnTo>
                <a:lnTo>
                  <a:pt x="3430545" y="70055"/>
                </a:lnTo>
                <a:lnTo>
                  <a:pt x="3518508" y="46648"/>
                </a:lnTo>
                <a:lnTo>
                  <a:pt x="3606470" y="52911"/>
                </a:lnTo>
                <a:lnTo>
                  <a:pt x="3694433" y="23650"/>
                </a:lnTo>
                <a:lnTo>
                  <a:pt x="3782396" y="25152"/>
                </a:lnTo>
                <a:lnTo>
                  <a:pt x="3870358" y="37538"/>
                </a:lnTo>
                <a:lnTo>
                  <a:pt x="3958321" y="27868"/>
                </a:lnTo>
                <a:lnTo>
                  <a:pt x="4046284" y="13321"/>
                </a:lnTo>
                <a:lnTo>
                  <a:pt x="4134247" y="0"/>
                </a:lnTo>
                <a:lnTo>
                  <a:pt x="4222209" y="23739"/>
                </a:lnTo>
                <a:lnTo>
                  <a:pt x="4310172" y="77581"/>
                </a:lnTo>
                <a:lnTo>
                  <a:pt x="4398135" y="135646"/>
                </a:lnTo>
                <a:lnTo>
                  <a:pt x="4486097" y="171041"/>
                </a:lnTo>
                <a:lnTo>
                  <a:pt x="4574060" y="220284"/>
                </a:lnTo>
                <a:lnTo>
                  <a:pt x="4662023" y="267072"/>
                </a:lnTo>
                <a:lnTo>
                  <a:pt x="4749986" y="285001"/>
                </a:lnTo>
                <a:lnTo>
                  <a:pt x="4837948" y="293658"/>
                </a:lnTo>
                <a:lnTo>
                  <a:pt x="4925911" y="307846"/>
                </a:lnTo>
                <a:lnTo>
                  <a:pt x="5013874" y="327750"/>
                </a:lnTo>
                <a:lnTo>
                  <a:pt x="5101836" y="350487"/>
                </a:lnTo>
                <a:lnTo>
                  <a:pt x="5189799" y="346826"/>
                </a:lnTo>
                <a:lnTo>
                  <a:pt x="5277762" y="373502"/>
                </a:lnTo>
                <a:lnTo>
                  <a:pt x="5365724" y="389055"/>
                </a:lnTo>
                <a:lnTo>
                  <a:pt x="5453687" y="393029"/>
                </a:lnTo>
                <a:lnTo>
                  <a:pt x="5541650" y="331677"/>
                </a:lnTo>
                <a:lnTo>
                  <a:pt x="5629613" y="359894"/>
                </a:lnTo>
                <a:lnTo>
                  <a:pt x="5717575" y="366423"/>
                </a:lnTo>
                <a:lnTo>
                  <a:pt x="5805538" y="407574"/>
                </a:lnTo>
                <a:lnTo>
                  <a:pt x="5893501" y="390025"/>
                </a:lnTo>
                <a:lnTo>
                  <a:pt x="5981463" y="387026"/>
                </a:lnTo>
                <a:lnTo>
                  <a:pt x="6069426" y="372529"/>
                </a:lnTo>
                <a:lnTo>
                  <a:pt x="6157389" y="409843"/>
                </a:lnTo>
                <a:lnTo>
                  <a:pt x="6245352" y="423477"/>
                </a:lnTo>
              </a:path>
            </a:pathLst>
          </a:custGeom>
          <a:noFill/>
          <a:ln w="3937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08_TextBox_54"/>
          <p:cNvSpPr txBox="1"/>
          <p:nvPr/>
        </p:nvSpPr>
        <p:spPr>
          <a:xfrm>
            <a:off x="969264" y="2231135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35">
                <a:solidFill>
                  <a:srgbClr val="627392"/>
                </a:solidFill>
                <a:latin typeface="Segoe UI Semibold"/>
              </a:rPr>
              <a:t>MÔ PHỎNG CHU KỲ 100 ms</a:t>
            </a:r>
          </a:p>
        </p:txBody>
      </p:sp>
      <p:sp>
        <p:nvSpPr>
          <p:cNvPr id="56" name="S08_Rounded_Rectangle_55"/>
          <p:cNvSpPr/>
          <p:nvPr/>
        </p:nvSpPr>
        <p:spPr>
          <a:xfrm>
            <a:off x="5230368" y="2231135"/>
            <a:ext cx="89611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627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08_TextBox_56"/>
          <p:cNvSpPr txBox="1"/>
          <p:nvPr/>
        </p:nvSpPr>
        <p:spPr>
          <a:xfrm>
            <a:off x="5230368" y="2267711"/>
            <a:ext cx="89611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627392"/>
                </a:solidFill>
                <a:latin typeface="Segoe UI Semibold"/>
              </a:rPr>
              <a:t>RAW</a:t>
            </a:r>
          </a:p>
        </p:txBody>
      </p:sp>
      <p:sp>
        <p:nvSpPr>
          <p:cNvPr id="58" name="S08_Rounded_Rectangle_57"/>
          <p:cNvSpPr/>
          <p:nvPr/>
        </p:nvSpPr>
        <p:spPr>
          <a:xfrm>
            <a:off x="6254496" y="2231135"/>
            <a:ext cx="1033271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08_TextBox_58"/>
          <p:cNvSpPr txBox="1"/>
          <p:nvPr/>
        </p:nvSpPr>
        <p:spPr>
          <a:xfrm>
            <a:off x="6254496" y="2267711"/>
            <a:ext cx="1033271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spc="125">
                <a:solidFill>
                  <a:srgbClr val="15E6FF"/>
                </a:solidFill>
                <a:latin typeface="Segoe UI Semibold"/>
              </a:rPr>
              <a:t>IIR 0.13</a:t>
            </a:r>
          </a:p>
        </p:txBody>
      </p:sp>
      <p:sp>
        <p:nvSpPr>
          <p:cNvPr id="60" name="S08_Rounded_Rectangle_59"/>
          <p:cNvSpPr/>
          <p:nvPr/>
        </p:nvSpPr>
        <p:spPr>
          <a:xfrm>
            <a:off x="7973568" y="2084831"/>
            <a:ext cx="3493008" cy="3145536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08_Rounded_Rectangle_60"/>
          <p:cNvSpPr/>
          <p:nvPr/>
        </p:nvSpPr>
        <p:spPr>
          <a:xfrm>
            <a:off x="8266175" y="2359152"/>
            <a:ext cx="153619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08_TextBox_61"/>
          <p:cNvSpPr txBox="1"/>
          <p:nvPr/>
        </p:nvSpPr>
        <p:spPr>
          <a:xfrm>
            <a:off x="8266175" y="2395728"/>
            <a:ext cx="153619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8B5CFF"/>
                </a:solidFill>
                <a:latin typeface="Segoe UI Semibold"/>
              </a:rPr>
              <a:t>KALMAN → IIR</a:t>
            </a:r>
          </a:p>
        </p:txBody>
      </p:sp>
      <p:sp>
        <p:nvSpPr>
          <p:cNvPr id="63" name="S08_TextBox_62"/>
          <p:cNvSpPr txBox="1"/>
          <p:nvPr/>
        </p:nvSpPr>
        <p:spPr>
          <a:xfrm>
            <a:off x="8247888" y="2907792"/>
            <a:ext cx="294436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900" spc="-40">
                <a:solidFill>
                  <a:srgbClr val="15E6FF"/>
                </a:solidFill>
                <a:latin typeface="Bahnschrift SemiBold Condensed"/>
              </a:rPr>
              <a:t>K∞ ≈ 0,132</a:t>
            </a:r>
          </a:p>
        </p:txBody>
      </p:sp>
      <p:sp>
        <p:nvSpPr>
          <p:cNvPr id="64" name="S08_TextBox_63"/>
          <p:cNvSpPr txBox="1"/>
          <p:nvPr/>
        </p:nvSpPr>
        <p:spPr>
          <a:xfrm>
            <a:off x="8247888" y="3529584"/>
            <a:ext cx="2944368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50">
                <a:solidFill>
                  <a:srgbClr val="F7FAFF"/>
                </a:solidFill>
                <a:latin typeface="Consolas"/>
              </a:rPr>
              <a:t>filtered := filtered +
0,13 × (raw − filtered)</a:t>
            </a:r>
          </a:p>
        </p:txBody>
      </p:sp>
      <p:sp>
        <p:nvSpPr>
          <p:cNvPr id="65" name="S08_Rectangle_64"/>
          <p:cNvSpPr/>
          <p:nvPr/>
        </p:nvSpPr>
        <p:spPr>
          <a:xfrm>
            <a:off x="8412480" y="4370832"/>
            <a:ext cx="2615184" cy="12700"/>
          </a:xfrm>
          <a:prstGeom prst="rect">
            <a:avLst/>
          </a:prstGeom>
          <a:solidFill>
            <a:srgbClr val="24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08_TextBox_65"/>
          <p:cNvSpPr txBox="1"/>
          <p:nvPr/>
        </p:nvSpPr>
        <p:spPr>
          <a:xfrm>
            <a:off x="8266175" y="4489704"/>
            <a:ext cx="129844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spc="-70">
                <a:solidFill>
                  <a:srgbClr val="B9FF4A"/>
                </a:solidFill>
                <a:latin typeface="Bahnschrift SemiBold Condensed"/>
              </a:rPr>
              <a:t>0,77</a:t>
            </a:r>
          </a:p>
        </p:txBody>
      </p:sp>
      <p:sp>
        <p:nvSpPr>
          <p:cNvPr id="67" name="S08_TextBox_66"/>
          <p:cNvSpPr txBox="1"/>
          <p:nvPr/>
        </p:nvSpPr>
        <p:spPr>
          <a:xfrm>
            <a:off x="8266175" y="5020056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50">
                <a:solidFill>
                  <a:srgbClr val="627392"/>
                </a:solidFill>
                <a:latin typeface="Segoe UI Semibold"/>
              </a:rPr>
              <a:t>GIÂY</a:t>
            </a:r>
          </a:p>
        </p:txBody>
      </p:sp>
      <p:sp>
        <p:nvSpPr>
          <p:cNvPr id="68" name="S08_TextBox_67"/>
          <p:cNvSpPr txBox="1"/>
          <p:nvPr/>
        </p:nvSpPr>
        <p:spPr>
          <a:xfrm>
            <a:off x="8266175" y="530352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τ ở 100 ms</a:t>
            </a:r>
          </a:p>
        </p:txBody>
      </p:sp>
      <p:sp>
        <p:nvSpPr>
          <p:cNvPr id="69" name="S08_TextBox_68"/>
          <p:cNvSpPr txBox="1"/>
          <p:nvPr/>
        </p:nvSpPr>
        <p:spPr>
          <a:xfrm>
            <a:off x="9747504" y="4489704"/>
            <a:ext cx="129844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spc="-70">
                <a:solidFill>
                  <a:srgbClr val="FFC857"/>
                </a:solidFill>
                <a:latin typeface="Bahnschrift SemiBold Condensed"/>
              </a:rPr>
              <a:t>1</a:t>
            </a:r>
          </a:p>
        </p:txBody>
      </p:sp>
      <p:sp>
        <p:nvSpPr>
          <p:cNvPr id="70" name="S08_TextBox_69"/>
          <p:cNvSpPr txBox="1"/>
          <p:nvPr/>
        </p:nvSpPr>
        <p:spPr>
          <a:xfrm>
            <a:off x="9747504" y="5020056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50">
                <a:solidFill>
                  <a:srgbClr val="627392"/>
                </a:solidFill>
                <a:latin typeface="Segoe UI Semibold"/>
              </a:rPr>
              <a:t>TẦNG</a:t>
            </a:r>
          </a:p>
        </p:txBody>
      </p:sp>
      <p:sp>
        <p:nvSpPr>
          <p:cNvPr id="71" name="S08_TextBox_70"/>
          <p:cNvSpPr txBox="1"/>
          <p:nvPr/>
        </p:nvSpPr>
        <p:spPr>
          <a:xfrm>
            <a:off x="9747504" y="530352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không lọc chồng</a:t>
            </a:r>
          </a:p>
        </p:txBody>
      </p:sp>
      <p:sp>
        <p:nvSpPr>
          <p:cNvPr id="72" name="S08_TextBox_71"/>
          <p:cNvSpPr txBox="1"/>
          <p:nvPr/>
        </p:nvSpPr>
        <p:spPr>
          <a:xfrm>
            <a:off x="658368" y="5605272"/>
            <a:ext cx="10874959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>
                <a:solidFill>
                  <a:srgbClr val="B9FF4A"/>
                </a:solidFill>
                <a:latin typeface="Segoe UI Semibold"/>
              </a:rPr>
              <a:t>Nên đặt median-of-3 trước IIR để loại gai đơn — rẻ, minh bạch và dễ bảo trì.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CONTROL  /  CONTROL PHILOSOPHY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Không dùng PID. Đó là chủ ý thiết kế.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Feed-forward đảm nhiệm phần thô; step controller đảm nhiệm phần tinh bằng các bước gió nguyên 1%.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09/20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5576">
                  <a:alpha val="14000"/>
                </a:srgbClr>
              </a:gs>
              <a:gs pos="55000">
                <a:srgbClr val="FF5576">
                  <a:alpha val="4900"/>
                </a:srgbClr>
              </a:gs>
              <a:gs pos="100000">
                <a:srgbClr val="FF55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09_Rounded_Rectangle_46"/>
          <p:cNvSpPr/>
          <p:nvPr/>
        </p:nvSpPr>
        <p:spPr>
          <a:xfrm>
            <a:off x="694944" y="2048256"/>
            <a:ext cx="3749039" cy="3401568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9_TextBox_47"/>
          <p:cNvSpPr txBox="1"/>
          <p:nvPr/>
        </p:nvSpPr>
        <p:spPr>
          <a:xfrm>
            <a:off x="960120" y="2331720"/>
            <a:ext cx="3218688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6600" spc="-160">
                <a:solidFill>
                  <a:srgbClr val="627392"/>
                </a:solidFill>
                <a:latin typeface="Bahnschrift SemiBold Condensed"/>
              </a:rPr>
              <a:t>PID</a:t>
            </a:r>
          </a:p>
        </p:txBody>
      </p:sp>
      <p:sp>
        <p:nvSpPr>
          <p:cNvPr id="49" name="S09_Freeform_48"/>
          <p:cNvSpPr/>
          <p:nvPr/>
        </p:nvSpPr>
        <p:spPr>
          <a:xfrm>
            <a:off x="1152144" y="2313432"/>
            <a:ext cx="2816352" cy="896112"/>
          </a:xfrm>
          <a:custGeom>
            <a:avLst/>
            <a:gdLst/>
            <a:ahLst/>
            <a:cxnLst/>
            <a:rect l="l" t="t" r="r" b="b"/>
            <a:pathLst>
              <a:path w="2816352" h="896112">
                <a:moveTo>
                  <a:pt x="0" y="896112"/>
                </a:moveTo>
                <a:lnTo>
                  <a:pt x="2816352" y="0"/>
                </a:lnTo>
              </a:path>
            </a:pathLst>
          </a:custGeom>
          <a:noFill/>
          <a:ln w="889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09_TextBox_49"/>
          <p:cNvSpPr txBox="1"/>
          <p:nvPr/>
        </p:nvSpPr>
        <p:spPr>
          <a:xfrm>
            <a:off x="960120" y="3675887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00">
                <a:solidFill>
                  <a:srgbClr val="FF5576"/>
                </a:solidFill>
                <a:latin typeface="Segoe UI Semibold"/>
              </a:rPr>
              <a:t>TRỄ</a:t>
            </a:r>
          </a:p>
        </p:txBody>
      </p:sp>
      <p:sp>
        <p:nvSpPr>
          <p:cNvPr id="51" name="S09_TextBox_50"/>
          <p:cNvSpPr txBox="1"/>
          <p:nvPr/>
        </p:nvSpPr>
        <p:spPr>
          <a:xfrm>
            <a:off x="960120" y="3895343"/>
            <a:ext cx="144475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6B5D1"/>
                </a:solidFill>
                <a:latin typeface="Segoe UI"/>
              </a:rPr>
              <a:t>Đường khí đáp ứng chậm.</a:t>
            </a:r>
          </a:p>
        </p:txBody>
      </p:sp>
      <p:sp>
        <p:nvSpPr>
          <p:cNvPr id="52" name="S09_TextBox_51"/>
          <p:cNvSpPr txBox="1"/>
          <p:nvPr/>
        </p:nvSpPr>
        <p:spPr>
          <a:xfrm>
            <a:off x="2587752" y="3675887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00">
                <a:solidFill>
                  <a:srgbClr val="FF5576"/>
                </a:solidFill>
                <a:latin typeface="Segoe UI Semibold"/>
              </a:rPr>
              <a:t>PHI TUYẾN</a:t>
            </a:r>
          </a:p>
        </p:txBody>
      </p:sp>
      <p:sp>
        <p:nvSpPr>
          <p:cNvPr id="53" name="S09_TextBox_52"/>
          <p:cNvSpPr txBox="1"/>
          <p:nvPr/>
        </p:nvSpPr>
        <p:spPr>
          <a:xfrm>
            <a:off x="2587752" y="3895343"/>
            <a:ext cx="144475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6B5D1"/>
                </a:solidFill>
                <a:latin typeface="Segoe UI"/>
              </a:rPr>
              <a:t>Gain đổi theo vùng Air%.</a:t>
            </a:r>
          </a:p>
        </p:txBody>
      </p:sp>
      <p:sp>
        <p:nvSpPr>
          <p:cNvPr id="54" name="S09_TextBox_53"/>
          <p:cNvSpPr txBox="1"/>
          <p:nvPr/>
        </p:nvSpPr>
        <p:spPr>
          <a:xfrm>
            <a:off x="960120" y="4407407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00">
                <a:solidFill>
                  <a:srgbClr val="FF5576"/>
                </a:solidFill>
                <a:latin typeface="Segoe UI Semibold"/>
              </a:rPr>
              <a:t>NHIỄU</a:t>
            </a:r>
          </a:p>
        </p:txBody>
      </p:sp>
      <p:sp>
        <p:nvSpPr>
          <p:cNvPr id="55" name="S09_TextBox_54"/>
          <p:cNvSpPr txBox="1"/>
          <p:nvPr/>
        </p:nvSpPr>
        <p:spPr>
          <a:xfrm>
            <a:off x="960120" y="4626863"/>
            <a:ext cx="144475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6B5D1"/>
                </a:solidFill>
                <a:latin typeface="Segoe UI"/>
              </a:rPr>
              <a:t>D khuếch đại xoáy khí.</a:t>
            </a:r>
          </a:p>
        </p:txBody>
      </p:sp>
      <p:sp>
        <p:nvSpPr>
          <p:cNvPr id="56" name="S09_TextBox_55"/>
          <p:cNvSpPr txBox="1"/>
          <p:nvPr/>
        </p:nvSpPr>
        <p:spPr>
          <a:xfrm>
            <a:off x="2587752" y="4407407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00">
                <a:solidFill>
                  <a:srgbClr val="FF5576"/>
                </a:solidFill>
                <a:latin typeface="Segoe UI Semibold"/>
              </a:rPr>
              <a:t>1%</a:t>
            </a:r>
          </a:p>
        </p:txBody>
      </p:sp>
      <p:sp>
        <p:nvSpPr>
          <p:cNvPr id="57" name="S09_TextBox_56"/>
          <p:cNvSpPr txBox="1"/>
          <p:nvPr/>
        </p:nvSpPr>
        <p:spPr>
          <a:xfrm>
            <a:off x="2587752" y="4626863"/>
            <a:ext cx="144475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A6B5D1"/>
                </a:solidFill>
                <a:latin typeface="Segoe UI"/>
              </a:rPr>
              <a:t>I dễ tích luỹ windup.</a:t>
            </a:r>
          </a:p>
        </p:txBody>
      </p:sp>
      <p:sp>
        <p:nvSpPr>
          <p:cNvPr id="58" name="S09_Rounded_Rectangle_57"/>
          <p:cNvSpPr/>
          <p:nvPr/>
        </p:nvSpPr>
        <p:spPr>
          <a:xfrm>
            <a:off x="4828032" y="2048256"/>
            <a:ext cx="6656832" cy="340156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09_Rounded_Rectangle_58"/>
          <p:cNvSpPr/>
          <p:nvPr/>
        </p:nvSpPr>
        <p:spPr>
          <a:xfrm>
            <a:off x="5138928" y="2331720"/>
            <a:ext cx="177393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09_TextBox_59"/>
          <p:cNvSpPr txBox="1"/>
          <p:nvPr/>
        </p:nvSpPr>
        <p:spPr>
          <a:xfrm>
            <a:off x="5138928" y="2368296"/>
            <a:ext cx="177393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TWO-LAYER CONTROL</a:t>
            </a:r>
          </a:p>
        </p:txBody>
      </p:sp>
      <p:sp>
        <p:nvSpPr>
          <p:cNvPr id="61" name="S09_Rounded_Rectangle_60"/>
          <p:cNvSpPr/>
          <p:nvPr/>
        </p:nvSpPr>
        <p:spPr>
          <a:xfrm>
            <a:off x="5157216" y="2907792"/>
            <a:ext cx="2560320" cy="1591056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09_TextBox_61"/>
          <p:cNvSpPr txBox="1"/>
          <p:nvPr/>
        </p:nvSpPr>
        <p:spPr>
          <a:xfrm>
            <a:off x="5394960" y="3200400"/>
            <a:ext cx="2084831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spc="-25">
                <a:solidFill>
                  <a:srgbClr val="4D7CFF"/>
                </a:solidFill>
                <a:latin typeface="Segoe UI Black"/>
              </a:rPr>
              <a:t>FEED-FORWARD</a:t>
            </a:r>
          </a:p>
        </p:txBody>
      </p:sp>
      <p:sp>
        <p:nvSpPr>
          <p:cNvPr id="63" name="S09_TextBox_62"/>
          <p:cNvSpPr txBox="1"/>
          <p:nvPr/>
        </p:nvSpPr>
        <p:spPr>
          <a:xfrm>
            <a:off x="5394960" y="3675887"/>
            <a:ext cx="208483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A6B5D1"/>
                </a:solidFill>
                <a:latin typeface="Segoe UI"/>
              </a:rPr>
              <a:t>Nhảy tới vùng Air% gần đúng đã học.</a:t>
            </a:r>
          </a:p>
        </p:txBody>
      </p:sp>
      <p:sp>
        <p:nvSpPr>
          <p:cNvPr id="64" name="S09_Chevron_63"/>
          <p:cNvSpPr/>
          <p:nvPr/>
        </p:nvSpPr>
        <p:spPr>
          <a:xfrm>
            <a:off x="7891272" y="3529584"/>
            <a:ext cx="457200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09_Rounded_Rectangle_64"/>
          <p:cNvSpPr/>
          <p:nvPr/>
        </p:nvSpPr>
        <p:spPr>
          <a:xfrm>
            <a:off x="8540496" y="2907792"/>
            <a:ext cx="2560320" cy="1591056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09_TextBox_65"/>
          <p:cNvSpPr txBox="1"/>
          <p:nvPr/>
        </p:nvSpPr>
        <p:spPr>
          <a:xfrm>
            <a:off x="8778240" y="3200400"/>
            <a:ext cx="2084831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spc="-25">
                <a:solidFill>
                  <a:srgbClr val="15E6FF"/>
                </a:solidFill>
                <a:latin typeface="Segoe UI Black"/>
              </a:rPr>
              <a:t>STEP CONTROL</a:t>
            </a:r>
          </a:p>
        </p:txBody>
      </p:sp>
      <p:sp>
        <p:nvSpPr>
          <p:cNvPr id="67" name="S09_TextBox_66"/>
          <p:cNvSpPr txBox="1"/>
          <p:nvPr/>
        </p:nvSpPr>
        <p:spPr>
          <a:xfrm>
            <a:off x="8778240" y="3675887"/>
            <a:ext cx="208483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>
                <a:solidFill>
                  <a:srgbClr val="A6B5D1"/>
                </a:solidFill>
                <a:latin typeface="Segoe UI"/>
              </a:rPr>
              <a:t>Bù nốt sai lệch bằng bước 1% rất êm.</a:t>
            </a:r>
          </a:p>
        </p:txBody>
      </p:sp>
      <p:sp>
        <p:nvSpPr>
          <p:cNvPr id="68" name="S09_TextBox_67"/>
          <p:cNvSpPr txBox="1"/>
          <p:nvPr/>
        </p:nvSpPr>
        <p:spPr>
          <a:xfrm>
            <a:off x="5148072" y="4846320"/>
            <a:ext cx="598932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100">
                <a:solidFill>
                  <a:srgbClr val="B9FF4A"/>
                </a:solidFill>
                <a:latin typeface="Segoe UI Semibold"/>
              </a:rPr>
              <a:t>THÔ NHANH  +  TINH CHẮC  =  HỘI TỤ KHÔNG VỌT LỐ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6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6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6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CONTROL  /  THE CONTROL LAW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Ba vùng. Một quyết định mỗi lần.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Chỉ sai lệch ngoài ±3 Pa mới sinh ra bước; mỗi bước thay đổi đúng 1% gió.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10/20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9509760" y="40233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15E6FF">
                  <a:alpha val="17000"/>
                </a:srgbClr>
              </a:gs>
              <a:gs pos="55000">
                <a:srgbClr val="15E6FF">
                  <a:alpha val="5950"/>
                </a:srgbClr>
              </a:gs>
              <a:gs pos="100000">
                <a:srgbClr val="15E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0_Rectangle_46"/>
          <p:cNvSpPr/>
          <p:nvPr/>
        </p:nvSpPr>
        <p:spPr>
          <a:xfrm>
            <a:off x="960120" y="3136392"/>
            <a:ext cx="10268712" cy="164592"/>
          </a:xfrm>
          <a:prstGeom prst="rect">
            <a:avLst/>
          </a:prstGeom>
          <a:solidFill>
            <a:srgbClr val="24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0_Rounded_Rectangle_47"/>
          <p:cNvSpPr/>
          <p:nvPr/>
        </p:nvSpPr>
        <p:spPr>
          <a:xfrm>
            <a:off x="5375666" y="3017520"/>
            <a:ext cx="1437619" cy="402336"/>
          </a:xfrm>
          <a:prstGeom prst="roundRect">
            <a:avLst>
              <a:gd name="adj" fmla="val 6000"/>
            </a:avLst>
          </a:prstGeom>
          <a:solidFill>
            <a:srgbClr val="B9FF4A">
              <a:alpha val="24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0_Oval_48"/>
          <p:cNvSpPr/>
          <p:nvPr/>
        </p:nvSpPr>
        <p:spPr>
          <a:xfrm>
            <a:off x="886968" y="3145536"/>
            <a:ext cx="146304" cy="146304"/>
          </a:xfrm>
          <a:prstGeom prst="ellipse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0_TextBox_49"/>
          <p:cNvSpPr txBox="1"/>
          <p:nvPr/>
        </p:nvSpPr>
        <p:spPr>
          <a:xfrm>
            <a:off x="457200" y="35021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4D7CFF"/>
                </a:solidFill>
                <a:latin typeface="Bahnschrift SemiBold Condensed"/>
              </a:rPr>
              <a:t>−30 Pa</a:t>
            </a:r>
          </a:p>
        </p:txBody>
      </p:sp>
      <p:sp>
        <p:nvSpPr>
          <p:cNvPr id="51" name="S10_Oval_50"/>
          <p:cNvSpPr/>
          <p:nvPr/>
        </p:nvSpPr>
        <p:spPr>
          <a:xfrm>
            <a:off x="5302514" y="3145536"/>
            <a:ext cx="146304" cy="146304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0_TextBox_51"/>
          <p:cNvSpPr txBox="1"/>
          <p:nvPr/>
        </p:nvSpPr>
        <p:spPr>
          <a:xfrm>
            <a:off x="4872746" y="35021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B9FF4A"/>
                </a:solidFill>
                <a:latin typeface="Bahnschrift SemiBold Condensed"/>
              </a:rPr>
              <a:t>−3</a:t>
            </a:r>
          </a:p>
        </p:txBody>
      </p:sp>
      <p:sp>
        <p:nvSpPr>
          <p:cNvPr id="53" name="S10_Oval_52"/>
          <p:cNvSpPr/>
          <p:nvPr/>
        </p:nvSpPr>
        <p:spPr>
          <a:xfrm>
            <a:off x="6021324" y="3145536"/>
            <a:ext cx="146304" cy="146304"/>
          </a:xfrm>
          <a:prstGeom prst="ellipse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0_TextBox_53"/>
          <p:cNvSpPr txBox="1"/>
          <p:nvPr/>
        </p:nvSpPr>
        <p:spPr>
          <a:xfrm>
            <a:off x="5591556" y="35021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F7FAFF"/>
                </a:solidFill>
                <a:latin typeface="Bahnschrift SemiBold Condensed"/>
              </a:rPr>
              <a:t>0</a:t>
            </a:r>
          </a:p>
        </p:txBody>
      </p:sp>
      <p:sp>
        <p:nvSpPr>
          <p:cNvPr id="55" name="S10_Oval_54"/>
          <p:cNvSpPr/>
          <p:nvPr/>
        </p:nvSpPr>
        <p:spPr>
          <a:xfrm>
            <a:off x="6740133" y="3145536"/>
            <a:ext cx="146304" cy="146304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10_TextBox_55"/>
          <p:cNvSpPr txBox="1"/>
          <p:nvPr/>
        </p:nvSpPr>
        <p:spPr>
          <a:xfrm>
            <a:off x="6310365" y="35021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B9FF4A"/>
                </a:solidFill>
                <a:latin typeface="Bahnschrift SemiBold Condensed"/>
              </a:rPr>
              <a:t>+3</a:t>
            </a:r>
          </a:p>
        </p:txBody>
      </p:sp>
      <p:sp>
        <p:nvSpPr>
          <p:cNvPr id="57" name="S10_Oval_56"/>
          <p:cNvSpPr/>
          <p:nvPr/>
        </p:nvSpPr>
        <p:spPr>
          <a:xfrm>
            <a:off x="11155680" y="3145536"/>
            <a:ext cx="146304" cy="146304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0_TextBox_57"/>
          <p:cNvSpPr txBox="1"/>
          <p:nvPr/>
        </p:nvSpPr>
        <p:spPr>
          <a:xfrm>
            <a:off x="10725912" y="35021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15E6FF"/>
                </a:solidFill>
                <a:latin typeface="Bahnschrift SemiBold Condensed"/>
              </a:rPr>
              <a:t>+30 Pa</a:t>
            </a:r>
          </a:p>
        </p:txBody>
      </p:sp>
      <p:sp>
        <p:nvSpPr>
          <p:cNvPr id="59" name="S10_Rounded_Rectangle_58"/>
          <p:cNvSpPr/>
          <p:nvPr/>
        </p:nvSpPr>
        <p:spPr>
          <a:xfrm>
            <a:off x="749808" y="3950208"/>
            <a:ext cx="3547872" cy="129844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0_TextBox_59"/>
          <p:cNvSpPr txBox="1"/>
          <p:nvPr/>
        </p:nvSpPr>
        <p:spPr>
          <a:xfrm>
            <a:off x="969264" y="4151376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25">
                <a:solidFill>
                  <a:srgbClr val="4D7CFF"/>
                </a:solidFill>
                <a:latin typeface="Segoe UI Semibold"/>
              </a:rPr>
              <a:t>PV &gt; SP</a:t>
            </a:r>
          </a:p>
        </p:txBody>
      </p:sp>
      <p:sp>
        <p:nvSpPr>
          <p:cNvPr id="61" name="S10_TextBox_60"/>
          <p:cNvSpPr txBox="1"/>
          <p:nvPr/>
        </p:nvSpPr>
        <p:spPr>
          <a:xfrm>
            <a:off x="969264" y="4416552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-20">
                <a:solidFill>
                  <a:srgbClr val="F7FAFF"/>
                </a:solidFill>
                <a:latin typeface="Segoe UI Black"/>
              </a:rPr>
              <a:t>HÚT QUÁ MẠNH</a:t>
            </a:r>
          </a:p>
        </p:txBody>
      </p:sp>
      <p:sp>
        <p:nvSpPr>
          <p:cNvPr id="62" name="S10_TextBox_61"/>
          <p:cNvSpPr txBox="1"/>
          <p:nvPr/>
        </p:nvSpPr>
        <p:spPr>
          <a:xfrm>
            <a:off x="969264" y="4791456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50" spc="25">
                <a:solidFill>
                  <a:srgbClr val="4D7CFF"/>
                </a:solidFill>
                <a:latin typeface="Bahnschrift SemiBold Condensed"/>
              </a:rPr>
              <a:t>Air% −= 1</a:t>
            </a:r>
          </a:p>
        </p:txBody>
      </p:sp>
      <p:sp>
        <p:nvSpPr>
          <p:cNvPr id="63" name="S10_Rounded_Rectangle_62"/>
          <p:cNvSpPr/>
          <p:nvPr/>
        </p:nvSpPr>
        <p:spPr>
          <a:xfrm>
            <a:off x="4325112" y="3950208"/>
            <a:ext cx="3547872" cy="129844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0_TextBox_63"/>
          <p:cNvSpPr txBox="1"/>
          <p:nvPr/>
        </p:nvSpPr>
        <p:spPr>
          <a:xfrm>
            <a:off x="4544568" y="4151376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25">
                <a:solidFill>
                  <a:srgbClr val="B9FF4A"/>
                </a:solidFill>
                <a:latin typeface="Segoe UI Semibold"/>
              </a:rPr>
              <a:t>|ERROR| ≤ 3</a:t>
            </a:r>
          </a:p>
        </p:txBody>
      </p:sp>
      <p:sp>
        <p:nvSpPr>
          <p:cNvPr id="65" name="S10_TextBox_64"/>
          <p:cNvSpPr txBox="1"/>
          <p:nvPr/>
        </p:nvSpPr>
        <p:spPr>
          <a:xfrm>
            <a:off x="4544568" y="4416552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-20">
                <a:solidFill>
                  <a:srgbClr val="F7FAFF"/>
                </a:solidFill>
                <a:latin typeface="Segoe UI Black"/>
              </a:rPr>
              <a:t>VÙNG CHẾT</a:t>
            </a:r>
          </a:p>
        </p:txBody>
      </p:sp>
      <p:sp>
        <p:nvSpPr>
          <p:cNvPr id="66" name="S10_TextBox_65"/>
          <p:cNvSpPr txBox="1"/>
          <p:nvPr/>
        </p:nvSpPr>
        <p:spPr>
          <a:xfrm>
            <a:off x="4544568" y="4791456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50" spc="25">
                <a:solidFill>
                  <a:srgbClr val="B9FF4A"/>
                </a:solidFill>
                <a:latin typeface="Bahnschrift SemiBold Condensed"/>
              </a:rPr>
              <a:t>ĐỨNG YÊN</a:t>
            </a:r>
          </a:p>
        </p:txBody>
      </p:sp>
      <p:sp>
        <p:nvSpPr>
          <p:cNvPr id="67" name="S10_Rounded_Rectangle_66"/>
          <p:cNvSpPr/>
          <p:nvPr/>
        </p:nvSpPr>
        <p:spPr>
          <a:xfrm>
            <a:off x="7900416" y="3950208"/>
            <a:ext cx="3547872" cy="129844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10_TextBox_67"/>
          <p:cNvSpPr txBox="1"/>
          <p:nvPr/>
        </p:nvSpPr>
        <p:spPr>
          <a:xfrm>
            <a:off x="8119872" y="4151376"/>
            <a:ext cx="310896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25">
                <a:solidFill>
                  <a:srgbClr val="15E6FF"/>
                </a:solidFill>
                <a:latin typeface="Segoe UI Semibold"/>
              </a:rPr>
              <a:t>PV &lt; SP</a:t>
            </a:r>
          </a:p>
        </p:txBody>
      </p:sp>
      <p:sp>
        <p:nvSpPr>
          <p:cNvPr id="69" name="S10_TextBox_68"/>
          <p:cNvSpPr txBox="1"/>
          <p:nvPr/>
        </p:nvSpPr>
        <p:spPr>
          <a:xfrm>
            <a:off x="8119872" y="4416552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spc="-20">
                <a:solidFill>
                  <a:srgbClr val="F7FAFF"/>
                </a:solidFill>
                <a:latin typeface="Segoe UI Black"/>
              </a:rPr>
              <a:t>HÚT CHƯA ĐỦ</a:t>
            </a:r>
          </a:p>
        </p:txBody>
      </p:sp>
      <p:sp>
        <p:nvSpPr>
          <p:cNvPr id="70" name="S10_TextBox_69"/>
          <p:cNvSpPr txBox="1"/>
          <p:nvPr/>
        </p:nvSpPr>
        <p:spPr>
          <a:xfrm>
            <a:off x="8119872" y="4791456"/>
            <a:ext cx="31089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50" spc="25">
                <a:solidFill>
                  <a:srgbClr val="15E6FF"/>
                </a:solidFill>
                <a:latin typeface="Bahnschrift SemiBold Condensed"/>
              </a:rPr>
              <a:t>Air% += 1</a:t>
            </a:r>
          </a:p>
        </p:txBody>
      </p:sp>
      <p:sp>
        <p:nvSpPr>
          <p:cNvPr id="71" name="S10_TextBox_70"/>
          <p:cNvSpPr txBox="1"/>
          <p:nvPr/>
        </p:nvSpPr>
        <p:spPr>
          <a:xfrm>
            <a:off x="658368" y="5596128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>
                <a:solidFill>
                  <a:srgbClr val="FFC857"/>
                </a:solidFill>
                <a:latin typeface="Consolas"/>
              </a:rPr>
              <a:t>error = SP − PV  ·  quy ước bắt buộc: hút mạnh hơn → số Pa lớn hơn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CONTROL  /  DYNAMIC PACING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Xa đi nhanh. Gần đi chậm.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Biên độ bước luôn là 1%; tốc độ hội tụ điều khiển bằng khoảng nghỉ giữa hai bước.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11/20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103120" y="-21945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8B5CFF">
                  <a:alpha val="16000"/>
                </a:srgbClr>
              </a:gs>
              <a:gs pos="55000">
                <a:srgbClr val="8B5CFF">
                  <a:alpha val="5600"/>
                </a:srgbClr>
              </a:gs>
              <a:gs pos="100000">
                <a:srgbClr val="8B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1_Rounded_Rectangle_46"/>
          <p:cNvSpPr/>
          <p:nvPr/>
        </p:nvSpPr>
        <p:spPr>
          <a:xfrm>
            <a:off x="713232" y="2103120"/>
            <a:ext cx="6922008" cy="3145536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1_Freeform_47"/>
          <p:cNvSpPr/>
          <p:nvPr/>
        </p:nvSpPr>
        <p:spPr>
          <a:xfrm>
            <a:off x="1353312" y="2633472"/>
            <a:ext cx="5934456" cy="0"/>
          </a:xfrm>
          <a:custGeom>
            <a:avLst/>
            <a:gdLst/>
            <a:ahLst/>
            <a:cxnLst/>
            <a:rect l="l" t="t" r="r" b="b"/>
            <a:pathLst>
              <a:path w="5934456" h="0">
                <a:moveTo>
                  <a:pt x="0" y="0"/>
                </a:moveTo>
                <a:lnTo>
                  <a:pt x="5934456" y="0"/>
                </a:lnTo>
              </a:path>
            </a:pathLst>
          </a:custGeom>
          <a:noFill/>
          <a:ln w="825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1_Freeform_48"/>
          <p:cNvSpPr/>
          <p:nvPr/>
        </p:nvSpPr>
        <p:spPr>
          <a:xfrm>
            <a:off x="1353312" y="3337560"/>
            <a:ext cx="5934456" cy="0"/>
          </a:xfrm>
          <a:custGeom>
            <a:avLst/>
            <a:gdLst/>
            <a:ahLst/>
            <a:cxnLst/>
            <a:rect l="l" t="t" r="r" b="b"/>
            <a:pathLst>
              <a:path w="5934456" h="0">
                <a:moveTo>
                  <a:pt x="0" y="0"/>
                </a:moveTo>
                <a:lnTo>
                  <a:pt x="5934456" y="0"/>
                </a:lnTo>
              </a:path>
            </a:pathLst>
          </a:custGeom>
          <a:noFill/>
          <a:ln w="825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1_Freeform_49"/>
          <p:cNvSpPr/>
          <p:nvPr/>
        </p:nvSpPr>
        <p:spPr>
          <a:xfrm>
            <a:off x="1353312" y="4041648"/>
            <a:ext cx="5934456" cy="0"/>
          </a:xfrm>
          <a:custGeom>
            <a:avLst/>
            <a:gdLst/>
            <a:ahLst/>
            <a:cxnLst/>
            <a:rect l="l" t="t" r="r" b="b"/>
            <a:pathLst>
              <a:path w="5934456" h="0">
                <a:moveTo>
                  <a:pt x="0" y="0"/>
                </a:moveTo>
                <a:lnTo>
                  <a:pt x="5934456" y="0"/>
                </a:lnTo>
              </a:path>
            </a:pathLst>
          </a:custGeom>
          <a:noFill/>
          <a:ln w="825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11_Freeform_50"/>
          <p:cNvSpPr/>
          <p:nvPr/>
        </p:nvSpPr>
        <p:spPr>
          <a:xfrm>
            <a:off x="1353312" y="4745736"/>
            <a:ext cx="5934456" cy="0"/>
          </a:xfrm>
          <a:custGeom>
            <a:avLst/>
            <a:gdLst/>
            <a:ahLst/>
            <a:cxnLst/>
            <a:rect l="l" t="t" r="r" b="b"/>
            <a:pathLst>
              <a:path w="5934456" h="0">
                <a:moveTo>
                  <a:pt x="0" y="0"/>
                </a:moveTo>
                <a:lnTo>
                  <a:pt x="5934456" y="0"/>
                </a:lnTo>
              </a:path>
            </a:pathLst>
          </a:custGeom>
          <a:noFill/>
          <a:ln w="825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1_Freeform_51"/>
          <p:cNvSpPr/>
          <p:nvPr/>
        </p:nvSpPr>
        <p:spPr>
          <a:xfrm>
            <a:off x="1353312" y="2757722"/>
            <a:ext cx="5934456" cy="1863763"/>
          </a:xfrm>
          <a:custGeom>
            <a:avLst/>
            <a:gdLst/>
            <a:ahLst/>
            <a:cxnLst/>
            <a:rect l="l" t="t" r="r" b="b"/>
            <a:pathLst>
              <a:path w="5934456" h="1863763">
                <a:moveTo>
                  <a:pt x="0" y="0"/>
                </a:moveTo>
                <a:lnTo>
                  <a:pt x="141296" y="69029"/>
                </a:lnTo>
                <a:lnTo>
                  <a:pt x="282593" y="138057"/>
                </a:lnTo>
                <a:lnTo>
                  <a:pt x="423889" y="207085"/>
                </a:lnTo>
                <a:lnTo>
                  <a:pt x="565186" y="276113"/>
                </a:lnTo>
                <a:lnTo>
                  <a:pt x="706482" y="345142"/>
                </a:lnTo>
                <a:lnTo>
                  <a:pt x="847779" y="414170"/>
                </a:lnTo>
                <a:lnTo>
                  <a:pt x="989076" y="483198"/>
                </a:lnTo>
                <a:lnTo>
                  <a:pt x="1130372" y="552226"/>
                </a:lnTo>
                <a:lnTo>
                  <a:pt x="1271669" y="621254"/>
                </a:lnTo>
                <a:lnTo>
                  <a:pt x="1412965" y="690283"/>
                </a:lnTo>
                <a:lnTo>
                  <a:pt x="1554262" y="759311"/>
                </a:lnTo>
                <a:lnTo>
                  <a:pt x="1695558" y="828339"/>
                </a:lnTo>
                <a:lnTo>
                  <a:pt x="1836855" y="897367"/>
                </a:lnTo>
                <a:lnTo>
                  <a:pt x="1978152" y="966396"/>
                </a:lnTo>
                <a:lnTo>
                  <a:pt x="2119448" y="1035424"/>
                </a:lnTo>
                <a:lnTo>
                  <a:pt x="2260745" y="1104452"/>
                </a:lnTo>
                <a:lnTo>
                  <a:pt x="2402041" y="1173480"/>
                </a:lnTo>
                <a:lnTo>
                  <a:pt x="2543338" y="1242509"/>
                </a:lnTo>
                <a:lnTo>
                  <a:pt x="2684634" y="1311537"/>
                </a:lnTo>
                <a:lnTo>
                  <a:pt x="2825931" y="1380565"/>
                </a:lnTo>
                <a:lnTo>
                  <a:pt x="2967228" y="1449593"/>
                </a:lnTo>
                <a:lnTo>
                  <a:pt x="3108524" y="1518622"/>
                </a:lnTo>
                <a:lnTo>
                  <a:pt x="3249821" y="1587650"/>
                </a:lnTo>
                <a:lnTo>
                  <a:pt x="3391117" y="1656678"/>
                </a:lnTo>
                <a:lnTo>
                  <a:pt x="3532414" y="1725706"/>
                </a:lnTo>
                <a:lnTo>
                  <a:pt x="3673710" y="1794734"/>
                </a:lnTo>
                <a:lnTo>
                  <a:pt x="3815007" y="1863763"/>
                </a:lnTo>
                <a:lnTo>
                  <a:pt x="3956304" y="1863763"/>
                </a:lnTo>
                <a:lnTo>
                  <a:pt x="4097600" y="1863763"/>
                </a:lnTo>
                <a:lnTo>
                  <a:pt x="4238897" y="1863763"/>
                </a:lnTo>
                <a:lnTo>
                  <a:pt x="4380193" y="1863763"/>
                </a:lnTo>
                <a:lnTo>
                  <a:pt x="4521490" y="1863763"/>
                </a:lnTo>
                <a:lnTo>
                  <a:pt x="4662786" y="1863763"/>
                </a:lnTo>
                <a:lnTo>
                  <a:pt x="4804083" y="1863763"/>
                </a:lnTo>
                <a:lnTo>
                  <a:pt x="4945380" y="1863763"/>
                </a:lnTo>
                <a:lnTo>
                  <a:pt x="5086676" y="1863763"/>
                </a:lnTo>
                <a:lnTo>
                  <a:pt x="5227973" y="1863763"/>
                </a:lnTo>
                <a:lnTo>
                  <a:pt x="5369269" y="1863763"/>
                </a:lnTo>
                <a:lnTo>
                  <a:pt x="5510566" y="1863763"/>
                </a:lnTo>
                <a:lnTo>
                  <a:pt x="5651862" y="1863763"/>
                </a:lnTo>
                <a:lnTo>
                  <a:pt x="5793159" y="1863763"/>
                </a:lnTo>
                <a:lnTo>
                  <a:pt x="5934456" y="1863763"/>
                </a:lnTo>
              </a:path>
            </a:pathLst>
          </a:custGeom>
          <a:noFill/>
          <a:ln w="4318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1_Oval_52"/>
          <p:cNvSpPr/>
          <p:nvPr/>
        </p:nvSpPr>
        <p:spPr>
          <a:xfrm>
            <a:off x="1293876" y="2698286"/>
            <a:ext cx="118872" cy="118872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1_Oval_53"/>
          <p:cNvSpPr/>
          <p:nvPr/>
        </p:nvSpPr>
        <p:spPr>
          <a:xfrm>
            <a:off x="2282952" y="3181622"/>
            <a:ext cx="118872" cy="118872"/>
          </a:xfrm>
          <a:prstGeom prst="ellipse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11_Oval_54"/>
          <p:cNvSpPr/>
          <p:nvPr/>
        </p:nvSpPr>
        <p:spPr>
          <a:xfrm>
            <a:off x="3695917" y="3871214"/>
            <a:ext cx="118872" cy="118872"/>
          </a:xfrm>
          <a:prstGeom prst="ellipse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11_Oval_55"/>
          <p:cNvSpPr/>
          <p:nvPr/>
        </p:nvSpPr>
        <p:spPr>
          <a:xfrm>
            <a:off x="5108883" y="4562049"/>
            <a:ext cx="118872" cy="118872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11_TextBox_56"/>
          <p:cNvSpPr txBox="1"/>
          <p:nvPr/>
        </p:nvSpPr>
        <p:spPr>
          <a:xfrm>
            <a:off x="969264" y="224942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40">
                <a:solidFill>
                  <a:srgbClr val="15E6FF"/>
                </a:solidFill>
                <a:latin typeface="Segoe UI Semibold"/>
              </a:rPr>
              <a:t>COOLDOWN (ms)</a:t>
            </a:r>
          </a:p>
        </p:txBody>
      </p:sp>
      <p:sp>
        <p:nvSpPr>
          <p:cNvPr id="58" name="S11_TextBox_57"/>
          <p:cNvSpPr txBox="1"/>
          <p:nvPr/>
        </p:nvSpPr>
        <p:spPr>
          <a:xfrm>
            <a:off x="969264" y="4974336"/>
            <a:ext cx="640994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10">
                <a:solidFill>
                  <a:srgbClr val="627392"/>
                </a:solidFill>
                <a:latin typeface="Segoe UI"/>
              </a:rPr>
              <a:t>|ERROR| (Pa)  →</a:t>
            </a:r>
          </a:p>
        </p:txBody>
      </p:sp>
      <p:sp>
        <p:nvSpPr>
          <p:cNvPr id="59" name="S11_Rounded_Rectangle_58"/>
          <p:cNvSpPr/>
          <p:nvPr/>
        </p:nvSpPr>
        <p:spPr>
          <a:xfrm>
            <a:off x="7973568" y="2103120"/>
            <a:ext cx="3493008" cy="3145536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1_Rounded_Rectangle_59"/>
          <p:cNvSpPr/>
          <p:nvPr/>
        </p:nvSpPr>
        <p:spPr>
          <a:xfrm>
            <a:off x="8266175" y="2368296"/>
            <a:ext cx="149961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11_TextBox_60"/>
          <p:cNvSpPr txBox="1"/>
          <p:nvPr/>
        </p:nvSpPr>
        <p:spPr>
          <a:xfrm>
            <a:off x="8266175" y="2404872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8B5CFF"/>
                </a:solidFill>
                <a:latin typeface="Segoe UI Semibold"/>
              </a:rPr>
              <a:t>PACE, NOT GAIN</a:t>
            </a:r>
          </a:p>
        </p:txBody>
      </p:sp>
      <p:sp>
        <p:nvSpPr>
          <p:cNvPr id="62" name="S11_TextBox_61"/>
          <p:cNvSpPr txBox="1"/>
          <p:nvPr/>
        </p:nvSpPr>
        <p:spPr>
          <a:xfrm>
            <a:off x="8202168" y="2871216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spc="-70">
                <a:solidFill>
                  <a:srgbClr val="B9FF4A"/>
                </a:solidFill>
                <a:latin typeface="Bahnschrift SemiBold Condensed"/>
              </a:rPr>
              <a:t>3,0</a:t>
            </a:r>
          </a:p>
        </p:txBody>
      </p:sp>
      <p:sp>
        <p:nvSpPr>
          <p:cNvPr id="63" name="S11_TextBox_62"/>
          <p:cNvSpPr txBox="1"/>
          <p:nvPr/>
        </p:nvSpPr>
        <p:spPr>
          <a:xfrm>
            <a:off x="8202168" y="3401568"/>
            <a:ext cx="13533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50">
                <a:solidFill>
                  <a:srgbClr val="627392"/>
                </a:solidFill>
                <a:latin typeface="Segoe UI Semibold"/>
              </a:rPr>
              <a:t>GIÂY</a:t>
            </a:r>
          </a:p>
        </p:txBody>
      </p:sp>
      <p:sp>
        <p:nvSpPr>
          <p:cNvPr id="64" name="S11_TextBox_63"/>
          <p:cNvSpPr txBox="1"/>
          <p:nvPr/>
        </p:nvSpPr>
        <p:spPr>
          <a:xfrm>
            <a:off x="8202168" y="3685032"/>
            <a:ext cx="13533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vừa ra khỏi band</a:t>
            </a:r>
          </a:p>
        </p:txBody>
      </p:sp>
      <p:sp>
        <p:nvSpPr>
          <p:cNvPr id="65" name="S11_TextBox_64"/>
          <p:cNvSpPr txBox="1"/>
          <p:nvPr/>
        </p:nvSpPr>
        <p:spPr>
          <a:xfrm>
            <a:off x="9784080" y="2871216"/>
            <a:ext cx="1353312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spc="-70">
                <a:solidFill>
                  <a:srgbClr val="15E6FF"/>
                </a:solidFill>
                <a:latin typeface="Bahnschrift SemiBold Condensed"/>
              </a:rPr>
              <a:t>1,5</a:t>
            </a:r>
          </a:p>
        </p:txBody>
      </p:sp>
      <p:sp>
        <p:nvSpPr>
          <p:cNvPr id="66" name="S11_TextBox_65"/>
          <p:cNvSpPr txBox="1"/>
          <p:nvPr/>
        </p:nvSpPr>
        <p:spPr>
          <a:xfrm>
            <a:off x="9784080" y="3401568"/>
            <a:ext cx="13533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150">
                <a:solidFill>
                  <a:srgbClr val="627392"/>
                </a:solidFill>
                <a:latin typeface="Segoe UI Semibold"/>
              </a:rPr>
              <a:t>GIÂY</a:t>
            </a:r>
          </a:p>
        </p:txBody>
      </p:sp>
      <p:sp>
        <p:nvSpPr>
          <p:cNvPr id="67" name="S11_TextBox_66"/>
          <p:cNvSpPr txBox="1"/>
          <p:nvPr/>
        </p:nvSpPr>
        <p:spPr>
          <a:xfrm>
            <a:off x="9784080" y="3685032"/>
            <a:ext cx="13533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50">
                <a:solidFill>
                  <a:srgbClr val="A6B5D1"/>
                </a:solidFill>
                <a:latin typeface="Segoe UI"/>
              </a:rPr>
              <a:t>khi lệch ≥ 30 Pa</a:t>
            </a:r>
          </a:p>
        </p:txBody>
      </p:sp>
      <p:sp>
        <p:nvSpPr>
          <p:cNvPr id="68" name="S11_Rectangle_67"/>
          <p:cNvSpPr/>
          <p:nvPr/>
        </p:nvSpPr>
        <p:spPr>
          <a:xfrm>
            <a:off x="8321040" y="4169663"/>
            <a:ext cx="2788920" cy="12700"/>
          </a:xfrm>
          <a:prstGeom prst="rect">
            <a:avLst/>
          </a:prstGeom>
          <a:solidFill>
            <a:srgbClr val="24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11_TextBox_68"/>
          <p:cNvSpPr txBox="1"/>
          <p:nvPr/>
        </p:nvSpPr>
        <p:spPr>
          <a:xfrm>
            <a:off x="8247888" y="4416552"/>
            <a:ext cx="2962656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300">
                <a:solidFill>
                  <a:srgbClr val="A6B5D1"/>
                </a:solidFill>
                <a:latin typeface="Segoe UI"/>
              </a:rPr>
              <a:t>Vai trò của P được chuyển từ biên độ bước sang tần suất bước.</a:t>
            </a:r>
          </a:p>
        </p:txBody>
      </p:sp>
      <p:sp>
        <p:nvSpPr>
          <p:cNvPr id="70" name="S11_TextBox_69"/>
          <p:cNvSpPr txBox="1"/>
          <p:nvPr/>
        </p:nvSpPr>
        <p:spPr>
          <a:xfrm>
            <a:off x="658368" y="5605272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>
                <a:solidFill>
                  <a:srgbClr val="FFC857"/>
                </a:solidFill>
                <a:latin typeface="Segoe UI Semibold"/>
              </a:rPr>
              <a:t>Giới hạn cứng: 1% / 1,5 s.  Muốn đổi nhanh hơn phải dùng SNAP — không hạ cooldown.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6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6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6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6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LEARNING  /  THE LEARNED MAP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400" spc="-80">
                <a:solidFill>
                  <a:srgbClr val="F7FAFF"/>
                </a:solidFill>
                <a:latin typeface="Segoe UI Black"/>
              </a:rPr>
              <a:t>Bảng nhớ biến hệ chậm thành hệ có kinh nghiệm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Mỗi dòng trả lời đúng một câu hỏi: để giữ mức Pa này, máy thường cần bao nhiêu phần trăm gió?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12/20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8869680" y="-2377440"/>
            <a:ext cx="5760720" cy="5760720"/>
          </a:xfrm>
          <a:prstGeom prst="ellipse">
            <a:avLst/>
          </a:prstGeom>
          <a:gradFill rotWithShape="1">
            <a:gsLst>
              <a:gs pos="0">
                <a:srgbClr val="4D7CFF">
                  <a:alpha val="18000"/>
                </a:srgbClr>
              </a:gs>
              <a:gs pos="55000">
                <a:srgbClr val="4D7CFF">
                  <a:alpha val="6300"/>
                </a:srgbClr>
              </a:gs>
              <a:gs pos="100000">
                <a:srgbClr val="4D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2_Rounded_Rectangle_46"/>
          <p:cNvSpPr/>
          <p:nvPr/>
        </p:nvSpPr>
        <p:spPr>
          <a:xfrm>
            <a:off x="713232" y="2057400"/>
            <a:ext cx="6382512" cy="3282696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2_Freeform_47"/>
          <p:cNvSpPr/>
          <p:nvPr/>
        </p:nvSpPr>
        <p:spPr>
          <a:xfrm>
            <a:off x="1335024" y="2569464"/>
            <a:ext cx="5413248" cy="0"/>
          </a:xfrm>
          <a:custGeom>
            <a:avLst/>
            <a:gdLst/>
            <a:ahLst/>
            <a:cxnLst/>
            <a:rect l="l" t="t" r="r" b="b"/>
            <a:pathLst>
              <a:path w="5413248" h="0">
                <a:moveTo>
                  <a:pt x="0" y="0"/>
                </a:moveTo>
                <a:lnTo>
                  <a:pt x="5413248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2_Freeform_48"/>
          <p:cNvSpPr/>
          <p:nvPr/>
        </p:nvSpPr>
        <p:spPr>
          <a:xfrm>
            <a:off x="1335024" y="3136392"/>
            <a:ext cx="5413248" cy="0"/>
          </a:xfrm>
          <a:custGeom>
            <a:avLst/>
            <a:gdLst/>
            <a:ahLst/>
            <a:cxnLst/>
            <a:rect l="l" t="t" r="r" b="b"/>
            <a:pathLst>
              <a:path w="5413248" h="0">
                <a:moveTo>
                  <a:pt x="0" y="0"/>
                </a:moveTo>
                <a:lnTo>
                  <a:pt x="5413248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2_Freeform_49"/>
          <p:cNvSpPr/>
          <p:nvPr/>
        </p:nvSpPr>
        <p:spPr>
          <a:xfrm>
            <a:off x="1335024" y="3703320"/>
            <a:ext cx="5413248" cy="0"/>
          </a:xfrm>
          <a:custGeom>
            <a:avLst/>
            <a:gdLst/>
            <a:ahLst/>
            <a:cxnLst/>
            <a:rect l="l" t="t" r="r" b="b"/>
            <a:pathLst>
              <a:path w="5413248" h="0">
                <a:moveTo>
                  <a:pt x="0" y="0"/>
                </a:moveTo>
                <a:lnTo>
                  <a:pt x="5413248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12_Freeform_50"/>
          <p:cNvSpPr/>
          <p:nvPr/>
        </p:nvSpPr>
        <p:spPr>
          <a:xfrm>
            <a:off x="1335024" y="4270248"/>
            <a:ext cx="5413248" cy="0"/>
          </a:xfrm>
          <a:custGeom>
            <a:avLst/>
            <a:gdLst/>
            <a:ahLst/>
            <a:cxnLst/>
            <a:rect l="l" t="t" r="r" b="b"/>
            <a:pathLst>
              <a:path w="5413248" h="0">
                <a:moveTo>
                  <a:pt x="0" y="0"/>
                </a:moveTo>
                <a:lnTo>
                  <a:pt x="5413248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2_Freeform_51"/>
          <p:cNvSpPr/>
          <p:nvPr/>
        </p:nvSpPr>
        <p:spPr>
          <a:xfrm>
            <a:off x="1335024" y="4837176"/>
            <a:ext cx="5413248" cy="0"/>
          </a:xfrm>
          <a:custGeom>
            <a:avLst/>
            <a:gdLst/>
            <a:ahLst/>
            <a:cxnLst/>
            <a:rect l="l" t="t" r="r" b="b"/>
            <a:pathLst>
              <a:path w="5413248" h="0">
                <a:moveTo>
                  <a:pt x="0" y="0"/>
                </a:moveTo>
                <a:lnTo>
                  <a:pt x="5413248" y="0"/>
                </a:lnTo>
              </a:path>
            </a:pathLst>
          </a:custGeom>
          <a:noFill/>
          <a:ln w="7620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2_Freeform_52"/>
          <p:cNvSpPr/>
          <p:nvPr/>
        </p:nvSpPr>
        <p:spPr>
          <a:xfrm>
            <a:off x="1335024" y="2642030"/>
            <a:ext cx="5413248" cy="2177004"/>
          </a:xfrm>
          <a:custGeom>
            <a:avLst/>
            <a:gdLst/>
            <a:ahLst/>
            <a:cxnLst/>
            <a:rect l="l" t="t" r="r" b="b"/>
            <a:pathLst>
              <a:path w="5413248" h="2177004">
                <a:moveTo>
                  <a:pt x="0" y="2177004"/>
                </a:moveTo>
                <a:lnTo>
                  <a:pt x="216529" y="2160674"/>
                </a:lnTo>
                <a:lnTo>
                  <a:pt x="433059" y="2130170"/>
                </a:lnTo>
                <a:lnTo>
                  <a:pt x="649589" y="2090265"/>
                </a:lnTo>
                <a:lnTo>
                  <a:pt x="866119" y="2042690"/>
                </a:lnTo>
                <a:lnTo>
                  <a:pt x="1082649" y="1988455"/>
                </a:lnTo>
                <a:lnTo>
                  <a:pt x="1299179" y="1928244"/>
                </a:lnTo>
                <a:lnTo>
                  <a:pt x="1515709" y="1862563"/>
                </a:lnTo>
                <a:lnTo>
                  <a:pt x="1732239" y="1791803"/>
                </a:lnTo>
                <a:lnTo>
                  <a:pt x="1948769" y="1716282"/>
                </a:lnTo>
                <a:lnTo>
                  <a:pt x="2165299" y="1636262"/>
                </a:lnTo>
                <a:lnTo>
                  <a:pt x="2381829" y="1551965"/>
                </a:lnTo>
                <a:lnTo>
                  <a:pt x="2598359" y="1463583"/>
                </a:lnTo>
                <a:lnTo>
                  <a:pt x="2814888" y="1371284"/>
                </a:lnTo>
                <a:lnTo>
                  <a:pt x="3031418" y="1275215"/>
                </a:lnTo>
                <a:lnTo>
                  <a:pt x="3247948" y="1175508"/>
                </a:lnTo>
                <a:lnTo>
                  <a:pt x="3464478" y="1072283"/>
                </a:lnTo>
                <a:lnTo>
                  <a:pt x="3681008" y="965645"/>
                </a:lnTo>
                <a:lnTo>
                  <a:pt x="3897538" y="855694"/>
                </a:lnTo>
                <a:lnTo>
                  <a:pt x="4114068" y="742520"/>
                </a:lnTo>
                <a:lnTo>
                  <a:pt x="4330598" y="626203"/>
                </a:lnTo>
                <a:lnTo>
                  <a:pt x="4547128" y="506822"/>
                </a:lnTo>
                <a:lnTo>
                  <a:pt x="4763658" y="384448"/>
                </a:lnTo>
                <a:lnTo>
                  <a:pt x="4980188" y="259145"/>
                </a:lnTo>
                <a:lnTo>
                  <a:pt x="5196718" y="130977"/>
                </a:lnTo>
                <a:lnTo>
                  <a:pt x="5413248" y="0"/>
                </a:lnTo>
              </a:path>
            </a:pathLst>
          </a:custGeom>
          <a:noFill/>
          <a:ln w="4191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2_Oval_53"/>
          <p:cNvSpPr/>
          <p:nvPr/>
        </p:nvSpPr>
        <p:spPr>
          <a:xfrm>
            <a:off x="3436315" y="4214284"/>
            <a:ext cx="128016" cy="128016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12_Rounded_Rectangle_54"/>
          <p:cNvSpPr/>
          <p:nvPr/>
        </p:nvSpPr>
        <p:spPr>
          <a:xfrm>
            <a:off x="3024835" y="3784516"/>
            <a:ext cx="95097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12_TextBox_55"/>
          <p:cNvSpPr txBox="1"/>
          <p:nvPr/>
        </p:nvSpPr>
        <p:spPr>
          <a:xfrm>
            <a:off x="3024835" y="3821092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19" spc="125">
                <a:solidFill>
                  <a:srgbClr val="B9FF4A"/>
                </a:solidFill>
                <a:latin typeface="Segoe UI Semibold"/>
              </a:rPr>
              <a:t>61 PA / 40%</a:t>
            </a:r>
          </a:p>
        </p:txBody>
      </p:sp>
      <p:sp>
        <p:nvSpPr>
          <p:cNvPr id="57" name="S12_Oval_56"/>
          <p:cNvSpPr/>
          <p:nvPr/>
        </p:nvSpPr>
        <p:spPr>
          <a:xfrm>
            <a:off x="4518964" y="3753530"/>
            <a:ext cx="128016" cy="128016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2_Rounded_Rectangle_57"/>
          <p:cNvSpPr/>
          <p:nvPr/>
        </p:nvSpPr>
        <p:spPr>
          <a:xfrm>
            <a:off x="4107484" y="3323762"/>
            <a:ext cx="95097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12_TextBox_58"/>
          <p:cNvSpPr txBox="1"/>
          <p:nvPr/>
        </p:nvSpPr>
        <p:spPr>
          <a:xfrm>
            <a:off x="4107484" y="3360338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19" spc="125">
                <a:solidFill>
                  <a:srgbClr val="B9FF4A"/>
                </a:solidFill>
                <a:latin typeface="Segoe UI Semibold"/>
              </a:rPr>
              <a:t>112 PA / 60%</a:t>
            </a:r>
          </a:p>
        </p:txBody>
      </p:sp>
      <p:sp>
        <p:nvSpPr>
          <p:cNvPr id="60" name="S12_Oval_59"/>
          <p:cNvSpPr/>
          <p:nvPr/>
        </p:nvSpPr>
        <p:spPr>
          <a:xfrm>
            <a:off x="5601614" y="3204225"/>
            <a:ext cx="128016" cy="128016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12_Rounded_Rectangle_60"/>
          <p:cNvSpPr/>
          <p:nvPr/>
        </p:nvSpPr>
        <p:spPr>
          <a:xfrm>
            <a:off x="5190134" y="2774457"/>
            <a:ext cx="95097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12_TextBox_61"/>
          <p:cNvSpPr txBox="1"/>
          <p:nvPr/>
        </p:nvSpPr>
        <p:spPr>
          <a:xfrm>
            <a:off x="5190134" y="2811033"/>
            <a:ext cx="95097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19" spc="125">
                <a:solidFill>
                  <a:srgbClr val="B9FF4A"/>
                </a:solidFill>
                <a:latin typeface="Segoe UI Semibold"/>
              </a:rPr>
              <a:t>172 PA / 80%</a:t>
            </a:r>
          </a:p>
        </p:txBody>
      </p:sp>
      <p:sp>
        <p:nvSpPr>
          <p:cNvPr id="63" name="S12_TextBox_62"/>
          <p:cNvSpPr txBox="1"/>
          <p:nvPr/>
        </p:nvSpPr>
        <p:spPr>
          <a:xfrm>
            <a:off x="969264" y="220370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35">
                <a:solidFill>
                  <a:srgbClr val="15E6FF"/>
                </a:solidFill>
                <a:latin typeface="Segoe UI Semibold"/>
              </a:rPr>
              <a:t>ĐẶC TUYẾN TỰ HỌC</a:t>
            </a:r>
          </a:p>
        </p:txBody>
      </p:sp>
      <p:sp>
        <p:nvSpPr>
          <p:cNvPr id="64" name="S12_TextBox_63"/>
          <p:cNvSpPr txBox="1"/>
          <p:nvPr/>
        </p:nvSpPr>
        <p:spPr>
          <a:xfrm>
            <a:off x="877824" y="5093208"/>
            <a:ext cx="6053328" cy="192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19" spc="120">
                <a:solidFill>
                  <a:srgbClr val="627392"/>
                </a:solidFill>
                <a:latin typeface="Segoe UI"/>
              </a:rPr>
              <a:t>AIR%  →</a:t>
            </a:r>
          </a:p>
        </p:txBody>
      </p:sp>
      <p:sp>
        <p:nvSpPr>
          <p:cNvPr id="65" name="S12_Rounded_Rectangle_64"/>
          <p:cNvSpPr/>
          <p:nvPr/>
        </p:nvSpPr>
        <p:spPr>
          <a:xfrm>
            <a:off x="7424927" y="2057400"/>
            <a:ext cx="4050791" cy="3282696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2_Rounded_Rectangle_65"/>
          <p:cNvSpPr/>
          <p:nvPr/>
        </p:nvSpPr>
        <p:spPr>
          <a:xfrm>
            <a:off x="7726679" y="2340864"/>
            <a:ext cx="138988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12_TextBox_66"/>
          <p:cNvSpPr txBox="1"/>
          <p:nvPr/>
        </p:nvSpPr>
        <p:spPr>
          <a:xfrm>
            <a:off x="7726679" y="2377440"/>
            <a:ext cx="138988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4D7CFF"/>
                </a:solidFill>
                <a:latin typeface="Segoe UI Semibold"/>
              </a:rPr>
              <a:t>60 ROWS</a:t>
            </a:r>
          </a:p>
        </p:txBody>
      </p:sp>
      <p:sp>
        <p:nvSpPr>
          <p:cNvPr id="68" name="S12_TextBox_67"/>
          <p:cNvSpPr txBox="1"/>
          <p:nvPr/>
        </p:nvSpPr>
        <p:spPr>
          <a:xfrm>
            <a:off x="7726679" y="285292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>
                <a:solidFill>
                  <a:srgbClr val="15E6FF"/>
                </a:solidFill>
                <a:latin typeface="Bahnschrift SemiBold Condensed"/>
              </a:rPr>
              <a:t>10 s</a:t>
            </a:r>
          </a:p>
        </p:txBody>
      </p:sp>
      <p:sp>
        <p:nvSpPr>
          <p:cNvPr id="69" name="S12_Rectangle_68"/>
          <p:cNvSpPr/>
          <p:nvPr/>
        </p:nvSpPr>
        <p:spPr>
          <a:xfrm>
            <a:off x="8714232" y="2962656"/>
            <a:ext cx="256032" cy="31750"/>
          </a:xfrm>
          <a:prstGeom prst="rect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2_TextBox_69"/>
          <p:cNvSpPr txBox="1"/>
          <p:nvPr/>
        </p:nvSpPr>
        <p:spPr>
          <a:xfrm>
            <a:off x="9125712" y="2852928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Ổn định trong ±3 Pa</a:t>
            </a:r>
          </a:p>
        </p:txBody>
      </p:sp>
      <p:sp>
        <p:nvSpPr>
          <p:cNvPr id="71" name="S12_TextBox_70"/>
          <p:cNvSpPr txBox="1"/>
          <p:nvPr/>
        </p:nvSpPr>
        <p:spPr>
          <a:xfrm>
            <a:off x="7726679" y="342900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>
                <a:solidFill>
                  <a:srgbClr val="4D7CFF"/>
                </a:solidFill>
                <a:latin typeface="Bahnschrift SemiBold Condensed"/>
              </a:rPr>
              <a:t>≤ 3 Pa</a:t>
            </a:r>
          </a:p>
        </p:txBody>
      </p:sp>
      <p:sp>
        <p:nvSpPr>
          <p:cNvPr id="72" name="S12_Rectangle_71"/>
          <p:cNvSpPr/>
          <p:nvPr/>
        </p:nvSpPr>
        <p:spPr>
          <a:xfrm>
            <a:off x="8714232" y="3538728"/>
            <a:ext cx="256032" cy="31750"/>
          </a:xfrm>
          <a:prstGeom prst="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12_TextBox_72"/>
          <p:cNvSpPr txBox="1"/>
          <p:nvPr/>
        </p:nvSpPr>
        <p:spPr>
          <a:xfrm>
            <a:off x="9125712" y="3429000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Tìm dòng gần nhất</a:t>
            </a:r>
          </a:p>
        </p:txBody>
      </p:sp>
      <p:sp>
        <p:nvSpPr>
          <p:cNvPr id="74" name="S12_TextBox_73"/>
          <p:cNvSpPr txBox="1"/>
          <p:nvPr/>
        </p:nvSpPr>
        <p:spPr>
          <a:xfrm>
            <a:off x="7726679" y="40050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>
                <a:solidFill>
                  <a:srgbClr val="FFC857"/>
                </a:solidFill>
                <a:latin typeface="Bahnschrift SemiBold Condensed"/>
              </a:rPr>
              <a:t>≥ 3%</a:t>
            </a:r>
          </a:p>
        </p:txBody>
      </p:sp>
      <p:sp>
        <p:nvSpPr>
          <p:cNvPr id="75" name="S12_Rectangle_74"/>
          <p:cNvSpPr/>
          <p:nvPr/>
        </p:nvSpPr>
        <p:spPr>
          <a:xfrm>
            <a:off x="8714232" y="4114800"/>
            <a:ext cx="256032" cy="3175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12_TextBox_75"/>
          <p:cNvSpPr txBox="1"/>
          <p:nvPr/>
        </p:nvSpPr>
        <p:spPr>
          <a:xfrm>
            <a:off x="9125712" y="4005072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Drift lớn → học nhanh</a:t>
            </a:r>
          </a:p>
        </p:txBody>
      </p:sp>
      <p:sp>
        <p:nvSpPr>
          <p:cNvPr id="77" name="S12_TextBox_76"/>
          <p:cNvSpPr txBox="1"/>
          <p:nvPr/>
        </p:nvSpPr>
        <p:spPr>
          <a:xfrm>
            <a:off x="7726679" y="458114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>
                <a:solidFill>
                  <a:srgbClr val="B9FF4A"/>
                </a:solidFill>
                <a:latin typeface="Bahnschrift SemiBold Condensed"/>
              </a:rPr>
              <a:t>60 s</a:t>
            </a:r>
          </a:p>
        </p:txBody>
      </p:sp>
      <p:sp>
        <p:nvSpPr>
          <p:cNvPr id="78" name="S12_Rectangle_77"/>
          <p:cNvSpPr/>
          <p:nvPr/>
        </p:nvSpPr>
        <p:spPr>
          <a:xfrm>
            <a:off x="8714232" y="4690872"/>
            <a:ext cx="256032" cy="31750"/>
          </a:xfrm>
          <a:prstGeom prst="rect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12_TextBox_78"/>
          <p:cNvSpPr txBox="1"/>
          <p:nvPr/>
        </p:nvSpPr>
        <p:spPr>
          <a:xfrm>
            <a:off x="9125712" y="4581144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Có đổi mới lưu xuống nhớ</a:t>
            </a:r>
          </a:p>
        </p:txBody>
      </p:sp>
      <p:sp>
        <p:nvSpPr>
          <p:cNvPr id="80" name="S12_TextBox_79"/>
          <p:cNvSpPr txBox="1"/>
          <p:nvPr/>
        </p:nvSpPr>
        <p:spPr>
          <a:xfrm>
            <a:off x="658368" y="5623560"/>
            <a:ext cx="10874959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>
                <a:solidFill>
                  <a:srgbClr val="B9FF4A"/>
                </a:solidFill>
                <a:latin typeface="Segoe UI Semibold"/>
              </a:rPr>
              <a:t>Trên PLC: đặt bảng trong DB retentive hoặc recipe — cắt điện không được mất trí nhớ.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9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22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6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LEARNING  /  FAST SETPOINT CHANGES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SNAP: nhảy nhanh và cố ý nhảy hụt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Đổi setpoint lớn thì tra thẳng bảng, trừ hao một vùng đệm, phần còn lại để step controller bù nốt.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13/20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286000" y="3840480"/>
            <a:ext cx="5577840" cy="5577840"/>
          </a:xfrm>
          <a:prstGeom prst="ellipse">
            <a:avLst/>
          </a:prstGeom>
          <a:gradFill rotWithShape="1">
            <a:gsLst>
              <a:gs pos="0">
                <a:srgbClr val="8B5CFF">
                  <a:alpha val="17000"/>
                </a:srgbClr>
              </a:gs>
              <a:gs pos="55000">
                <a:srgbClr val="8B5CFF">
                  <a:alpha val="5950"/>
                </a:srgbClr>
              </a:gs>
              <a:gs pos="100000">
                <a:srgbClr val="8B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3_Rounded_Rectangle_46"/>
          <p:cNvSpPr/>
          <p:nvPr/>
        </p:nvSpPr>
        <p:spPr>
          <a:xfrm>
            <a:off x="676656" y="2048256"/>
            <a:ext cx="10991088" cy="2542032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3_Rounded_Rectangle_47"/>
          <p:cNvSpPr/>
          <p:nvPr/>
        </p:nvSpPr>
        <p:spPr>
          <a:xfrm>
            <a:off x="987552" y="2395728"/>
            <a:ext cx="133502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3_TextBox_48"/>
          <p:cNvSpPr txBox="1"/>
          <p:nvPr/>
        </p:nvSpPr>
        <p:spPr>
          <a:xfrm>
            <a:off x="987552" y="2432304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4D7CFF"/>
                </a:solidFill>
                <a:latin typeface="Segoe UI Semibold"/>
              </a:rPr>
              <a:t>SP CŨ</a:t>
            </a:r>
          </a:p>
        </p:txBody>
      </p:sp>
      <p:sp>
        <p:nvSpPr>
          <p:cNvPr id="50" name="S13_TextBox_49"/>
          <p:cNvSpPr txBox="1"/>
          <p:nvPr/>
        </p:nvSpPr>
        <p:spPr>
          <a:xfrm>
            <a:off x="896112" y="2944368"/>
            <a:ext cx="153619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spc="-60">
                <a:solidFill>
                  <a:srgbClr val="F7FAFF"/>
                </a:solidFill>
                <a:latin typeface="Bahnschrift SemiBold Condensed"/>
              </a:rPr>
              <a:t>120 Pa</a:t>
            </a:r>
          </a:p>
        </p:txBody>
      </p:sp>
      <p:sp>
        <p:nvSpPr>
          <p:cNvPr id="51" name="S13_Chevron_50"/>
          <p:cNvSpPr/>
          <p:nvPr/>
        </p:nvSpPr>
        <p:spPr>
          <a:xfrm>
            <a:off x="2615184" y="3081528"/>
            <a:ext cx="512064" cy="310896"/>
          </a:xfrm>
          <a:prstGeom prst="chevron">
            <a:avLst/>
          </a:prstGeom>
          <a:solidFill>
            <a:srgbClr val="4D7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3_Rounded_Rectangle_51"/>
          <p:cNvSpPr/>
          <p:nvPr/>
        </p:nvSpPr>
        <p:spPr>
          <a:xfrm>
            <a:off x="3675887" y="2395728"/>
            <a:ext cx="133502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3_TextBox_52"/>
          <p:cNvSpPr txBox="1"/>
          <p:nvPr/>
        </p:nvSpPr>
        <p:spPr>
          <a:xfrm>
            <a:off x="3675887" y="2432304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15E6FF"/>
                </a:solidFill>
                <a:latin typeface="Segoe UI Semibold"/>
              </a:rPr>
              <a:t>SP MỚI</a:t>
            </a:r>
          </a:p>
        </p:txBody>
      </p:sp>
      <p:sp>
        <p:nvSpPr>
          <p:cNvPr id="54" name="S13_TextBox_53"/>
          <p:cNvSpPr txBox="1"/>
          <p:nvPr/>
        </p:nvSpPr>
        <p:spPr>
          <a:xfrm>
            <a:off x="3584447" y="2944368"/>
            <a:ext cx="153619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spc="-60">
                <a:solidFill>
                  <a:srgbClr val="F7FAFF"/>
                </a:solidFill>
                <a:latin typeface="Bahnschrift SemiBold Condensed"/>
              </a:rPr>
              <a:t>200 Pa</a:t>
            </a:r>
          </a:p>
        </p:txBody>
      </p:sp>
      <p:sp>
        <p:nvSpPr>
          <p:cNvPr id="55" name="S13_Chevron_54"/>
          <p:cNvSpPr/>
          <p:nvPr/>
        </p:nvSpPr>
        <p:spPr>
          <a:xfrm>
            <a:off x="5303519" y="3081528"/>
            <a:ext cx="512064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13_Rounded_Rectangle_55"/>
          <p:cNvSpPr/>
          <p:nvPr/>
        </p:nvSpPr>
        <p:spPr>
          <a:xfrm>
            <a:off x="6364224" y="2395728"/>
            <a:ext cx="133502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13_TextBox_56"/>
          <p:cNvSpPr txBox="1"/>
          <p:nvPr/>
        </p:nvSpPr>
        <p:spPr>
          <a:xfrm>
            <a:off x="6364224" y="2432304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8B5CFF"/>
                </a:solidFill>
                <a:latin typeface="Segoe UI Semibold"/>
              </a:rPr>
              <a:t>FF TARGET</a:t>
            </a:r>
          </a:p>
        </p:txBody>
      </p:sp>
      <p:sp>
        <p:nvSpPr>
          <p:cNvPr id="58" name="S13_TextBox_57"/>
          <p:cNvSpPr txBox="1"/>
          <p:nvPr/>
        </p:nvSpPr>
        <p:spPr>
          <a:xfrm>
            <a:off x="6272784" y="2944368"/>
            <a:ext cx="153619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spc="-60">
                <a:solidFill>
                  <a:srgbClr val="F7FAFF"/>
                </a:solidFill>
                <a:latin typeface="Bahnschrift SemiBold Condensed"/>
              </a:rPr>
              <a:t>68% Air</a:t>
            </a:r>
          </a:p>
        </p:txBody>
      </p:sp>
      <p:sp>
        <p:nvSpPr>
          <p:cNvPr id="59" name="S13_Chevron_58"/>
          <p:cNvSpPr/>
          <p:nvPr/>
        </p:nvSpPr>
        <p:spPr>
          <a:xfrm>
            <a:off x="7991856" y="3081528"/>
            <a:ext cx="512064" cy="310896"/>
          </a:xfrm>
          <a:prstGeom prst="chevron">
            <a:avLst/>
          </a:prstGeom>
          <a:solidFill>
            <a:srgbClr val="8B5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3_TextBox_59"/>
          <p:cNvSpPr txBox="1"/>
          <p:nvPr/>
        </p:nvSpPr>
        <p:spPr>
          <a:xfrm>
            <a:off x="6254496" y="3803904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>
                <a:solidFill>
                  <a:srgbClr val="FFC857"/>
                </a:solidFill>
                <a:latin typeface="Segoe UI Semibold"/>
              </a:rPr>
              <a:t>− buffer 15%</a:t>
            </a:r>
          </a:p>
        </p:txBody>
      </p:sp>
      <p:sp>
        <p:nvSpPr>
          <p:cNvPr id="61" name="S13_Rounded_Rectangle_60"/>
          <p:cNvSpPr/>
          <p:nvPr/>
        </p:nvSpPr>
        <p:spPr>
          <a:xfrm>
            <a:off x="9052560" y="2395728"/>
            <a:ext cx="133502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13_TextBox_61"/>
          <p:cNvSpPr txBox="1"/>
          <p:nvPr/>
        </p:nvSpPr>
        <p:spPr>
          <a:xfrm>
            <a:off x="9052560" y="2432304"/>
            <a:ext cx="133502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SNAP THỰC</a:t>
            </a:r>
          </a:p>
        </p:txBody>
      </p:sp>
      <p:sp>
        <p:nvSpPr>
          <p:cNvPr id="63" name="S13_TextBox_62"/>
          <p:cNvSpPr txBox="1"/>
          <p:nvPr/>
        </p:nvSpPr>
        <p:spPr>
          <a:xfrm>
            <a:off x="8961120" y="2944368"/>
            <a:ext cx="153619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100" spc="-60">
                <a:solidFill>
                  <a:srgbClr val="F7FAFF"/>
                </a:solidFill>
                <a:latin typeface="Bahnschrift SemiBold Condensed"/>
              </a:rPr>
              <a:t>53% Air</a:t>
            </a:r>
          </a:p>
        </p:txBody>
      </p:sp>
      <p:sp>
        <p:nvSpPr>
          <p:cNvPr id="64" name="S13_Rounded_Rectangle_63"/>
          <p:cNvSpPr/>
          <p:nvPr/>
        </p:nvSpPr>
        <p:spPr>
          <a:xfrm>
            <a:off x="694944" y="4754880"/>
            <a:ext cx="3456432" cy="111556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13_Rectangle_64"/>
          <p:cNvSpPr/>
          <p:nvPr/>
        </p:nvSpPr>
        <p:spPr>
          <a:xfrm>
            <a:off x="694944" y="4754880"/>
            <a:ext cx="73152" cy="63500"/>
          </a:xfrm>
          <a:prstGeom prst="rect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3_TextBox_65"/>
          <p:cNvSpPr txBox="1"/>
          <p:nvPr/>
        </p:nvSpPr>
        <p:spPr>
          <a:xfrm>
            <a:off x="950976" y="4892040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40">
                <a:solidFill>
                  <a:srgbClr val="15E6FF"/>
                </a:solidFill>
                <a:latin typeface="Segoe UI Semibold"/>
              </a:rPr>
              <a:t>RULE 01</a:t>
            </a:r>
          </a:p>
        </p:txBody>
      </p:sp>
      <p:sp>
        <p:nvSpPr>
          <p:cNvPr id="67" name="S13_TextBox_66"/>
          <p:cNvSpPr txBox="1"/>
          <p:nvPr/>
        </p:nvSpPr>
        <p:spPr>
          <a:xfrm>
            <a:off x="950976" y="5129784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spc="-30">
                <a:solidFill>
                  <a:srgbClr val="F7FAFF"/>
                </a:solidFill>
                <a:latin typeface="Segoe UI Black"/>
              </a:rPr>
              <a:t>Chỉ snap khi ΔSP &gt; 30 Pa</a:t>
            </a:r>
          </a:p>
        </p:txBody>
      </p:sp>
      <p:sp>
        <p:nvSpPr>
          <p:cNvPr id="68" name="S13_TextBox_67"/>
          <p:cNvSpPr txBox="1"/>
          <p:nvPr/>
        </p:nvSpPr>
        <p:spPr>
          <a:xfrm>
            <a:off x="950976" y="5477256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70">
                <a:solidFill>
                  <a:srgbClr val="A6B5D1"/>
                </a:solidFill>
                <a:latin typeface="Segoe UI"/>
              </a:rPr>
              <a:t>Đổi nhỏ thì giữ Air% hiện tại và bò bằng bước 1%.</a:t>
            </a:r>
          </a:p>
        </p:txBody>
      </p:sp>
      <p:sp>
        <p:nvSpPr>
          <p:cNvPr id="69" name="S13_Rounded_Rectangle_68"/>
          <p:cNvSpPr/>
          <p:nvPr/>
        </p:nvSpPr>
        <p:spPr>
          <a:xfrm>
            <a:off x="4370832" y="4754880"/>
            <a:ext cx="3456432" cy="111556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3_Rectangle_69"/>
          <p:cNvSpPr/>
          <p:nvPr/>
        </p:nvSpPr>
        <p:spPr>
          <a:xfrm>
            <a:off x="4370832" y="4754880"/>
            <a:ext cx="73152" cy="6350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13_TextBox_70"/>
          <p:cNvSpPr txBox="1"/>
          <p:nvPr/>
        </p:nvSpPr>
        <p:spPr>
          <a:xfrm>
            <a:off x="4626864" y="4892040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40">
                <a:solidFill>
                  <a:srgbClr val="8B5CFF"/>
                </a:solidFill>
                <a:latin typeface="Segoe UI Semibold"/>
              </a:rPr>
              <a:t>RULE 02</a:t>
            </a:r>
          </a:p>
        </p:txBody>
      </p:sp>
      <p:sp>
        <p:nvSpPr>
          <p:cNvPr id="72" name="S13_TextBox_71"/>
          <p:cNvSpPr txBox="1"/>
          <p:nvPr/>
        </p:nvSpPr>
        <p:spPr>
          <a:xfrm>
            <a:off x="4626864" y="5129784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spc="-30">
                <a:solidFill>
                  <a:srgbClr val="F7FAFF"/>
                </a:solidFill>
                <a:latin typeface="Segoe UI Black"/>
              </a:rPr>
              <a:t>Không nhảy quá 20%</a:t>
            </a:r>
          </a:p>
        </p:txBody>
      </p:sp>
      <p:sp>
        <p:nvSpPr>
          <p:cNvPr id="73" name="S13_TextBox_72"/>
          <p:cNvSpPr txBox="1"/>
          <p:nvPr/>
        </p:nvSpPr>
        <p:spPr>
          <a:xfrm>
            <a:off x="4626864" y="5477256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70">
                <a:solidFill>
                  <a:srgbClr val="A6B5D1"/>
                </a:solidFill>
                <a:latin typeface="Segoe UI"/>
              </a:rPr>
              <a:t>Giới hạn sốc cơ khí cho quạt và đường ống.</a:t>
            </a:r>
          </a:p>
        </p:txBody>
      </p:sp>
      <p:sp>
        <p:nvSpPr>
          <p:cNvPr id="74" name="S13_Rounded_Rectangle_73"/>
          <p:cNvSpPr/>
          <p:nvPr/>
        </p:nvSpPr>
        <p:spPr>
          <a:xfrm>
            <a:off x="8046720" y="4754880"/>
            <a:ext cx="3456432" cy="111556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13_Rectangle_74"/>
          <p:cNvSpPr/>
          <p:nvPr/>
        </p:nvSpPr>
        <p:spPr>
          <a:xfrm>
            <a:off x="8046720" y="4754880"/>
            <a:ext cx="73152" cy="63500"/>
          </a:xfrm>
          <a:prstGeom prst="rect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13_TextBox_75"/>
          <p:cNvSpPr txBox="1"/>
          <p:nvPr/>
        </p:nvSpPr>
        <p:spPr>
          <a:xfrm>
            <a:off x="8302752" y="4892040"/>
            <a:ext cx="298094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40">
                <a:solidFill>
                  <a:srgbClr val="B9FF4A"/>
                </a:solidFill>
                <a:latin typeface="Segoe UI Semibold"/>
              </a:rPr>
              <a:t>RULE 03</a:t>
            </a:r>
          </a:p>
        </p:txBody>
      </p:sp>
      <p:sp>
        <p:nvSpPr>
          <p:cNvPr id="77" name="S13_TextBox_76"/>
          <p:cNvSpPr txBox="1"/>
          <p:nvPr/>
        </p:nvSpPr>
        <p:spPr>
          <a:xfrm>
            <a:off x="8302752" y="5129784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spc="-30">
                <a:solidFill>
                  <a:srgbClr val="F7FAFF"/>
                </a:solidFill>
                <a:latin typeface="Segoe UI Black"/>
              </a:rPr>
              <a:t>Hướng theo SP cũ → mới</a:t>
            </a:r>
          </a:p>
        </p:txBody>
      </p:sp>
      <p:sp>
        <p:nvSpPr>
          <p:cNvPr id="78" name="S13_TextBox_77"/>
          <p:cNvSpPr txBox="1"/>
          <p:nvPr/>
        </p:nvSpPr>
        <p:spPr>
          <a:xfrm>
            <a:off x="8302752" y="5477256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70">
                <a:solidFill>
                  <a:srgbClr val="A6B5D1"/>
                </a:solidFill>
                <a:latin typeface="Segoe UI"/>
              </a:rPr>
              <a:t>Không lấy Air% hiện tại để quyết định hướng snap.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6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LEARNING  /  FACTORY AUTO-TUNE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2 phút 48 giây để học cả chiếc máy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Một lần quét 0→100% dựng 51 điểm đặc tuyến; bảng 60 chỗ nên còn dư biên an toàn.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14/20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9144000" y="-2468880"/>
            <a:ext cx="5669280" cy="5669280"/>
          </a:xfrm>
          <a:prstGeom prst="ellipse">
            <a:avLst/>
          </a:prstGeom>
          <a:gradFill rotWithShape="1">
            <a:gsLst>
              <a:gs pos="0">
                <a:srgbClr val="B9FF4A">
                  <a:alpha val="13000"/>
                </a:srgbClr>
              </a:gs>
              <a:gs pos="55000">
                <a:srgbClr val="B9FF4A">
                  <a:alpha val="4550"/>
                </a:srgbClr>
              </a:gs>
              <a:gs pos="100000">
                <a:srgbClr val="B9FF4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4_Rounded_Rectangle_46"/>
          <p:cNvSpPr/>
          <p:nvPr/>
        </p:nvSpPr>
        <p:spPr>
          <a:xfrm>
            <a:off x="694944" y="2029968"/>
            <a:ext cx="2834640" cy="331012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4_Rounded_Rectangle_47"/>
          <p:cNvSpPr/>
          <p:nvPr/>
        </p:nvSpPr>
        <p:spPr>
          <a:xfrm>
            <a:off x="969264" y="2313432"/>
            <a:ext cx="111556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4_TextBox_48"/>
          <p:cNvSpPr txBox="1"/>
          <p:nvPr/>
        </p:nvSpPr>
        <p:spPr>
          <a:xfrm>
            <a:off x="969264" y="2350008"/>
            <a:ext cx="111556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TOTAL</a:t>
            </a:r>
          </a:p>
        </p:txBody>
      </p:sp>
      <p:sp>
        <p:nvSpPr>
          <p:cNvPr id="50" name="S14_TextBox_49"/>
          <p:cNvSpPr txBox="1"/>
          <p:nvPr/>
        </p:nvSpPr>
        <p:spPr>
          <a:xfrm>
            <a:off x="914400" y="2834640"/>
            <a:ext cx="2395728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5500" spc="-130">
                <a:solidFill>
                  <a:srgbClr val="F7FAFF"/>
                </a:solidFill>
                <a:latin typeface="Bahnschrift SemiBold Condensed"/>
              </a:rPr>
              <a:t>02:48</a:t>
            </a:r>
          </a:p>
        </p:txBody>
      </p:sp>
      <p:sp>
        <p:nvSpPr>
          <p:cNvPr id="51" name="S14_TextBox_50"/>
          <p:cNvSpPr txBox="1"/>
          <p:nvPr/>
        </p:nvSpPr>
        <p:spPr>
          <a:xfrm>
            <a:off x="914400" y="3685032"/>
            <a:ext cx="2395728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spc="160">
                <a:solidFill>
                  <a:srgbClr val="B9FF4A"/>
                </a:solidFill>
                <a:latin typeface="Segoe UI Semibold"/>
              </a:rPr>
              <a:t>PHÚT : GIÂY</a:t>
            </a:r>
          </a:p>
        </p:txBody>
      </p:sp>
      <p:sp>
        <p:nvSpPr>
          <p:cNvPr id="52" name="S14_Rectangle_51"/>
          <p:cNvSpPr/>
          <p:nvPr/>
        </p:nvSpPr>
        <p:spPr>
          <a:xfrm>
            <a:off x="1060704" y="4160520"/>
            <a:ext cx="2103120" cy="12700"/>
          </a:xfrm>
          <a:prstGeom prst="rect">
            <a:avLst/>
          </a:prstGeom>
          <a:solidFill>
            <a:srgbClr val="243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4_TextBox_52"/>
          <p:cNvSpPr txBox="1"/>
          <p:nvPr/>
        </p:nvSpPr>
        <p:spPr>
          <a:xfrm>
            <a:off x="969264" y="44074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>
                <a:solidFill>
                  <a:srgbClr val="A6B5D1"/>
                </a:solidFill>
                <a:latin typeface="Consolas"/>
              </a:rPr>
              <a:t>15 s warm-up
+ 51 × 3 s đo</a:t>
            </a:r>
          </a:p>
        </p:txBody>
      </p:sp>
      <p:sp>
        <p:nvSpPr>
          <p:cNvPr id="54" name="S14_Rectangle_53"/>
          <p:cNvSpPr/>
          <p:nvPr/>
        </p:nvSpPr>
        <p:spPr>
          <a:xfrm>
            <a:off x="3822191" y="4658868"/>
            <a:ext cx="132139" cy="160020"/>
          </a:xfrm>
          <a:prstGeom prst="rect">
            <a:avLst/>
          </a:prstGeom>
          <a:solidFill>
            <a:srgbClr val="B9FF4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14_Rectangle_54"/>
          <p:cNvSpPr/>
          <p:nvPr/>
        </p:nvSpPr>
        <p:spPr>
          <a:xfrm>
            <a:off x="3972618" y="4651556"/>
            <a:ext cx="132139" cy="167332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14_Rectangle_55"/>
          <p:cNvSpPr/>
          <p:nvPr/>
        </p:nvSpPr>
        <p:spPr>
          <a:xfrm>
            <a:off x="4123045" y="4638891"/>
            <a:ext cx="132139" cy="179997"/>
          </a:xfrm>
          <a:prstGeom prst="rect">
            <a:avLst/>
          </a:prstGeom>
          <a:solidFill>
            <a:srgbClr val="15E6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14_Rectangle_56"/>
          <p:cNvSpPr/>
          <p:nvPr/>
        </p:nvSpPr>
        <p:spPr>
          <a:xfrm>
            <a:off x="4273472" y="4622904"/>
            <a:ext cx="132139" cy="195984"/>
          </a:xfrm>
          <a:prstGeom prst="rect">
            <a:avLst/>
          </a:prstGeom>
          <a:solidFill>
            <a:srgbClr val="15E6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4_Rectangle_57"/>
          <p:cNvSpPr/>
          <p:nvPr/>
        </p:nvSpPr>
        <p:spPr>
          <a:xfrm>
            <a:off x="4423899" y="4604288"/>
            <a:ext cx="132139" cy="214600"/>
          </a:xfrm>
          <a:prstGeom prst="rect">
            <a:avLst/>
          </a:prstGeom>
          <a:solidFill>
            <a:srgbClr val="15E6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14_Rectangle_58"/>
          <p:cNvSpPr/>
          <p:nvPr/>
        </p:nvSpPr>
        <p:spPr>
          <a:xfrm>
            <a:off x="4574326" y="4583436"/>
            <a:ext cx="132139" cy="235452"/>
          </a:xfrm>
          <a:prstGeom prst="rect">
            <a:avLst/>
          </a:prstGeom>
          <a:solidFill>
            <a:srgbClr val="B9FF4A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4_Rectangle_59"/>
          <p:cNvSpPr/>
          <p:nvPr/>
        </p:nvSpPr>
        <p:spPr>
          <a:xfrm>
            <a:off x="4724753" y="4560610"/>
            <a:ext cx="132139" cy="258278"/>
          </a:xfrm>
          <a:prstGeom prst="rect">
            <a:avLst/>
          </a:prstGeom>
          <a:solidFill>
            <a:srgbClr val="15E6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14_Rectangle_60"/>
          <p:cNvSpPr/>
          <p:nvPr/>
        </p:nvSpPr>
        <p:spPr>
          <a:xfrm>
            <a:off x="4875180" y="4535999"/>
            <a:ext cx="132139" cy="282889"/>
          </a:xfrm>
          <a:prstGeom prst="rect">
            <a:avLst/>
          </a:prstGeom>
          <a:solidFill>
            <a:srgbClr val="15E6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14_Rectangle_61"/>
          <p:cNvSpPr/>
          <p:nvPr/>
        </p:nvSpPr>
        <p:spPr>
          <a:xfrm>
            <a:off x="5025607" y="4509749"/>
            <a:ext cx="132139" cy="309139"/>
          </a:xfrm>
          <a:prstGeom prst="rect">
            <a:avLst/>
          </a:prstGeom>
          <a:solidFill>
            <a:srgbClr val="15E6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14_Rectangle_62"/>
          <p:cNvSpPr/>
          <p:nvPr/>
        </p:nvSpPr>
        <p:spPr>
          <a:xfrm>
            <a:off x="5176034" y="4481978"/>
            <a:ext cx="132139" cy="336910"/>
          </a:xfrm>
          <a:prstGeom prst="rect">
            <a:avLst/>
          </a:prstGeom>
          <a:solidFill>
            <a:srgbClr val="15E6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4_Rectangle_63"/>
          <p:cNvSpPr/>
          <p:nvPr/>
        </p:nvSpPr>
        <p:spPr>
          <a:xfrm>
            <a:off x="5326461" y="4452781"/>
            <a:ext cx="132139" cy="366107"/>
          </a:xfrm>
          <a:prstGeom prst="rect">
            <a:avLst/>
          </a:prstGeom>
          <a:solidFill>
            <a:srgbClr val="B9FF4A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14_Rectangle_64"/>
          <p:cNvSpPr/>
          <p:nvPr/>
        </p:nvSpPr>
        <p:spPr>
          <a:xfrm>
            <a:off x="5476888" y="4422237"/>
            <a:ext cx="132139" cy="396651"/>
          </a:xfrm>
          <a:prstGeom prst="rect">
            <a:avLst/>
          </a:prstGeom>
          <a:solidFill>
            <a:srgbClr val="15E6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4_Rectangle_65"/>
          <p:cNvSpPr/>
          <p:nvPr/>
        </p:nvSpPr>
        <p:spPr>
          <a:xfrm>
            <a:off x="5627315" y="4390417"/>
            <a:ext cx="132139" cy="428471"/>
          </a:xfrm>
          <a:prstGeom prst="rect">
            <a:avLst/>
          </a:prstGeom>
          <a:solidFill>
            <a:srgbClr val="15E6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14_Rectangle_66"/>
          <p:cNvSpPr/>
          <p:nvPr/>
        </p:nvSpPr>
        <p:spPr>
          <a:xfrm>
            <a:off x="5777742" y="4357380"/>
            <a:ext cx="132139" cy="461508"/>
          </a:xfrm>
          <a:prstGeom prst="rect">
            <a:avLst/>
          </a:prstGeom>
          <a:solidFill>
            <a:srgbClr val="15E6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14_Rectangle_67"/>
          <p:cNvSpPr/>
          <p:nvPr/>
        </p:nvSpPr>
        <p:spPr>
          <a:xfrm>
            <a:off x="5928169" y="4323179"/>
            <a:ext cx="132139" cy="495709"/>
          </a:xfrm>
          <a:prstGeom prst="rect">
            <a:avLst/>
          </a:prstGeom>
          <a:solidFill>
            <a:srgbClr val="15E6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14_Rectangle_68"/>
          <p:cNvSpPr/>
          <p:nvPr/>
        </p:nvSpPr>
        <p:spPr>
          <a:xfrm>
            <a:off x="6078596" y="4287859"/>
            <a:ext cx="132139" cy="531029"/>
          </a:xfrm>
          <a:prstGeom prst="rect">
            <a:avLst/>
          </a:prstGeom>
          <a:solidFill>
            <a:srgbClr val="B9FF4A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4_Rectangle_69"/>
          <p:cNvSpPr/>
          <p:nvPr/>
        </p:nvSpPr>
        <p:spPr>
          <a:xfrm>
            <a:off x="6229023" y="4251463"/>
            <a:ext cx="132139" cy="567425"/>
          </a:xfrm>
          <a:prstGeom prst="rect">
            <a:avLst/>
          </a:prstGeom>
          <a:solidFill>
            <a:srgbClr val="15E6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14_Rectangle_70"/>
          <p:cNvSpPr/>
          <p:nvPr/>
        </p:nvSpPr>
        <p:spPr>
          <a:xfrm>
            <a:off x="6379450" y="4214029"/>
            <a:ext cx="132139" cy="604859"/>
          </a:xfrm>
          <a:prstGeom prst="rect">
            <a:avLst/>
          </a:prstGeom>
          <a:solidFill>
            <a:srgbClr val="15E6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14_Rectangle_71"/>
          <p:cNvSpPr/>
          <p:nvPr/>
        </p:nvSpPr>
        <p:spPr>
          <a:xfrm>
            <a:off x="6529877" y="4175590"/>
            <a:ext cx="132139" cy="643298"/>
          </a:xfrm>
          <a:prstGeom prst="rect">
            <a:avLst/>
          </a:prstGeom>
          <a:solidFill>
            <a:srgbClr val="15E6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14_Rectangle_72"/>
          <p:cNvSpPr/>
          <p:nvPr/>
        </p:nvSpPr>
        <p:spPr>
          <a:xfrm>
            <a:off x="6680304" y="4136177"/>
            <a:ext cx="132139" cy="682711"/>
          </a:xfrm>
          <a:prstGeom prst="rect">
            <a:avLst/>
          </a:prstGeom>
          <a:solidFill>
            <a:srgbClr val="15E6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14_Rectangle_73"/>
          <p:cNvSpPr/>
          <p:nvPr/>
        </p:nvSpPr>
        <p:spPr>
          <a:xfrm>
            <a:off x="6830731" y="4095820"/>
            <a:ext cx="132139" cy="723068"/>
          </a:xfrm>
          <a:prstGeom prst="rect">
            <a:avLst/>
          </a:prstGeom>
          <a:solidFill>
            <a:srgbClr val="B9FF4A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14_Rectangle_74"/>
          <p:cNvSpPr/>
          <p:nvPr/>
        </p:nvSpPr>
        <p:spPr>
          <a:xfrm>
            <a:off x="6981158" y="4054543"/>
            <a:ext cx="132139" cy="764345"/>
          </a:xfrm>
          <a:prstGeom prst="rect">
            <a:avLst/>
          </a:prstGeom>
          <a:solidFill>
            <a:srgbClr val="15E6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14_Rectangle_75"/>
          <p:cNvSpPr/>
          <p:nvPr/>
        </p:nvSpPr>
        <p:spPr>
          <a:xfrm>
            <a:off x="7131585" y="4012373"/>
            <a:ext cx="132139" cy="806515"/>
          </a:xfrm>
          <a:prstGeom prst="rect">
            <a:avLst/>
          </a:prstGeom>
          <a:solidFill>
            <a:srgbClr val="15E6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14_Rectangle_76"/>
          <p:cNvSpPr/>
          <p:nvPr/>
        </p:nvSpPr>
        <p:spPr>
          <a:xfrm>
            <a:off x="7282012" y="3969331"/>
            <a:ext cx="132139" cy="849557"/>
          </a:xfrm>
          <a:prstGeom prst="rect">
            <a:avLst/>
          </a:prstGeom>
          <a:solidFill>
            <a:srgbClr val="15E6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14_Rectangle_77"/>
          <p:cNvSpPr/>
          <p:nvPr/>
        </p:nvSpPr>
        <p:spPr>
          <a:xfrm>
            <a:off x="7432439" y="3925438"/>
            <a:ext cx="132139" cy="893450"/>
          </a:xfrm>
          <a:prstGeom prst="rect">
            <a:avLst/>
          </a:prstGeom>
          <a:solidFill>
            <a:srgbClr val="15E6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14_Rectangle_78"/>
          <p:cNvSpPr/>
          <p:nvPr/>
        </p:nvSpPr>
        <p:spPr>
          <a:xfrm>
            <a:off x="7582866" y="3880714"/>
            <a:ext cx="132139" cy="938174"/>
          </a:xfrm>
          <a:prstGeom prst="rect">
            <a:avLst/>
          </a:prstGeom>
          <a:solidFill>
            <a:srgbClr val="B9FF4A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14_Rectangle_79"/>
          <p:cNvSpPr/>
          <p:nvPr/>
        </p:nvSpPr>
        <p:spPr>
          <a:xfrm>
            <a:off x="7733293" y="3835178"/>
            <a:ext cx="132139" cy="983710"/>
          </a:xfrm>
          <a:prstGeom prst="rect">
            <a:avLst/>
          </a:prstGeom>
          <a:solidFill>
            <a:srgbClr val="15E6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14_Rectangle_80"/>
          <p:cNvSpPr/>
          <p:nvPr/>
        </p:nvSpPr>
        <p:spPr>
          <a:xfrm>
            <a:off x="7883720" y="3788847"/>
            <a:ext cx="132139" cy="1030041"/>
          </a:xfrm>
          <a:prstGeom prst="rect">
            <a:avLst/>
          </a:prstGeom>
          <a:solidFill>
            <a:srgbClr val="15E6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14_Rectangle_81"/>
          <p:cNvSpPr/>
          <p:nvPr/>
        </p:nvSpPr>
        <p:spPr>
          <a:xfrm>
            <a:off x="8034147" y="3741737"/>
            <a:ext cx="132139" cy="1077151"/>
          </a:xfrm>
          <a:prstGeom prst="rect">
            <a:avLst/>
          </a:prstGeom>
          <a:solidFill>
            <a:srgbClr val="15E6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14_Rectangle_82"/>
          <p:cNvSpPr/>
          <p:nvPr/>
        </p:nvSpPr>
        <p:spPr>
          <a:xfrm>
            <a:off x="8184574" y="3693863"/>
            <a:ext cx="132139" cy="1125025"/>
          </a:xfrm>
          <a:prstGeom prst="rect">
            <a:avLst/>
          </a:prstGeom>
          <a:solidFill>
            <a:srgbClr val="15E6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14_Rectangle_83"/>
          <p:cNvSpPr/>
          <p:nvPr/>
        </p:nvSpPr>
        <p:spPr>
          <a:xfrm>
            <a:off x="8335001" y="3645241"/>
            <a:ext cx="132139" cy="1173647"/>
          </a:xfrm>
          <a:prstGeom prst="rect">
            <a:avLst/>
          </a:prstGeom>
          <a:solidFill>
            <a:srgbClr val="B9FF4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14_Rectangle_84"/>
          <p:cNvSpPr/>
          <p:nvPr/>
        </p:nvSpPr>
        <p:spPr>
          <a:xfrm>
            <a:off x="8485428" y="3595884"/>
            <a:ext cx="132139" cy="1223004"/>
          </a:xfrm>
          <a:prstGeom prst="rect">
            <a:avLst/>
          </a:prstGeom>
          <a:solidFill>
            <a:srgbClr val="15E6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14_Rectangle_85"/>
          <p:cNvSpPr/>
          <p:nvPr/>
        </p:nvSpPr>
        <p:spPr>
          <a:xfrm>
            <a:off x="8635855" y="3545804"/>
            <a:ext cx="132139" cy="1273084"/>
          </a:xfrm>
          <a:prstGeom prst="rect">
            <a:avLst/>
          </a:prstGeom>
          <a:solidFill>
            <a:srgbClr val="15E6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14_Rectangle_86"/>
          <p:cNvSpPr/>
          <p:nvPr/>
        </p:nvSpPr>
        <p:spPr>
          <a:xfrm>
            <a:off x="8786282" y="3495016"/>
            <a:ext cx="132139" cy="1323872"/>
          </a:xfrm>
          <a:prstGeom prst="rect">
            <a:avLst/>
          </a:prstGeom>
          <a:solidFill>
            <a:srgbClr val="15E6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14_Rectangle_87"/>
          <p:cNvSpPr/>
          <p:nvPr/>
        </p:nvSpPr>
        <p:spPr>
          <a:xfrm>
            <a:off x="8936709" y="3443530"/>
            <a:ext cx="132139" cy="1375358"/>
          </a:xfrm>
          <a:prstGeom prst="rect">
            <a:avLst/>
          </a:prstGeom>
          <a:solidFill>
            <a:srgbClr val="15E6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14_Rectangle_88"/>
          <p:cNvSpPr/>
          <p:nvPr/>
        </p:nvSpPr>
        <p:spPr>
          <a:xfrm>
            <a:off x="9087136" y="3391359"/>
            <a:ext cx="132139" cy="1427529"/>
          </a:xfrm>
          <a:prstGeom prst="rect">
            <a:avLst/>
          </a:prstGeom>
          <a:solidFill>
            <a:srgbClr val="B9FF4A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14_Rectangle_89"/>
          <p:cNvSpPr/>
          <p:nvPr/>
        </p:nvSpPr>
        <p:spPr>
          <a:xfrm>
            <a:off x="9237563" y="3338512"/>
            <a:ext cx="132139" cy="1480376"/>
          </a:xfrm>
          <a:prstGeom prst="rect">
            <a:avLst/>
          </a:prstGeom>
          <a:solidFill>
            <a:srgbClr val="15E6FF">
              <a:alpha val="7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14_Rectangle_90"/>
          <p:cNvSpPr/>
          <p:nvPr/>
        </p:nvSpPr>
        <p:spPr>
          <a:xfrm>
            <a:off x="9387990" y="3285000"/>
            <a:ext cx="132139" cy="1533888"/>
          </a:xfrm>
          <a:prstGeom prst="rect">
            <a:avLst/>
          </a:prstGeom>
          <a:solidFill>
            <a:srgbClr val="15E6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14_Rectangle_91"/>
          <p:cNvSpPr/>
          <p:nvPr/>
        </p:nvSpPr>
        <p:spPr>
          <a:xfrm>
            <a:off x="9538417" y="3230833"/>
            <a:ext cx="132139" cy="1588055"/>
          </a:xfrm>
          <a:prstGeom prst="rect">
            <a:avLst/>
          </a:prstGeom>
          <a:solidFill>
            <a:srgbClr val="15E6FF">
              <a:alpha val="7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14_Rectangle_92"/>
          <p:cNvSpPr/>
          <p:nvPr/>
        </p:nvSpPr>
        <p:spPr>
          <a:xfrm>
            <a:off x="9688844" y="3176021"/>
            <a:ext cx="132139" cy="1642867"/>
          </a:xfrm>
          <a:prstGeom prst="rect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14_Rectangle_93"/>
          <p:cNvSpPr/>
          <p:nvPr/>
        </p:nvSpPr>
        <p:spPr>
          <a:xfrm>
            <a:off x="9839271" y="3120573"/>
            <a:ext cx="132139" cy="1698315"/>
          </a:xfrm>
          <a:prstGeom prst="rect">
            <a:avLst/>
          </a:prstGeom>
          <a:solidFill>
            <a:srgbClr val="B9FF4A">
              <a:alpha val="8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14_Rectangle_94"/>
          <p:cNvSpPr/>
          <p:nvPr/>
        </p:nvSpPr>
        <p:spPr>
          <a:xfrm>
            <a:off x="9989698" y="3064498"/>
            <a:ext cx="132139" cy="1754390"/>
          </a:xfrm>
          <a:prstGeom prst="rect">
            <a:avLst/>
          </a:prstGeom>
          <a:solidFill>
            <a:srgbClr val="15E6FF">
              <a:alpha val="8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14_Rectangle_95"/>
          <p:cNvSpPr/>
          <p:nvPr/>
        </p:nvSpPr>
        <p:spPr>
          <a:xfrm>
            <a:off x="10140125" y="3007804"/>
            <a:ext cx="132139" cy="1811084"/>
          </a:xfrm>
          <a:prstGeom prst="rect">
            <a:avLst/>
          </a:prstGeom>
          <a:solidFill>
            <a:srgbClr val="15E6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14_Rectangle_96"/>
          <p:cNvSpPr/>
          <p:nvPr/>
        </p:nvSpPr>
        <p:spPr>
          <a:xfrm>
            <a:off x="10290552" y="2950499"/>
            <a:ext cx="132139" cy="1868389"/>
          </a:xfrm>
          <a:prstGeom prst="rect">
            <a:avLst/>
          </a:prstGeom>
          <a:solidFill>
            <a:srgbClr val="15E6FF">
              <a:alpha val="8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14_Rectangle_97"/>
          <p:cNvSpPr/>
          <p:nvPr/>
        </p:nvSpPr>
        <p:spPr>
          <a:xfrm>
            <a:off x="10440979" y="2892591"/>
            <a:ext cx="132139" cy="1926297"/>
          </a:xfrm>
          <a:prstGeom prst="rect">
            <a:avLst/>
          </a:prstGeom>
          <a:solidFill>
            <a:srgbClr val="15E6FF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14_Rectangle_98"/>
          <p:cNvSpPr/>
          <p:nvPr/>
        </p:nvSpPr>
        <p:spPr>
          <a:xfrm>
            <a:off x="10591406" y="2834087"/>
            <a:ext cx="132139" cy="1984801"/>
          </a:xfrm>
          <a:prstGeom prst="rect">
            <a:avLst/>
          </a:prstGeom>
          <a:solidFill>
            <a:srgbClr val="B9FF4A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14_Rectangle_99"/>
          <p:cNvSpPr/>
          <p:nvPr/>
        </p:nvSpPr>
        <p:spPr>
          <a:xfrm>
            <a:off x="10741833" y="2774996"/>
            <a:ext cx="132139" cy="2043892"/>
          </a:xfrm>
          <a:prstGeom prst="rect">
            <a:avLst/>
          </a:prstGeom>
          <a:solidFill>
            <a:srgbClr val="15E6FF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14_Rectangle_100"/>
          <p:cNvSpPr/>
          <p:nvPr/>
        </p:nvSpPr>
        <p:spPr>
          <a:xfrm>
            <a:off x="10892260" y="2715324"/>
            <a:ext cx="132139" cy="2103564"/>
          </a:xfrm>
          <a:prstGeom prst="rect">
            <a:avLst/>
          </a:prstGeom>
          <a:solidFill>
            <a:srgbClr val="15E6FF">
              <a:alpha val="8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14_Rectangle_101"/>
          <p:cNvSpPr/>
          <p:nvPr/>
        </p:nvSpPr>
        <p:spPr>
          <a:xfrm>
            <a:off x="11042687" y="2655077"/>
            <a:ext cx="132139" cy="2163811"/>
          </a:xfrm>
          <a:prstGeom prst="rect">
            <a:avLst/>
          </a:prstGeom>
          <a:solidFill>
            <a:srgbClr val="15E6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14_Rectangle_102"/>
          <p:cNvSpPr/>
          <p:nvPr/>
        </p:nvSpPr>
        <p:spPr>
          <a:xfrm>
            <a:off x="11193114" y="2594263"/>
            <a:ext cx="132139" cy="2224625"/>
          </a:xfrm>
          <a:prstGeom prst="rect">
            <a:avLst/>
          </a:prstGeom>
          <a:solidFill>
            <a:srgbClr val="15E6FF">
              <a:alpha val="8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14_Rectangle_103"/>
          <p:cNvSpPr/>
          <p:nvPr/>
        </p:nvSpPr>
        <p:spPr>
          <a:xfrm>
            <a:off x="11343541" y="2532888"/>
            <a:ext cx="132139" cy="2286000"/>
          </a:xfrm>
          <a:prstGeom prst="rect">
            <a:avLst/>
          </a:prstGeom>
          <a:solidFill>
            <a:srgbClr val="B9FF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14_Freeform_104"/>
          <p:cNvSpPr/>
          <p:nvPr/>
        </p:nvSpPr>
        <p:spPr>
          <a:xfrm>
            <a:off x="3822191" y="4818888"/>
            <a:ext cx="7653529" cy="0"/>
          </a:xfrm>
          <a:custGeom>
            <a:avLst/>
            <a:gdLst/>
            <a:ahLst/>
            <a:cxnLst/>
            <a:rect l="l" t="t" r="r" b="b"/>
            <a:pathLst>
              <a:path w="7653529" h="0">
                <a:moveTo>
                  <a:pt x="0" y="0"/>
                </a:moveTo>
                <a:lnTo>
                  <a:pt x="7653529" y="0"/>
                </a:lnTo>
              </a:path>
            </a:pathLst>
          </a:custGeom>
          <a:noFill/>
          <a:ln w="1651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14_TextBox_105"/>
          <p:cNvSpPr txBox="1"/>
          <p:nvPr/>
        </p:nvSpPr>
        <p:spPr>
          <a:xfrm>
            <a:off x="3822191" y="215798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spc="140">
                <a:solidFill>
                  <a:srgbClr val="15E6FF"/>
                </a:solidFill>
                <a:latin typeface="Segoe UI Semibold"/>
              </a:rPr>
              <a:t>51 ĐIỂM  ·  BƯỚC 2%</a:t>
            </a:r>
          </a:p>
        </p:txBody>
      </p:sp>
      <p:sp>
        <p:nvSpPr>
          <p:cNvPr id="107" name="S14_TextBox_106"/>
          <p:cNvSpPr txBox="1"/>
          <p:nvPr/>
        </p:nvSpPr>
        <p:spPr>
          <a:xfrm>
            <a:off x="3822191" y="5020056"/>
            <a:ext cx="765352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spc="60">
                <a:solidFill>
                  <a:srgbClr val="627392"/>
                </a:solidFill>
                <a:latin typeface="Bahnschrift SemiBold Condensed"/>
              </a:rPr>
              <a:t>0% AIR                                      100% AIR</a:t>
            </a:r>
          </a:p>
        </p:txBody>
      </p:sp>
      <p:sp>
        <p:nvSpPr>
          <p:cNvPr id="108" name="S14_TextBox_107"/>
          <p:cNvSpPr txBox="1"/>
          <p:nvPr/>
        </p:nvSpPr>
        <p:spPr>
          <a:xfrm>
            <a:off x="3822191" y="5257800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>
                <a:solidFill>
                  <a:srgbClr val="4D7CFF"/>
                </a:solidFill>
                <a:latin typeface="Bahnschrift SemiBold Condensed"/>
              </a:rPr>
              <a:t>0 s</a:t>
            </a:r>
          </a:p>
        </p:txBody>
      </p:sp>
      <p:sp>
        <p:nvSpPr>
          <p:cNvPr id="109" name="S14_TextBox_108"/>
          <p:cNvSpPr txBox="1"/>
          <p:nvPr/>
        </p:nvSpPr>
        <p:spPr>
          <a:xfrm>
            <a:off x="4553711" y="5266944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80">
                <a:solidFill>
                  <a:srgbClr val="A6B5D1"/>
                </a:solidFill>
                <a:latin typeface="Segoe UI"/>
              </a:rPr>
              <a:t>Đặt Air% · xoá tích luỹ</a:t>
            </a:r>
          </a:p>
        </p:txBody>
      </p:sp>
      <p:sp>
        <p:nvSpPr>
          <p:cNvPr id="110" name="S14_TextBox_109"/>
          <p:cNvSpPr txBox="1"/>
          <p:nvPr/>
        </p:nvSpPr>
        <p:spPr>
          <a:xfrm>
            <a:off x="6336791" y="5257800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>
                <a:solidFill>
                  <a:srgbClr val="8B5CFF"/>
                </a:solidFill>
                <a:latin typeface="Bahnschrift SemiBold Condensed"/>
              </a:rPr>
              <a:t>1 s</a:t>
            </a:r>
          </a:p>
        </p:txBody>
      </p:sp>
      <p:sp>
        <p:nvSpPr>
          <p:cNvPr id="111" name="S14_TextBox_110"/>
          <p:cNvSpPr txBox="1"/>
          <p:nvPr/>
        </p:nvSpPr>
        <p:spPr>
          <a:xfrm>
            <a:off x="7068311" y="5266944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80">
                <a:solidFill>
                  <a:srgbClr val="A6B5D1"/>
                </a:solidFill>
                <a:latin typeface="Segoe UI"/>
              </a:rPr>
              <a:t>Chờ ổn định · không lấy mẫu</a:t>
            </a:r>
          </a:p>
        </p:txBody>
      </p:sp>
      <p:sp>
        <p:nvSpPr>
          <p:cNvPr id="112" name="S14_TextBox_111"/>
          <p:cNvSpPr txBox="1"/>
          <p:nvPr/>
        </p:nvSpPr>
        <p:spPr>
          <a:xfrm>
            <a:off x="8851391" y="5257800"/>
            <a:ext cx="676656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>
                <a:solidFill>
                  <a:srgbClr val="15E6FF"/>
                </a:solidFill>
                <a:latin typeface="Bahnschrift SemiBold Condensed"/>
              </a:rPr>
              <a:t>2–3 s</a:t>
            </a:r>
          </a:p>
        </p:txBody>
      </p:sp>
      <p:sp>
        <p:nvSpPr>
          <p:cNvPr id="113" name="S14_TextBox_112"/>
          <p:cNvSpPr txBox="1"/>
          <p:nvPr/>
        </p:nvSpPr>
        <p:spPr>
          <a:xfrm>
            <a:off x="9582911" y="5266944"/>
            <a:ext cx="162763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80">
                <a:solidFill>
                  <a:srgbClr val="A6B5D1"/>
                </a:solidFill>
                <a:latin typeface="Segoe UI"/>
              </a:rPr>
              <a:t>Lấy mẫu Pa · tính trung bình</a:t>
            </a:r>
          </a:p>
        </p:txBody>
      </p:sp>
      <p:sp>
        <p:nvSpPr>
          <p:cNvPr id="114" name="S14_TextBox_113"/>
          <p:cNvSpPr txBox="1"/>
          <p:nvPr/>
        </p:nvSpPr>
        <p:spPr>
          <a:xfrm>
            <a:off x="658368" y="5760720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 spc="80">
                <a:solidFill>
                  <a:srgbClr val="FF5576"/>
                </a:solidFill>
                <a:latin typeface="Segoe UI Semibold"/>
              </a:rPr>
              <a:t>KHÔNG hạ bước quét xuống 1%: 101 điểm sẽ tràn bảng 60 dòng.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6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6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6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6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6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6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6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6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6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6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6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6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6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6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6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6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6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6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6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6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6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6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6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6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6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6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6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6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6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6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0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6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17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6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6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6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6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6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6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6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6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6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6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6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6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46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46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6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6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6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6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9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6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30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6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46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31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6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333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6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34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36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36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46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46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46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391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39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46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41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46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419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426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433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447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6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46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454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4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6" dur="46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461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4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0" dur="46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468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482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4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46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498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6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46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507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6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46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2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2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2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46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46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OUTPUT  /  OUTPUT STRATEGY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Một Air%. Hai đường ra.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Cả hai phương án đều khả thi; căn cứ lựa chọn là hành vi của hệ khi RS485 hoặc PLC gặp lỗi.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15/20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194560" y="-228600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4D7CFF">
                  <a:alpha val="16000"/>
                </a:srgbClr>
              </a:gs>
              <a:gs pos="55000">
                <a:srgbClr val="4D7CFF">
                  <a:alpha val="5600"/>
                </a:srgbClr>
              </a:gs>
              <a:gs pos="100000">
                <a:srgbClr val="4D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5_Rounded_Rectangle_46"/>
          <p:cNvSpPr/>
          <p:nvPr/>
        </p:nvSpPr>
        <p:spPr>
          <a:xfrm>
            <a:off x="694944" y="2048256"/>
            <a:ext cx="5285232" cy="3401568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5_Rounded_Rectangle_47"/>
          <p:cNvSpPr/>
          <p:nvPr/>
        </p:nvSpPr>
        <p:spPr>
          <a:xfrm>
            <a:off x="987552" y="2322576"/>
            <a:ext cx="157276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5_TextBox_48"/>
          <p:cNvSpPr txBox="1"/>
          <p:nvPr/>
        </p:nvSpPr>
        <p:spPr>
          <a:xfrm>
            <a:off x="987552" y="2359152"/>
            <a:ext cx="157276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OPTION A · AO</a:t>
            </a:r>
          </a:p>
        </p:txBody>
      </p:sp>
      <p:sp>
        <p:nvSpPr>
          <p:cNvPr id="50" name="S15_TextBox_49"/>
          <p:cNvSpPr txBox="1"/>
          <p:nvPr/>
        </p:nvSpPr>
        <p:spPr>
          <a:xfrm>
            <a:off x="987552" y="2843784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spc="-25">
                <a:solidFill>
                  <a:srgbClr val="F7FAFF"/>
                </a:solidFill>
                <a:latin typeface="Consolas"/>
              </a:rPr>
              <a:t>0…100%  →  0…27648  →  0–10 V</a:t>
            </a:r>
          </a:p>
        </p:txBody>
      </p:sp>
      <p:sp>
        <p:nvSpPr>
          <p:cNvPr id="51" name="S15_Oval_50"/>
          <p:cNvSpPr/>
          <p:nvPr/>
        </p:nvSpPr>
        <p:spPr>
          <a:xfrm>
            <a:off x="1060704" y="3483864"/>
            <a:ext cx="219456" cy="219456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5_TextBox_51"/>
          <p:cNvSpPr txBox="1"/>
          <p:nvPr/>
        </p:nvSpPr>
        <p:spPr>
          <a:xfrm>
            <a:off x="1097280" y="34747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>
                <a:solidFill>
                  <a:srgbClr val="050812"/>
                </a:solidFill>
                <a:latin typeface="Segoe UI Semibold"/>
              </a:rPr>
              <a:t>✓</a:t>
            </a:r>
          </a:p>
        </p:txBody>
      </p:sp>
      <p:sp>
        <p:nvSpPr>
          <p:cNvPr id="53" name="S15_TextBox_52"/>
          <p:cNvSpPr txBox="1"/>
          <p:nvPr/>
        </p:nvSpPr>
        <p:spPr>
          <a:xfrm>
            <a:off x="1444752" y="3502152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Quạt không phụ thuộc nhịp Modbus</a:t>
            </a:r>
          </a:p>
        </p:txBody>
      </p:sp>
      <p:sp>
        <p:nvSpPr>
          <p:cNvPr id="54" name="S15_Oval_53"/>
          <p:cNvSpPr/>
          <p:nvPr/>
        </p:nvSpPr>
        <p:spPr>
          <a:xfrm>
            <a:off x="1060704" y="3941064"/>
            <a:ext cx="219456" cy="219456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15_TextBox_54"/>
          <p:cNvSpPr txBox="1"/>
          <p:nvPr/>
        </p:nvSpPr>
        <p:spPr>
          <a:xfrm>
            <a:off x="1097280" y="39319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>
                <a:solidFill>
                  <a:srgbClr val="050812"/>
                </a:solidFill>
                <a:latin typeface="Segoe UI Semibold"/>
              </a:rPr>
              <a:t>✓</a:t>
            </a:r>
          </a:p>
        </p:txBody>
      </p:sp>
      <p:sp>
        <p:nvSpPr>
          <p:cNvPr id="56" name="S15_TextBox_55"/>
          <p:cNvSpPr txBox="1"/>
          <p:nvPr/>
        </p:nvSpPr>
        <p:spPr>
          <a:xfrm>
            <a:off x="1444752" y="3959352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RS485 đứt vẫn giữ được đường lái riêng</a:t>
            </a:r>
          </a:p>
        </p:txBody>
      </p:sp>
      <p:sp>
        <p:nvSpPr>
          <p:cNvPr id="57" name="S15_Oval_56"/>
          <p:cNvSpPr/>
          <p:nvPr/>
        </p:nvSpPr>
        <p:spPr>
          <a:xfrm>
            <a:off x="1060704" y="4398264"/>
            <a:ext cx="219456" cy="21945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5_TextBox_57"/>
          <p:cNvSpPr txBox="1"/>
          <p:nvPr/>
        </p:nvSpPr>
        <p:spPr>
          <a:xfrm>
            <a:off x="1097280" y="43891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>
                <a:solidFill>
                  <a:srgbClr val="050812"/>
                </a:solidFill>
                <a:latin typeface="Segoe UI Semibold"/>
              </a:rPr>
              <a:t>!</a:t>
            </a:r>
          </a:p>
        </p:txBody>
      </p:sp>
      <p:sp>
        <p:nvSpPr>
          <p:cNvPr id="59" name="S15_TextBox_58"/>
          <p:cNvSpPr txBox="1"/>
          <p:nvPr/>
        </p:nvSpPr>
        <p:spPr>
          <a:xfrm>
            <a:off x="1444752" y="4416552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Tốn một kênh AO và có sai số analog</a:t>
            </a:r>
          </a:p>
        </p:txBody>
      </p:sp>
      <p:sp>
        <p:nvSpPr>
          <p:cNvPr id="60" name="S15_Rounded_Rectangle_59"/>
          <p:cNvSpPr/>
          <p:nvPr/>
        </p:nvSpPr>
        <p:spPr>
          <a:xfrm>
            <a:off x="987552" y="4974336"/>
            <a:ext cx="2084831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15_TextBox_60"/>
          <p:cNvSpPr txBox="1"/>
          <p:nvPr/>
        </p:nvSpPr>
        <p:spPr>
          <a:xfrm>
            <a:off x="987552" y="5010912"/>
            <a:ext cx="2084831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ƯU TIÊN FAIL-SAFE</a:t>
            </a:r>
          </a:p>
        </p:txBody>
      </p:sp>
      <p:sp>
        <p:nvSpPr>
          <p:cNvPr id="62" name="S15_Rounded_Rectangle_61"/>
          <p:cNvSpPr/>
          <p:nvPr/>
        </p:nvSpPr>
        <p:spPr>
          <a:xfrm>
            <a:off x="6217920" y="2048256"/>
            <a:ext cx="5285232" cy="3401568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15_Rounded_Rectangle_62"/>
          <p:cNvSpPr/>
          <p:nvPr/>
        </p:nvSpPr>
        <p:spPr>
          <a:xfrm>
            <a:off x="6510528" y="2322576"/>
            <a:ext cx="188366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5_TextBox_63"/>
          <p:cNvSpPr txBox="1"/>
          <p:nvPr/>
        </p:nvSpPr>
        <p:spPr>
          <a:xfrm>
            <a:off x="6510528" y="2359152"/>
            <a:ext cx="188366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4D7CFF"/>
                </a:solidFill>
                <a:latin typeface="Segoe UI Semibold"/>
              </a:rPr>
              <a:t>OPTION B · FC06</a:t>
            </a:r>
          </a:p>
        </p:txBody>
      </p:sp>
      <p:sp>
        <p:nvSpPr>
          <p:cNvPr id="65" name="S15_TextBox_64"/>
          <p:cNvSpPr txBox="1"/>
          <p:nvPr/>
        </p:nvSpPr>
        <p:spPr>
          <a:xfrm>
            <a:off x="6510528" y="2843784"/>
            <a:ext cx="470001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spc="-22">
                <a:solidFill>
                  <a:srgbClr val="F7FAFF"/>
                </a:solidFill>
                <a:latin typeface="Consolas"/>
              </a:rPr>
              <a:t>Air%  →  Hz×100  →  register 0x2001</a:t>
            </a:r>
          </a:p>
        </p:txBody>
      </p:sp>
      <p:sp>
        <p:nvSpPr>
          <p:cNvPr id="66" name="S15_Oval_65"/>
          <p:cNvSpPr/>
          <p:nvPr/>
        </p:nvSpPr>
        <p:spPr>
          <a:xfrm>
            <a:off x="6583680" y="3483864"/>
            <a:ext cx="219456" cy="219456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15_TextBox_66"/>
          <p:cNvSpPr txBox="1"/>
          <p:nvPr/>
        </p:nvSpPr>
        <p:spPr>
          <a:xfrm>
            <a:off x="6620256" y="34747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>
                <a:solidFill>
                  <a:srgbClr val="050812"/>
                </a:solidFill>
                <a:latin typeface="Segoe UI Semibold"/>
              </a:rPr>
              <a:t>✓</a:t>
            </a:r>
          </a:p>
        </p:txBody>
      </p:sp>
      <p:sp>
        <p:nvSpPr>
          <p:cNvPr id="68" name="S15_TextBox_67"/>
          <p:cNvSpPr txBox="1"/>
          <p:nvPr/>
        </p:nvSpPr>
        <p:spPr>
          <a:xfrm>
            <a:off x="6967728" y="3502152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Không cần dây analog; độ phân giải 0,01 Hz</a:t>
            </a:r>
          </a:p>
        </p:txBody>
      </p:sp>
      <p:sp>
        <p:nvSpPr>
          <p:cNvPr id="69" name="S15_Oval_68"/>
          <p:cNvSpPr/>
          <p:nvPr/>
        </p:nvSpPr>
        <p:spPr>
          <a:xfrm>
            <a:off x="6583680" y="3941064"/>
            <a:ext cx="219456" cy="219456"/>
          </a:xfrm>
          <a:prstGeom prst="ellipse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5_TextBox_69"/>
          <p:cNvSpPr txBox="1"/>
          <p:nvPr/>
        </p:nvSpPr>
        <p:spPr>
          <a:xfrm>
            <a:off x="6620256" y="39319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>
                <a:solidFill>
                  <a:srgbClr val="050812"/>
                </a:solidFill>
                <a:latin typeface="Segoe UI Semibold"/>
              </a:rPr>
              <a:t>✓</a:t>
            </a:r>
          </a:p>
        </p:txBody>
      </p:sp>
      <p:sp>
        <p:nvSpPr>
          <p:cNvPr id="71" name="S15_TextBox_70"/>
          <p:cNvSpPr txBox="1"/>
          <p:nvPr/>
        </p:nvSpPr>
        <p:spPr>
          <a:xfrm>
            <a:off x="6967728" y="3959352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Đọc lại được tần số thực tế</a:t>
            </a:r>
          </a:p>
        </p:txBody>
      </p:sp>
      <p:sp>
        <p:nvSpPr>
          <p:cNvPr id="72" name="S15_Oval_71"/>
          <p:cNvSpPr/>
          <p:nvPr/>
        </p:nvSpPr>
        <p:spPr>
          <a:xfrm>
            <a:off x="6583680" y="4398264"/>
            <a:ext cx="219456" cy="219456"/>
          </a:xfrm>
          <a:prstGeom prst="ellipse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15_TextBox_72"/>
          <p:cNvSpPr txBox="1"/>
          <p:nvPr/>
        </p:nvSpPr>
        <p:spPr>
          <a:xfrm>
            <a:off x="6620256" y="4389120"/>
            <a:ext cx="1463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>
                <a:solidFill>
                  <a:srgbClr val="050812"/>
                </a:solidFill>
                <a:latin typeface="Segoe UI Semibold"/>
              </a:rPr>
              <a:t>!</a:t>
            </a:r>
          </a:p>
        </p:txBody>
      </p:sp>
      <p:sp>
        <p:nvSpPr>
          <p:cNvPr id="74" name="S15_TextBox_73"/>
          <p:cNvSpPr txBox="1"/>
          <p:nvPr/>
        </p:nvSpPr>
        <p:spPr>
          <a:xfrm>
            <a:off x="6967728" y="4416552"/>
            <a:ext cx="4133087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>
                <a:solidFill>
                  <a:srgbClr val="A6B5D1"/>
                </a:solidFill>
                <a:latin typeface="Segoe UI"/>
              </a:rPr>
              <a:t>Mất RS485 là mất luôn quyền lái quạt</a:t>
            </a:r>
          </a:p>
        </p:txBody>
      </p:sp>
      <p:sp>
        <p:nvSpPr>
          <p:cNvPr id="75" name="S15_Rounded_Rectangle_74"/>
          <p:cNvSpPr/>
          <p:nvPr/>
        </p:nvSpPr>
        <p:spPr>
          <a:xfrm>
            <a:off x="6510528" y="4974336"/>
            <a:ext cx="246888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15_TextBox_75"/>
          <p:cNvSpPr txBox="1"/>
          <p:nvPr/>
        </p:nvSpPr>
        <p:spPr>
          <a:xfrm>
            <a:off x="6510528" y="5010912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FF5576"/>
                </a:solidFill>
                <a:latin typeface="Segoe UI Semibold"/>
              </a:rPr>
              <a:t>BẮT BUỘC CÀI TIMEOUT</a:t>
            </a:r>
          </a:p>
        </p:txBody>
      </p:sp>
      <p:sp>
        <p:nvSpPr>
          <p:cNvPr id="77" name="S15_TextBox_76"/>
          <p:cNvSpPr txBox="1"/>
          <p:nvPr/>
        </p:nvSpPr>
        <p:spPr>
          <a:xfrm>
            <a:off x="658368" y="5650992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>
                <a:solidFill>
                  <a:srgbClr val="FFC857"/>
                </a:solidFill>
                <a:latin typeface="Segoe UI Semibold"/>
              </a:rPr>
              <a:t>Không áp dải 30–50 Hz của lồng rang cho quạt.  Dải quạt phải đo trên máy thật.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6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6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6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6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6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6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2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6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6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PLC  /  PLC ARCHITECTURE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600" spc="-80">
                <a:solidFill>
                  <a:srgbClr val="F7FAFF"/>
                </a:solidFill>
                <a:latin typeface="Segoe UI Black"/>
              </a:rPr>
              <a:t>Kiến trúc PLC: dây chuyền dữ liệu một chiều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Một giao dịch Modbus tại một thời điểm, mỗi khối một trách nhiệm, và chỉ một nơi được ghi đầu ra.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16/20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9052560" y="-2560320"/>
            <a:ext cx="5852160" cy="5852160"/>
          </a:xfrm>
          <a:prstGeom prst="ellipse">
            <a:avLst/>
          </a:prstGeom>
          <a:gradFill rotWithShape="1">
            <a:gsLst>
              <a:gs pos="0">
                <a:srgbClr val="8B5CFF">
                  <a:alpha val="17000"/>
                </a:srgbClr>
              </a:gs>
              <a:gs pos="55000">
                <a:srgbClr val="8B5CFF">
                  <a:alpha val="5950"/>
                </a:srgbClr>
              </a:gs>
              <a:gs pos="100000">
                <a:srgbClr val="8B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6_Rounded_Rectangle_46"/>
          <p:cNvSpPr/>
          <p:nvPr/>
        </p:nvSpPr>
        <p:spPr>
          <a:xfrm>
            <a:off x="502920" y="2359152"/>
            <a:ext cx="1901952" cy="14447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6_Rounded_Rectangle_47"/>
          <p:cNvSpPr/>
          <p:nvPr/>
        </p:nvSpPr>
        <p:spPr>
          <a:xfrm>
            <a:off x="667512" y="2523744"/>
            <a:ext cx="51206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6_TextBox_48"/>
          <p:cNvSpPr txBox="1"/>
          <p:nvPr/>
        </p:nvSpPr>
        <p:spPr>
          <a:xfrm>
            <a:off x="667512" y="2560320"/>
            <a:ext cx="51206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8B5CFF"/>
                </a:solidFill>
                <a:latin typeface="Segoe UI Semibold"/>
              </a:rPr>
              <a:t>01</a:t>
            </a:r>
          </a:p>
        </p:txBody>
      </p:sp>
      <p:sp>
        <p:nvSpPr>
          <p:cNvPr id="50" name="S16_TextBox_49"/>
          <p:cNvSpPr txBox="1"/>
          <p:nvPr/>
        </p:nvSpPr>
        <p:spPr>
          <a:xfrm>
            <a:off x="649224" y="2953512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>
                <a:solidFill>
                  <a:srgbClr val="F7FAFF"/>
                </a:solidFill>
                <a:latin typeface="Segoe UI Semibold"/>
              </a:rPr>
              <a:t>MB SCHEDULER</a:t>
            </a:r>
          </a:p>
        </p:txBody>
      </p:sp>
      <p:sp>
        <p:nvSpPr>
          <p:cNvPr id="51" name="S16_TextBox_50"/>
          <p:cNvSpPr txBox="1"/>
          <p:nvPr/>
        </p:nvSpPr>
        <p:spPr>
          <a:xfrm>
            <a:off x="649224" y="33192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>
                <a:solidFill>
                  <a:srgbClr val="8B5CFF"/>
                </a:solidFill>
                <a:latin typeface="Consolas"/>
              </a:rPr>
              <a:t>CASE mbStep</a:t>
            </a:r>
          </a:p>
        </p:txBody>
      </p:sp>
      <p:sp>
        <p:nvSpPr>
          <p:cNvPr id="52" name="S16_Chevron_51"/>
          <p:cNvSpPr/>
          <p:nvPr/>
        </p:nvSpPr>
        <p:spPr>
          <a:xfrm>
            <a:off x="2468880" y="2926080"/>
            <a:ext cx="219456" cy="310896"/>
          </a:xfrm>
          <a:prstGeom prst="chevron">
            <a:avLst/>
          </a:prstGeom>
          <a:solidFill>
            <a:srgbClr val="8B5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6_Rounded_Rectangle_52"/>
          <p:cNvSpPr/>
          <p:nvPr/>
        </p:nvSpPr>
        <p:spPr>
          <a:xfrm>
            <a:off x="2724912" y="2359152"/>
            <a:ext cx="1901952" cy="14447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6_Rounded_Rectangle_53"/>
          <p:cNvSpPr/>
          <p:nvPr/>
        </p:nvSpPr>
        <p:spPr>
          <a:xfrm>
            <a:off x="2889504" y="2523744"/>
            <a:ext cx="51206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16_TextBox_54"/>
          <p:cNvSpPr txBox="1"/>
          <p:nvPr/>
        </p:nvSpPr>
        <p:spPr>
          <a:xfrm>
            <a:off x="2889504" y="2560320"/>
            <a:ext cx="51206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15E6FF"/>
                </a:solidFill>
                <a:latin typeface="Segoe UI Semibold"/>
              </a:rPr>
              <a:t>02</a:t>
            </a:r>
          </a:p>
        </p:txBody>
      </p:sp>
      <p:sp>
        <p:nvSpPr>
          <p:cNvPr id="56" name="S16_TextBox_55"/>
          <p:cNvSpPr txBox="1"/>
          <p:nvPr/>
        </p:nvSpPr>
        <p:spPr>
          <a:xfrm>
            <a:off x="2871216" y="2953512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>
                <a:solidFill>
                  <a:srgbClr val="F7FAFF"/>
                </a:solidFill>
                <a:latin typeface="Segoe UI Semibold"/>
              </a:rPr>
              <a:t>FB_VacRead</a:t>
            </a:r>
          </a:p>
        </p:txBody>
      </p:sp>
      <p:sp>
        <p:nvSpPr>
          <p:cNvPr id="57" name="S16_TextBox_56"/>
          <p:cNvSpPr txBox="1"/>
          <p:nvPr/>
        </p:nvSpPr>
        <p:spPr>
          <a:xfrm>
            <a:off x="2871216" y="33192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>
                <a:solidFill>
                  <a:srgbClr val="15E6FF"/>
                </a:solidFill>
                <a:latin typeface="Consolas"/>
              </a:rPr>
              <a:t>raw → filter → Pa</a:t>
            </a:r>
          </a:p>
        </p:txBody>
      </p:sp>
      <p:sp>
        <p:nvSpPr>
          <p:cNvPr id="58" name="S16_Chevron_57"/>
          <p:cNvSpPr/>
          <p:nvPr/>
        </p:nvSpPr>
        <p:spPr>
          <a:xfrm>
            <a:off x="4690872" y="2926080"/>
            <a:ext cx="219456" cy="310896"/>
          </a:xfrm>
          <a:prstGeom prst="chevron">
            <a:avLst/>
          </a:prstGeom>
          <a:solidFill>
            <a:srgbClr val="15E6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16_Rounded_Rectangle_58"/>
          <p:cNvSpPr/>
          <p:nvPr/>
        </p:nvSpPr>
        <p:spPr>
          <a:xfrm>
            <a:off x="4946904" y="2359152"/>
            <a:ext cx="1901952" cy="14447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6_Rounded_Rectangle_59"/>
          <p:cNvSpPr/>
          <p:nvPr/>
        </p:nvSpPr>
        <p:spPr>
          <a:xfrm>
            <a:off x="5111496" y="2523744"/>
            <a:ext cx="51206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16_TextBox_60"/>
          <p:cNvSpPr txBox="1"/>
          <p:nvPr/>
        </p:nvSpPr>
        <p:spPr>
          <a:xfrm>
            <a:off x="5111496" y="2560320"/>
            <a:ext cx="51206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4D7CFF"/>
                </a:solidFill>
                <a:latin typeface="Segoe UI Semibold"/>
              </a:rPr>
              <a:t>03</a:t>
            </a:r>
          </a:p>
        </p:txBody>
      </p:sp>
      <p:sp>
        <p:nvSpPr>
          <p:cNvPr id="62" name="S16_TextBox_61"/>
          <p:cNvSpPr txBox="1"/>
          <p:nvPr/>
        </p:nvSpPr>
        <p:spPr>
          <a:xfrm>
            <a:off x="5093208" y="2953512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>
                <a:solidFill>
                  <a:srgbClr val="F7FAFF"/>
                </a:solidFill>
                <a:latin typeface="Segoe UI Semibold"/>
              </a:rPr>
              <a:t>FB_VacCtrl</a:t>
            </a:r>
          </a:p>
        </p:txBody>
      </p:sp>
      <p:sp>
        <p:nvSpPr>
          <p:cNvPr id="63" name="S16_TextBox_62"/>
          <p:cNvSpPr txBox="1"/>
          <p:nvPr/>
        </p:nvSpPr>
        <p:spPr>
          <a:xfrm>
            <a:off x="5093208" y="33192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>
                <a:solidFill>
                  <a:srgbClr val="4D7CFF"/>
                </a:solidFill>
                <a:latin typeface="Consolas"/>
              </a:rPr>
              <a:t>SP/PV → Air%</a:t>
            </a:r>
          </a:p>
        </p:txBody>
      </p:sp>
      <p:sp>
        <p:nvSpPr>
          <p:cNvPr id="64" name="S16_Chevron_63"/>
          <p:cNvSpPr/>
          <p:nvPr/>
        </p:nvSpPr>
        <p:spPr>
          <a:xfrm>
            <a:off x="6912864" y="2926080"/>
            <a:ext cx="219456" cy="310896"/>
          </a:xfrm>
          <a:prstGeom prst="chevron">
            <a:avLst/>
          </a:prstGeom>
          <a:solidFill>
            <a:srgbClr val="4D7C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16_Rounded_Rectangle_64"/>
          <p:cNvSpPr/>
          <p:nvPr/>
        </p:nvSpPr>
        <p:spPr>
          <a:xfrm>
            <a:off x="7168896" y="2359152"/>
            <a:ext cx="1901952" cy="14447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6_Rounded_Rectangle_65"/>
          <p:cNvSpPr/>
          <p:nvPr/>
        </p:nvSpPr>
        <p:spPr>
          <a:xfrm>
            <a:off x="7333488" y="2523744"/>
            <a:ext cx="51206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16_TextBox_66"/>
          <p:cNvSpPr txBox="1"/>
          <p:nvPr/>
        </p:nvSpPr>
        <p:spPr>
          <a:xfrm>
            <a:off x="7333488" y="2560320"/>
            <a:ext cx="51206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B9FF4A"/>
                </a:solidFill>
                <a:latin typeface="Segoe UI Semibold"/>
              </a:rPr>
              <a:t>04</a:t>
            </a:r>
          </a:p>
        </p:txBody>
      </p:sp>
      <p:sp>
        <p:nvSpPr>
          <p:cNvPr id="68" name="S16_TextBox_67"/>
          <p:cNvSpPr txBox="1"/>
          <p:nvPr/>
        </p:nvSpPr>
        <p:spPr>
          <a:xfrm>
            <a:off x="7315200" y="2953512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>
                <a:solidFill>
                  <a:srgbClr val="F7FAFF"/>
                </a:solidFill>
                <a:latin typeface="Segoe UI Semibold"/>
              </a:rPr>
              <a:t>AirOwner</a:t>
            </a:r>
          </a:p>
        </p:txBody>
      </p:sp>
      <p:sp>
        <p:nvSpPr>
          <p:cNvPr id="69" name="S16_TextBox_68"/>
          <p:cNvSpPr txBox="1"/>
          <p:nvPr/>
        </p:nvSpPr>
        <p:spPr>
          <a:xfrm>
            <a:off x="7315200" y="33192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>
                <a:solidFill>
                  <a:srgbClr val="B9FF4A"/>
                </a:solidFill>
                <a:latin typeface="Consolas"/>
              </a:rPr>
              <a:t>priority arbiter</a:t>
            </a:r>
          </a:p>
        </p:txBody>
      </p:sp>
      <p:sp>
        <p:nvSpPr>
          <p:cNvPr id="70" name="S16_Chevron_69"/>
          <p:cNvSpPr/>
          <p:nvPr/>
        </p:nvSpPr>
        <p:spPr>
          <a:xfrm>
            <a:off x="9134856" y="2926080"/>
            <a:ext cx="219456" cy="310896"/>
          </a:xfrm>
          <a:prstGeom prst="chevron">
            <a:avLst/>
          </a:prstGeom>
          <a:solidFill>
            <a:srgbClr val="B9FF4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16_Rounded_Rectangle_70"/>
          <p:cNvSpPr/>
          <p:nvPr/>
        </p:nvSpPr>
        <p:spPr>
          <a:xfrm>
            <a:off x="9390888" y="2359152"/>
            <a:ext cx="1901952" cy="1444752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16_Rounded_Rectangle_71"/>
          <p:cNvSpPr/>
          <p:nvPr/>
        </p:nvSpPr>
        <p:spPr>
          <a:xfrm>
            <a:off x="9555480" y="2523744"/>
            <a:ext cx="512064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16_TextBox_72"/>
          <p:cNvSpPr txBox="1"/>
          <p:nvPr/>
        </p:nvSpPr>
        <p:spPr>
          <a:xfrm>
            <a:off x="9555480" y="2560320"/>
            <a:ext cx="512064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FFC857"/>
                </a:solidFill>
                <a:latin typeface="Segoe UI Semibold"/>
              </a:rPr>
              <a:t>05</a:t>
            </a:r>
          </a:p>
        </p:txBody>
      </p:sp>
      <p:sp>
        <p:nvSpPr>
          <p:cNvPr id="74" name="S16_TextBox_73"/>
          <p:cNvSpPr txBox="1"/>
          <p:nvPr/>
        </p:nvSpPr>
        <p:spPr>
          <a:xfrm>
            <a:off x="9537192" y="2953512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>
                <a:solidFill>
                  <a:srgbClr val="F7FAFF"/>
                </a:solidFill>
                <a:latin typeface="Segoe UI Semibold"/>
              </a:rPr>
              <a:t>OUTPUT</a:t>
            </a:r>
          </a:p>
        </p:txBody>
      </p:sp>
      <p:sp>
        <p:nvSpPr>
          <p:cNvPr id="75" name="S16_TextBox_74"/>
          <p:cNvSpPr txBox="1"/>
          <p:nvPr/>
        </p:nvSpPr>
        <p:spPr>
          <a:xfrm>
            <a:off x="9537192" y="331927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50">
                <a:solidFill>
                  <a:srgbClr val="FFC857"/>
                </a:solidFill>
                <a:latin typeface="Consolas"/>
              </a:rPr>
              <a:t>AO hoặc FC06</a:t>
            </a:r>
          </a:p>
        </p:txBody>
      </p:sp>
      <p:sp>
        <p:nvSpPr>
          <p:cNvPr id="76" name="S16_Rounded_Rectangle_75"/>
          <p:cNvSpPr/>
          <p:nvPr/>
        </p:nvSpPr>
        <p:spPr>
          <a:xfrm>
            <a:off x="1417320" y="4334256"/>
            <a:ext cx="2889504" cy="941832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16_Rounded_Rectangle_76"/>
          <p:cNvSpPr/>
          <p:nvPr/>
        </p:nvSpPr>
        <p:spPr>
          <a:xfrm>
            <a:off x="1664208" y="4507992"/>
            <a:ext cx="116128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16_TextBox_77"/>
          <p:cNvSpPr txBox="1"/>
          <p:nvPr/>
        </p:nvSpPr>
        <p:spPr>
          <a:xfrm>
            <a:off x="1664208" y="4544568"/>
            <a:ext cx="116128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4D7CFF"/>
                </a:solidFill>
                <a:latin typeface="Segoe UI Semibold"/>
              </a:rPr>
              <a:t>RETENTIVE DB</a:t>
            </a:r>
          </a:p>
        </p:txBody>
      </p:sp>
      <p:sp>
        <p:nvSpPr>
          <p:cNvPr id="79" name="S16_TextBox_78"/>
          <p:cNvSpPr txBox="1"/>
          <p:nvPr/>
        </p:nvSpPr>
        <p:spPr>
          <a:xfrm>
            <a:off x="1664208" y="4901184"/>
            <a:ext cx="2395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>
                <a:solidFill>
                  <a:srgbClr val="A6B5D1"/>
                </a:solidFill>
                <a:latin typeface="Consolas"/>
              </a:rPr>
              <a:t>ffSp[] · ffAir[] · ffCnt[]</a:t>
            </a:r>
          </a:p>
        </p:txBody>
      </p:sp>
      <p:sp>
        <p:nvSpPr>
          <p:cNvPr id="80" name="S16_Freeform_79"/>
          <p:cNvSpPr/>
          <p:nvPr/>
        </p:nvSpPr>
        <p:spPr>
          <a:xfrm>
            <a:off x="2871216" y="3931920"/>
            <a:ext cx="3026664" cy="402336"/>
          </a:xfrm>
          <a:custGeom>
            <a:avLst/>
            <a:gdLst/>
            <a:ahLst/>
            <a:cxnLst/>
            <a:rect l="l" t="t" r="r" b="b"/>
            <a:pathLst>
              <a:path w="3026664" h="402336">
                <a:moveTo>
                  <a:pt x="0" y="402336"/>
                </a:moveTo>
                <a:lnTo>
                  <a:pt x="3026664" y="0"/>
                </a:lnTo>
              </a:path>
            </a:pathLst>
          </a:custGeom>
          <a:noFill/>
          <a:ln w="17780">
            <a:solidFill>
              <a:srgbClr val="4D7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16_Rounded_Rectangle_80"/>
          <p:cNvSpPr/>
          <p:nvPr/>
        </p:nvSpPr>
        <p:spPr>
          <a:xfrm>
            <a:off x="4645152" y="4334256"/>
            <a:ext cx="2889504" cy="941832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16_Rounded_Rectangle_81"/>
          <p:cNvSpPr/>
          <p:nvPr/>
        </p:nvSpPr>
        <p:spPr>
          <a:xfrm>
            <a:off x="4892040" y="4507992"/>
            <a:ext cx="105156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16_TextBox_82"/>
          <p:cNvSpPr txBox="1"/>
          <p:nvPr/>
        </p:nvSpPr>
        <p:spPr>
          <a:xfrm>
            <a:off x="4892040" y="4544568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15E6FF"/>
                </a:solidFill>
                <a:latin typeface="Segoe UI Semibold"/>
              </a:rPr>
              <a:t>HMI / DIAG</a:t>
            </a:r>
          </a:p>
        </p:txBody>
      </p:sp>
      <p:sp>
        <p:nvSpPr>
          <p:cNvPr id="84" name="S16_TextBox_83"/>
          <p:cNvSpPr txBox="1"/>
          <p:nvPr/>
        </p:nvSpPr>
        <p:spPr>
          <a:xfrm>
            <a:off x="4892040" y="4901184"/>
            <a:ext cx="2395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>
                <a:solidFill>
                  <a:srgbClr val="A6B5D1"/>
                </a:solidFill>
                <a:latin typeface="Consolas"/>
              </a:rPr>
              <a:t>PV · SP · fault · tableFull</a:t>
            </a:r>
          </a:p>
        </p:txBody>
      </p:sp>
      <p:sp>
        <p:nvSpPr>
          <p:cNvPr id="85" name="S16_Freeform_84"/>
          <p:cNvSpPr/>
          <p:nvPr/>
        </p:nvSpPr>
        <p:spPr>
          <a:xfrm>
            <a:off x="6089904" y="3931920"/>
            <a:ext cx="0" cy="402336"/>
          </a:xfrm>
          <a:custGeom>
            <a:avLst/>
            <a:gdLst/>
            <a:ahLst/>
            <a:cxnLst/>
            <a:rect l="l" t="t" r="r" b="b"/>
            <a:pathLst>
              <a:path w="0"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17780">
            <a:solidFill>
              <a:srgbClr val="15E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16_Rounded_Rectangle_85"/>
          <p:cNvSpPr/>
          <p:nvPr/>
        </p:nvSpPr>
        <p:spPr>
          <a:xfrm>
            <a:off x="7872983" y="4334256"/>
            <a:ext cx="2889504" cy="941832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16_Rounded_Rectangle_86"/>
          <p:cNvSpPr/>
          <p:nvPr/>
        </p:nvSpPr>
        <p:spPr>
          <a:xfrm>
            <a:off x="8119872" y="4507992"/>
            <a:ext cx="108813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16_TextBox_87"/>
          <p:cNvSpPr txBox="1"/>
          <p:nvPr/>
        </p:nvSpPr>
        <p:spPr>
          <a:xfrm>
            <a:off x="8119872" y="4544568"/>
            <a:ext cx="108813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50" spc="125">
                <a:solidFill>
                  <a:srgbClr val="FF5576"/>
                </a:solidFill>
                <a:latin typeface="Segoe UI Semibold"/>
              </a:rPr>
              <a:t>WATCHDOG</a:t>
            </a:r>
          </a:p>
        </p:txBody>
      </p:sp>
      <p:sp>
        <p:nvSpPr>
          <p:cNvPr id="89" name="S16_TextBox_88"/>
          <p:cNvSpPr txBox="1"/>
          <p:nvPr/>
        </p:nvSpPr>
        <p:spPr>
          <a:xfrm>
            <a:off x="8119872" y="4901184"/>
            <a:ext cx="2395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>
                <a:solidFill>
                  <a:srgbClr val="A6B5D1"/>
                </a:solidFill>
                <a:latin typeface="Consolas"/>
              </a:rPr>
              <a:t>comm · stuck · range · owner</a:t>
            </a:r>
          </a:p>
        </p:txBody>
      </p:sp>
      <p:sp>
        <p:nvSpPr>
          <p:cNvPr id="90" name="S16_Freeform_89"/>
          <p:cNvSpPr/>
          <p:nvPr/>
        </p:nvSpPr>
        <p:spPr>
          <a:xfrm>
            <a:off x="9317736" y="3931920"/>
            <a:ext cx="0" cy="402336"/>
          </a:xfrm>
          <a:custGeom>
            <a:avLst/>
            <a:gdLst/>
            <a:ahLst/>
            <a:cxnLst/>
            <a:rect l="l" t="t" r="r" b="b"/>
            <a:pathLst>
              <a:path w="0"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17780">
            <a:solidFill>
              <a:srgbClr val="FF557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16_TextBox_90"/>
          <p:cNvSpPr txBox="1"/>
          <p:nvPr/>
        </p:nvSpPr>
        <p:spPr>
          <a:xfrm>
            <a:off x="658368" y="565099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>
                <a:solidFill>
                  <a:srgbClr val="FFC857"/>
                </a:solidFill>
                <a:latin typeface="Segoe UI Semibold"/>
              </a:rPr>
              <a:t>MB_MASTER phải chờ DONE / ERROR rồi mới chuyển bước.  Không gọi nhiều slave cùng lúc.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6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6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6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6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46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6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PLC  /  OUTPUT ARBITRATION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Bốn chế độ. Một đầu ra duy nhất.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Phân quyền phải tường minh qua AirOwner; để nhiều khối cùng ghi Air% là nguồn lỗi ngẫu nhiên rất khó truy.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17/20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286000" y="420624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FF5576">
                  <a:alpha val="14000"/>
                </a:srgbClr>
              </a:gs>
              <a:gs pos="55000">
                <a:srgbClr val="FF5576">
                  <a:alpha val="4900"/>
                </a:srgbClr>
              </a:gs>
              <a:gs pos="100000">
                <a:srgbClr val="FF55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7_Rounded_Rectangle_46"/>
          <p:cNvSpPr/>
          <p:nvPr/>
        </p:nvSpPr>
        <p:spPr>
          <a:xfrm>
            <a:off x="932688" y="2029968"/>
            <a:ext cx="9820656" cy="64008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7_Rounded_Rectangle_47"/>
          <p:cNvSpPr/>
          <p:nvPr/>
        </p:nvSpPr>
        <p:spPr>
          <a:xfrm>
            <a:off x="1078992" y="2194560"/>
            <a:ext cx="45720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7_TextBox_48"/>
          <p:cNvSpPr txBox="1"/>
          <p:nvPr/>
        </p:nvSpPr>
        <p:spPr>
          <a:xfrm>
            <a:off x="1078992" y="2231136"/>
            <a:ext cx="45720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FF5576"/>
                </a:solidFill>
                <a:latin typeface="Segoe UI Semibold"/>
              </a:rPr>
              <a:t>03</a:t>
            </a:r>
          </a:p>
        </p:txBody>
      </p:sp>
      <p:sp>
        <p:nvSpPr>
          <p:cNvPr id="50" name="S17_TextBox_49"/>
          <p:cNvSpPr txBox="1"/>
          <p:nvPr/>
        </p:nvSpPr>
        <p:spPr>
          <a:xfrm>
            <a:off x="1700784" y="218541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spc="20">
                <a:solidFill>
                  <a:srgbClr val="F7FAFF"/>
                </a:solidFill>
                <a:latin typeface="Segoe UI Semibold"/>
              </a:rPr>
              <a:t>PREHEAT</a:t>
            </a:r>
          </a:p>
        </p:txBody>
      </p:sp>
      <p:sp>
        <p:nvSpPr>
          <p:cNvPr id="51" name="S17_TextBox_50"/>
          <p:cNvSpPr txBox="1"/>
          <p:nvPr/>
        </p:nvSpPr>
        <p:spPr>
          <a:xfrm>
            <a:off x="3858768" y="2194560"/>
            <a:ext cx="667512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50">
                <a:solidFill>
                  <a:srgbClr val="A6B5D1"/>
                </a:solidFill>
                <a:latin typeface="Segoe UI"/>
              </a:rPr>
              <a:t>Quyền tuyệt đối trong chu trình sấy lồng</a:t>
            </a:r>
          </a:p>
        </p:txBody>
      </p:sp>
      <p:sp>
        <p:nvSpPr>
          <p:cNvPr id="52" name="S17_Rounded_Rectangle_51"/>
          <p:cNvSpPr/>
          <p:nvPr/>
        </p:nvSpPr>
        <p:spPr>
          <a:xfrm>
            <a:off x="1417320" y="2834640"/>
            <a:ext cx="8851392" cy="64008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7_Rounded_Rectangle_52"/>
          <p:cNvSpPr/>
          <p:nvPr/>
        </p:nvSpPr>
        <p:spPr>
          <a:xfrm>
            <a:off x="1563624" y="2999232"/>
            <a:ext cx="45720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7_TextBox_53"/>
          <p:cNvSpPr txBox="1"/>
          <p:nvPr/>
        </p:nvSpPr>
        <p:spPr>
          <a:xfrm>
            <a:off x="1563624" y="3035808"/>
            <a:ext cx="45720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15E6FF"/>
                </a:solidFill>
                <a:latin typeface="Segoe UI Semibold"/>
              </a:rPr>
              <a:t>02</a:t>
            </a:r>
          </a:p>
        </p:txBody>
      </p:sp>
      <p:sp>
        <p:nvSpPr>
          <p:cNvPr id="55" name="S17_TextBox_54"/>
          <p:cNvSpPr txBox="1"/>
          <p:nvPr/>
        </p:nvSpPr>
        <p:spPr>
          <a:xfrm>
            <a:off x="2185416" y="29900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spc="20">
                <a:solidFill>
                  <a:srgbClr val="F7FAFF"/>
                </a:solidFill>
                <a:latin typeface="Segoe UI Semibold"/>
              </a:rPr>
              <a:t>VACUUM CONTROL</a:t>
            </a:r>
          </a:p>
        </p:txBody>
      </p:sp>
      <p:sp>
        <p:nvSpPr>
          <p:cNvPr id="56" name="S17_TextBox_55"/>
          <p:cNvSpPr txBox="1"/>
          <p:nvPr/>
        </p:nvSpPr>
        <p:spPr>
          <a:xfrm>
            <a:off x="4343400" y="2999232"/>
            <a:ext cx="5705856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50">
                <a:solidFill>
                  <a:srgbClr val="A6B5D1"/>
                </a:solidFill>
                <a:latin typeface="Segoe UI"/>
              </a:rPr>
              <a:t>Giữ Pa khi được bật và cảm biến hợp lệ</a:t>
            </a:r>
          </a:p>
        </p:txBody>
      </p:sp>
      <p:sp>
        <p:nvSpPr>
          <p:cNvPr id="57" name="S17_Rounded_Rectangle_56"/>
          <p:cNvSpPr/>
          <p:nvPr/>
        </p:nvSpPr>
        <p:spPr>
          <a:xfrm>
            <a:off x="1901952" y="3639312"/>
            <a:ext cx="7882127" cy="64008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7_Rounded_Rectangle_57"/>
          <p:cNvSpPr/>
          <p:nvPr/>
        </p:nvSpPr>
        <p:spPr>
          <a:xfrm>
            <a:off x="2048256" y="3803904"/>
            <a:ext cx="45720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17_TextBox_58"/>
          <p:cNvSpPr txBox="1"/>
          <p:nvPr/>
        </p:nvSpPr>
        <p:spPr>
          <a:xfrm>
            <a:off x="2048256" y="3840480"/>
            <a:ext cx="45720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4D7CFF"/>
                </a:solidFill>
                <a:latin typeface="Segoe UI Semibold"/>
              </a:rPr>
              <a:t>01</a:t>
            </a:r>
          </a:p>
        </p:txBody>
      </p:sp>
      <p:sp>
        <p:nvSpPr>
          <p:cNvPr id="60" name="S17_TextBox_59"/>
          <p:cNvSpPr txBox="1"/>
          <p:nvPr/>
        </p:nvSpPr>
        <p:spPr>
          <a:xfrm>
            <a:off x="2670048" y="37947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spc="20">
                <a:solidFill>
                  <a:srgbClr val="F7FAFF"/>
                </a:solidFill>
                <a:latin typeface="Segoe UI Semibold"/>
              </a:rPr>
              <a:t>ROAST PROFILE</a:t>
            </a:r>
          </a:p>
        </p:txBody>
      </p:sp>
      <p:sp>
        <p:nvSpPr>
          <p:cNvPr id="61" name="S17_TextBox_60"/>
          <p:cNvSpPr txBox="1"/>
          <p:nvPr/>
        </p:nvSpPr>
        <p:spPr>
          <a:xfrm>
            <a:off x="4828032" y="3803904"/>
            <a:ext cx="4736591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50">
                <a:solidFill>
                  <a:srgbClr val="A6B5D1"/>
                </a:solidFill>
                <a:latin typeface="Segoe UI"/>
              </a:rPr>
              <a:t>Phát lại Air% hoặc setpoint theo hồ sơ rang</a:t>
            </a:r>
          </a:p>
        </p:txBody>
      </p:sp>
      <p:sp>
        <p:nvSpPr>
          <p:cNvPr id="62" name="S17_Rounded_Rectangle_61"/>
          <p:cNvSpPr/>
          <p:nvPr/>
        </p:nvSpPr>
        <p:spPr>
          <a:xfrm>
            <a:off x="2386584" y="4443984"/>
            <a:ext cx="6912864" cy="64008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627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17_Rounded_Rectangle_62"/>
          <p:cNvSpPr/>
          <p:nvPr/>
        </p:nvSpPr>
        <p:spPr>
          <a:xfrm>
            <a:off x="2532888" y="4608576"/>
            <a:ext cx="45720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627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7_TextBox_63"/>
          <p:cNvSpPr txBox="1"/>
          <p:nvPr/>
        </p:nvSpPr>
        <p:spPr>
          <a:xfrm>
            <a:off x="2532888" y="4645152"/>
            <a:ext cx="45720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627392"/>
                </a:solidFill>
                <a:latin typeface="Segoe UI Semibold"/>
              </a:rPr>
              <a:t>00</a:t>
            </a:r>
          </a:p>
        </p:txBody>
      </p:sp>
      <p:sp>
        <p:nvSpPr>
          <p:cNvPr id="65" name="S17_TextBox_64"/>
          <p:cNvSpPr txBox="1"/>
          <p:nvPr/>
        </p:nvSpPr>
        <p:spPr>
          <a:xfrm>
            <a:off x="3154680" y="45994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spc="20">
                <a:solidFill>
                  <a:srgbClr val="F7FAFF"/>
                </a:solidFill>
                <a:latin typeface="Segoe UI Semibold"/>
              </a:rPr>
              <a:t>MANUAL / VR</a:t>
            </a:r>
          </a:p>
        </p:txBody>
      </p:sp>
      <p:sp>
        <p:nvSpPr>
          <p:cNvPr id="66" name="S17_TextBox_65"/>
          <p:cNvSpPr txBox="1"/>
          <p:nvPr/>
        </p:nvSpPr>
        <p:spPr>
          <a:xfrm>
            <a:off x="5312664" y="4608576"/>
            <a:ext cx="37673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50">
                <a:solidFill>
                  <a:srgbClr val="A6B5D1"/>
                </a:solidFill>
                <a:latin typeface="Segoe UI"/>
              </a:rPr>
              <a:t>Mặc định khi không có chế độ tự động giữ quyền</a:t>
            </a:r>
          </a:p>
        </p:txBody>
      </p:sp>
      <p:sp>
        <p:nvSpPr>
          <p:cNvPr id="67" name="S17_Rounded_Rectangle_66"/>
          <p:cNvSpPr/>
          <p:nvPr/>
        </p:nvSpPr>
        <p:spPr>
          <a:xfrm>
            <a:off x="3931920" y="5394960"/>
            <a:ext cx="4325112" cy="493776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17_TextBox_67"/>
          <p:cNvSpPr txBox="1"/>
          <p:nvPr/>
        </p:nvSpPr>
        <p:spPr>
          <a:xfrm>
            <a:off x="4133087" y="551383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35">
                <a:solidFill>
                  <a:srgbClr val="B9FF4A"/>
                </a:solidFill>
                <a:latin typeface="Consolas"/>
              </a:rPr>
              <a:t>ONE WRITER  →  airflowCommand  →  OUTPUT</a:t>
            </a:r>
          </a:p>
        </p:txBody>
      </p:sp>
      <p:sp>
        <p:nvSpPr>
          <p:cNvPr id="69" name="S17_Freeform_68"/>
          <p:cNvSpPr/>
          <p:nvPr/>
        </p:nvSpPr>
        <p:spPr>
          <a:xfrm>
            <a:off x="6094476" y="2670048"/>
            <a:ext cx="0" cy="2706624"/>
          </a:xfrm>
          <a:custGeom>
            <a:avLst/>
            <a:gdLst/>
            <a:ahLst/>
            <a:cxnLst/>
            <a:rect l="l" t="t" r="r" b="b"/>
            <a:pathLst>
              <a:path w="0" h="2706624">
                <a:moveTo>
                  <a:pt x="0" y="0"/>
                </a:moveTo>
                <a:lnTo>
                  <a:pt x="0" y="2706624"/>
                </a:lnTo>
              </a:path>
            </a:pathLst>
          </a:custGeom>
          <a:noFill/>
          <a:ln w="14604">
            <a:solidFill>
              <a:srgbClr val="FF557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7_Freeform_69"/>
          <p:cNvSpPr/>
          <p:nvPr/>
        </p:nvSpPr>
        <p:spPr>
          <a:xfrm>
            <a:off x="6094476" y="3474720"/>
            <a:ext cx="0" cy="1901952"/>
          </a:xfrm>
          <a:custGeom>
            <a:avLst/>
            <a:gdLst/>
            <a:ahLst/>
            <a:cxnLst/>
            <a:rect l="l" t="t" r="r" b="b"/>
            <a:pathLst>
              <a:path w="0" h="1901952">
                <a:moveTo>
                  <a:pt x="0" y="0"/>
                </a:moveTo>
                <a:lnTo>
                  <a:pt x="0" y="1901952"/>
                </a:lnTo>
              </a:path>
            </a:pathLst>
          </a:custGeom>
          <a:noFill/>
          <a:ln w="14604">
            <a:solidFill>
              <a:srgbClr val="15E6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17_Freeform_70"/>
          <p:cNvSpPr/>
          <p:nvPr/>
        </p:nvSpPr>
        <p:spPr>
          <a:xfrm>
            <a:off x="6094476" y="4279392"/>
            <a:ext cx="0" cy="1097280"/>
          </a:xfrm>
          <a:custGeom>
            <a:avLst/>
            <a:gdLst/>
            <a:ahLst/>
            <a:cxnLst/>
            <a:rect l="l" t="t" r="r" b="b"/>
            <a:pathLst>
              <a:path w="0" h="1097280">
                <a:moveTo>
                  <a:pt x="0" y="0"/>
                </a:moveTo>
                <a:lnTo>
                  <a:pt x="0" y="1097280"/>
                </a:lnTo>
              </a:path>
            </a:pathLst>
          </a:custGeom>
          <a:noFill/>
          <a:ln w="14604">
            <a:solidFill>
              <a:srgbClr val="4D7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17_Freeform_71"/>
          <p:cNvSpPr/>
          <p:nvPr/>
        </p:nvSpPr>
        <p:spPr>
          <a:xfrm>
            <a:off x="6094476" y="5084064"/>
            <a:ext cx="0" cy="292608"/>
          </a:xfrm>
          <a:custGeom>
            <a:avLst/>
            <a:gdLst/>
            <a:ahLst/>
            <a:cxnLst/>
            <a:rect l="l" t="t" r="r" b="b"/>
            <a:pathLst>
              <a:path w="0" h="292608">
                <a:moveTo>
                  <a:pt x="0" y="0"/>
                </a:moveTo>
                <a:lnTo>
                  <a:pt x="0" y="292608"/>
                </a:lnTo>
              </a:path>
            </a:pathLst>
          </a:custGeom>
          <a:noFill/>
          <a:ln w="14604">
            <a:solidFill>
              <a:srgbClr val="62739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4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6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6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6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6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6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6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6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6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SAFETY  /  FAULT CONTAINMENT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Mất số đo không được thành mất lực hút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Nguyên tắc trên PLC: giữ mức gió an toàn, báo lỗi rõ ràng, và không để đầu ra rơi về 0%.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18/20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9235440" y="-2560320"/>
            <a:ext cx="5760720" cy="5760720"/>
          </a:xfrm>
          <a:prstGeom prst="ellipse">
            <a:avLst/>
          </a:prstGeom>
          <a:gradFill rotWithShape="1">
            <a:gsLst>
              <a:gs pos="0">
                <a:srgbClr val="FF5576">
                  <a:alpha val="17000"/>
                </a:srgbClr>
              </a:gs>
              <a:gs pos="55000">
                <a:srgbClr val="FF5576">
                  <a:alpha val="5950"/>
                </a:srgbClr>
              </a:gs>
              <a:gs pos="100000">
                <a:srgbClr val="FF55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8_Rounded_Rectangle_46"/>
          <p:cNvSpPr/>
          <p:nvPr/>
        </p:nvSpPr>
        <p:spPr>
          <a:xfrm>
            <a:off x="694944" y="2029968"/>
            <a:ext cx="3035808" cy="3383280"/>
          </a:xfrm>
          <a:prstGeom prst="roundRect">
            <a:avLst>
              <a:gd name="adj" fmla="val 6000"/>
            </a:avLst>
          </a:prstGeom>
          <a:solidFill>
            <a:srgbClr val="111D3A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8_Rounded_Rectangle_47"/>
          <p:cNvSpPr/>
          <p:nvPr/>
        </p:nvSpPr>
        <p:spPr>
          <a:xfrm>
            <a:off x="987552" y="2313432"/>
            <a:ext cx="144475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8_TextBox_48"/>
          <p:cNvSpPr txBox="1"/>
          <p:nvPr/>
        </p:nvSpPr>
        <p:spPr>
          <a:xfrm>
            <a:off x="987552" y="2350008"/>
            <a:ext cx="144475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SAFE OUTPUT</a:t>
            </a:r>
          </a:p>
        </p:txBody>
      </p:sp>
      <p:sp>
        <p:nvSpPr>
          <p:cNvPr id="50" name="S18_Oval_49"/>
          <p:cNvSpPr/>
          <p:nvPr/>
        </p:nvSpPr>
        <p:spPr>
          <a:xfrm>
            <a:off x="1179576" y="2651760"/>
            <a:ext cx="2066543" cy="2066543"/>
          </a:xfrm>
          <a:prstGeom prst="ellipse">
            <a:avLst/>
          </a:prstGeom>
          <a:solidFill>
            <a:srgbClr val="091224">
              <a:alpha val="96000"/>
            </a:srgbClr>
          </a:solidFill>
          <a:ln w="1397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18_Oval_50"/>
          <p:cNvSpPr/>
          <p:nvPr/>
        </p:nvSpPr>
        <p:spPr>
          <a:xfrm>
            <a:off x="1427562" y="2899746"/>
            <a:ext cx="1570572" cy="1570572"/>
          </a:xfrm>
          <a:prstGeom prst="ellipse">
            <a:avLst/>
          </a:prstGeom>
          <a:noFill/>
          <a:ln w="381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8_Freeform_51"/>
          <p:cNvSpPr/>
          <p:nvPr/>
        </p:nvSpPr>
        <p:spPr>
          <a:xfrm>
            <a:off x="2212848" y="3685032"/>
            <a:ext cx="638190" cy="55834"/>
          </a:xfrm>
          <a:custGeom>
            <a:avLst/>
            <a:gdLst/>
            <a:ahLst/>
            <a:cxnLst/>
            <a:rect l="l" t="t" r="r" b="b"/>
            <a:pathLst>
              <a:path w="638190" h="55834">
                <a:moveTo>
                  <a:pt x="0" y="0"/>
                </a:moveTo>
                <a:lnTo>
                  <a:pt x="638190" y="55834"/>
                </a:lnTo>
              </a:path>
            </a:pathLst>
          </a:custGeom>
          <a:noFill/>
          <a:ln w="4064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18_Oval_52"/>
          <p:cNvSpPr/>
          <p:nvPr/>
        </p:nvSpPr>
        <p:spPr>
          <a:xfrm>
            <a:off x="2157984" y="3630168"/>
            <a:ext cx="109728" cy="109728"/>
          </a:xfrm>
          <a:prstGeom prst="ellipse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8_TextBox_53"/>
          <p:cNvSpPr txBox="1"/>
          <p:nvPr/>
        </p:nvSpPr>
        <p:spPr>
          <a:xfrm>
            <a:off x="1179577" y="3429000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F7FAFF"/>
                </a:solidFill>
                <a:latin typeface="Bahnschrift SemiBold Condensed"/>
              </a:rPr>
              <a:t>60%</a:t>
            </a:r>
          </a:p>
        </p:txBody>
      </p:sp>
      <p:sp>
        <p:nvSpPr>
          <p:cNvPr id="55" name="S18_TextBox_54"/>
          <p:cNvSpPr txBox="1"/>
          <p:nvPr/>
        </p:nvSpPr>
        <p:spPr>
          <a:xfrm>
            <a:off x="1179577" y="3959352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spc="130">
                <a:solidFill>
                  <a:srgbClr val="B9FF4A"/>
                </a:solidFill>
                <a:latin typeface="Segoe UI Semibold"/>
              </a:rPr>
              <a:t>AIR ON FAULT</a:t>
            </a:r>
          </a:p>
        </p:txBody>
      </p:sp>
      <p:sp>
        <p:nvSpPr>
          <p:cNvPr id="56" name="S18_TextBox_55"/>
          <p:cNvSpPr txBox="1"/>
          <p:nvPr/>
        </p:nvSpPr>
        <p:spPr>
          <a:xfrm>
            <a:off x="987552" y="4901184"/>
            <a:ext cx="245059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spc="120">
                <a:solidFill>
                  <a:srgbClr val="FF5576"/>
                </a:solidFill>
                <a:latin typeface="Segoe UI Semibold"/>
              </a:rPr>
              <a:t>KHÔNG VỀ 0%</a:t>
            </a:r>
          </a:p>
        </p:txBody>
      </p:sp>
      <p:sp>
        <p:nvSpPr>
          <p:cNvPr id="57" name="S18_Rounded_Rectangle_56"/>
          <p:cNvSpPr/>
          <p:nvPr/>
        </p:nvSpPr>
        <p:spPr>
          <a:xfrm>
            <a:off x="4041648" y="2029968"/>
            <a:ext cx="3419856" cy="142646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8_TextBox_57"/>
          <p:cNvSpPr txBox="1"/>
          <p:nvPr/>
        </p:nvSpPr>
        <p:spPr>
          <a:xfrm>
            <a:off x="4270248" y="2212848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FF5576"/>
                </a:solidFill>
                <a:latin typeface="Bahnschrift SemiBold Condensed"/>
              </a:rPr>
              <a:t>5×</a:t>
            </a:r>
          </a:p>
        </p:txBody>
      </p:sp>
      <p:sp>
        <p:nvSpPr>
          <p:cNvPr id="59" name="S18_TextBox_58"/>
          <p:cNvSpPr txBox="1"/>
          <p:nvPr/>
        </p:nvSpPr>
        <p:spPr>
          <a:xfrm>
            <a:off x="5047488" y="2212848"/>
            <a:ext cx="211226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spc="100">
                <a:solidFill>
                  <a:srgbClr val="FF5576"/>
                </a:solidFill>
                <a:latin typeface="Segoe UI Semibold"/>
              </a:rPr>
              <a:t>MODBUS FAIL</a:t>
            </a:r>
          </a:p>
        </p:txBody>
      </p:sp>
      <p:sp>
        <p:nvSpPr>
          <p:cNvPr id="60" name="S18_TextBox_59"/>
          <p:cNvSpPr txBox="1"/>
          <p:nvPr/>
        </p:nvSpPr>
        <p:spPr>
          <a:xfrm>
            <a:off x="5047488" y="2532888"/>
            <a:ext cx="2112264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A6B5D1"/>
                </a:solidFill>
                <a:latin typeface="Segoe UI"/>
              </a:rPr>
              <a:t>Giữ PV cuối; đủ ngưỡng thì fault và chuyển gió an toàn.</a:t>
            </a:r>
          </a:p>
        </p:txBody>
      </p:sp>
      <p:sp>
        <p:nvSpPr>
          <p:cNvPr id="61" name="S18_Rounded_Rectangle_60"/>
          <p:cNvSpPr/>
          <p:nvPr/>
        </p:nvSpPr>
        <p:spPr>
          <a:xfrm>
            <a:off x="7754111" y="2029968"/>
            <a:ext cx="3419856" cy="142646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18_TextBox_61"/>
          <p:cNvSpPr txBox="1"/>
          <p:nvPr/>
        </p:nvSpPr>
        <p:spPr>
          <a:xfrm>
            <a:off x="7982711" y="2212848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FFC857"/>
                </a:solidFill>
                <a:latin typeface="Bahnschrift SemiBold Condensed"/>
              </a:rPr>
              <a:t>20s</a:t>
            </a:r>
          </a:p>
        </p:txBody>
      </p:sp>
      <p:sp>
        <p:nvSpPr>
          <p:cNvPr id="63" name="S18_TextBox_62"/>
          <p:cNvSpPr txBox="1"/>
          <p:nvPr/>
        </p:nvSpPr>
        <p:spPr>
          <a:xfrm>
            <a:off x="8759951" y="2212848"/>
            <a:ext cx="211226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spc="100">
                <a:solidFill>
                  <a:srgbClr val="FFC857"/>
                </a:solidFill>
                <a:latin typeface="Segoe UI Semibold"/>
              </a:rPr>
              <a:t>RAW STUCK</a:t>
            </a:r>
          </a:p>
        </p:txBody>
      </p:sp>
      <p:sp>
        <p:nvSpPr>
          <p:cNvPr id="64" name="S18_TextBox_63"/>
          <p:cNvSpPr txBox="1"/>
          <p:nvPr/>
        </p:nvSpPr>
        <p:spPr>
          <a:xfrm>
            <a:off x="8759951" y="2532888"/>
            <a:ext cx="2112264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A6B5D1"/>
                </a:solidFill>
                <a:latin typeface="Segoe UI"/>
              </a:rPr>
              <a:t>Air% đổi mà raw đứng im: nghi cảm biến hoặc ống đo lỗi.</a:t>
            </a:r>
          </a:p>
        </p:txBody>
      </p:sp>
      <p:sp>
        <p:nvSpPr>
          <p:cNvPr id="65" name="S18_Rounded_Rectangle_64"/>
          <p:cNvSpPr/>
          <p:nvPr/>
        </p:nvSpPr>
        <p:spPr>
          <a:xfrm>
            <a:off x="4041648" y="3721608"/>
            <a:ext cx="3419856" cy="142646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8_TextBox_65"/>
          <p:cNvSpPr txBox="1"/>
          <p:nvPr/>
        </p:nvSpPr>
        <p:spPr>
          <a:xfrm>
            <a:off x="4270248" y="3904488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8B5CFF"/>
                </a:solidFill>
                <a:latin typeface="Bahnschrift SemiBold Condensed"/>
              </a:rPr>
              <a:t>0</a:t>
            </a:r>
          </a:p>
        </p:txBody>
      </p:sp>
      <p:sp>
        <p:nvSpPr>
          <p:cNvPr id="67" name="S18_TextBox_66"/>
          <p:cNvSpPr txBox="1"/>
          <p:nvPr/>
        </p:nvSpPr>
        <p:spPr>
          <a:xfrm>
            <a:off x="5047488" y="3904488"/>
            <a:ext cx="211226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spc="100">
                <a:solidFill>
                  <a:srgbClr val="8B5CFF"/>
                </a:solidFill>
                <a:latin typeface="Segoe UI Semibold"/>
              </a:rPr>
              <a:t>RAW AT ZERO</a:t>
            </a:r>
          </a:p>
        </p:txBody>
      </p:sp>
      <p:sp>
        <p:nvSpPr>
          <p:cNvPr id="68" name="S18_TextBox_67"/>
          <p:cNvSpPr txBox="1"/>
          <p:nvPr/>
        </p:nvSpPr>
        <p:spPr>
          <a:xfrm>
            <a:off x="5047488" y="4224528"/>
            <a:ext cx="2112264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A6B5D1"/>
                </a:solidFill>
                <a:latin typeface="Segoe UI"/>
              </a:rPr>
              <a:t>Quạt &gt;50% mà raw bám 0: nghi đứt dây 4–20 mA.</a:t>
            </a:r>
          </a:p>
        </p:txBody>
      </p:sp>
      <p:sp>
        <p:nvSpPr>
          <p:cNvPr id="69" name="S18_Rounded_Rectangle_68"/>
          <p:cNvSpPr/>
          <p:nvPr/>
        </p:nvSpPr>
        <p:spPr>
          <a:xfrm>
            <a:off x="7754111" y="3721608"/>
            <a:ext cx="3419856" cy="1426464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243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8_TextBox_69"/>
          <p:cNvSpPr txBox="1"/>
          <p:nvPr/>
        </p:nvSpPr>
        <p:spPr>
          <a:xfrm>
            <a:off x="7982711" y="3904488"/>
            <a:ext cx="658368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700" spc="-40">
                <a:solidFill>
                  <a:srgbClr val="4D7CFF"/>
                </a:solidFill>
                <a:latin typeface="Bahnschrift SemiBold Condensed"/>
              </a:rPr>
              <a:t>60</a:t>
            </a:r>
          </a:p>
        </p:txBody>
      </p:sp>
      <p:sp>
        <p:nvSpPr>
          <p:cNvPr id="71" name="S18_TextBox_70"/>
          <p:cNvSpPr txBox="1"/>
          <p:nvPr/>
        </p:nvSpPr>
        <p:spPr>
          <a:xfrm>
            <a:off x="8759951" y="3904488"/>
            <a:ext cx="211226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spc="100">
                <a:solidFill>
                  <a:srgbClr val="4D7CFF"/>
                </a:solidFill>
                <a:latin typeface="Segoe UI Semibold"/>
              </a:rPr>
              <a:t>TABLE FULL</a:t>
            </a:r>
          </a:p>
        </p:txBody>
      </p:sp>
      <p:sp>
        <p:nvSpPr>
          <p:cNvPr id="72" name="S18_TextBox_71"/>
          <p:cNvSpPr txBox="1"/>
          <p:nvPr/>
        </p:nvSpPr>
        <p:spPr>
          <a:xfrm>
            <a:off x="8759951" y="4224528"/>
            <a:ext cx="2112264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>
                <a:solidFill>
                  <a:srgbClr val="A6B5D1"/>
                </a:solidFill>
                <a:latin typeface="Segoe UI"/>
              </a:rPr>
              <a:t>Bảng FF đầy phải báo HMI; không được âm thầm bỏ điểm.</a:t>
            </a:r>
          </a:p>
        </p:txBody>
      </p:sp>
      <p:sp>
        <p:nvSpPr>
          <p:cNvPr id="73" name="S18_TextBox_72"/>
          <p:cNvSpPr txBox="1"/>
          <p:nvPr/>
        </p:nvSpPr>
        <p:spPr>
          <a:xfrm>
            <a:off x="658368" y="565099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>
                <a:solidFill>
                  <a:srgbClr val="B9FF4A"/>
                </a:solidFill>
                <a:latin typeface="Segoe UI Semibold"/>
              </a:rPr>
              <a:t>FAIL-SAFE là một trạng thái điều khiển có chủ đích — không phải giá trị mặc định sau lỗi.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6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6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6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KICKER"/>
          <p:cNvSpPr txBox="1"/>
          <p:nvPr/>
        </p:nvSpPr>
        <p:spPr>
          <a:xfrm>
            <a:off x="658368" y="384048"/>
            <a:ext cx="4572000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65">
                <a:solidFill>
                  <a:srgbClr val="15E6FF"/>
                </a:solidFill>
                <a:latin typeface="Segoe UI Semibold"/>
              </a:rPr>
              <a:t>COMMISSION  /  RELEASE GATES</a:t>
            </a:r>
          </a:p>
        </p:txBody>
      </p:sp>
      <p:sp>
        <p:nvSpPr>
          <p:cNvPr id="22" name="CHROME_HEADING"/>
          <p:cNvSpPr txBox="1"/>
          <p:nvPr/>
        </p:nvSpPr>
        <p:spPr>
          <a:xfrm>
            <a:off x="658368" y="713232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800" spc="-80">
                <a:solidFill>
                  <a:srgbClr val="F7FAFF"/>
                </a:solidFill>
                <a:latin typeface="Segoe UI Black"/>
              </a:rPr>
              <a:t>Chỉ bàn giao khi đã vượt đủ năm cổng</a:t>
            </a:r>
          </a:p>
        </p:txBody>
      </p:sp>
      <p:sp>
        <p:nvSpPr>
          <p:cNvPr id="23" name="CHROME_SUB"/>
          <p:cNvSpPr txBox="1"/>
          <p:nvPr/>
        </p:nvSpPr>
        <p:spPr>
          <a:xfrm>
            <a:off x="658368" y="1399032"/>
            <a:ext cx="1087495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A6B5D1"/>
                </a:solidFill>
                <a:latin typeface="Segoe UI"/>
              </a:rPr>
              <a:t>Mỗi cổng phải có bằng chứng đo hoặc thử lỗi. Không chấp nhận kết luận “chắc là đúng”.</a:t>
            </a:r>
          </a:p>
        </p:txBody>
      </p:sp>
      <p:sp>
        <p:nvSpPr>
          <p:cNvPr id="24" name="CHROME_PROG"/>
          <p:cNvSpPr/>
          <p:nvPr/>
        </p:nvSpPr>
        <p:spPr>
          <a:xfrm>
            <a:off x="65836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_PROG"/>
          <p:cNvSpPr/>
          <p:nvPr/>
        </p:nvSpPr>
        <p:spPr>
          <a:xfrm>
            <a:off x="120371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_PROG"/>
          <p:cNvSpPr/>
          <p:nvPr/>
        </p:nvSpPr>
        <p:spPr>
          <a:xfrm>
            <a:off x="174906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_PROG"/>
          <p:cNvSpPr/>
          <p:nvPr/>
        </p:nvSpPr>
        <p:spPr>
          <a:xfrm>
            <a:off x="229441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_PROG"/>
          <p:cNvSpPr/>
          <p:nvPr/>
        </p:nvSpPr>
        <p:spPr>
          <a:xfrm>
            <a:off x="283976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_PROG"/>
          <p:cNvSpPr/>
          <p:nvPr/>
        </p:nvSpPr>
        <p:spPr>
          <a:xfrm>
            <a:off x="338510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_PROG"/>
          <p:cNvSpPr/>
          <p:nvPr/>
        </p:nvSpPr>
        <p:spPr>
          <a:xfrm>
            <a:off x="393045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_PROG"/>
          <p:cNvSpPr/>
          <p:nvPr/>
        </p:nvSpPr>
        <p:spPr>
          <a:xfrm>
            <a:off x="447580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_PROG"/>
          <p:cNvSpPr/>
          <p:nvPr/>
        </p:nvSpPr>
        <p:spPr>
          <a:xfrm>
            <a:off x="502115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_PROG"/>
          <p:cNvSpPr/>
          <p:nvPr/>
        </p:nvSpPr>
        <p:spPr>
          <a:xfrm>
            <a:off x="556650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_PROG"/>
          <p:cNvSpPr/>
          <p:nvPr/>
        </p:nvSpPr>
        <p:spPr>
          <a:xfrm>
            <a:off x="611184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_PROG"/>
          <p:cNvSpPr/>
          <p:nvPr/>
        </p:nvSpPr>
        <p:spPr>
          <a:xfrm>
            <a:off x="665719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_PROG"/>
          <p:cNvSpPr/>
          <p:nvPr/>
        </p:nvSpPr>
        <p:spPr>
          <a:xfrm>
            <a:off x="720254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_PROG"/>
          <p:cNvSpPr/>
          <p:nvPr/>
        </p:nvSpPr>
        <p:spPr>
          <a:xfrm>
            <a:off x="7747892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_PROG"/>
          <p:cNvSpPr/>
          <p:nvPr/>
        </p:nvSpPr>
        <p:spPr>
          <a:xfrm>
            <a:off x="8293240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_PROG"/>
          <p:cNvSpPr/>
          <p:nvPr/>
        </p:nvSpPr>
        <p:spPr>
          <a:xfrm>
            <a:off x="8838588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ROME_PROG"/>
          <p:cNvSpPr/>
          <p:nvPr/>
        </p:nvSpPr>
        <p:spPr>
          <a:xfrm>
            <a:off x="9383936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ROME_PROG"/>
          <p:cNvSpPr/>
          <p:nvPr/>
        </p:nvSpPr>
        <p:spPr>
          <a:xfrm>
            <a:off x="9929284" y="6620256"/>
            <a:ext cx="513344" cy="32004"/>
          </a:xfrm>
          <a:prstGeom prst="rect">
            <a:avLst/>
          </a:prstGeom>
          <a:solidFill>
            <a:srgbClr val="15E6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_PROG"/>
          <p:cNvSpPr/>
          <p:nvPr/>
        </p:nvSpPr>
        <p:spPr>
          <a:xfrm>
            <a:off x="10474632" y="6620256"/>
            <a:ext cx="513344" cy="32004"/>
          </a:xfrm>
          <a:prstGeom prst="rect">
            <a:avLst/>
          </a:prstGeom>
          <a:solidFill>
            <a:srgbClr val="15E6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ROME_PROG"/>
          <p:cNvSpPr/>
          <p:nvPr/>
        </p:nvSpPr>
        <p:spPr>
          <a:xfrm>
            <a:off x="11019980" y="6620256"/>
            <a:ext cx="513344" cy="32004"/>
          </a:xfrm>
          <a:prstGeom prst="rect">
            <a:avLst/>
          </a:prstGeom>
          <a:solidFill>
            <a:srgbClr val="243457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ROME_FOOT"/>
          <p:cNvSpPr txBox="1"/>
          <p:nvPr/>
        </p:nvSpPr>
        <p:spPr>
          <a:xfrm>
            <a:off x="658368" y="630936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spc="90">
                <a:solidFill>
                  <a:srgbClr val="627392"/>
                </a:solidFill>
                <a:latin typeface="Segoe UI"/>
              </a:rPr>
              <a:t>O TESLA  ·  VACUUM CONTROL</a:t>
            </a:r>
          </a:p>
        </p:txBody>
      </p:sp>
      <p:sp>
        <p:nvSpPr>
          <p:cNvPr id="45" name="CHROME_FOOT2"/>
          <p:cNvSpPr txBox="1"/>
          <p:nvPr/>
        </p:nvSpPr>
        <p:spPr>
          <a:xfrm>
            <a:off x="9978847" y="6309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30" spc="50">
                <a:solidFill>
                  <a:srgbClr val="A6B5D1"/>
                </a:solidFill>
                <a:latin typeface="Segoe UI Semibold"/>
              </a:rPr>
              <a:t>19/20</a:t>
            </a:r>
          </a:p>
        </p:txBody>
      </p:sp>
      <p:sp>
        <p:nvSpPr>
          <p:cNvPr id="46" name="CHROME_FLOW_ORB"/>
          <p:cNvSpPr/>
          <p:nvPr/>
        </p:nvSpPr>
        <p:spPr>
          <a:xfrm>
            <a:off x="-2011680" y="-2286000"/>
            <a:ext cx="5029200" cy="5029200"/>
          </a:xfrm>
          <a:prstGeom prst="ellipse">
            <a:avLst/>
          </a:prstGeom>
          <a:gradFill rotWithShape="1">
            <a:gsLst>
              <a:gs pos="0">
                <a:srgbClr val="FFC857">
                  <a:alpha val="14000"/>
                </a:srgbClr>
              </a:gs>
              <a:gs pos="55000">
                <a:srgbClr val="FFC857">
                  <a:alpha val="4900"/>
                </a:srgbClr>
              </a:gs>
              <a:gs pos="100000">
                <a:srgbClr val="FFC8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19_Rounded_Rectangle_46"/>
          <p:cNvSpPr/>
          <p:nvPr/>
        </p:nvSpPr>
        <p:spPr>
          <a:xfrm>
            <a:off x="566928" y="1993392"/>
            <a:ext cx="2139696" cy="219456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19_Rounded_Rectangle_47"/>
          <p:cNvSpPr/>
          <p:nvPr/>
        </p:nvSpPr>
        <p:spPr>
          <a:xfrm>
            <a:off x="768096" y="2249424"/>
            <a:ext cx="48463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9_TextBox_48"/>
          <p:cNvSpPr txBox="1"/>
          <p:nvPr/>
        </p:nvSpPr>
        <p:spPr>
          <a:xfrm>
            <a:off x="768096" y="2286000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15E6FF"/>
                </a:solidFill>
                <a:latin typeface="Segoe UI Semibold"/>
              </a:rPr>
              <a:t>01</a:t>
            </a:r>
          </a:p>
        </p:txBody>
      </p:sp>
      <p:sp>
        <p:nvSpPr>
          <p:cNvPr id="50" name="S19_TextBox_49"/>
          <p:cNvSpPr txBox="1"/>
          <p:nvPr/>
        </p:nvSpPr>
        <p:spPr>
          <a:xfrm>
            <a:off x="768096" y="2715768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 spc="40">
                <a:solidFill>
                  <a:srgbClr val="F7FAFF"/>
                </a:solidFill>
                <a:latin typeface="Segoe UI Semibold"/>
              </a:rPr>
              <a:t>HARDWARE</a:t>
            </a:r>
          </a:p>
        </p:txBody>
      </p:sp>
      <p:sp>
        <p:nvSpPr>
          <p:cNvPr id="51" name="S19_Rectangle_50"/>
          <p:cNvSpPr/>
          <p:nvPr/>
        </p:nvSpPr>
        <p:spPr>
          <a:xfrm>
            <a:off x="1069848" y="3136392"/>
            <a:ext cx="1133856" cy="33020"/>
          </a:xfrm>
          <a:prstGeom prst="rect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19_TextBox_51"/>
          <p:cNvSpPr txBox="1"/>
          <p:nvPr/>
        </p:nvSpPr>
        <p:spPr>
          <a:xfrm>
            <a:off x="768096" y="34107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sz="1040">
                <a:solidFill>
                  <a:srgbClr val="A6B5D1"/>
                </a:solidFill>
                <a:latin typeface="Segoe UI"/>
              </a:rPr>
              <a:t>ACI đúng dòng/áp · shield một đầu · 120Ω hai đầu</a:t>
            </a:r>
          </a:p>
        </p:txBody>
      </p:sp>
      <p:sp>
        <p:nvSpPr>
          <p:cNvPr id="53" name="S19_Rounded_Rectangle_52"/>
          <p:cNvSpPr/>
          <p:nvPr/>
        </p:nvSpPr>
        <p:spPr>
          <a:xfrm>
            <a:off x="2889504" y="1993392"/>
            <a:ext cx="2139696" cy="219456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9_Rounded_Rectangle_53"/>
          <p:cNvSpPr/>
          <p:nvPr/>
        </p:nvSpPr>
        <p:spPr>
          <a:xfrm>
            <a:off x="3090672" y="2249424"/>
            <a:ext cx="48463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19_TextBox_54"/>
          <p:cNvSpPr txBox="1"/>
          <p:nvPr/>
        </p:nvSpPr>
        <p:spPr>
          <a:xfrm>
            <a:off x="3090672" y="2286000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4D7CFF"/>
                </a:solidFill>
                <a:latin typeface="Segoe UI Semibold"/>
              </a:rPr>
              <a:t>02</a:t>
            </a:r>
          </a:p>
        </p:txBody>
      </p:sp>
      <p:sp>
        <p:nvSpPr>
          <p:cNvPr id="56" name="S19_TextBox_55"/>
          <p:cNvSpPr txBox="1"/>
          <p:nvPr/>
        </p:nvSpPr>
        <p:spPr>
          <a:xfrm>
            <a:off x="3090672" y="2715768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 spc="40">
                <a:solidFill>
                  <a:srgbClr val="F7FAFF"/>
                </a:solidFill>
                <a:latin typeface="Segoe UI Semibold"/>
              </a:rPr>
              <a:t>DRIVE</a:t>
            </a:r>
          </a:p>
        </p:txBody>
      </p:sp>
      <p:sp>
        <p:nvSpPr>
          <p:cNvPr id="57" name="S19_Rectangle_56"/>
          <p:cNvSpPr/>
          <p:nvPr/>
        </p:nvSpPr>
        <p:spPr>
          <a:xfrm>
            <a:off x="3392424" y="3136392"/>
            <a:ext cx="1133856" cy="33020"/>
          </a:xfrm>
          <a:prstGeom prst="rect">
            <a:avLst/>
          </a:prstGeom>
          <a:solidFill>
            <a:srgbClr val="4D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19_TextBox_57"/>
          <p:cNvSpPr txBox="1"/>
          <p:nvPr/>
        </p:nvSpPr>
        <p:spPr>
          <a:xfrm>
            <a:off x="3090672" y="34107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sz="1040">
                <a:solidFill>
                  <a:srgbClr val="A6B5D1"/>
                </a:solidFill>
                <a:latin typeface="Segoe UI"/>
              </a:rPr>
              <a:t>Slave 5 · 38400 · ACI không tranh quyền tần số</a:t>
            </a:r>
          </a:p>
        </p:txBody>
      </p:sp>
      <p:sp>
        <p:nvSpPr>
          <p:cNvPr id="59" name="S19_Rounded_Rectangle_58"/>
          <p:cNvSpPr/>
          <p:nvPr/>
        </p:nvSpPr>
        <p:spPr>
          <a:xfrm>
            <a:off x="5212080" y="1993392"/>
            <a:ext cx="2139696" cy="219456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19_Rounded_Rectangle_59"/>
          <p:cNvSpPr/>
          <p:nvPr/>
        </p:nvSpPr>
        <p:spPr>
          <a:xfrm>
            <a:off x="5413248" y="2249424"/>
            <a:ext cx="48463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19_TextBox_60"/>
          <p:cNvSpPr txBox="1"/>
          <p:nvPr/>
        </p:nvSpPr>
        <p:spPr>
          <a:xfrm>
            <a:off x="5413248" y="2286000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8B5CFF"/>
                </a:solidFill>
                <a:latin typeface="Segoe UI Semibold"/>
              </a:rPr>
              <a:t>03</a:t>
            </a:r>
          </a:p>
        </p:txBody>
      </p:sp>
      <p:sp>
        <p:nvSpPr>
          <p:cNvPr id="62" name="S19_TextBox_61"/>
          <p:cNvSpPr txBox="1"/>
          <p:nvPr/>
        </p:nvSpPr>
        <p:spPr>
          <a:xfrm>
            <a:off x="5413248" y="2715768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 spc="40">
                <a:solidFill>
                  <a:srgbClr val="F7FAFF"/>
                </a:solidFill>
                <a:latin typeface="Segoe UI Semibold"/>
              </a:rPr>
              <a:t>DATA</a:t>
            </a:r>
          </a:p>
        </p:txBody>
      </p:sp>
      <p:sp>
        <p:nvSpPr>
          <p:cNvPr id="63" name="S19_Rectangle_62"/>
          <p:cNvSpPr/>
          <p:nvPr/>
        </p:nvSpPr>
        <p:spPr>
          <a:xfrm>
            <a:off x="5715000" y="3136392"/>
            <a:ext cx="1133856" cy="33020"/>
          </a:xfrm>
          <a:prstGeom prst="rect">
            <a:avLst/>
          </a:prstGeom>
          <a:solidFill>
            <a:srgbClr val="8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19_TextBox_63"/>
          <p:cNvSpPr txBox="1"/>
          <p:nvPr/>
        </p:nvSpPr>
        <p:spPr>
          <a:xfrm>
            <a:off x="5413248" y="34107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sz="1040">
                <a:solidFill>
                  <a:srgbClr val="A6B5D1"/>
                </a:solidFill>
                <a:latin typeface="Segoe UI"/>
              </a:rPr>
              <a:t>48717 trả 0…10000 · bịt/hở đổi đúng chiều</a:t>
            </a:r>
          </a:p>
        </p:txBody>
      </p:sp>
      <p:sp>
        <p:nvSpPr>
          <p:cNvPr id="65" name="S19_Rounded_Rectangle_64"/>
          <p:cNvSpPr/>
          <p:nvPr/>
        </p:nvSpPr>
        <p:spPr>
          <a:xfrm>
            <a:off x="7534656" y="1993392"/>
            <a:ext cx="2139696" cy="219456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19_Rounded_Rectangle_65"/>
          <p:cNvSpPr/>
          <p:nvPr/>
        </p:nvSpPr>
        <p:spPr>
          <a:xfrm>
            <a:off x="7735824" y="2249424"/>
            <a:ext cx="48463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19_TextBox_66"/>
          <p:cNvSpPr txBox="1"/>
          <p:nvPr/>
        </p:nvSpPr>
        <p:spPr>
          <a:xfrm>
            <a:off x="7735824" y="2286000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B9FF4A"/>
                </a:solidFill>
                <a:latin typeface="Segoe UI Semibold"/>
              </a:rPr>
              <a:t>04</a:t>
            </a:r>
          </a:p>
        </p:txBody>
      </p:sp>
      <p:sp>
        <p:nvSpPr>
          <p:cNvPr id="68" name="S19_TextBox_67"/>
          <p:cNvSpPr txBox="1"/>
          <p:nvPr/>
        </p:nvSpPr>
        <p:spPr>
          <a:xfrm>
            <a:off x="7735824" y="2715768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 spc="40">
                <a:solidFill>
                  <a:srgbClr val="F7FAFF"/>
                </a:solidFill>
                <a:latin typeface="Segoe UI Semibold"/>
              </a:rPr>
              <a:t>TUNE</a:t>
            </a:r>
          </a:p>
        </p:txBody>
      </p:sp>
      <p:sp>
        <p:nvSpPr>
          <p:cNvPr id="69" name="S19_Rectangle_68"/>
          <p:cNvSpPr/>
          <p:nvPr/>
        </p:nvSpPr>
        <p:spPr>
          <a:xfrm>
            <a:off x="8037576" y="3136392"/>
            <a:ext cx="1133856" cy="33020"/>
          </a:xfrm>
          <a:prstGeom prst="rect">
            <a:avLst/>
          </a:prstGeom>
          <a:solidFill>
            <a:srgbClr val="B9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9_TextBox_69"/>
          <p:cNvSpPr txBox="1"/>
          <p:nvPr/>
        </p:nvSpPr>
        <p:spPr>
          <a:xfrm>
            <a:off x="7735824" y="34107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sz="1040">
                <a:solidFill>
                  <a:srgbClr val="A6B5D1"/>
                </a:solidFill>
                <a:latin typeface="Segoe UI"/>
              </a:rPr>
              <a:t>51 điểm · bảng đơn điệu · dữ liệu còn sau mất điện</a:t>
            </a:r>
          </a:p>
        </p:txBody>
      </p:sp>
      <p:sp>
        <p:nvSpPr>
          <p:cNvPr id="71" name="S19_Rounded_Rectangle_70"/>
          <p:cNvSpPr/>
          <p:nvPr/>
        </p:nvSpPr>
        <p:spPr>
          <a:xfrm>
            <a:off x="9857232" y="1993392"/>
            <a:ext cx="2139696" cy="2194560"/>
          </a:xfrm>
          <a:prstGeom prst="roundRect">
            <a:avLst>
              <a:gd name="adj" fmla="val 6000"/>
            </a:avLst>
          </a:prstGeom>
          <a:solidFill>
            <a:srgbClr val="0E1730"/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19_Rounded_Rectangle_71"/>
          <p:cNvSpPr/>
          <p:nvPr/>
        </p:nvSpPr>
        <p:spPr>
          <a:xfrm>
            <a:off x="10058400" y="2249424"/>
            <a:ext cx="484632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19_TextBox_72"/>
          <p:cNvSpPr txBox="1"/>
          <p:nvPr/>
        </p:nvSpPr>
        <p:spPr>
          <a:xfrm>
            <a:off x="10058400" y="2286000"/>
            <a:ext cx="48463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spc="125">
                <a:solidFill>
                  <a:srgbClr val="FF5576"/>
                </a:solidFill>
                <a:latin typeface="Segoe UI Semibold"/>
              </a:rPr>
              <a:t>05</a:t>
            </a:r>
          </a:p>
        </p:txBody>
      </p:sp>
      <p:sp>
        <p:nvSpPr>
          <p:cNvPr id="74" name="S19_TextBox_73"/>
          <p:cNvSpPr txBox="1"/>
          <p:nvPr/>
        </p:nvSpPr>
        <p:spPr>
          <a:xfrm>
            <a:off x="10058400" y="2715768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50" spc="40">
                <a:solidFill>
                  <a:srgbClr val="F7FAFF"/>
                </a:solidFill>
                <a:latin typeface="Segoe UI Semibold"/>
              </a:rPr>
              <a:t>FAULT</a:t>
            </a:r>
          </a:p>
        </p:txBody>
      </p:sp>
      <p:sp>
        <p:nvSpPr>
          <p:cNvPr id="75" name="S19_Rectangle_74"/>
          <p:cNvSpPr/>
          <p:nvPr/>
        </p:nvSpPr>
        <p:spPr>
          <a:xfrm>
            <a:off x="10360152" y="3136392"/>
            <a:ext cx="1133856" cy="33020"/>
          </a:xfrm>
          <a:prstGeom prst="rect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19_TextBox_75"/>
          <p:cNvSpPr txBox="1"/>
          <p:nvPr/>
        </p:nvSpPr>
        <p:spPr>
          <a:xfrm>
            <a:off x="10058400" y="34107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</a:pPr>
            <a:r>
              <a:rPr sz="1040">
                <a:solidFill>
                  <a:srgbClr val="A6B5D1"/>
                </a:solidFill>
                <a:latin typeface="Segoe UI"/>
              </a:rPr>
              <a:t>Rút RS485 · rút sensor · xác nhận gió không về 0</a:t>
            </a:r>
          </a:p>
        </p:txBody>
      </p:sp>
      <p:sp>
        <p:nvSpPr>
          <p:cNvPr id="77" name="S19_Rounded_Rectangle_76"/>
          <p:cNvSpPr/>
          <p:nvPr/>
        </p:nvSpPr>
        <p:spPr>
          <a:xfrm>
            <a:off x="978408" y="4535424"/>
            <a:ext cx="10222992" cy="1051560"/>
          </a:xfrm>
          <a:prstGeom prst="roundRect">
            <a:avLst>
              <a:gd name="adj" fmla="val 6000"/>
            </a:avLst>
          </a:prstGeom>
          <a:solidFill>
            <a:srgbClr val="091224"/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19_Rounded_Rectangle_77"/>
          <p:cNvSpPr/>
          <p:nvPr/>
        </p:nvSpPr>
        <p:spPr>
          <a:xfrm>
            <a:off x="1234440" y="4745736"/>
            <a:ext cx="159105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FF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19_TextBox_78"/>
          <p:cNvSpPr txBox="1"/>
          <p:nvPr/>
        </p:nvSpPr>
        <p:spPr>
          <a:xfrm>
            <a:off x="1234440" y="4782312"/>
            <a:ext cx="159105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FF5576"/>
                </a:solidFill>
                <a:latin typeface="Segoe UI Semibold"/>
              </a:rPr>
              <a:t>RED TAGS</a:t>
            </a:r>
          </a:p>
        </p:txBody>
      </p:sp>
      <p:sp>
        <p:nvSpPr>
          <p:cNvPr id="80" name="S19_Oval_79"/>
          <p:cNvSpPr/>
          <p:nvPr/>
        </p:nvSpPr>
        <p:spPr>
          <a:xfrm>
            <a:off x="3017520" y="4956048"/>
            <a:ext cx="146304" cy="146304"/>
          </a:xfrm>
          <a:prstGeom prst="ellipse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19_TextBox_80"/>
          <p:cNvSpPr txBox="1"/>
          <p:nvPr/>
        </p:nvSpPr>
        <p:spPr>
          <a:xfrm>
            <a:off x="3255264" y="491032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80">
                <a:solidFill>
                  <a:srgbClr val="A6B5D1"/>
                </a:solidFill>
                <a:latin typeface="Segoe UI Semibold"/>
              </a:rPr>
              <a:t>0x220C đúng model</a:t>
            </a:r>
          </a:p>
        </p:txBody>
      </p:sp>
      <p:sp>
        <p:nvSpPr>
          <p:cNvPr id="82" name="S19_Oval_81"/>
          <p:cNvSpPr/>
          <p:nvPr/>
        </p:nvSpPr>
        <p:spPr>
          <a:xfrm>
            <a:off x="4937760" y="4956048"/>
            <a:ext cx="146304" cy="146304"/>
          </a:xfrm>
          <a:prstGeom prst="ellipse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19_TextBox_82"/>
          <p:cNvSpPr txBox="1"/>
          <p:nvPr/>
        </p:nvSpPr>
        <p:spPr>
          <a:xfrm>
            <a:off x="5175504" y="491032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80">
                <a:solidFill>
                  <a:srgbClr val="A6B5D1"/>
                </a:solidFill>
                <a:latin typeface="Segoe UI Semibold"/>
              </a:rPr>
              <a:t>Khung 8-N-1</a:t>
            </a:r>
          </a:p>
        </p:txBody>
      </p:sp>
      <p:sp>
        <p:nvSpPr>
          <p:cNvPr id="84" name="S19_Oval_83"/>
          <p:cNvSpPr/>
          <p:nvPr/>
        </p:nvSpPr>
        <p:spPr>
          <a:xfrm>
            <a:off x="6858000" y="4956048"/>
            <a:ext cx="146304" cy="146304"/>
          </a:xfrm>
          <a:prstGeom prst="ellipse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19_TextBox_84"/>
          <p:cNvSpPr txBox="1"/>
          <p:nvPr/>
        </p:nvSpPr>
        <p:spPr>
          <a:xfrm>
            <a:off x="7095744" y="491032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80">
                <a:solidFill>
                  <a:srgbClr val="A6B5D1"/>
                </a:solidFill>
                <a:latin typeface="Segoe UI Semibold"/>
              </a:rPr>
              <a:t>Mã P03-xx của ACI</a:t>
            </a:r>
          </a:p>
        </p:txBody>
      </p:sp>
      <p:sp>
        <p:nvSpPr>
          <p:cNvPr id="86" name="S19_Oval_85"/>
          <p:cNvSpPr/>
          <p:nvPr/>
        </p:nvSpPr>
        <p:spPr>
          <a:xfrm>
            <a:off x="8778240" y="4956048"/>
            <a:ext cx="146304" cy="146304"/>
          </a:xfrm>
          <a:prstGeom prst="ellipse">
            <a:avLst/>
          </a:prstGeom>
          <a:solidFill>
            <a:srgbClr val="FF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19_TextBox_86"/>
          <p:cNvSpPr txBox="1"/>
          <p:nvPr/>
        </p:nvSpPr>
        <p:spPr>
          <a:xfrm>
            <a:off x="9015984" y="491032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80">
                <a:solidFill>
                  <a:srgbClr val="A6B5D1"/>
                </a:solidFill>
                <a:latin typeface="Segoe UI Semibold"/>
              </a:rPr>
              <a:t>Dải Hz thật của quạt</a:t>
            </a:r>
          </a:p>
        </p:txBody>
      </p:sp>
      <p:sp>
        <p:nvSpPr>
          <p:cNvPr id="88" name="S19_TextBox_87"/>
          <p:cNvSpPr txBox="1"/>
          <p:nvPr/>
        </p:nvSpPr>
        <p:spPr>
          <a:xfrm>
            <a:off x="658368" y="5705856"/>
            <a:ext cx="108749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>
                <a:solidFill>
                  <a:srgbClr val="FFC857"/>
                </a:solidFill>
                <a:latin typeface="Segoe UI Semibold"/>
              </a:rPr>
              <a:t>Căn cứ cuối cùng khi có tranh luận: manual đúng model MS300 và phép đo trên máy thật.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4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6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6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6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6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6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6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6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6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6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6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6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6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46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46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021"/>
              </a:gs>
              <a:gs pos="100000">
                <a:srgbClr val="0508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_GRID"/>
          <p:cNvSpPr/>
          <p:nvPr/>
        </p:nvSpPr>
        <p:spPr>
          <a:xfrm>
            <a:off x="93782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_GRID"/>
          <p:cNvSpPr/>
          <p:nvPr/>
        </p:nvSpPr>
        <p:spPr>
          <a:xfrm>
            <a:off x="1875645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_GRID"/>
          <p:cNvSpPr/>
          <p:nvPr/>
        </p:nvSpPr>
        <p:spPr>
          <a:xfrm>
            <a:off x="281346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_GRID"/>
          <p:cNvSpPr/>
          <p:nvPr/>
        </p:nvSpPr>
        <p:spPr>
          <a:xfrm>
            <a:off x="3751290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_GRID"/>
          <p:cNvSpPr/>
          <p:nvPr/>
        </p:nvSpPr>
        <p:spPr>
          <a:xfrm>
            <a:off x="4689113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_GRID"/>
          <p:cNvSpPr/>
          <p:nvPr/>
        </p:nvSpPr>
        <p:spPr>
          <a:xfrm>
            <a:off x="562693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_GRID"/>
          <p:cNvSpPr/>
          <p:nvPr/>
        </p:nvSpPr>
        <p:spPr>
          <a:xfrm>
            <a:off x="6564758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_GRID"/>
          <p:cNvSpPr/>
          <p:nvPr/>
        </p:nvSpPr>
        <p:spPr>
          <a:xfrm>
            <a:off x="7502581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_GRID"/>
          <p:cNvSpPr/>
          <p:nvPr/>
        </p:nvSpPr>
        <p:spPr>
          <a:xfrm>
            <a:off x="8440404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_GRID"/>
          <p:cNvSpPr/>
          <p:nvPr/>
        </p:nvSpPr>
        <p:spPr>
          <a:xfrm>
            <a:off x="9378226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_GRID"/>
          <p:cNvSpPr/>
          <p:nvPr/>
        </p:nvSpPr>
        <p:spPr>
          <a:xfrm>
            <a:off x="10316049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_GRID"/>
          <p:cNvSpPr/>
          <p:nvPr/>
        </p:nvSpPr>
        <p:spPr>
          <a:xfrm>
            <a:off x="11253872" y="347472"/>
            <a:ext cx="0" cy="6126480"/>
          </a:xfrm>
          <a:custGeom>
            <a:avLst/>
            <a:gdLst/>
            <a:ahLst/>
            <a:cxnLst/>
            <a:rect l="l" t="t" r="r" b="b"/>
            <a:pathLst>
              <a:path w="0" h="6126480">
                <a:moveTo>
                  <a:pt x="0" y="0"/>
                </a:moveTo>
                <a:lnTo>
                  <a:pt x="0" y="612648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_GRID"/>
          <p:cNvSpPr/>
          <p:nvPr/>
        </p:nvSpPr>
        <p:spPr>
          <a:xfrm>
            <a:off x="320040" y="979714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ROME_GRID"/>
          <p:cNvSpPr/>
          <p:nvPr/>
        </p:nvSpPr>
        <p:spPr>
          <a:xfrm>
            <a:off x="320040" y="1959428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_GRID"/>
          <p:cNvSpPr/>
          <p:nvPr/>
        </p:nvSpPr>
        <p:spPr>
          <a:xfrm>
            <a:off x="320040" y="2939142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_GRID"/>
          <p:cNvSpPr/>
          <p:nvPr/>
        </p:nvSpPr>
        <p:spPr>
          <a:xfrm>
            <a:off x="320040" y="3918857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_GRID"/>
          <p:cNvSpPr/>
          <p:nvPr/>
        </p:nvSpPr>
        <p:spPr>
          <a:xfrm>
            <a:off x="320040" y="4898571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_GRID"/>
          <p:cNvSpPr/>
          <p:nvPr/>
        </p:nvSpPr>
        <p:spPr>
          <a:xfrm>
            <a:off x="320040" y="5878285"/>
            <a:ext cx="11551615" cy="0"/>
          </a:xfrm>
          <a:custGeom>
            <a:avLst/>
            <a:gdLst/>
            <a:ahLst/>
            <a:cxnLst/>
            <a:rect l="l" t="t" r="r" b="b"/>
            <a:pathLst>
              <a:path w="11551615" h="0">
                <a:moveTo>
                  <a:pt x="0" y="0"/>
                </a:moveTo>
                <a:lnTo>
                  <a:pt x="11551615" y="0"/>
                </a:lnTo>
              </a:path>
            </a:pathLst>
          </a:custGeom>
          <a:noFill/>
          <a:ln w="4445"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_FLOW_ORB"/>
          <p:cNvSpPr/>
          <p:nvPr/>
        </p:nvSpPr>
        <p:spPr>
          <a:xfrm>
            <a:off x="6309360" y="-1828800"/>
            <a:ext cx="8869680" cy="8869680"/>
          </a:xfrm>
          <a:prstGeom prst="ellipse">
            <a:avLst/>
          </a:prstGeom>
          <a:gradFill rotWithShape="1">
            <a:gsLst>
              <a:gs pos="0">
                <a:srgbClr val="4D7CFF">
                  <a:alpha val="39000"/>
                </a:srgbClr>
              </a:gs>
              <a:gs pos="55000">
                <a:srgbClr val="4D7CFF">
                  <a:alpha val="13650"/>
                </a:srgbClr>
              </a:gs>
              <a:gs pos="100000">
                <a:srgbClr val="4D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_FLOW_ORB_2"/>
          <p:cNvSpPr/>
          <p:nvPr/>
        </p:nvSpPr>
        <p:spPr>
          <a:xfrm>
            <a:off x="-2377440" y="429768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15E6FF">
                  <a:alpha val="18000"/>
                </a:srgbClr>
              </a:gs>
              <a:gs pos="55000">
                <a:srgbClr val="15E6FF">
                  <a:alpha val="6300"/>
                </a:srgbClr>
              </a:gs>
              <a:gs pos="100000">
                <a:srgbClr val="15E6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_TURBINE_RING"/>
          <p:cNvSpPr/>
          <p:nvPr/>
        </p:nvSpPr>
        <p:spPr>
          <a:xfrm>
            <a:off x="7566660" y="1083564"/>
            <a:ext cx="4160520" cy="4160520"/>
          </a:xfrm>
          <a:prstGeom prst="ellipse">
            <a:avLst/>
          </a:prstGeom>
          <a:solidFill>
            <a:srgbClr val="091224">
              <a:alpha val="66000"/>
            </a:srgbClr>
          </a:solidFill>
          <a:ln w="1524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20_Oval_23"/>
          <p:cNvSpPr/>
          <p:nvPr/>
        </p:nvSpPr>
        <p:spPr>
          <a:xfrm>
            <a:off x="8069580" y="1586484"/>
            <a:ext cx="3154680" cy="3154680"/>
          </a:xfrm>
          <a:prstGeom prst="ellipse">
            <a:avLst/>
          </a:prstGeom>
          <a:noFill/>
          <a:ln w="2794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20_Oval_24"/>
          <p:cNvSpPr/>
          <p:nvPr/>
        </p:nvSpPr>
        <p:spPr>
          <a:xfrm>
            <a:off x="8618220" y="2135124"/>
            <a:ext cx="2057400" cy="2057400"/>
          </a:xfrm>
          <a:prstGeom prst="ellipse">
            <a:avLst/>
          </a:prstGeom>
          <a:solidFill>
            <a:srgbClr val="4D7CFF">
              <a:alpha val="1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20_Freeform_25"/>
          <p:cNvSpPr/>
          <p:nvPr/>
        </p:nvSpPr>
        <p:spPr>
          <a:xfrm>
            <a:off x="9646920" y="1673352"/>
            <a:ext cx="0" cy="813816"/>
          </a:xfrm>
          <a:custGeom>
            <a:avLst/>
            <a:gdLst/>
            <a:ahLst/>
            <a:cxnLst/>
            <a:rect l="l" t="t" r="r" b="b"/>
            <a:pathLst>
              <a:path w="0" h="813816">
                <a:moveTo>
                  <a:pt x="0" y="813816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20_Freeform_26"/>
          <p:cNvSpPr/>
          <p:nvPr/>
        </p:nvSpPr>
        <p:spPr>
          <a:xfrm>
            <a:off x="9985248" y="1873037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0" y="704785"/>
                </a:moveTo>
                <a:lnTo>
                  <a:pt x="406908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20_Freeform_27"/>
          <p:cNvSpPr/>
          <p:nvPr/>
        </p:nvSpPr>
        <p:spPr>
          <a:xfrm>
            <a:off x="10232921" y="2418588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0" y="406908"/>
                </a:moveTo>
                <a:lnTo>
                  <a:pt x="704785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20_Freeform_28"/>
          <p:cNvSpPr/>
          <p:nvPr/>
        </p:nvSpPr>
        <p:spPr>
          <a:xfrm>
            <a:off x="10323576" y="3163824"/>
            <a:ext cx="813816" cy="0"/>
          </a:xfrm>
          <a:custGeom>
            <a:avLst/>
            <a:gdLst/>
            <a:ahLst/>
            <a:cxnLst/>
            <a:rect l="l" t="t" r="r" b="b"/>
            <a:pathLst>
              <a:path w="813816" h="0">
                <a:moveTo>
                  <a:pt x="0" y="0"/>
                </a:moveTo>
                <a:lnTo>
                  <a:pt x="813816" y="0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20_Freeform_29"/>
          <p:cNvSpPr/>
          <p:nvPr/>
        </p:nvSpPr>
        <p:spPr>
          <a:xfrm>
            <a:off x="10232921" y="3502152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0" y="0"/>
                </a:moveTo>
                <a:lnTo>
                  <a:pt x="704785" y="406908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20_Freeform_30"/>
          <p:cNvSpPr/>
          <p:nvPr/>
        </p:nvSpPr>
        <p:spPr>
          <a:xfrm>
            <a:off x="9985248" y="3749825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0" y="0"/>
                </a:moveTo>
                <a:lnTo>
                  <a:pt x="406908" y="704785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20_Freeform_31"/>
          <p:cNvSpPr/>
          <p:nvPr/>
        </p:nvSpPr>
        <p:spPr>
          <a:xfrm>
            <a:off x="9646920" y="3840480"/>
            <a:ext cx="0" cy="813816"/>
          </a:xfrm>
          <a:custGeom>
            <a:avLst/>
            <a:gdLst/>
            <a:ahLst/>
            <a:cxnLst/>
            <a:rect l="l" t="t" r="r" b="b"/>
            <a:pathLst>
              <a:path w="0" h="813816">
                <a:moveTo>
                  <a:pt x="0" y="0"/>
                </a:moveTo>
                <a:lnTo>
                  <a:pt x="0" y="813816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20_Freeform_32"/>
          <p:cNvSpPr/>
          <p:nvPr/>
        </p:nvSpPr>
        <p:spPr>
          <a:xfrm>
            <a:off x="8901684" y="3749825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406908" y="0"/>
                </a:moveTo>
                <a:lnTo>
                  <a:pt x="0" y="704785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20_Freeform_33"/>
          <p:cNvSpPr/>
          <p:nvPr/>
        </p:nvSpPr>
        <p:spPr>
          <a:xfrm>
            <a:off x="8356133" y="3502152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704785" y="0"/>
                </a:moveTo>
                <a:lnTo>
                  <a:pt x="0" y="406908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20_Freeform_34"/>
          <p:cNvSpPr/>
          <p:nvPr/>
        </p:nvSpPr>
        <p:spPr>
          <a:xfrm>
            <a:off x="8156448" y="3163824"/>
            <a:ext cx="813816" cy="0"/>
          </a:xfrm>
          <a:custGeom>
            <a:avLst/>
            <a:gdLst/>
            <a:ahLst/>
            <a:cxnLst/>
            <a:rect l="l" t="t" r="r" b="b"/>
            <a:pathLst>
              <a:path w="813816" h="0">
                <a:moveTo>
                  <a:pt x="813816" y="0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20_Freeform_35"/>
          <p:cNvSpPr/>
          <p:nvPr/>
        </p:nvSpPr>
        <p:spPr>
          <a:xfrm>
            <a:off x="8356133" y="2418588"/>
            <a:ext cx="704785" cy="406908"/>
          </a:xfrm>
          <a:custGeom>
            <a:avLst/>
            <a:gdLst/>
            <a:ahLst/>
            <a:cxnLst/>
            <a:rect l="l" t="t" r="r" b="b"/>
            <a:pathLst>
              <a:path w="704785" h="406908">
                <a:moveTo>
                  <a:pt x="704785" y="406908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20_Freeform_36"/>
          <p:cNvSpPr/>
          <p:nvPr/>
        </p:nvSpPr>
        <p:spPr>
          <a:xfrm>
            <a:off x="8901684" y="1873037"/>
            <a:ext cx="406908" cy="704785"/>
          </a:xfrm>
          <a:custGeom>
            <a:avLst/>
            <a:gdLst/>
            <a:ahLst/>
            <a:cxnLst/>
            <a:rect l="l" t="t" r="r" b="b"/>
            <a:pathLst>
              <a:path w="406908" h="704785">
                <a:moveTo>
                  <a:pt x="406908" y="704785"/>
                </a:moveTo>
                <a:lnTo>
                  <a:pt x="0" y="0"/>
                </a:lnTo>
              </a:path>
            </a:pathLst>
          </a:custGeom>
          <a:noFill/>
          <a:ln w="25400">
            <a:solidFill>
              <a:srgbClr val="4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20_Oval_37"/>
          <p:cNvSpPr/>
          <p:nvPr/>
        </p:nvSpPr>
        <p:spPr>
          <a:xfrm>
            <a:off x="9052560" y="2569464"/>
            <a:ext cx="1188720" cy="1188720"/>
          </a:xfrm>
          <a:prstGeom prst="ellipse">
            <a:avLst/>
          </a:prstGeom>
          <a:solidFill>
            <a:srgbClr val="B9FF4A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20_TextBox_38"/>
          <p:cNvSpPr txBox="1"/>
          <p:nvPr/>
        </p:nvSpPr>
        <p:spPr>
          <a:xfrm>
            <a:off x="8229600" y="3022092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spc="100">
                <a:solidFill>
                  <a:srgbClr val="050812"/>
                </a:solidFill>
                <a:latin typeface="Bahnschrift SemiBold Condensed"/>
              </a:rPr>
              <a:t>CLOSED LOOP</a:t>
            </a:r>
          </a:p>
        </p:txBody>
      </p:sp>
      <p:sp>
        <p:nvSpPr>
          <p:cNvPr id="40" name="S20_TextBox_39"/>
          <p:cNvSpPr txBox="1"/>
          <p:nvPr/>
        </p:nvSpPr>
        <p:spPr>
          <a:xfrm>
            <a:off x="658368" y="566928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spc="170">
                <a:solidFill>
                  <a:srgbClr val="15E6FF"/>
                </a:solidFill>
                <a:latin typeface="Segoe UI Semibold"/>
              </a:rPr>
              <a:t>VACUUM CONTROL  /  READY TO IMPLEMENT</a:t>
            </a:r>
          </a:p>
        </p:txBody>
      </p:sp>
      <p:sp>
        <p:nvSpPr>
          <p:cNvPr id="41" name="S20_TITLE_RULE"/>
          <p:cNvSpPr/>
          <p:nvPr/>
        </p:nvSpPr>
        <p:spPr>
          <a:xfrm>
            <a:off x="658368" y="950976"/>
            <a:ext cx="1325880" cy="63500"/>
          </a:xfrm>
          <a:prstGeom prst="rect">
            <a:avLst/>
          </a:prstGeom>
          <a:solidFill>
            <a:srgbClr val="15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20_CLOSE_HEADING"/>
          <p:cNvSpPr txBox="1"/>
          <p:nvPr/>
        </p:nvSpPr>
        <p:spPr>
          <a:xfrm>
            <a:off x="658368" y="1325880"/>
            <a:ext cx="6995160" cy="2871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</a:pPr>
            <a:r>
              <a:rPr sz="4300" spc="-130">
                <a:solidFill>
                  <a:srgbClr val="F7FAFF"/>
                </a:solidFill>
                <a:latin typeface="Segoe UI Black"/>
              </a:rPr>
              <a:t>Một lần dựng.</a:t>
            </a:r>
          </a:p>
          <a:p>
            <a:pPr algn="l">
              <a:lnSpc>
                <a:spcPct val="98000"/>
              </a:lnSpc>
            </a:pPr>
            <a:r>
              <a:rPr sz="4300" spc="-130">
                <a:solidFill>
                  <a:srgbClr val="4D7CFF"/>
                </a:solidFill>
                <a:latin typeface="Segoe UI Black"/>
              </a:rPr>
              <a:t>Một lần tune.</a:t>
            </a:r>
          </a:p>
          <a:p>
            <a:pPr algn="l">
              <a:lnSpc>
                <a:spcPct val="98000"/>
              </a:lnSpc>
            </a:pPr>
            <a:r>
              <a:rPr sz="4300" spc="-130">
                <a:solidFill>
                  <a:srgbClr val="B9FF4A"/>
                </a:solidFill>
                <a:latin typeface="Segoe UI Black"/>
              </a:rPr>
              <a:t>Mọi mẻ đúng lực hút.</a:t>
            </a:r>
          </a:p>
        </p:txBody>
      </p:sp>
      <p:sp>
        <p:nvSpPr>
          <p:cNvPr id="43" name="S20_TextBox_42"/>
          <p:cNvSpPr txBox="1"/>
          <p:nvPr/>
        </p:nvSpPr>
        <p:spPr>
          <a:xfrm>
            <a:off x="658368" y="4370832"/>
            <a:ext cx="58978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1800">
                <a:solidFill>
                  <a:srgbClr val="A6B5D1"/>
                </a:solidFill>
                <a:latin typeface="Segoe UI Light"/>
              </a:rPr>
              <a:t>Air% sẽ thay đổi.  Điều kiện máy sẽ thay đổi.
Pa mục tiêu thì không.</a:t>
            </a:r>
          </a:p>
        </p:txBody>
      </p:sp>
      <p:sp>
        <p:nvSpPr>
          <p:cNvPr id="44" name="S20_Rounded_Rectangle_43"/>
          <p:cNvSpPr/>
          <p:nvPr/>
        </p:nvSpPr>
        <p:spPr>
          <a:xfrm>
            <a:off x="658368" y="5349240"/>
            <a:ext cx="1499616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8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20_TextBox_44"/>
          <p:cNvSpPr txBox="1"/>
          <p:nvPr/>
        </p:nvSpPr>
        <p:spPr>
          <a:xfrm>
            <a:off x="658368" y="5385816"/>
            <a:ext cx="149961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8B5CFF"/>
                </a:solidFill>
                <a:latin typeface="Segoe UI Semibold"/>
              </a:rPr>
              <a:t>48717 · FC03</a:t>
            </a:r>
          </a:p>
        </p:txBody>
      </p:sp>
      <p:sp>
        <p:nvSpPr>
          <p:cNvPr id="46" name="S20_Rounded_Rectangle_45"/>
          <p:cNvSpPr/>
          <p:nvPr/>
        </p:nvSpPr>
        <p:spPr>
          <a:xfrm>
            <a:off x="2340864" y="5349240"/>
            <a:ext cx="1389888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15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20_TextBox_46"/>
          <p:cNvSpPr txBox="1"/>
          <p:nvPr/>
        </p:nvSpPr>
        <p:spPr>
          <a:xfrm>
            <a:off x="2340864" y="5385816"/>
            <a:ext cx="1389888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15E6FF"/>
                </a:solidFill>
                <a:latin typeface="Segoe UI Semibold"/>
              </a:rPr>
              <a:t>α = 0,13</a:t>
            </a:r>
          </a:p>
        </p:txBody>
      </p:sp>
      <p:sp>
        <p:nvSpPr>
          <p:cNvPr id="48" name="S20_Rounded_Rectangle_47"/>
          <p:cNvSpPr/>
          <p:nvPr/>
        </p:nvSpPr>
        <p:spPr>
          <a:xfrm>
            <a:off x="3913632" y="5349240"/>
            <a:ext cx="1463040" cy="310896"/>
          </a:xfrm>
          <a:prstGeom prst="roundRect">
            <a:avLst>
              <a:gd name="adj" fmla="val 6000"/>
            </a:avLst>
          </a:prstGeom>
          <a:solidFill>
            <a:srgbClr val="091224">
              <a:alpha val="92000"/>
            </a:srgbClr>
          </a:solidFill>
          <a:ln w="12700">
            <a:solidFill>
              <a:srgbClr val="B9F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20_TextBox_48"/>
          <p:cNvSpPr txBox="1"/>
          <p:nvPr/>
        </p:nvSpPr>
        <p:spPr>
          <a:xfrm>
            <a:off x="3913632" y="5385816"/>
            <a:ext cx="146304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50" spc="125">
                <a:solidFill>
                  <a:srgbClr val="B9FF4A"/>
                </a:solidFill>
                <a:latin typeface="Segoe UI Semibold"/>
              </a:rPr>
              <a:t>±3 PA · 1%</a:t>
            </a:r>
          </a:p>
        </p:txBody>
      </p:sp>
      <p:sp>
        <p:nvSpPr>
          <p:cNvPr id="50" name="S20_TextBox_49"/>
          <p:cNvSpPr txBox="1"/>
          <p:nvPr/>
        </p:nvSpPr>
        <p:spPr>
          <a:xfrm>
            <a:off x="658368" y="6336793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spc="100">
                <a:solidFill>
                  <a:srgbClr val="627392"/>
                </a:solidFill>
                <a:latin typeface="Segoe UI"/>
              </a:rPr>
              <a:t>Nguồn: guide-vacuum-control-ms300-plc.md  ·  O Tesla</a:t>
            </a:r>
          </a:p>
        </p:txBody>
      </p:sp>
      <p:sp>
        <p:nvSpPr>
          <p:cNvPr id="51" name="S20_TextBox_50"/>
          <p:cNvSpPr txBox="1"/>
          <p:nvPr/>
        </p:nvSpPr>
        <p:spPr>
          <a:xfrm>
            <a:off x="10390327" y="6336793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spc="110">
                <a:solidFill>
                  <a:srgbClr val="627392"/>
                </a:solidFill>
                <a:latin typeface="Bahnschrift SemiBold Condensed"/>
              </a:rPr>
              <a:t>20 / 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5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6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6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6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6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6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6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6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6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6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6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6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6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1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46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46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